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embeddedFontLst>
    <p:embeddedFont>
      <p:font typeface="Amatic SC"/>
      <p:regular r:id="rId65"/>
      <p:bold r:id="rId66"/>
    </p:embeddedFont>
    <p:embeddedFont>
      <p:font typeface="Source Code Pro"/>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SourceCodePro-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AmaticSC-bold.fntdata"/><Relationship Id="rId21" Type="http://schemas.openxmlformats.org/officeDocument/2006/relationships/slide" Target="slides/slide16.xml"/><Relationship Id="rId65" Type="http://schemas.openxmlformats.org/officeDocument/2006/relationships/font" Target="fonts/AmaticSC-regular.fntdata"/><Relationship Id="rId24" Type="http://schemas.openxmlformats.org/officeDocument/2006/relationships/slide" Target="slides/slide19.xml"/><Relationship Id="rId68" Type="http://schemas.openxmlformats.org/officeDocument/2006/relationships/font" Target="fonts/SourceCodePro-bold.fntdata"/><Relationship Id="rId23" Type="http://schemas.openxmlformats.org/officeDocument/2006/relationships/slide" Target="slides/slide18.xml"/><Relationship Id="rId67" Type="http://schemas.openxmlformats.org/officeDocument/2006/relationships/font" Target="fonts/SourceCodePro-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SourceCodePro-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b0714677b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b0714677b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b0714677ba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b0714677ba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b0714677b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b0714677b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b0714677b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b0714677b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b0714677b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b0714677b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b0714677b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b0714677b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b0714677b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b0714677b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b0714677b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b0714677b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0714677b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0714677b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b0714677b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b0714677b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b0714677b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b0714677b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b0714677b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b0714677ba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b0714677b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b0714677b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b0714677ba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b0714677b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b0714677ba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b0714677ba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b0714677ba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b0714677ba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SLIDES_API21393281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SLIDES_API21393281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b0714677b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b0714677b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b0714677ba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b0714677b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SLIDES_API63532122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SLIDES_API6353212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b0714677b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b0714677b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SLIDES_API23439876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SLIDES_API23439876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b0714677b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b0714677b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b0714677ba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b0714677ba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b0714677b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b0714677b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b0714677b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b0714677b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d8585cb76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d8585cb76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d8585cb76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d8585cb76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b0714677ba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b0714677ba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b0714677ba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b0714677ba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b0714677ba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b0714677ba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SLIDES_API167680027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SLIDES_API167680027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b0714677b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b0714677b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b0714677ba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b0714677ba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b0714677ba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b0714677ba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b0714677ba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b0714677ba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b0714677b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b0714677b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b0714677ba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b0714677ba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b0714677ba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b0714677ba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b0714677ba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b0714677ba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b0714677ba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b0714677ba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b0714677ba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b0714677ba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b0714677ba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b0714677ba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b0714677ba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b0714677ba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b0714677ba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b0714677ba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SLIDES_API187987938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SLIDES_API187987938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b0714677ba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b0714677ba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b0714677ba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b0714677ba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b0714677ba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b0714677ba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b0714677ba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b0714677ba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d8585cb7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d8585cb7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d8585cb76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d8585cb76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d8585cb76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d8585cb76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d8585cb76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d8585cb76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b0714677ba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b0714677ba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b0714677ba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b0714677ba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b0714677ba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b0714677ba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b0714677ba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2b0714677ba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1.jp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5.jp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slideserve.com/marvel/advanced-storage-management-data-protection" TargetMode="Externa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n2ws.com/blog/aws-ebs-snapshot/how-do-ebs-snapshots-ebs-restore-work" TargetMode="Externa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1.jp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8.jp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www.kingston.com/en/blog/pc-performance/difference-between-slc-mlc-tlc-3d-nand" TargetMode="External"/><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t>SAN and DAS -</a:t>
            </a:r>
            <a:endParaRPr/>
          </a:p>
          <a:p>
            <a:pPr indent="0" lvl="0" marL="0" rtl="0" algn="ctr">
              <a:spcBef>
                <a:spcPts val="0"/>
              </a:spcBef>
              <a:spcAft>
                <a:spcPts val="0"/>
              </a:spcAft>
              <a:buClr>
                <a:schemeClr val="dk1"/>
              </a:buClr>
              <a:buSzPts val="990"/>
              <a:buFont typeface="Arial"/>
              <a:buNone/>
            </a:pPr>
            <a:r>
              <a:rPr lang="en"/>
              <a:t>Concepts and Applications</a:t>
            </a:r>
            <a:endParaRPr/>
          </a:p>
          <a:p>
            <a:pPr indent="0" lvl="0" marL="0" rtl="0" algn="ctr">
              <a:spcBef>
                <a:spcPts val="0"/>
              </a:spcBef>
              <a:spcAft>
                <a:spcPts val="0"/>
              </a:spcAft>
              <a:buNone/>
            </a:pPr>
            <a:r>
              <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lnSpcReduction="20000"/>
          </a:bodyPr>
          <a:lstStyle/>
          <a:p>
            <a:pPr indent="0" lvl="0" marL="0" rtl="0" algn="ctr">
              <a:spcBef>
                <a:spcPts val="0"/>
              </a:spcBef>
              <a:spcAft>
                <a:spcPts val="0"/>
              </a:spcAft>
              <a:buNone/>
            </a:pPr>
            <a:r>
              <a:rPr lang="en"/>
              <a:t>Storing Smarter, Not Harder: Navigating the Seas of SAN and DAS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SAN and DAS</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Brief introduction to Storage Area Network (SAN) and Direct-Attached Storage (DAS).</a:t>
            </a:r>
            <a:endParaRPr/>
          </a:p>
          <a:p>
            <a:pPr indent="-298450" lvl="0" marL="457200" rtl="0" algn="l">
              <a:lnSpc>
                <a:spcPct val="115000"/>
              </a:lnSpc>
              <a:spcBef>
                <a:spcPts val="0"/>
              </a:spcBef>
              <a:spcAft>
                <a:spcPts val="0"/>
              </a:spcAft>
              <a:buClr>
                <a:schemeClr val="dk1"/>
              </a:buClr>
              <a:buSzPts val="1100"/>
              <a:buFont typeface="Arial"/>
              <a:buChar char="●"/>
            </a:pPr>
            <a:r>
              <a:rPr lang="en"/>
              <a:t>Objectives:</a:t>
            </a:r>
            <a:endParaRPr/>
          </a:p>
          <a:p>
            <a:pPr indent="-298450" lvl="1" marL="914400" rtl="0" algn="l">
              <a:lnSpc>
                <a:spcPct val="115000"/>
              </a:lnSpc>
              <a:spcBef>
                <a:spcPts val="0"/>
              </a:spcBef>
              <a:spcAft>
                <a:spcPts val="0"/>
              </a:spcAft>
              <a:buClr>
                <a:schemeClr val="dk1"/>
              </a:buClr>
              <a:buSzPts val="1100"/>
              <a:buFont typeface="Arial"/>
              <a:buChar char="○"/>
            </a:pPr>
            <a:r>
              <a:rPr lang="en"/>
              <a:t>Understand the basic concepts of SAN and DAS.</a:t>
            </a:r>
            <a:endParaRPr/>
          </a:p>
          <a:p>
            <a:pPr indent="-298450" lvl="1" marL="914400" rtl="0" algn="l">
              <a:lnSpc>
                <a:spcPct val="115000"/>
              </a:lnSpc>
              <a:spcBef>
                <a:spcPts val="0"/>
              </a:spcBef>
              <a:spcAft>
                <a:spcPts val="0"/>
              </a:spcAft>
              <a:buClr>
                <a:schemeClr val="dk1"/>
              </a:buClr>
              <a:buSzPts val="1100"/>
              <a:buFont typeface="Arial"/>
              <a:buChar char="○"/>
            </a:pPr>
            <a:r>
              <a:rPr lang="en"/>
              <a:t>Explore the applications and use-cases of SAN and DAS in modern IT infrastructure.</a:t>
            </a:r>
            <a:endParaRPr/>
          </a:p>
          <a:p>
            <a:pPr indent="-298450" lvl="1" marL="914400" rtl="0" algn="l">
              <a:lnSpc>
                <a:spcPct val="115000"/>
              </a:lnSpc>
              <a:spcBef>
                <a:spcPts val="0"/>
              </a:spcBef>
              <a:spcAft>
                <a:spcPts val="0"/>
              </a:spcAft>
              <a:buClr>
                <a:schemeClr val="dk1"/>
              </a:buClr>
              <a:buSzPts val="1100"/>
              <a:buFont typeface="Arial"/>
              <a:buChar char="○"/>
            </a:pPr>
            <a:r>
              <a:rPr lang="en"/>
              <a:t>Compare and contrast SAN and DAS.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Primer</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Before we can discuss SAN and DAS we need to review the mechanics and other storage types.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Character Devices vs. Block Devices</a:t>
            </a:r>
            <a:endParaRPr/>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Clr>
                <a:schemeClr val="dk1"/>
              </a:buClr>
              <a:buSzPts val="2100"/>
              <a:buFont typeface="Arial"/>
              <a:buChar char="●"/>
            </a:pPr>
            <a:r>
              <a:rPr b="1" lang="en" sz="2100"/>
              <a:t>Character Devices</a:t>
            </a:r>
            <a:r>
              <a:rPr lang="en" sz="2100"/>
              <a:t>: Transmit data character by character. Ideal for keyboards, mice, or any device that sends/receives a single character at a time.</a:t>
            </a:r>
            <a:endParaRPr sz="2100"/>
          </a:p>
          <a:p>
            <a:pPr indent="-361950" lvl="0" marL="457200" rtl="0" algn="l">
              <a:lnSpc>
                <a:spcPct val="115000"/>
              </a:lnSpc>
              <a:spcBef>
                <a:spcPts val="0"/>
              </a:spcBef>
              <a:spcAft>
                <a:spcPts val="0"/>
              </a:spcAft>
              <a:buClr>
                <a:schemeClr val="dk1"/>
              </a:buClr>
              <a:buSzPts val="2100"/>
              <a:buFont typeface="Arial"/>
              <a:buChar char="●"/>
            </a:pPr>
            <a:r>
              <a:rPr b="1" lang="en" sz="2100"/>
              <a:t>Block Devices</a:t>
            </a:r>
            <a:r>
              <a:rPr lang="en" sz="2100"/>
              <a:t>: Store data in fixed-size blocks. Hard drives and SSDs are typical examples, with data managed in blocks, allowing random access.</a:t>
            </a:r>
            <a:endParaRPr sz="3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File Storage: Keeping it Familiar</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b="1" lang="en"/>
              <a:t>Definition</a:t>
            </a:r>
            <a:r>
              <a:rPr lang="en"/>
              <a:t>: Hierarchical storage method, organizing data in files and folders.</a:t>
            </a:r>
            <a:endParaRPr/>
          </a:p>
          <a:p>
            <a:pPr indent="-298450" lvl="0" marL="457200" rtl="0" algn="l">
              <a:lnSpc>
                <a:spcPct val="115000"/>
              </a:lnSpc>
              <a:spcBef>
                <a:spcPts val="0"/>
              </a:spcBef>
              <a:spcAft>
                <a:spcPts val="0"/>
              </a:spcAft>
              <a:buClr>
                <a:schemeClr val="dk1"/>
              </a:buClr>
              <a:buSzPts val="1100"/>
              <a:buFont typeface="Arial"/>
              <a:buChar char="●"/>
            </a:pPr>
            <a:r>
              <a:rPr b="1" lang="en"/>
              <a:t>Characteristics</a:t>
            </a:r>
            <a:r>
              <a:rPr lang="en"/>
              <a:t>: Easy to understand and navigate, with data accessed through file names and paths.</a:t>
            </a:r>
            <a:endParaRPr/>
          </a:p>
          <a:p>
            <a:pPr indent="-298450" lvl="0" marL="457200" rtl="0" algn="l">
              <a:lnSpc>
                <a:spcPct val="115000"/>
              </a:lnSpc>
              <a:spcBef>
                <a:spcPts val="0"/>
              </a:spcBef>
              <a:spcAft>
                <a:spcPts val="0"/>
              </a:spcAft>
              <a:buClr>
                <a:schemeClr val="dk1"/>
              </a:buClr>
              <a:buSzPts val="1100"/>
              <a:buFont typeface="Arial"/>
              <a:buChar char="●"/>
            </a:pPr>
            <a:r>
              <a:rPr b="1" lang="en"/>
              <a:t>Common Use-Cases</a:t>
            </a:r>
            <a:r>
              <a:rPr lang="en"/>
              <a:t>: Everyday computing, document storage, and traditional databases.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 Storage: Beyond the Basics</a:t>
            </a:r>
            <a:endParaRPr/>
          </a:p>
        </p:txBody>
      </p:sp>
      <p:sp>
        <p:nvSpPr>
          <p:cNvPr id="87" name="Google Shape;87;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b="1" lang="en"/>
              <a:t>Definition</a:t>
            </a:r>
            <a:r>
              <a:rPr lang="en"/>
              <a:t>: Stores data in uniform blocks or volumes.</a:t>
            </a:r>
            <a:endParaRPr/>
          </a:p>
          <a:p>
            <a:pPr indent="-298450" lvl="0" marL="457200" rtl="0" algn="l">
              <a:lnSpc>
                <a:spcPct val="115000"/>
              </a:lnSpc>
              <a:spcBef>
                <a:spcPts val="0"/>
              </a:spcBef>
              <a:spcAft>
                <a:spcPts val="0"/>
              </a:spcAft>
              <a:buClr>
                <a:schemeClr val="dk1"/>
              </a:buClr>
              <a:buSzPts val="1100"/>
              <a:buFont typeface="Arial"/>
              <a:buChar char="●"/>
            </a:pPr>
            <a:r>
              <a:rPr b="1" lang="en"/>
              <a:t>Characteristics</a:t>
            </a:r>
            <a:r>
              <a:rPr lang="en"/>
              <a:t>: High performance, low latency, and flexibility. Ideal for database storage, VM file systems.</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Block Storage - The Anatomy of Data Organization</a:t>
            </a:r>
            <a:endParaRPr sz="2600"/>
          </a:p>
        </p:txBody>
      </p:sp>
      <p:sp>
        <p:nvSpPr>
          <p:cNvPr id="93" name="Google Shape;93;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t>Blocks - The Fundamental Units</a:t>
            </a:r>
            <a:r>
              <a:rPr lang="en" sz="1900"/>
              <a:t>: Each block in block storage acts as an individual hard drive, storing a fixed size of data. Blocks are addressable by a unique identifier, allowing for efficient data retrieval.</a:t>
            </a:r>
            <a:endParaRPr sz="1900"/>
          </a:p>
          <a:p>
            <a:pPr indent="0" lvl="0" marL="0" rtl="0" algn="l">
              <a:spcBef>
                <a:spcPts val="1200"/>
              </a:spcBef>
              <a:spcAft>
                <a:spcPts val="1200"/>
              </a:spcAft>
              <a:buNone/>
            </a:pPr>
            <a:r>
              <a:rPr b="1" lang="en" sz="1900"/>
              <a:t>Block Sizes - Balancing Performance and Space</a:t>
            </a:r>
            <a:r>
              <a:rPr lang="en" sz="1900"/>
              <a:t>: Block size determines how data is divided. Larger blocks can improve performance for sequential data access but may lead to wasted space, known as slack space, when storing small files.</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Clusters and Cylinders - Optimizing Data Access</a:t>
            </a:r>
            <a:endParaRPr sz="2600"/>
          </a:p>
        </p:txBody>
      </p:sp>
      <p:sp>
        <p:nvSpPr>
          <p:cNvPr id="99" name="Google Shape;99;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t>Clusters - Grouping Blocks</a:t>
            </a:r>
            <a:r>
              <a:rPr lang="en" sz="1900"/>
              <a:t>: A cluster is a group of contiguous blocks, acting as the smallest unit of disk space that can be allocated to a file. The cluster size affects the disk's storage efficiency and performance.</a:t>
            </a:r>
            <a:endParaRPr sz="1900"/>
          </a:p>
          <a:p>
            <a:pPr indent="0" lvl="0" marL="0" rtl="0" algn="l">
              <a:spcBef>
                <a:spcPts val="1200"/>
              </a:spcBef>
              <a:spcAft>
                <a:spcPts val="1200"/>
              </a:spcAft>
              <a:buNone/>
            </a:pPr>
            <a:r>
              <a:rPr b="1" lang="en" sz="1900"/>
              <a:t>Cylinders - HDD Organization</a:t>
            </a:r>
            <a:r>
              <a:rPr lang="en" sz="1900"/>
              <a:t>: In traditional HDDs, a cylinder comprises tracks located at the same position on different platters. Understanding cylinders helps in optimizing data access in these devices, though it's less relevant in modern SSDs.</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t>C</a:t>
            </a:r>
            <a:r>
              <a:rPr lang="en" sz="2300"/>
              <a:t>luster and Block sizes: </a:t>
            </a:r>
            <a:r>
              <a:rPr lang="en" sz="2300">
                <a:highlight>
                  <a:srgbClr val="FFFF00"/>
                </a:highlight>
              </a:rPr>
              <a:t>Impact on Read/Write Operations</a:t>
            </a:r>
            <a:endParaRPr sz="2300">
              <a:highlight>
                <a:srgbClr val="FFFF00"/>
              </a:highlight>
            </a:endParaRPr>
          </a:p>
        </p:txBody>
      </p:sp>
      <p:sp>
        <p:nvSpPr>
          <p:cNvPr id="105" name="Google Shape;105;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t>Block Size Alignment with Data Size</a:t>
            </a:r>
            <a:r>
              <a:rPr lang="en" sz="1800"/>
              <a:t>:</a:t>
            </a:r>
            <a:endParaRPr sz="1800"/>
          </a:p>
          <a:p>
            <a:pPr indent="-342900" lvl="0" marL="457200" rtl="0" algn="l">
              <a:lnSpc>
                <a:spcPct val="115000"/>
              </a:lnSpc>
              <a:spcBef>
                <a:spcPts val="1200"/>
              </a:spcBef>
              <a:spcAft>
                <a:spcPts val="0"/>
              </a:spcAft>
              <a:buClr>
                <a:schemeClr val="dk1"/>
              </a:buClr>
              <a:buSzPts val="1800"/>
              <a:buFont typeface="Arial"/>
              <a:buChar char="●"/>
            </a:pPr>
            <a:r>
              <a:rPr lang="en" sz="1800"/>
              <a:t>If the block size is well-aligned with the size of the data being read or written, data transfer can be more efficient because each read/write operation corresponds closely to the block size.</a:t>
            </a:r>
            <a:endParaRPr sz="1800"/>
          </a:p>
          <a:p>
            <a:pPr indent="-342900" lvl="0" marL="457200" rtl="0" algn="l">
              <a:lnSpc>
                <a:spcPct val="115000"/>
              </a:lnSpc>
              <a:spcBef>
                <a:spcPts val="0"/>
              </a:spcBef>
              <a:spcAft>
                <a:spcPts val="0"/>
              </a:spcAft>
              <a:buClr>
                <a:schemeClr val="dk1"/>
              </a:buClr>
              <a:buSzPts val="1800"/>
              <a:buFont typeface="Arial"/>
              <a:buChar char="●"/>
            </a:pPr>
            <a:r>
              <a:rPr lang="en" sz="1800"/>
              <a:t>Misalignment (e.g., a file size smaller than the block size) can lead to increased overhead and decreased performance due to the need to read or write entire blocks even for small amounts of data.</a:t>
            </a:r>
            <a:endParaRPr sz="3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t>Cluster and Block sizes: </a:t>
            </a:r>
            <a:r>
              <a:rPr lang="en" sz="2300">
                <a:highlight>
                  <a:srgbClr val="FFFF00"/>
                </a:highlight>
              </a:rPr>
              <a:t>Impact on Read/Write Operations</a:t>
            </a:r>
            <a:endParaRPr sz="2300">
              <a:highlight>
                <a:srgbClr val="FFFF00"/>
              </a:highlight>
            </a:endParaRPr>
          </a:p>
        </p:txBody>
      </p:sp>
      <p:sp>
        <p:nvSpPr>
          <p:cNvPr id="111" name="Google Shape;111;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t>Block Size Alignment with Data Size</a:t>
            </a:r>
            <a:r>
              <a:rPr lang="en" sz="1700"/>
              <a:t>:</a:t>
            </a:r>
            <a:endParaRPr sz="1700"/>
          </a:p>
          <a:p>
            <a:pPr indent="-336550" lvl="0" marL="457200" rtl="0" algn="l">
              <a:lnSpc>
                <a:spcPct val="115000"/>
              </a:lnSpc>
              <a:spcBef>
                <a:spcPts val="1200"/>
              </a:spcBef>
              <a:spcAft>
                <a:spcPts val="0"/>
              </a:spcAft>
              <a:buClr>
                <a:schemeClr val="dk1"/>
              </a:buClr>
              <a:buSzPts val="1700"/>
              <a:buFont typeface="Arial"/>
              <a:buChar char="●"/>
            </a:pPr>
            <a:r>
              <a:rPr lang="en" sz="1700"/>
              <a:t>If the block size is well-aligned with the size of the data being read or written, data transfer can be more efficient because each read/write operation corresponds closely to the block size.</a:t>
            </a:r>
            <a:endParaRPr sz="1700"/>
          </a:p>
          <a:p>
            <a:pPr indent="-336550" lvl="0" marL="457200" rtl="0" algn="l">
              <a:lnSpc>
                <a:spcPct val="115000"/>
              </a:lnSpc>
              <a:spcBef>
                <a:spcPts val="0"/>
              </a:spcBef>
              <a:spcAft>
                <a:spcPts val="0"/>
              </a:spcAft>
              <a:buClr>
                <a:schemeClr val="dk1"/>
              </a:buClr>
              <a:buSzPts val="1700"/>
              <a:buFont typeface="Arial"/>
              <a:buChar char="●"/>
            </a:pPr>
            <a:r>
              <a:rPr lang="en" sz="1700"/>
              <a:t>Misalignment (e.g., a file size smaller than the block size) can lead to increased overhead and decreased performance due to the need to read or write entire blocks even for small amounts of data.</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t>Cluster and Block sizes: </a:t>
            </a:r>
            <a:r>
              <a:rPr lang="en" sz="2300">
                <a:highlight>
                  <a:srgbClr val="FFFF00"/>
                </a:highlight>
              </a:rPr>
              <a:t>Impact on Read/Write Operations</a:t>
            </a:r>
            <a:endParaRPr sz="2300">
              <a:highlight>
                <a:srgbClr val="FFFF00"/>
              </a:highlight>
            </a:endParaRPr>
          </a:p>
        </p:txBody>
      </p:sp>
      <p:sp>
        <p:nvSpPr>
          <p:cNvPr id="117" name="Google Shape;117;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t>I/O Operation Efficiency</a:t>
            </a:r>
            <a:r>
              <a:rPr lang="en" sz="1900"/>
              <a:t>:</a:t>
            </a:r>
            <a:endParaRPr sz="1900"/>
          </a:p>
          <a:p>
            <a:pPr indent="-349250" lvl="0" marL="457200" rtl="0" algn="l">
              <a:lnSpc>
                <a:spcPct val="115000"/>
              </a:lnSpc>
              <a:spcBef>
                <a:spcPts val="1200"/>
              </a:spcBef>
              <a:spcAft>
                <a:spcPts val="0"/>
              </a:spcAft>
              <a:buClr>
                <a:schemeClr val="dk1"/>
              </a:buClr>
              <a:buSzPts val="1900"/>
              <a:buFont typeface="Arial"/>
              <a:buChar char="●"/>
            </a:pPr>
            <a:r>
              <a:rPr lang="en" sz="1900"/>
              <a:t>Larger blocks mean that fewer I/O operations are needed to read or write a large file, potentially improving performance for tasks that involve large, sequential data transfers.</a:t>
            </a:r>
            <a:endParaRPr sz="1900"/>
          </a:p>
          <a:p>
            <a:pPr indent="-349250" lvl="0" marL="457200" rtl="0" algn="l">
              <a:lnSpc>
                <a:spcPct val="115000"/>
              </a:lnSpc>
              <a:spcBef>
                <a:spcPts val="0"/>
              </a:spcBef>
              <a:spcAft>
                <a:spcPts val="0"/>
              </a:spcAft>
              <a:buClr>
                <a:schemeClr val="dk1"/>
              </a:buClr>
              <a:buSzPts val="1900"/>
              <a:buFont typeface="Arial"/>
              <a:buChar char="●"/>
            </a:pPr>
            <a:r>
              <a:rPr lang="en" sz="1900"/>
              <a:t>Conversely, for workloads that involve numerous small, random access read/write operations, smaller block sizes might improve performance since less unnecessary data is read or written.</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Impact on Disk Space Utilization: </a:t>
            </a:r>
            <a:r>
              <a:rPr lang="en" sz="2200">
                <a:highlight>
                  <a:srgbClr val="FFFF00"/>
                </a:highlight>
              </a:rPr>
              <a:t>Slack Space Consideration</a:t>
            </a:r>
            <a:endParaRPr sz="2200">
              <a:highlight>
                <a:srgbClr val="FFFF00"/>
              </a:highlight>
            </a:endParaRPr>
          </a:p>
        </p:txBody>
      </p:sp>
      <p:sp>
        <p:nvSpPr>
          <p:cNvPr id="123" name="Google Shape;123;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310832" lvl="0" marL="457200" rtl="0" algn="l">
              <a:lnSpc>
                <a:spcPct val="115000"/>
              </a:lnSpc>
              <a:spcBef>
                <a:spcPts val="0"/>
              </a:spcBef>
              <a:spcAft>
                <a:spcPts val="0"/>
              </a:spcAft>
              <a:buClr>
                <a:schemeClr val="dk1"/>
              </a:buClr>
              <a:buSzPct val="100000"/>
              <a:buFont typeface="Arial"/>
              <a:buAutoNum type="arabicPeriod"/>
            </a:pPr>
            <a:r>
              <a:rPr b="1" lang="en" sz="1400"/>
              <a:t>Slack Space Consideration</a:t>
            </a:r>
            <a:r>
              <a:rPr lang="en" sz="1400"/>
              <a:t>:</a:t>
            </a:r>
            <a:endParaRPr sz="1400"/>
          </a:p>
          <a:p>
            <a:pPr indent="-310832" lvl="1" marL="914400" rtl="0" algn="l">
              <a:lnSpc>
                <a:spcPct val="115000"/>
              </a:lnSpc>
              <a:spcBef>
                <a:spcPts val="0"/>
              </a:spcBef>
              <a:spcAft>
                <a:spcPts val="0"/>
              </a:spcAft>
              <a:buClr>
                <a:schemeClr val="dk1"/>
              </a:buClr>
              <a:buSzPct val="100000"/>
              <a:buFont typeface="Arial"/>
              <a:buChar char="○"/>
            </a:pPr>
            <a:r>
              <a:rPr lang="en" sz="1400"/>
              <a:t>With larger block sizes, there's typically more slack space because the remaining part of the block remains unused if the file size doesn't exactly fill the block. This can lead to wasted disk space, especially if the storage system contains a large number of small files.</a:t>
            </a:r>
            <a:endParaRPr sz="1400"/>
          </a:p>
          <a:p>
            <a:pPr indent="-310832" lvl="1" marL="914400" rtl="0" algn="l">
              <a:lnSpc>
                <a:spcPct val="115000"/>
              </a:lnSpc>
              <a:spcBef>
                <a:spcPts val="0"/>
              </a:spcBef>
              <a:spcAft>
                <a:spcPts val="0"/>
              </a:spcAft>
              <a:buClr>
                <a:schemeClr val="dk1"/>
              </a:buClr>
              <a:buSzPct val="100000"/>
              <a:buFont typeface="Arial"/>
              <a:buChar char="○"/>
            </a:pPr>
            <a:r>
              <a:rPr lang="en" sz="1400"/>
              <a:t>Smaller block sizes can minimize slack space and optimize disk space utilization. However, this might increase the metadata overhead (more blocks to manage) and potentially reduce performance due to increased fragmentation.</a:t>
            </a:r>
            <a:endParaRPr sz="1400"/>
          </a:p>
          <a:p>
            <a:pPr indent="-310832" lvl="0" marL="457200" rtl="0" algn="l">
              <a:lnSpc>
                <a:spcPct val="115000"/>
              </a:lnSpc>
              <a:spcBef>
                <a:spcPts val="0"/>
              </a:spcBef>
              <a:spcAft>
                <a:spcPts val="0"/>
              </a:spcAft>
              <a:buClr>
                <a:schemeClr val="dk1"/>
              </a:buClr>
              <a:buSzPct val="100000"/>
              <a:buFont typeface="Arial"/>
              <a:buAutoNum type="arabicPeriod"/>
            </a:pPr>
            <a:r>
              <a:rPr b="1" lang="en" sz="1400"/>
              <a:t>Cluster Size and Allocation</a:t>
            </a:r>
            <a:r>
              <a:rPr lang="en" sz="1400"/>
              <a:t>:</a:t>
            </a:r>
            <a:endParaRPr sz="1400"/>
          </a:p>
          <a:p>
            <a:pPr indent="-310832" lvl="1" marL="914400" rtl="0" algn="l">
              <a:lnSpc>
                <a:spcPct val="115000"/>
              </a:lnSpc>
              <a:spcBef>
                <a:spcPts val="0"/>
              </a:spcBef>
              <a:spcAft>
                <a:spcPts val="0"/>
              </a:spcAft>
              <a:buClr>
                <a:schemeClr val="dk1"/>
              </a:buClr>
              <a:buSzPct val="100000"/>
              <a:buFont typeface="Arial"/>
              <a:buChar char="○"/>
            </a:pPr>
            <a:r>
              <a:rPr lang="en" sz="1400"/>
              <a:t>The cluster size (group of blocks) also impacts disk space utilization. Larger clusters can lead to more slack space but reduce the filesystem's metadata since fewer clusters need to be managed.</a:t>
            </a:r>
            <a:endParaRPr sz="1400"/>
          </a:p>
          <a:p>
            <a:pPr indent="-310832" lvl="1" marL="914400" rtl="0" algn="l">
              <a:lnSpc>
                <a:spcPct val="115000"/>
              </a:lnSpc>
              <a:spcBef>
                <a:spcPts val="0"/>
              </a:spcBef>
              <a:spcAft>
                <a:spcPts val="0"/>
              </a:spcAft>
              <a:buClr>
                <a:schemeClr val="dk1"/>
              </a:buClr>
              <a:buSzPct val="100000"/>
              <a:buFont typeface="Arial"/>
              <a:buChar char="○"/>
            </a:pPr>
            <a:r>
              <a:rPr lang="en" sz="1400"/>
              <a:t>Choosing the right cluster size is a balance between optimizing disk space usage and maintaining an efficient and fast file system.</a:t>
            </a:r>
            <a:endParaRPr sz="2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Impact on Disk Space Utilization: </a:t>
            </a:r>
            <a:r>
              <a:rPr lang="en" sz="2200">
                <a:highlight>
                  <a:srgbClr val="FFFF00"/>
                </a:highlight>
              </a:rPr>
              <a:t>Cluster Size and Allocation</a:t>
            </a:r>
            <a:endParaRPr sz="2200">
              <a:highlight>
                <a:srgbClr val="FFFF00"/>
              </a:highlight>
            </a:endParaRPr>
          </a:p>
        </p:txBody>
      </p:sp>
      <p:sp>
        <p:nvSpPr>
          <p:cNvPr id="129" name="Google Shape;129;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The cluster size (group of blocks) also impacts disk space utilization. Larger clusters can lead to more slack space but reduce the filesystem's metadata since fewer clusters need to be managed.</a:t>
            </a:r>
            <a:endParaRPr/>
          </a:p>
          <a:p>
            <a:pPr indent="-298450" lvl="0" marL="457200" rtl="0" algn="l">
              <a:lnSpc>
                <a:spcPct val="115000"/>
              </a:lnSpc>
              <a:spcBef>
                <a:spcPts val="0"/>
              </a:spcBef>
              <a:spcAft>
                <a:spcPts val="0"/>
              </a:spcAft>
              <a:buClr>
                <a:schemeClr val="dk1"/>
              </a:buClr>
              <a:buSzPts val="1100"/>
              <a:buFont typeface="Arial"/>
              <a:buChar char="●"/>
            </a:pPr>
            <a:r>
              <a:rPr lang="en"/>
              <a:t>Choosing the right cluster size is a balance between optimizing disk space usage and maintaining an efficient and fast file system.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Considerations for Specific Storage Media</a:t>
            </a:r>
            <a:endParaRPr/>
          </a:p>
        </p:txBody>
      </p:sp>
      <p:sp>
        <p:nvSpPr>
          <p:cNvPr id="135" name="Google Shape;135;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AutoNum type="arabicPeriod"/>
            </a:pPr>
            <a:r>
              <a:rPr b="1" lang="en" sz="1800"/>
              <a:t>HDDs vs. SSDs</a:t>
            </a:r>
            <a:r>
              <a:rPr lang="en" sz="1800"/>
              <a:t>:</a:t>
            </a:r>
            <a:endParaRPr sz="1800"/>
          </a:p>
          <a:p>
            <a:pPr indent="-342900" lvl="1" marL="914400" rtl="0" algn="l">
              <a:lnSpc>
                <a:spcPct val="115000"/>
              </a:lnSpc>
              <a:spcBef>
                <a:spcPts val="0"/>
              </a:spcBef>
              <a:spcAft>
                <a:spcPts val="0"/>
              </a:spcAft>
              <a:buClr>
                <a:schemeClr val="dk1"/>
              </a:buClr>
              <a:buSzPts val="1800"/>
              <a:buFont typeface="Arial"/>
              <a:buChar char="○"/>
            </a:pPr>
            <a:r>
              <a:rPr lang="en" sz="1800"/>
              <a:t>For HDDs, larger blocks and clusters can reduce the mechanical movement of the read/write head, improving performance.</a:t>
            </a:r>
            <a:endParaRPr sz="1800"/>
          </a:p>
          <a:p>
            <a:pPr indent="-342900" lvl="1" marL="914400" rtl="0" algn="l">
              <a:lnSpc>
                <a:spcPct val="115000"/>
              </a:lnSpc>
              <a:spcBef>
                <a:spcPts val="0"/>
              </a:spcBef>
              <a:spcAft>
                <a:spcPts val="0"/>
              </a:spcAft>
              <a:buClr>
                <a:schemeClr val="dk1"/>
              </a:buClr>
              <a:buSzPts val="1800"/>
              <a:buFont typeface="Arial"/>
              <a:buChar char="○"/>
            </a:pPr>
            <a:r>
              <a:rPr lang="en" sz="1800"/>
              <a:t>In SSDs, which have no moving parts and faster access times, the impact of block and cluster sizes on performance might be less pronounced. However, wear leveling and block erase considerations are essential for SSDs.</a:t>
            </a:r>
            <a:endParaRPr sz="2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Object Storage - A New Approach to Scalability</a:t>
            </a:r>
            <a:endParaRPr sz="2700"/>
          </a:p>
        </p:txBody>
      </p:sp>
      <p:sp>
        <p:nvSpPr>
          <p:cNvPr id="141" name="Google Shape;141;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b="1" lang="en"/>
              <a:t>Definition</a:t>
            </a:r>
            <a:r>
              <a:rPr lang="en"/>
              <a:t>: Stores data as objects, each containing the data, metadata, and a unique identifier.</a:t>
            </a:r>
            <a:endParaRPr/>
          </a:p>
          <a:p>
            <a:pPr indent="-298450" lvl="0" marL="457200" rtl="0" algn="l">
              <a:lnSpc>
                <a:spcPct val="115000"/>
              </a:lnSpc>
              <a:spcBef>
                <a:spcPts val="0"/>
              </a:spcBef>
              <a:spcAft>
                <a:spcPts val="0"/>
              </a:spcAft>
              <a:buClr>
                <a:schemeClr val="dk1"/>
              </a:buClr>
              <a:buSzPts val="1100"/>
              <a:buFont typeface="Arial"/>
              <a:buChar char="●"/>
            </a:pPr>
            <a:r>
              <a:rPr b="1" lang="en"/>
              <a:t>Characteristics</a:t>
            </a:r>
            <a:r>
              <a:rPr lang="en"/>
              <a:t>: Highly scalable, location-independent, and suitable for unstructured data.</a:t>
            </a:r>
            <a:endParaRPr/>
          </a:p>
          <a:p>
            <a:pPr indent="-298450" lvl="0" marL="457200" rtl="0" algn="l">
              <a:lnSpc>
                <a:spcPct val="115000"/>
              </a:lnSpc>
              <a:spcBef>
                <a:spcPts val="0"/>
              </a:spcBef>
              <a:spcAft>
                <a:spcPts val="0"/>
              </a:spcAft>
              <a:buClr>
                <a:schemeClr val="dk1"/>
              </a:buClr>
              <a:buSzPts val="1100"/>
              <a:buFont typeface="Arial"/>
              <a:buChar char="●"/>
            </a:pPr>
            <a:r>
              <a:rPr b="1" lang="en"/>
              <a:t>Common Use-Cases</a:t>
            </a:r>
            <a:r>
              <a:rPr lang="en"/>
              <a:t>: Big data analytics, cloud-native applications, and backup storage.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Sector vs Block</a:t>
            </a:r>
            <a:endParaRPr/>
          </a:p>
        </p:txBody>
      </p:sp>
      <p:sp>
        <p:nvSpPr>
          <p:cNvPr id="147" name="Google Shape;147;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Clr>
                <a:schemeClr val="dk1"/>
              </a:buClr>
              <a:buSzPct val="68750"/>
              <a:buFont typeface="Arial"/>
              <a:buNone/>
            </a:pPr>
            <a:r>
              <a:rPr b="1" lang="en" sz="1600"/>
              <a:t>Sector</a:t>
            </a:r>
            <a:r>
              <a:rPr lang="en" sz="1600"/>
              <a:t>:</a:t>
            </a:r>
            <a:endParaRPr sz="1600"/>
          </a:p>
          <a:p>
            <a:pPr indent="-307340" lvl="0" marL="457200" rtl="0" algn="l">
              <a:lnSpc>
                <a:spcPct val="115000"/>
              </a:lnSpc>
              <a:spcBef>
                <a:spcPts val="1200"/>
              </a:spcBef>
              <a:spcAft>
                <a:spcPts val="0"/>
              </a:spcAft>
              <a:buClr>
                <a:schemeClr val="dk1"/>
              </a:buClr>
              <a:buSzPct val="100000"/>
              <a:buFont typeface="Arial"/>
              <a:buChar char="●"/>
            </a:pPr>
            <a:r>
              <a:rPr lang="en" sz="1600"/>
              <a:t>The smallest unit of data storage on a hard disk.</a:t>
            </a:r>
            <a:endParaRPr sz="1600"/>
          </a:p>
          <a:p>
            <a:pPr indent="-307340" lvl="0" marL="457200" rtl="0" algn="l">
              <a:lnSpc>
                <a:spcPct val="115000"/>
              </a:lnSpc>
              <a:spcBef>
                <a:spcPts val="0"/>
              </a:spcBef>
              <a:spcAft>
                <a:spcPts val="0"/>
              </a:spcAft>
              <a:buClr>
                <a:schemeClr val="dk1"/>
              </a:buClr>
              <a:buSzPct val="100000"/>
              <a:buFont typeface="Arial"/>
              <a:buChar char="●"/>
            </a:pPr>
            <a:r>
              <a:rPr lang="en" sz="1600"/>
              <a:t>A sector typically stores a fixed amount of data, traditionally 512 bytes, but newer hard drives might use 4K sectors.</a:t>
            </a:r>
            <a:endParaRPr sz="1600"/>
          </a:p>
          <a:p>
            <a:pPr indent="-307340" lvl="0" marL="457200" rtl="0" algn="l">
              <a:lnSpc>
                <a:spcPct val="115000"/>
              </a:lnSpc>
              <a:spcBef>
                <a:spcPts val="0"/>
              </a:spcBef>
              <a:spcAft>
                <a:spcPts val="0"/>
              </a:spcAft>
              <a:buClr>
                <a:schemeClr val="dk1"/>
              </a:buClr>
              <a:buSzPct val="100000"/>
              <a:buFont typeface="Arial"/>
              <a:buChar char="●"/>
            </a:pPr>
            <a:r>
              <a:rPr lang="en" sz="1600"/>
              <a:t>Sectors are sequentially numbered within a track.</a:t>
            </a:r>
            <a:endParaRPr sz="1600"/>
          </a:p>
          <a:p>
            <a:pPr indent="0" lvl="0" marL="0" rtl="0" algn="l">
              <a:lnSpc>
                <a:spcPct val="115000"/>
              </a:lnSpc>
              <a:spcBef>
                <a:spcPts val="1200"/>
              </a:spcBef>
              <a:spcAft>
                <a:spcPts val="0"/>
              </a:spcAft>
              <a:buClr>
                <a:schemeClr val="dk1"/>
              </a:buClr>
              <a:buSzPct val="68750"/>
              <a:buFont typeface="Arial"/>
              <a:buNone/>
            </a:pPr>
            <a:r>
              <a:rPr b="1" lang="en" sz="1600"/>
              <a:t>Block</a:t>
            </a:r>
            <a:r>
              <a:rPr lang="en" sz="1600"/>
              <a:t>:</a:t>
            </a:r>
            <a:endParaRPr sz="1600"/>
          </a:p>
          <a:p>
            <a:pPr indent="-307340" lvl="0" marL="457200" rtl="0" algn="l">
              <a:lnSpc>
                <a:spcPct val="115000"/>
              </a:lnSpc>
              <a:spcBef>
                <a:spcPts val="1200"/>
              </a:spcBef>
              <a:spcAft>
                <a:spcPts val="0"/>
              </a:spcAft>
              <a:buClr>
                <a:schemeClr val="dk1"/>
              </a:buClr>
              <a:buSzPct val="100000"/>
              <a:buFont typeface="Arial"/>
              <a:buChar char="●"/>
            </a:pPr>
            <a:r>
              <a:rPr lang="en" sz="1600"/>
              <a:t>Often used interchangeably with "sector" but can also refer to a group of sectors.</a:t>
            </a:r>
            <a:endParaRPr sz="1600"/>
          </a:p>
          <a:p>
            <a:pPr indent="-307340" lvl="0" marL="457200" rtl="0" algn="l">
              <a:lnSpc>
                <a:spcPct val="115000"/>
              </a:lnSpc>
              <a:spcBef>
                <a:spcPts val="0"/>
              </a:spcBef>
              <a:spcAft>
                <a:spcPts val="0"/>
              </a:spcAft>
              <a:buClr>
                <a:schemeClr val="dk1"/>
              </a:buClr>
              <a:buSzPct val="100000"/>
              <a:buFont typeface="Arial"/>
              <a:buChar char="●"/>
            </a:pPr>
            <a:r>
              <a:rPr lang="en" sz="1600"/>
              <a:t>In filesystems, a "block" typically represents the smallest unit of data that the operating system can read or write. In this context, a block might consist of multiple sectors.</a:t>
            </a:r>
            <a:endParaRPr sz="1600"/>
          </a:p>
          <a:p>
            <a:pPr indent="-307340" lvl="0" marL="457200" rtl="0" algn="l">
              <a:lnSpc>
                <a:spcPct val="115000"/>
              </a:lnSpc>
              <a:spcBef>
                <a:spcPts val="0"/>
              </a:spcBef>
              <a:spcAft>
                <a:spcPts val="0"/>
              </a:spcAft>
              <a:buClr>
                <a:schemeClr val="dk1"/>
              </a:buClr>
              <a:buSzPct val="100000"/>
              <a:buFont typeface="Arial"/>
              <a:buChar char="●"/>
            </a:pPr>
            <a:r>
              <a:rPr lang="en" sz="1600"/>
              <a:t>The term "block" is more commonly used in the context of filesystems or higher-level storage abstractions, whereas "sector" is more of a physical disk-level term.</a:t>
            </a:r>
            <a:endParaRPr sz="2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Cylinder</a:t>
            </a:r>
            <a:endParaRPr/>
          </a:p>
        </p:txBody>
      </p:sp>
      <p:sp>
        <p:nvSpPr>
          <p:cNvPr id="153" name="Google Shape;153;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4705"/>
              <a:buFont typeface="Arial"/>
              <a:buNone/>
            </a:pPr>
            <a:r>
              <a:rPr b="1" lang="en" sz="1700"/>
              <a:t>Cylinder</a:t>
            </a:r>
            <a:r>
              <a:rPr lang="en" sz="1700"/>
              <a:t>:</a:t>
            </a:r>
            <a:endParaRPr sz="1700"/>
          </a:p>
          <a:p>
            <a:pPr indent="-328453" lvl="0" marL="457200" rtl="0" algn="l">
              <a:lnSpc>
                <a:spcPct val="115000"/>
              </a:lnSpc>
              <a:spcBef>
                <a:spcPts val="1200"/>
              </a:spcBef>
              <a:spcAft>
                <a:spcPts val="0"/>
              </a:spcAft>
              <a:buClr>
                <a:schemeClr val="dk1"/>
              </a:buClr>
              <a:buSzPct val="100000"/>
              <a:buFont typeface="Arial"/>
              <a:buChar char="●"/>
            </a:pPr>
            <a:r>
              <a:rPr lang="en" sz="1700"/>
              <a:t>Refers to a set of tracks that are at the same position on each platter of a hard disk. When the read/write heads move across the platters, they access the same track number on each platter, which collectively forms a cylinder.</a:t>
            </a:r>
            <a:endParaRPr sz="1700"/>
          </a:p>
          <a:p>
            <a:pPr indent="-328453" lvl="0" marL="457200" rtl="0" algn="l">
              <a:lnSpc>
                <a:spcPct val="115000"/>
              </a:lnSpc>
              <a:spcBef>
                <a:spcPts val="0"/>
              </a:spcBef>
              <a:spcAft>
                <a:spcPts val="0"/>
              </a:spcAft>
              <a:buClr>
                <a:schemeClr val="dk1"/>
              </a:buClr>
              <a:buSzPct val="100000"/>
              <a:buFont typeface="Arial"/>
              <a:buChar char="●"/>
            </a:pPr>
            <a:r>
              <a:rPr lang="en" sz="1700"/>
              <a:t>The concept of cylinders is important in the context of older HDDs where the disk head had to physically move to the correct track. All the sectors that can be accessed without moving the head form a cylinder.</a:t>
            </a:r>
            <a:endParaRPr sz="1700"/>
          </a:p>
          <a:p>
            <a:pPr indent="-328453" lvl="0" marL="457200" rtl="0" algn="l">
              <a:lnSpc>
                <a:spcPct val="115000"/>
              </a:lnSpc>
              <a:spcBef>
                <a:spcPts val="0"/>
              </a:spcBef>
              <a:spcAft>
                <a:spcPts val="0"/>
              </a:spcAft>
              <a:buClr>
                <a:schemeClr val="dk1"/>
              </a:buClr>
              <a:buSzPct val="100000"/>
              <a:buFont typeface="Arial"/>
              <a:buChar char="●"/>
            </a:pPr>
            <a:r>
              <a:rPr lang="en" sz="1700"/>
              <a:t>In modern computing, the importance of cylinders has diminished with advancements in storage technology and the use of Logical Block Addressing (LBA), which abstracts the physical geometry of the disk.</a:t>
            </a:r>
            <a:endParaRPr sz="3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30"/>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59" name="Google Shape;159;p30"/>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Direct-Attached Storage (DAS)?</a:t>
            </a:r>
            <a:endParaRPr/>
          </a:p>
        </p:txBody>
      </p:sp>
      <p:sp>
        <p:nvSpPr>
          <p:cNvPr id="165" name="Google Shape;165;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b="1" lang="en"/>
              <a:t>Definition</a:t>
            </a:r>
            <a:r>
              <a:rPr lang="en"/>
              <a:t>: DAS is a digital storage system directly attached to a server or workstation, without a network interface.</a:t>
            </a:r>
            <a:endParaRPr/>
          </a:p>
          <a:p>
            <a:pPr indent="-298450" lvl="0" marL="457200" rtl="0" algn="l">
              <a:lnSpc>
                <a:spcPct val="115000"/>
              </a:lnSpc>
              <a:spcBef>
                <a:spcPts val="0"/>
              </a:spcBef>
              <a:spcAft>
                <a:spcPts val="0"/>
              </a:spcAft>
              <a:buClr>
                <a:schemeClr val="dk1"/>
              </a:buClr>
              <a:buSzPts val="1100"/>
              <a:buFont typeface="Arial"/>
              <a:buChar char="●"/>
            </a:pPr>
            <a:r>
              <a:rPr b="1" lang="en"/>
              <a:t>Characteristics</a:t>
            </a:r>
            <a:r>
              <a:rPr lang="en"/>
              <a:t>:</a:t>
            </a:r>
            <a:endParaRPr/>
          </a:p>
          <a:p>
            <a:pPr indent="-298450" lvl="1" marL="914400" rtl="0" algn="l">
              <a:lnSpc>
                <a:spcPct val="115000"/>
              </a:lnSpc>
              <a:spcBef>
                <a:spcPts val="0"/>
              </a:spcBef>
              <a:spcAft>
                <a:spcPts val="0"/>
              </a:spcAft>
              <a:buClr>
                <a:schemeClr val="dk1"/>
              </a:buClr>
              <a:buSzPts val="1100"/>
              <a:buFont typeface="Arial"/>
              <a:buChar char="○"/>
            </a:pPr>
            <a:r>
              <a:rPr lang="en"/>
              <a:t>Simplicity and cost-effectiveness.</a:t>
            </a:r>
            <a:endParaRPr/>
          </a:p>
          <a:p>
            <a:pPr indent="-298450" lvl="1" marL="914400" rtl="0" algn="l">
              <a:lnSpc>
                <a:spcPct val="115000"/>
              </a:lnSpc>
              <a:spcBef>
                <a:spcPts val="0"/>
              </a:spcBef>
              <a:spcAft>
                <a:spcPts val="0"/>
              </a:spcAft>
              <a:buClr>
                <a:schemeClr val="dk1"/>
              </a:buClr>
              <a:buSzPts val="1100"/>
              <a:buFont typeface="Arial"/>
              <a:buChar char="○"/>
            </a:pPr>
            <a:r>
              <a:rPr lang="en"/>
              <a:t>Typically used for individual computers or small networks.</a:t>
            </a:r>
            <a:endParaRPr/>
          </a:p>
          <a:p>
            <a:pPr indent="-298450" lvl="0" marL="457200" rtl="0" algn="l">
              <a:lnSpc>
                <a:spcPct val="115000"/>
              </a:lnSpc>
              <a:spcBef>
                <a:spcPts val="0"/>
              </a:spcBef>
              <a:spcAft>
                <a:spcPts val="0"/>
              </a:spcAft>
              <a:buClr>
                <a:schemeClr val="dk1"/>
              </a:buClr>
              <a:buSzPts val="1100"/>
              <a:buFont typeface="Arial"/>
              <a:buChar char="●"/>
            </a:pPr>
            <a:r>
              <a:rPr b="1" lang="en"/>
              <a:t>Common Use-Cases</a:t>
            </a:r>
            <a:r>
              <a:rPr lang="en"/>
              <a:t>:</a:t>
            </a:r>
            <a:endParaRPr/>
          </a:p>
          <a:p>
            <a:pPr indent="-298450" lvl="1" marL="914400" rtl="0" algn="l">
              <a:lnSpc>
                <a:spcPct val="115000"/>
              </a:lnSpc>
              <a:spcBef>
                <a:spcPts val="0"/>
              </a:spcBef>
              <a:spcAft>
                <a:spcPts val="0"/>
              </a:spcAft>
              <a:buClr>
                <a:schemeClr val="dk1"/>
              </a:buClr>
              <a:buSzPts val="1100"/>
              <a:buFont typeface="Arial"/>
              <a:buChar char="○"/>
            </a:pPr>
            <a:r>
              <a:rPr lang="en"/>
              <a:t>File storage for individual users.</a:t>
            </a:r>
            <a:endParaRPr/>
          </a:p>
          <a:p>
            <a:pPr indent="-298450" lvl="1" marL="914400" rtl="0" algn="l">
              <a:lnSpc>
                <a:spcPct val="115000"/>
              </a:lnSpc>
              <a:spcBef>
                <a:spcPts val="0"/>
              </a:spcBef>
              <a:spcAft>
                <a:spcPts val="0"/>
              </a:spcAft>
              <a:buClr>
                <a:schemeClr val="dk1"/>
              </a:buClr>
              <a:buSzPts val="1100"/>
              <a:buFont typeface="Arial"/>
              <a:buChar char="○"/>
            </a:pPr>
            <a:r>
              <a:rPr lang="en"/>
              <a:t>Backup storage for small businesses.</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Understanding Storage Area Network (SAN)</a:t>
            </a:r>
            <a:endParaRPr sz="3000"/>
          </a:p>
        </p:txBody>
      </p:sp>
      <p:sp>
        <p:nvSpPr>
          <p:cNvPr id="171" name="Google Shape;171;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292100" lvl="0" marL="457200" rtl="0" algn="l">
              <a:lnSpc>
                <a:spcPct val="115000"/>
              </a:lnSpc>
              <a:spcBef>
                <a:spcPts val="0"/>
              </a:spcBef>
              <a:spcAft>
                <a:spcPts val="0"/>
              </a:spcAft>
              <a:buClr>
                <a:schemeClr val="dk1"/>
              </a:buClr>
              <a:buSzPts val="1000"/>
              <a:buFont typeface="Arial"/>
              <a:buChar char="●"/>
            </a:pPr>
            <a:r>
              <a:rPr b="1" lang="en" sz="2300"/>
              <a:t>Definition</a:t>
            </a:r>
            <a:r>
              <a:rPr lang="en" sz="2300"/>
              <a:t>: SAN is a high-speed network that interconnects and presents shared pools of storage devices to multiple servers.</a:t>
            </a:r>
            <a:endParaRPr sz="2300"/>
          </a:p>
          <a:p>
            <a:pPr indent="-292100" lvl="0" marL="457200" rtl="0" algn="l">
              <a:lnSpc>
                <a:spcPct val="115000"/>
              </a:lnSpc>
              <a:spcBef>
                <a:spcPts val="0"/>
              </a:spcBef>
              <a:spcAft>
                <a:spcPts val="0"/>
              </a:spcAft>
              <a:buClr>
                <a:schemeClr val="dk1"/>
              </a:buClr>
              <a:buSzPts val="1000"/>
              <a:buFont typeface="Arial"/>
              <a:buChar char="●"/>
            </a:pPr>
            <a:r>
              <a:rPr b="1" lang="en" sz="2300"/>
              <a:t>Characteristics</a:t>
            </a:r>
            <a:r>
              <a:rPr lang="en" sz="2300"/>
              <a:t>:</a:t>
            </a:r>
            <a:endParaRPr sz="2300"/>
          </a:p>
          <a:p>
            <a:pPr indent="-292100" lvl="1" marL="914400" rtl="0" algn="l">
              <a:lnSpc>
                <a:spcPct val="115000"/>
              </a:lnSpc>
              <a:spcBef>
                <a:spcPts val="0"/>
              </a:spcBef>
              <a:spcAft>
                <a:spcPts val="0"/>
              </a:spcAft>
              <a:buClr>
                <a:schemeClr val="dk1"/>
              </a:buClr>
              <a:buSzPts val="1000"/>
              <a:buFont typeface="Arial"/>
              <a:buChar char="○"/>
            </a:pPr>
            <a:r>
              <a:rPr lang="en" sz="1900"/>
              <a:t>Scalability and flexibility in storage management.</a:t>
            </a:r>
            <a:endParaRPr sz="1900"/>
          </a:p>
          <a:p>
            <a:pPr indent="-292100" lvl="1" marL="914400" rtl="0" algn="l">
              <a:lnSpc>
                <a:spcPct val="115000"/>
              </a:lnSpc>
              <a:spcBef>
                <a:spcPts val="0"/>
              </a:spcBef>
              <a:spcAft>
                <a:spcPts val="0"/>
              </a:spcAft>
              <a:buClr>
                <a:schemeClr val="dk1"/>
              </a:buClr>
              <a:buSzPts val="1000"/>
              <a:buFont typeface="Arial"/>
              <a:buChar char="○"/>
            </a:pPr>
            <a:r>
              <a:rPr lang="en" sz="1900"/>
              <a:t>High performance and reliability.</a:t>
            </a:r>
            <a:endParaRPr sz="1900"/>
          </a:p>
          <a:p>
            <a:pPr indent="-292100" lvl="0" marL="457200" rtl="0" algn="l">
              <a:lnSpc>
                <a:spcPct val="115000"/>
              </a:lnSpc>
              <a:spcBef>
                <a:spcPts val="0"/>
              </a:spcBef>
              <a:spcAft>
                <a:spcPts val="0"/>
              </a:spcAft>
              <a:buClr>
                <a:schemeClr val="dk1"/>
              </a:buClr>
              <a:buSzPts val="1000"/>
              <a:buFont typeface="Arial"/>
              <a:buChar char="●"/>
            </a:pPr>
            <a:r>
              <a:rPr b="1" lang="en" sz="2300"/>
              <a:t>Common Use-Cases</a:t>
            </a:r>
            <a:r>
              <a:rPr lang="en" sz="2300"/>
              <a:t>:</a:t>
            </a:r>
            <a:endParaRPr sz="2300"/>
          </a:p>
          <a:p>
            <a:pPr indent="-292100" lvl="1" marL="914400" rtl="0" algn="l">
              <a:lnSpc>
                <a:spcPct val="115000"/>
              </a:lnSpc>
              <a:spcBef>
                <a:spcPts val="0"/>
              </a:spcBef>
              <a:spcAft>
                <a:spcPts val="0"/>
              </a:spcAft>
              <a:buClr>
                <a:schemeClr val="dk1"/>
              </a:buClr>
              <a:buSzPts val="1000"/>
              <a:buFont typeface="Arial"/>
              <a:buChar char="○"/>
            </a:pPr>
            <a:r>
              <a:rPr lang="en" sz="1900"/>
              <a:t>Centralized storage for large enterprises.</a:t>
            </a:r>
            <a:endParaRPr sz="1900"/>
          </a:p>
          <a:p>
            <a:pPr indent="-292100" lvl="1" marL="914400" rtl="0" algn="l">
              <a:lnSpc>
                <a:spcPct val="115000"/>
              </a:lnSpc>
              <a:spcBef>
                <a:spcPts val="0"/>
              </a:spcBef>
              <a:spcAft>
                <a:spcPts val="0"/>
              </a:spcAft>
              <a:buClr>
                <a:schemeClr val="dk1"/>
              </a:buClr>
              <a:buSzPts val="1000"/>
              <a:buFont typeface="Arial"/>
              <a:buChar char="○"/>
            </a:pPr>
            <a:r>
              <a:rPr lang="en" sz="1900"/>
              <a:t>Support for critical applications requiring high availability and performance.</a:t>
            </a:r>
            <a:endParaRPr sz="2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33"/>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77" name="Google Shape;177;p33"/>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DAS vs. SAN: Key Differences</a:t>
            </a:r>
            <a:endParaRPr/>
          </a:p>
        </p:txBody>
      </p:sp>
      <p:sp>
        <p:nvSpPr>
          <p:cNvPr id="183" name="Google Shape;183;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Compare DAS and SAN based on:</a:t>
            </a:r>
            <a:endParaRPr/>
          </a:p>
          <a:p>
            <a:pPr indent="-298450" lvl="1" marL="914400" rtl="0" algn="l">
              <a:lnSpc>
                <a:spcPct val="115000"/>
              </a:lnSpc>
              <a:spcBef>
                <a:spcPts val="0"/>
              </a:spcBef>
              <a:spcAft>
                <a:spcPts val="0"/>
              </a:spcAft>
              <a:buClr>
                <a:schemeClr val="dk1"/>
              </a:buClr>
              <a:buSzPts val="1100"/>
              <a:buFont typeface="Arial"/>
              <a:buChar char="○"/>
            </a:pPr>
            <a:r>
              <a:rPr b="1" lang="en"/>
              <a:t>Connectivity</a:t>
            </a:r>
            <a:r>
              <a:rPr lang="en"/>
              <a:t>: DAS is directly attached, while SAN is network-based.</a:t>
            </a:r>
            <a:endParaRPr/>
          </a:p>
          <a:p>
            <a:pPr indent="-298450" lvl="1" marL="914400" rtl="0" algn="l">
              <a:lnSpc>
                <a:spcPct val="115000"/>
              </a:lnSpc>
              <a:spcBef>
                <a:spcPts val="0"/>
              </a:spcBef>
              <a:spcAft>
                <a:spcPts val="0"/>
              </a:spcAft>
              <a:buClr>
                <a:schemeClr val="dk1"/>
              </a:buClr>
              <a:buSzPts val="1100"/>
              <a:buFont typeface="Arial"/>
              <a:buChar char="○"/>
            </a:pPr>
            <a:r>
              <a:rPr b="1" lang="en"/>
              <a:t>Scalability</a:t>
            </a:r>
            <a:r>
              <a:rPr lang="en"/>
              <a:t>: DAS has limited scalability, SAN offers extensive scalability.</a:t>
            </a:r>
            <a:endParaRPr/>
          </a:p>
          <a:p>
            <a:pPr indent="-298450" lvl="1" marL="914400" rtl="0" algn="l">
              <a:lnSpc>
                <a:spcPct val="115000"/>
              </a:lnSpc>
              <a:spcBef>
                <a:spcPts val="0"/>
              </a:spcBef>
              <a:spcAft>
                <a:spcPts val="0"/>
              </a:spcAft>
              <a:buClr>
                <a:schemeClr val="dk1"/>
              </a:buClr>
              <a:buSzPts val="1100"/>
              <a:buFont typeface="Arial"/>
              <a:buChar char="○"/>
            </a:pPr>
            <a:r>
              <a:rPr b="1" lang="en"/>
              <a:t>Performance</a:t>
            </a:r>
            <a:r>
              <a:rPr lang="en"/>
              <a:t>: SAN typically offers higher performance, especially in larger environments.</a:t>
            </a:r>
            <a:endParaRPr/>
          </a:p>
          <a:p>
            <a:pPr indent="-298450" lvl="1" marL="914400" rtl="0" algn="l">
              <a:lnSpc>
                <a:spcPct val="115000"/>
              </a:lnSpc>
              <a:spcBef>
                <a:spcPts val="0"/>
              </a:spcBef>
              <a:spcAft>
                <a:spcPts val="0"/>
              </a:spcAft>
              <a:buClr>
                <a:schemeClr val="dk1"/>
              </a:buClr>
              <a:buSzPts val="1100"/>
              <a:buFont typeface="Arial"/>
              <a:buChar char="○"/>
            </a:pPr>
            <a:r>
              <a:rPr b="1" lang="en"/>
              <a:t>Cost Implication</a:t>
            </a:r>
            <a:r>
              <a:rPr lang="en"/>
              <a:t>: DAS is generally more cost-effective for smaller setups, SAN involves higher initial investment but offers long-term benefits for larger setups.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5"/>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89" name="Google Shape;189;p35"/>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Thin Provisioning</a:t>
            </a:r>
            <a:endParaRPr/>
          </a:p>
        </p:txBody>
      </p:sp>
      <p:sp>
        <p:nvSpPr>
          <p:cNvPr id="195" name="Google Shape;195;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000"/>
              <a:t>Definition</a:t>
            </a:r>
            <a:r>
              <a:rPr lang="en" sz="2000"/>
              <a:t>: Thin provisioning is a method of optimizing and managing storage where physical storage capacity is allocated on demand. This approach allows for the allocation of more storage capacity to applications or users than is physically available.</a:t>
            </a:r>
            <a:endParaRPr sz="2000"/>
          </a:p>
          <a:p>
            <a:pPr indent="0" lvl="0" marL="0" rtl="0" algn="l">
              <a:spcBef>
                <a:spcPts val="1200"/>
              </a:spcBef>
              <a:spcAft>
                <a:spcPts val="1200"/>
              </a:spcAft>
              <a:buNone/>
            </a:pPr>
            <a:r>
              <a:rPr b="1" lang="en" sz="2000"/>
              <a:t>Contrast with Traditional Storage</a:t>
            </a:r>
            <a:r>
              <a:rPr lang="en" sz="2000"/>
              <a:t>: In traditional (thick) provisioning, physical storage is fully allocated when a volume is created, leading to potential underutilization. Thin provisioning, by contrast, allocates storage based on actual usage, enhancing efficiency.</a:t>
            </a:r>
            <a:endParaRPr sz="33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Maximizing Storage with Thin Provisioning in SANs</a:t>
            </a:r>
            <a:endParaRPr sz="2600"/>
          </a:p>
        </p:txBody>
      </p:sp>
      <p:sp>
        <p:nvSpPr>
          <p:cNvPr id="201" name="Google Shape;201;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chemeClr val="dk1"/>
              </a:buClr>
              <a:buSzPts val="1500"/>
              <a:buFont typeface="Arial"/>
              <a:buChar char="●"/>
            </a:pPr>
            <a:r>
              <a:rPr b="1" lang="en" sz="1500"/>
              <a:t>Efficient Storage Utilization</a:t>
            </a:r>
            <a:r>
              <a:rPr lang="en" sz="1500"/>
              <a:t>:</a:t>
            </a:r>
            <a:endParaRPr sz="1500"/>
          </a:p>
          <a:p>
            <a:pPr indent="-323850" lvl="1" marL="914400" rtl="0" algn="l">
              <a:lnSpc>
                <a:spcPct val="115000"/>
              </a:lnSpc>
              <a:spcBef>
                <a:spcPts val="0"/>
              </a:spcBef>
              <a:spcAft>
                <a:spcPts val="0"/>
              </a:spcAft>
              <a:buClr>
                <a:schemeClr val="dk1"/>
              </a:buClr>
              <a:buSzPts val="1500"/>
              <a:buFont typeface="Arial"/>
              <a:buChar char="○"/>
            </a:pPr>
            <a:r>
              <a:rPr lang="en" sz="1500"/>
              <a:t>Thin provisioning in SANs enhances storage utilization by dynamically allocating space based on actual data usage. This method eliminates the wasted space commonly seen in traditional provisioning, where physical storage is allocated but often underutilized.</a:t>
            </a:r>
            <a:endParaRPr sz="1500"/>
          </a:p>
          <a:p>
            <a:pPr indent="-323850" lvl="0" marL="457200" rtl="0" algn="l">
              <a:lnSpc>
                <a:spcPct val="115000"/>
              </a:lnSpc>
              <a:spcBef>
                <a:spcPts val="0"/>
              </a:spcBef>
              <a:spcAft>
                <a:spcPts val="0"/>
              </a:spcAft>
              <a:buClr>
                <a:schemeClr val="dk1"/>
              </a:buClr>
              <a:buSzPts val="1500"/>
              <a:buFont typeface="Arial"/>
              <a:buChar char="●"/>
            </a:pPr>
            <a:r>
              <a:rPr b="1" lang="en" sz="1500"/>
              <a:t>Cost-Effective Scaling</a:t>
            </a:r>
            <a:r>
              <a:rPr lang="en" sz="1500"/>
              <a:t>:</a:t>
            </a:r>
            <a:endParaRPr sz="1500"/>
          </a:p>
          <a:p>
            <a:pPr indent="-323850" lvl="1" marL="914400" rtl="0" algn="l">
              <a:lnSpc>
                <a:spcPct val="115000"/>
              </a:lnSpc>
              <a:spcBef>
                <a:spcPts val="0"/>
              </a:spcBef>
              <a:spcAft>
                <a:spcPts val="0"/>
              </a:spcAft>
              <a:buClr>
                <a:schemeClr val="dk1"/>
              </a:buClr>
              <a:buSzPts val="1500"/>
              <a:buFont typeface="Arial"/>
              <a:buChar char="○"/>
            </a:pPr>
            <a:r>
              <a:rPr lang="en" sz="1500"/>
              <a:t>By allowing on-demand allocation of storage, thin provisioning defers the need for upfront purchase of physical storage. This delay in capital expenditure makes it a cost-effective solution for scaling storage infrastructure as the actual data grows.</a:t>
            </a:r>
            <a:endParaRPr sz="1500"/>
          </a:p>
          <a:p>
            <a:pPr indent="-323850" lvl="0" marL="457200" rtl="0" algn="l">
              <a:lnSpc>
                <a:spcPct val="115000"/>
              </a:lnSpc>
              <a:spcBef>
                <a:spcPts val="0"/>
              </a:spcBef>
              <a:spcAft>
                <a:spcPts val="0"/>
              </a:spcAft>
              <a:buClr>
                <a:schemeClr val="dk1"/>
              </a:buClr>
              <a:buSzPts val="1500"/>
              <a:buFont typeface="Arial"/>
              <a:buChar char="●"/>
            </a:pPr>
            <a:r>
              <a:rPr b="1" lang="en" sz="1500"/>
              <a:t>Flexibility and Agility</a:t>
            </a:r>
            <a:r>
              <a:rPr lang="en" sz="1500"/>
              <a:t>:</a:t>
            </a:r>
            <a:endParaRPr sz="1500"/>
          </a:p>
          <a:p>
            <a:pPr indent="-323850" lvl="1" marL="914400" rtl="0" algn="l">
              <a:lnSpc>
                <a:spcPct val="115000"/>
              </a:lnSpc>
              <a:spcBef>
                <a:spcPts val="0"/>
              </a:spcBef>
              <a:spcAft>
                <a:spcPts val="0"/>
              </a:spcAft>
              <a:buClr>
                <a:schemeClr val="dk1"/>
              </a:buClr>
              <a:buSzPts val="1500"/>
              <a:buFont typeface="Arial"/>
              <a:buChar char="○"/>
            </a:pPr>
            <a:r>
              <a:rPr lang="en" sz="1500"/>
              <a:t>Offers IT administrators the ability to manage storage resources flexibly, adapting quickly to changing needs without the risk of over-provisioning. This agility ensures that storage capacity aligns closely with current demand, enhancing operational efficiency.</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Implementing Thin Provisioning: Best Practices</a:t>
            </a:r>
            <a:endParaRPr sz="2800"/>
          </a:p>
        </p:txBody>
      </p:sp>
      <p:sp>
        <p:nvSpPr>
          <p:cNvPr id="207" name="Google Shape;207;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317500" lvl="0" marL="457200" rtl="0" algn="l">
              <a:lnSpc>
                <a:spcPct val="115000"/>
              </a:lnSpc>
              <a:spcBef>
                <a:spcPts val="0"/>
              </a:spcBef>
              <a:spcAft>
                <a:spcPts val="0"/>
              </a:spcAft>
              <a:buClr>
                <a:schemeClr val="dk1"/>
              </a:buClr>
              <a:buSzPts val="1400"/>
              <a:buFont typeface="Arial"/>
              <a:buChar char="●"/>
            </a:pPr>
            <a:r>
              <a:rPr b="1" lang="en" sz="1400"/>
              <a:t>Monitoring and Management</a:t>
            </a:r>
            <a:r>
              <a:rPr lang="en" sz="1400"/>
              <a:t>:</a:t>
            </a:r>
            <a:endParaRPr sz="1400"/>
          </a:p>
          <a:p>
            <a:pPr indent="-317500" lvl="1" marL="914400" rtl="0" algn="l">
              <a:lnSpc>
                <a:spcPct val="115000"/>
              </a:lnSpc>
              <a:spcBef>
                <a:spcPts val="0"/>
              </a:spcBef>
              <a:spcAft>
                <a:spcPts val="0"/>
              </a:spcAft>
              <a:buClr>
                <a:schemeClr val="dk1"/>
              </a:buClr>
              <a:buSzPts val="1400"/>
              <a:buFont typeface="Arial"/>
              <a:buChar char="○"/>
            </a:pPr>
            <a:r>
              <a:rPr lang="en" sz="1400"/>
              <a:t>Critical to regularly monitor storage usage and patterns to ensure that the physical storage can effectively support the volumes provisioned thinly. Proactive monitoring helps in anticipating needs and avoiding capacity shortages.</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Integration with SAN Features</a:t>
            </a:r>
            <a:r>
              <a:rPr lang="en" sz="1400"/>
              <a:t>:</a:t>
            </a:r>
            <a:endParaRPr sz="1400"/>
          </a:p>
          <a:p>
            <a:pPr indent="-317500" lvl="1" marL="914400" rtl="0" algn="l">
              <a:lnSpc>
                <a:spcPct val="115000"/>
              </a:lnSpc>
              <a:spcBef>
                <a:spcPts val="0"/>
              </a:spcBef>
              <a:spcAft>
                <a:spcPts val="0"/>
              </a:spcAft>
              <a:buClr>
                <a:schemeClr val="dk1"/>
              </a:buClr>
              <a:buSzPts val="1400"/>
              <a:buFont typeface="Arial"/>
              <a:buChar char="○"/>
            </a:pPr>
            <a:r>
              <a:rPr lang="en" sz="1400"/>
              <a:t>Thin provisioning complements other SAN features like snapshots, replication, and data deduplication. When used together, these features contribute to an optimized, high-performance storage environment, maximizing the benefits of virtualized storage solutions.</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Risk Mitigation</a:t>
            </a:r>
            <a:r>
              <a:rPr lang="en" sz="1400"/>
              <a:t>:</a:t>
            </a:r>
            <a:endParaRPr sz="1400"/>
          </a:p>
          <a:p>
            <a:pPr indent="-317500" lvl="1" marL="914400" rtl="0" algn="l">
              <a:lnSpc>
                <a:spcPct val="115000"/>
              </a:lnSpc>
              <a:spcBef>
                <a:spcPts val="0"/>
              </a:spcBef>
              <a:spcAft>
                <a:spcPts val="0"/>
              </a:spcAft>
              <a:buClr>
                <a:schemeClr val="dk1"/>
              </a:buClr>
              <a:buSzPts val="1400"/>
              <a:buFont typeface="Arial"/>
              <a:buChar char="○"/>
            </a:pPr>
            <a:r>
              <a:rPr lang="en" sz="1400"/>
              <a:t>While offering numerous benefits, thin provisioning requires careful management to mitigate risks such as over-provisioning. Ensuring adequate physical storage and employing predictive analysis tools can help in maintaining a balance between allocated and used storage, preventing potential resource exhaustion.</a:t>
            </a:r>
            <a:endParaRPr sz="23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Snapshots: Technical Deep Dive</a:t>
            </a:r>
            <a:endParaRPr/>
          </a:p>
        </p:txBody>
      </p:sp>
      <p:sp>
        <p:nvSpPr>
          <p:cNvPr id="213" name="Google Shape;213;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66700" lvl="0" marL="457200" rtl="0" algn="l">
              <a:lnSpc>
                <a:spcPct val="115000"/>
              </a:lnSpc>
              <a:spcBef>
                <a:spcPts val="0"/>
              </a:spcBef>
              <a:spcAft>
                <a:spcPts val="0"/>
              </a:spcAft>
              <a:buClr>
                <a:schemeClr val="dk1"/>
              </a:buClr>
              <a:buSzPts val="600"/>
              <a:buFont typeface="Arial"/>
              <a:buChar char="●"/>
            </a:pPr>
            <a:r>
              <a:rPr lang="en" sz="1900"/>
              <a:t>Snapshots function based on the '</a:t>
            </a:r>
            <a:r>
              <a:rPr b="1" lang="en" sz="1900">
                <a:solidFill>
                  <a:srgbClr val="FF0000"/>
                </a:solidFill>
              </a:rPr>
              <a:t>c</a:t>
            </a:r>
            <a:r>
              <a:rPr lang="en" sz="1900"/>
              <a:t>opy-</a:t>
            </a:r>
            <a:r>
              <a:rPr b="1" lang="en" sz="1900">
                <a:solidFill>
                  <a:srgbClr val="FF0000"/>
                </a:solidFill>
              </a:rPr>
              <a:t>o</a:t>
            </a:r>
            <a:r>
              <a:rPr lang="en" sz="1900"/>
              <a:t>n-</a:t>
            </a:r>
            <a:r>
              <a:rPr b="1" lang="en" sz="1900">
                <a:solidFill>
                  <a:srgbClr val="FF0000"/>
                </a:solidFill>
              </a:rPr>
              <a:t>w</a:t>
            </a:r>
            <a:r>
              <a:rPr lang="en" sz="1900"/>
              <a:t>rite' mechanism, where the system only copies data blocks when they are modified.</a:t>
            </a:r>
            <a:endParaRPr sz="1900"/>
          </a:p>
          <a:p>
            <a:pPr indent="-266700" lvl="0" marL="457200" rtl="0" algn="l">
              <a:lnSpc>
                <a:spcPct val="115000"/>
              </a:lnSpc>
              <a:spcBef>
                <a:spcPts val="0"/>
              </a:spcBef>
              <a:spcAft>
                <a:spcPts val="0"/>
              </a:spcAft>
              <a:buClr>
                <a:schemeClr val="dk1"/>
              </a:buClr>
              <a:buSzPts val="600"/>
              <a:buFont typeface="Arial"/>
              <a:buChar char="●"/>
            </a:pPr>
            <a:r>
              <a:rPr lang="en" sz="1900"/>
              <a:t>Initially, snapshots point to the same data blocks as the live system. They consume minimal space as no actual data is duplicated.</a:t>
            </a:r>
            <a:endParaRPr sz="1900"/>
          </a:p>
          <a:p>
            <a:pPr indent="-266700" lvl="0" marL="457200" rtl="0" algn="l">
              <a:lnSpc>
                <a:spcPct val="115000"/>
              </a:lnSpc>
              <a:spcBef>
                <a:spcPts val="0"/>
              </a:spcBef>
              <a:spcAft>
                <a:spcPts val="0"/>
              </a:spcAft>
              <a:buClr>
                <a:schemeClr val="dk1"/>
              </a:buClr>
              <a:buSzPts val="600"/>
              <a:buFont typeface="Arial"/>
              <a:buChar char="●"/>
            </a:pPr>
            <a:r>
              <a:rPr lang="en" sz="1900"/>
              <a:t>When a change occurs in the live data, the original block is copied to a new location before modification. The snapshot continues to point to the unmodified block, while the live system points to the modified one.</a:t>
            </a:r>
            <a:endParaRPr sz="1900"/>
          </a:p>
          <a:p>
            <a:pPr indent="-266700" lvl="0" marL="457200" rtl="0" algn="l">
              <a:lnSpc>
                <a:spcPct val="115000"/>
              </a:lnSpc>
              <a:spcBef>
                <a:spcPts val="0"/>
              </a:spcBef>
              <a:spcAft>
                <a:spcPts val="0"/>
              </a:spcAft>
              <a:buClr>
                <a:schemeClr val="dk1"/>
              </a:buClr>
              <a:buSzPts val="600"/>
              <a:buFont typeface="Arial"/>
              <a:buChar char="●"/>
            </a:pPr>
            <a:r>
              <a:rPr lang="en" sz="1900"/>
              <a:t>This process ensures that snapshots only consume additional space for data blocks that have changed since the snapshot was taken, aligning with the principles of thin provisioning by optimizing storage usage.</a:t>
            </a:r>
            <a:endParaRPr sz="1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COW Snapshot</a:t>
            </a:r>
            <a:endParaRPr/>
          </a:p>
        </p:txBody>
      </p:sp>
      <p:sp>
        <p:nvSpPr>
          <p:cNvPr id="219" name="Google Shape;219;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sz="1600"/>
          </a:p>
          <a:p>
            <a:pPr indent="0" lvl="0" marL="0" rtl="0" algn="l">
              <a:spcBef>
                <a:spcPts val="1200"/>
              </a:spcBef>
              <a:spcAft>
                <a:spcPts val="1200"/>
              </a:spcAft>
              <a:buNone/>
            </a:pPr>
            <a:r>
              <a:rPr lang="en" sz="1600"/>
              <a:t>Source: </a:t>
            </a:r>
            <a:r>
              <a:rPr lang="en" sz="1600" u="sng">
                <a:solidFill>
                  <a:schemeClr val="hlink"/>
                </a:solidFill>
                <a:hlinkClick r:id="rId3"/>
              </a:rPr>
              <a:t>SlideServe</a:t>
            </a:r>
            <a:endParaRPr sz="1600"/>
          </a:p>
        </p:txBody>
      </p:sp>
      <p:pic>
        <p:nvPicPr>
          <p:cNvPr id="220" name="Google Shape;220;p40"/>
          <p:cNvPicPr preferRelativeResize="0"/>
          <p:nvPr/>
        </p:nvPicPr>
        <p:blipFill>
          <a:blip r:embed="rId4">
            <a:alphaModFix/>
          </a:blip>
          <a:stretch>
            <a:fillRect/>
          </a:stretch>
        </p:blipFill>
        <p:spPr>
          <a:xfrm>
            <a:off x="1845400" y="921500"/>
            <a:ext cx="5758000" cy="3605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S3 Snapshots on AWS</a:t>
            </a:r>
            <a:endParaRPr/>
          </a:p>
        </p:txBody>
      </p:sp>
      <p:sp>
        <p:nvSpPr>
          <p:cNvPr id="226" name="Google Shape;226;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2000"/>
              <a:t>Source: </a:t>
            </a:r>
            <a:r>
              <a:rPr lang="en" sz="2000" u="sng">
                <a:solidFill>
                  <a:schemeClr val="hlink"/>
                </a:solidFill>
                <a:hlinkClick r:id="rId3"/>
              </a:rPr>
              <a:t>n2ws</a:t>
            </a:r>
            <a:endParaRPr sz="2000"/>
          </a:p>
        </p:txBody>
      </p:sp>
      <p:pic>
        <p:nvPicPr>
          <p:cNvPr id="227" name="Google Shape;227;p41"/>
          <p:cNvPicPr preferRelativeResize="0"/>
          <p:nvPr/>
        </p:nvPicPr>
        <p:blipFill>
          <a:blip r:embed="rId4">
            <a:alphaModFix/>
          </a:blip>
          <a:stretch>
            <a:fillRect/>
          </a:stretch>
        </p:blipFill>
        <p:spPr>
          <a:xfrm>
            <a:off x="2178422" y="935250"/>
            <a:ext cx="5391149" cy="4138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Space Efficiency: Snapshots and Thin Provisioning</a:t>
            </a:r>
            <a:endParaRPr sz="2500"/>
          </a:p>
        </p:txBody>
      </p:sp>
      <p:sp>
        <p:nvSpPr>
          <p:cNvPr id="233" name="Google Shape;233;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60350" lvl="0" marL="457200" rtl="0" algn="l">
              <a:lnSpc>
                <a:spcPct val="115000"/>
              </a:lnSpc>
              <a:spcBef>
                <a:spcPts val="0"/>
              </a:spcBef>
              <a:spcAft>
                <a:spcPts val="0"/>
              </a:spcAft>
              <a:buClr>
                <a:schemeClr val="dk1"/>
              </a:buClr>
              <a:buSzPts val="500"/>
              <a:buFont typeface="Arial"/>
              <a:buChar char="●"/>
            </a:pPr>
            <a:r>
              <a:rPr lang="en" sz="1800"/>
              <a:t>The synergy between snapshots and thin provisioning lies in their mutual focus on storage efficiency.</a:t>
            </a:r>
            <a:endParaRPr sz="1800"/>
          </a:p>
          <a:p>
            <a:pPr indent="-260350" lvl="0" marL="457200" rtl="0" algn="l">
              <a:lnSpc>
                <a:spcPct val="115000"/>
              </a:lnSpc>
              <a:spcBef>
                <a:spcPts val="0"/>
              </a:spcBef>
              <a:spcAft>
                <a:spcPts val="0"/>
              </a:spcAft>
              <a:buClr>
                <a:schemeClr val="dk1"/>
              </a:buClr>
              <a:buSzPts val="500"/>
              <a:buFont typeface="Arial"/>
              <a:buChar char="●"/>
            </a:pPr>
            <a:r>
              <a:rPr lang="en" sz="1800"/>
              <a:t>Thin provisioning allocates storage space dynamically, while snapshots ensure that only changes in data, not the entire dataset, consume additional space.</a:t>
            </a:r>
            <a:endParaRPr sz="1800"/>
          </a:p>
          <a:p>
            <a:pPr indent="-260350" lvl="0" marL="457200" rtl="0" algn="l">
              <a:lnSpc>
                <a:spcPct val="115000"/>
              </a:lnSpc>
              <a:spcBef>
                <a:spcPts val="0"/>
              </a:spcBef>
              <a:spcAft>
                <a:spcPts val="0"/>
              </a:spcAft>
              <a:buClr>
                <a:schemeClr val="dk1"/>
              </a:buClr>
              <a:buSzPts val="500"/>
              <a:buFont typeface="Arial"/>
              <a:buChar char="●"/>
            </a:pPr>
            <a:r>
              <a:rPr lang="en" sz="1800"/>
              <a:t>The 'copy-on-write' mechanism of snapshots complements thin provisioning by preventing unnecessary duplication of data, ensuring that space is used optimally and only as needed.</a:t>
            </a:r>
            <a:endParaRPr sz="1800"/>
          </a:p>
          <a:p>
            <a:pPr indent="-260350" lvl="0" marL="457200" rtl="0" algn="l">
              <a:lnSpc>
                <a:spcPct val="115000"/>
              </a:lnSpc>
              <a:spcBef>
                <a:spcPts val="0"/>
              </a:spcBef>
              <a:spcAft>
                <a:spcPts val="0"/>
              </a:spcAft>
              <a:buClr>
                <a:schemeClr val="dk1"/>
              </a:buClr>
              <a:buSzPts val="500"/>
              <a:buFont typeface="Arial"/>
              <a:buChar char="●"/>
            </a:pPr>
            <a:r>
              <a:rPr lang="en" sz="1800"/>
              <a:t>Understanding the dynamics of space usage in snapshots is crucial for storage planning and management, especially in systems where storage capacity and performance are critical considerations.</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Practices for Snapshot Management</a:t>
            </a:r>
            <a:endParaRPr/>
          </a:p>
        </p:txBody>
      </p:sp>
      <p:sp>
        <p:nvSpPr>
          <p:cNvPr id="239" name="Google Shape;239;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73050" lvl="0" marL="457200" rtl="0" algn="l">
              <a:lnSpc>
                <a:spcPct val="115000"/>
              </a:lnSpc>
              <a:spcBef>
                <a:spcPts val="0"/>
              </a:spcBef>
              <a:spcAft>
                <a:spcPts val="0"/>
              </a:spcAft>
              <a:buClr>
                <a:schemeClr val="dk1"/>
              </a:buClr>
              <a:buSzPts val="700"/>
              <a:buFont typeface="Arial"/>
              <a:buChar char="●"/>
            </a:pPr>
            <a:r>
              <a:rPr lang="en" sz="2000"/>
              <a:t>In a thinly provisioned environment, effective snapshot management is key to maintaining storage efficiency and performance.</a:t>
            </a:r>
            <a:endParaRPr sz="2000"/>
          </a:p>
          <a:p>
            <a:pPr indent="-273050" lvl="0" marL="457200" rtl="0" algn="l">
              <a:lnSpc>
                <a:spcPct val="115000"/>
              </a:lnSpc>
              <a:spcBef>
                <a:spcPts val="0"/>
              </a:spcBef>
              <a:spcAft>
                <a:spcPts val="0"/>
              </a:spcAft>
              <a:buClr>
                <a:schemeClr val="dk1"/>
              </a:buClr>
              <a:buSzPts val="700"/>
              <a:buFont typeface="Arial"/>
              <a:buChar char="●"/>
            </a:pPr>
            <a:r>
              <a:rPr lang="en" sz="2000"/>
              <a:t>Regularly monitor the growth of snapshots to ensure they do not consume more space than anticipated, which could lead to storage overprovisioning or performance bottlenecks.</a:t>
            </a:r>
            <a:endParaRPr sz="2000"/>
          </a:p>
          <a:p>
            <a:pPr indent="-273050" lvl="0" marL="457200" rtl="0" algn="l">
              <a:lnSpc>
                <a:spcPct val="115000"/>
              </a:lnSpc>
              <a:spcBef>
                <a:spcPts val="0"/>
              </a:spcBef>
              <a:spcAft>
                <a:spcPts val="0"/>
              </a:spcAft>
              <a:buClr>
                <a:schemeClr val="dk1"/>
              </a:buClr>
              <a:buSzPts val="700"/>
              <a:buFont typeface="Arial"/>
              <a:buChar char="●"/>
            </a:pPr>
            <a:r>
              <a:rPr lang="en" sz="2000"/>
              <a:t>Implement a strategic snapshot retention policy to balance the need for data protection with efficient storage utilization. Old snapshots should be pruned systematically to free up space while ensuring that critical data recovery points are retained.</a:t>
            </a: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Deduplication: Streamlining Storage</a:t>
            </a:r>
            <a:endParaRPr/>
          </a:p>
        </p:txBody>
      </p:sp>
      <p:sp>
        <p:nvSpPr>
          <p:cNvPr id="245" name="Google Shape;245;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2100" lvl="0" marL="457200" rtl="0" algn="l">
              <a:lnSpc>
                <a:spcPct val="115000"/>
              </a:lnSpc>
              <a:spcBef>
                <a:spcPts val="0"/>
              </a:spcBef>
              <a:spcAft>
                <a:spcPts val="0"/>
              </a:spcAft>
              <a:buClr>
                <a:schemeClr val="dk1"/>
              </a:buClr>
              <a:buSzPts val="1000"/>
              <a:buFont typeface="Arial"/>
              <a:buChar char="●"/>
            </a:pPr>
            <a:r>
              <a:rPr lang="en" sz="2300"/>
              <a:t>Data deduplication is a specialized data compression technique for eliminating duplicate copies of repeating data.</a:t>
            </a:r>
            <a:endParaRPr sz="2300"/>
          </a:p>
          <a:p>
            <a:pPr indent="-292100" lvl="0" marL="457200" rtl="0" algn="l">
              <a:lnSpc>
                <a:spcPct val="115000"/>
              </a:lnSpc>
              <a:spcBef>
                <a:spcPts val="0"/>
              </a:spcBef>
              <a:spcAft>
                <a:spcPts val="0"/>
              </a:spcAft>
              <a:buClr>
                <a:schemeClr val="dk1"/>
              </a:buClr>
              <a:buSzPts val="1000"/>
              <a:buFont typeface="Arial"/>
              <a:buChar char="●"/>
            </a:pPr>
            <a:r>
              <a:rPr lang="en" sz="2300"/>
              <a:t>Enhances storage efficiency by storing only one unique instance of the data, regardless of how many times it occurs.</a:t>
            </a:r>
            <a:endParaRPr sz="2300"/>
          </a:p>
          <a:p>
            <a:pPr indent="-292100" lvl="0" marL="457200" rtl="0" algn="l">
              <a:lnSpc>
                <a:spcPct val="115000"/>
              </a:lnSpc>
              <a:spcBef>
                <a:spcPts val="0"/>
              </a:spcBef>
              <a:spcAft>
                <a:spcPts val="0"/>
              </a:spcAft>
              <a:buClr>
                <a:schemeClr val="dk1"/>
              </a:buClr>
              <a:buSzPts val="1000"/>
              <a:buFont typeface="Arial"/>
              <a:buChar char="●"/>
            </a:pPr>
            <a:r>
              <a:rPr lang="en" sz="2300"/>
              <a:t>Operates at various levels – file level, block level, or even byte level, depending on the system and the deduplication method.</a:t>
            </a:r>
            <a:endParaRPr sz="23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45"/>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251" name="Google Shape;251;p45"/>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Data Deduplication Works</a:t>
            </a:r>
            <a:endParaRPr/>
          </a:p>
        </p:txBody>
      </p:sp>
      <p:sp>
        <p:nvSpPr>
          <p:cNvPr id="257" name="Google Shape;257;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85750" lvl="0" marL="457200" rtl="0" algn="l">
              <a:lnSpc>
                <a:spcPct val="115000"/>
              </a:lnSpc>
              <a:spcBef>
                <a:spcPts val="0"/>
              </a:spcBef>
              <a:spcAft>
                <a:spcPts val="0"/>
              </a:spcAft>
              <a:buClr>
                <a:schemeClr val="dk1"/>
              </a:buClr>
              <a:buSzPts val="900"/>
              <a:buFont typeface="Arial"/>
              <a:buChar char="●"/>
            </a:pPr>
            <a:r>
              <a:rPr lang="en" sz="2200"/>
              <a:t>Data is analyzed to identify duplicate files, blocks, or bytes across the entire storage system.</a:t>
            </a:r>
            <a:endParaRPr sz="2200"/>
          </a:p>
          <a:p>
            <a:pPr indent="-285750" lvl="0" marL="457200" rtl="0" algn="l">
              <a:lnSpc>
                <a:spcPct val="115000"/>
              </a:lnSpc>
              <a:spcBef>
                <a:spcPts val="0"/>
              </a:spcBef>
              <a:spcAft>
                <a:spcPts val="0"/>
              </a:spcAft>
              <a:buClr>
                <a:schemeClr val="dk1"/>
              </a:buClr>
              <a:buSzPts val="900"/>
              <a:buFont typeface="Arial"/>
              <a:buChar char="●"/>
            </a:pPr>
            <a:r>
              <a:rPr lang="en" sz="2200"/>
              <a:t>Unique data chunks are stored only once, with subsequent duplicates replaced by pointers or references to the stored chunk.</a:t>
            </a:r>
            <a:endParaRPr sz="2200"/>
          </a:p>
          <a:p>
            <a:pPr indent="-285750" lvl="0" marL="457200" rtl="0" algn="l">
              <a:lnSpc>
                <a:spcPct val="115000"/>
              </a:lnSpc>
              <a:spcBef>
                <a:spcPts val="0"/>
              </a:spcBef>
              <a:spcAft>
                <a:spcPts val="0"/>
              </a:spcAft>
              <a:buClr>
                <a:schemeClr val="dk1"/>
              </a:buClr>
              <a:buSzPts val="900"/>
              <a:buFont typeface="Arial"/>
              <a:buChar char="●"/>
            </a:pPr>
            <a:r>
              <a:rPr lang="en" sz="2200"/>
              <a:t>Block-level deduplication is particularly effective, as it breaks down files into smaller fixed-size or variable-size blocks, achieving a higher deduplication ratio by finding redundancies within and across files.</a:t>
            </a:r>
            <a:endParaRPr sz="2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Maximizing Storage with Data Deduplication</a:t>
            </a:r>
            <a:endParaRPr sz="3000"/>
          </a:p>
        </p:txBody>
      </p:sp>
      <p:sp>
        <p:nvSpPr>
          <p:cNvPr id="263" name="Google Shape;263;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chemeClr val="dk1"/>
              </a:buClr>
              <a:buSzPts val="1700"/>
              <a:buFont typeface="Arial"/>
              <a:buChar char="●"/>
            </a:pPr>
            <a:r>
              <a:rPr b="1" lang="en" sz="1700"/>
              <a:t>Space Saving</a:t>
            </a:r>
            <a:r>
              <a:rPr lang="en" sz="1700"/>
              <a:t>: Significant reduction in storage requirements by eliminating redundant data.</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Cost Efficiency</a:t>
            </a:r>
            <a:r>
              <a:rPr lang="en" sz="1700"/>
              <a:t>: Lower storage costs due to reduced space needs. Additionally, reduced data footprint leads to lower backup storage costs and shorter backup windows.</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Network Efficiency</a:t>
            </a:r>
            <a:r>
              <a:rPr lang="en" sz="1700"/>
              <a:t>: In environments where data is replicated or backed up over the network, deduplication reduces the amount of data that needs to be transferred, saving bandwidth and time.</a:t>
            </a:r>
            <a:endParaRPr sz="3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Implementing Data Deduplication: Best Practices</a:t>
            </a:r>
            <a:endParaRPr sz="2800"/>
          </a:p>
        </p:txBody>
      </p:sp>
      <p:sp>
        <p:nvSpPr>
          <p:cNvPr id="269" name="Google Shape;269;p4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73050" lvl="0" marL="457200" rtl="0" algn="l">
              <a:lnSpc>
                <a:spcPct val="115000"/>
              </a:lnSpc>
              <a:spcBef>
                <a:spcPts val="0"/>
              </a:spcBef>
              <a:spcAft>
                <a:spcPts val="0"/>
              </a:spcAft>
              <a:buClr>
                <a:schemeClr val="dk1"/>
              </a:buClr>
              <a:buSzPts val="700"/>
              <a:buFont typeface="Arial"/>
              <a:buChar char="●"/>
            </a:pPr>
            <a:r>
              <a:rPr lang="en" sz="2000"/>
              <a:t>Data deduplication can be implemented in various ways, either at the source (before data is written to disk) or at the target (after data is written to disk).</a:t>
            </a:r>
            <a:endParaRPr sz="2000"/>
          </a:p>
          <a:p>
            <a:pPr indent="-273050" lvl="0" marL="457200" rtl="0" algn="l">
              <a:lnSpc>
                <a:spcPct val="115000"/>
              </a:lnSpc>
              <a:spcBef>
                <a:spcPts val="0"/>
              </a:spcBef>
              <a:spcAft>
                <a:spcPts val="0"/>
              </a:spcAft>
              <a:buClr>
                <a:schemeClr val="dk1"/>
              </a:buClr>
              <a:buSzPts val="700"/>
              <a:buFont typeface="Arial"/>
              <a:buChar char="●"/>
            </a:pPr>
            <a:r>
              <a:rPr lang="en" sz="2000"/>
              <a:t>It's crucial to understand the data types and access patterns in your environment, as deduplication is more effective with certain data types (like backup data) than others (like multimedia files).</a:t>
            </a:r>
            <a:endParaRPr sz="2000"/>
          </a:p>
          <a:p>
            <a:pPr indent="-273050" lvl="0" marL="457200" rtl="0" algn="l">
              <a:lnSpc>
                <a:spcPct val="115000"/>
              </a:lnSpc>
              <a:spcBef>
                <a:spcPts val="0"/>
              </a:spcBef>
              <a:spcAft>
                <a:spcPts val="0"/>
              </a:spcAft>
              <a:buClr>
                <a:schemeClr val="dk1"/>
              </a:buClr>
              <a:buSzPts val="700"/>
              <a:buFont typeface="Arial"/>
              <a:buChar char="●"/>
            </a:pPr>
            <a:r>
              <a:rPr lang="en" sz="2000"/>
              <a:t>Regular monitoring and management of deduplication processes are essential to ensure that they operate efficiently and do not adversely impact system performance.</a:t>
            </a:r>
            <a:endParaRPr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Replication in SANs: Ensuring Data Availability</a:t>
            </a:r>
            <a:endParaRPr sz="2800"/>
          </a:p>
        </p:txBody>
      </p:sp>
      <p:sp>
        <p:nvSpPr>
          <p:cNvPr id="275" name="Google Shape;275;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Replication is a process of copying and maintaining data in multiple storage locations in a SAN environment, ensuring data availability and business continuity.</a:t>
            </a:r>
            <a:endParaRPr/>
          </a:p>
          <a:p>
            <a:pPr indent="-298450" lvl="0" marL="457200" rtl="0" algn="l">
              <a:lnSpc>
                <a:spcPct val="115000"/>
              </a:lnSpc>
              <a:spcBef>
                <a:spcPts val="0"/>
              </a:spcBef>
              <a:spcAft>
                <a:spcPts val="0"/>
              </a:spcAft>
              <a:buClr>
                <a:schemeClr val="dk1"/>
              </a:buClr>
              <a:buSzPts val="1100"/>
              <a:buFont typeface="Arial"/>
              <a:buChar char="●"/>
            </a:pPr>
            <a:r>
              <a:rPr lang="en"/>
              <a:t>A key component in disaster recovery strategies, replication provides real-time or near-real-time duplication of data across storage systems.</a:t>
            </a:r>
            <a:endParaRPr/>
          </a:p>
          <a:p>
            <a:pPr indent="-298450" lvl="0" marL="457200" rtl="0" algn="l">
              <a:lnSpc>
                <a:spcPct val="115000"/>
              </a:lnSpc>
              <a:spcBef>
                <a:spcPts val="0"/>
              </a:spcBef>
              <a:spcAft>
                <a:spcPts val="0"/>
              </a:spcAft>
              <a:buClr>
                <a:schemeClr val="dk1"/>
              </a:buClr>
              <a:buSzPts val="1100"/>
              <a:buFont typeface="Arial"/>
              <a:buChar char="●"/>
            </a:pPr>
            <a:r>
              <a:rPr lang="en"/>
              <a:t>Operates by tracking and copying changes (deltas) to ensure that replicas are consistent with the source.</a:t>
            </a:r>
            <a:endParaRPr/>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Deltas and Blocks: The Heart of Replication</a:t>
            </a:r>
            <a:endParaRPr sz="3000"/>
          </a:p>
        </p:txBody>
      </p:sp>
      <p:sp>
        <p:nvSpPr>
          <p:cNvPr id="281" name="Google Shape;281;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Clr>
                <a:schemeClr val="dk1"/>
              </a:buClr>
              <a:buSzPts val="2100"/>
              <a:buFont typeface="Arial"/>
              <a:buChar char="●"/>
            </a:pPr>
            <a:r>
              <a:rPr b="1" lang="en" sz="2100"/>
              <a:t>Deltas</a:t>
            </a:r>
            <a:r>
              <a:rPr lang="en" sz="2100"/>
              <a:t>: Refers to the changes or differences between one set of data and another. In replication, only deltas (changed blocks) are transferred after the initial full copy, making the process bandwidth-efficient.</a:t>
            </a:r>
            <a:endParaRPr sz="2100"/>
          </a:p>
          <a:p>
            <a:pPr indent="-361950" lvl="0" marL="457200" rtl="0" algn="l">
              <a:lnSpc>
                <a:spcPct val="115000"/>
              </a:lnSpc>
              <a:spcBef>
                <a:spcPts val="0"/>
              </a:spcBef>
              <a:spcAft>
                <a:spcPts val="0"/>
              </a:spcAft>
              <a:buClr>
                <a:schemeClr val="dk1"/>
              </a:buClr>
              <a:buSzPts val="2100"/>
              <a:buFont typeface="Arial"/>
              <a:buChar char="●"/>
            </a:pPr>
            <a:r>
              <a:rPr b="1" lang="en" sz="2100"/>
              <a:t>Blocks</a:t>
            </a:r>
            <a:r>
              <a:rPr lang="en" sz="2100"/>
              <a:t>: The smallest unit of data in SANs. Replication processes often operate at the block level, ensuring precise and efficient copying of data.</a:t>
            </a:r>
            <a:endParaRPr sz="3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900"/>
              <a:t>Sync vs. Async: Balancing Speed and Safety</a:t>
            </a:r>
            <a:endParaRPr sz="2900"/>
          </a:p>
        </p:txBody>
      </p:sp>
      <p:sp>
        <p:nvSpPr>
          <p:cNvPr id="287" name="Google Shape;287;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Synchronous Replication</a:t>
            </a:r>
            <a:r>
              <a:rPr lang="en" sz="1900"/>
              <a:t>: Ensures that data is written to both primary and secondary locations simultaneously. Guarantees zero data loss, but requires higher bandwidth and can impact write performance due to the wait for acknowledgment from the remote site.</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Asynchronous Replication</a:t>
            </a:r>
            <a:r>
              <a:rPr lang="en" sz="1900"/>
              <a:t>: Data is first written to the primary location, and then the changes are replicated to the secondary site. This method introduces a slight delay, allowing for better write performance but at the risk of potential data loss if the primary site fails before data is replicated.</a:t>
            </a:r>
            <a:endParaRPr sz="3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Practices for Replication in SANs</a:t>
            </a:r>
            <a:endParaRPr/>
          </a:p>
        </p:txBody>
      </p:sp>
      <p:sp>
        <p:nvSpPr>
          <p:cNvPr id="293" name="Google Shape;293;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292100" lvl="0" marL="457200" rtl="0" algn="l">
              <a:lnSpc>
                <a:spcPct val="115000"/>
              </a:lnSpc>
              <a:spcBef>
                <a:spcPts val="0"/>
              </a:spcBef>
              <a:spcAft>
                <a:spcPts val="0"/>
              </a:spcAft>
              <a:buClr>
                <a:schemeClr val="dk1"/>
              </a:buClr>
              <a:buSzPts val="1000"/>
              <a:buFont typeface="Arial"/>
              <a:buChar char="●"/>
            </a:pPr>
            <a:r>
              <a:rPr lang="en" sz="2300"/>
              <a:t>Choose between synchronous or asynchronous replication based on your organization's Recovery Point Objective (RPO) and Recovery Time Objective (RTO).</a:t>
            </a:r>
            <a:endParaRPr sz="2300"/>
          </a:p>
          <a:p>
            <a:pPr indent="-292100" lvl="0" marL="457200" rtl="0" algn="l">
              <a:lnSpc>
                <a:spcPct val="115000"/>
              </a:lnSpc>
              <a:spcBef>
                <a:spcPts val="0"/>
              </a:spcBef>
              <a:spcAft>
                <a:spcPts val="0"/>
              </a:spcAft>
              <a:buClr>
                <a:schemeClr val="dk1"/>
              </a:buClr>
              <a:buSzPts val="1000"/>
              <a:buFont typeface="Arial"/>
              <a:buChar char="●"/>
            </a:pPr>
            <a:r>
              <a:rPr lang="en" sz="2300"/>
              <a:t>Monitor replication processes closely to ensure that data is being replicated accurately and efficiently, without unduly impacting system performance.</a:t>
            </a:r>
            <a:endParaRPr sz="2300"/>
          </a:p>
          <a:p>
            <a:pPr indent="-292100" lvl="0" marL="457200" rtl="0" algn="l">
              <a:lnSpc>
                <a:spcPct val="115000"/>
              </a:lnSpc>
              <a:spcBef>
                <a:spcPts val="0"/>
              </a:spcBef>
              <a:spcAft>
                <a:spcPts val="0"/>
              </a:spcAft>
              <a:buClr>
                <a:schemeClr val="dk1"/>
              </a:buClr>
              <a:buSzPts val="1000"/>
              <a:buFont typeface="Arial"/>
              <a:buChar char="●"/>
            </a:pPr>
            <a:r>
              <a:rPr lang="en" sz="2300"/>
              <a:t>Regularly test failover to the secondary site to ensure that your replication strategy is effective and that your system can recover quickly in the event of a failure.</a:t>
            </a:r>
            <a:endParaRPr sz="23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Tiered Storage: Tailoring SANs for Efficiency</a:t>
            </a:r>
            <a:endParaRPr sz="2800"/>
          </a:p>
        </p:txBody>
      </p:sp>
      <p:sp>
        <p:nvSpPr>
          <p:cNvPr id="299" name="Google Shape;299;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sz="2000"/>
              <a:t>Tiered storage in SANs categorizes data into different storage classes or 'tiers', such as high-performance SSDs in Tier 1 and more cost-effective HDDs in Tier 2.</a:t>
            </a:r>
            <a:endParaRPr sz="2000"/>
          </a:p>
          <a:p>
            <a:pPr indent="-298450" lvl="0" marL="457200" rtl="0" algn="l">
              <a:lnSpc>
                <a:spcPct val="115000"/>
              </a:lnSpc>
              <a:spcBef>
                <a:spcPts val="0"/>
              </a:spcBef>
              <a:spcAft>
                <a:spcPts val="0"/>
              </a:spcAft>
              <a:buClr>
                <a:schemeClr val="dk1"/>
              </a:buClr>
              <a:buSzPts val="1100"/>
              <a:buFont typeface="Arial"/>
              <a:buChar char="●"/>
            </a:pPr>
            <a:r>
              <a:rPr lang="en" sz="2000"/>
              <a:t>Each tier in a SAN is characterized by its performance and cost, with Tier 1 offering the highest performance at a higher cost, and subsequent tiers offering reduced performance at lower costs.</a:t>
            </a:r>
            <a:endParaRPr sz="2000"/>
          </a:p>
          <a:p>
            <a:pPr indent="-298450" lvl="0" marL="457200" rtl="0" algn="l">
              <a:lnSpc>
                <a:spcPct val="115000"/>
              </a:lnSpc>
              <a:spcBef>
                <a:spcPts val="0"/>
              </a:spcBef>
              <a:spcAft>
                <a:spcPts val="0"/>
              </a:spcAft>
              <a:buClr>
                <a:schemeClr val="dk1"/>
              </a:buClr>
              <a:buSzPts val="1100"/>
              <a:buFont typeface="Arial"/>
              <a:buChar char="●"/>
            </a:pPr>
            <a:r>
              <a:rPr lang="en" sz="2000"/>
              <a:t>The strategy aims to align the performance and cost characteristics of each tier with the access frequency and importance of the data stored in it.</a:t>
            </a:r>
            <a:endParaRPr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Tiered Storage Works in SANs</a:t>
            </a:r>
            <a:endParaRPr/>
          </a:p>
        </p:txBody>
      </p:sp>
      <p:sp>
        <p:nvSpPr>
          <p:cNvPr id="305" name="Google Shape;305;p5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85750" lvl="0" marL="457200" rtl="0" algn="l">
              <a:lnSpc>
                <a:spcPct val="115000"/>
              </a:lnSpc>
              <a:spcBef>
                <a:spcPts val="0"/>
              </a:spcBef>
              <a:spcAft>
                <a:spcPts val="0"/>
              </a:spcAft>
              <a:buClr>
                <a:schemeClr val="dk1"/>
              </a:buClr>
              <a:buSzPts val="900"/>
              <a:buFont typeface="Arial"/>
              <a:buChar char="●"/>
            </a:pPr>
            <a:r>
              <a:rPr lang="en" sz="2200"/>
              <a:t>SANs utilize automated tiering to manage data placement efficiently. The system continuously monitors data access patterns to identify 'hot' (frequently accessed) and 'cold' (infrequently accessed) data.</a:t>
            </a:r>
            <a:endParaRPr sz="2200"/>
          </a:p>
          <a:p>
            <a:pPr indent="-285750" lvl="0" marL="457200" rtl="0" algn="l">
              <a:lnSpc>
                <a:spcPct val="115000"/>
              </a:lnSpc>
              <a:spcBef>
                <a:spcPts val="0"/>
              </a:spcBef>
              <a:spcAft>
                <a:spcPts val="0"/>
              </a:spcAft>
              <a:buClr>
                <a:schemeClr val="dk1"/>
              </a:buClr>
              <a:buSzPts val="900"/>
              <a:buFont typeface="Arial"/>
              <a:buChar char="●"/>
            </a:pPr>
            <a:r>
              <a:rPr lang="en" sz="2200"/>
              <a:t>Hot data is automatically migrated to higher tiers (SSDs) to facilitate quick access, while cold data is moved to lower tiers (HDDs) to optimize storage costs.</a:t>
            </a:r>
            <a:endParaRPr sz="2200"/>
          </a:p>
          <a:p>
            <a:pPr indent="-285750" lvl="0" marL="457200" rtl="0" algn="l">
              <a:lnSpc>
                <a:spcPct val="115000"/>
              </a:lnSpc>
              <a:spcBef>
                <a:spcPts val="0"/>
              </a:spcBef>
              <a:spcAft>
                <a:spcPts val="0"/>
              </a:spcAft>
              <a:buClr>
                <a:schemeClr val="dk1"/>
              </a:buClr>
              <a:buSzPts val="900"/>
              <a:buFont typeface="Arial"/>
              <a:buChar char="●"/>
            </a:pPr>
            <a:r>
              <a:rPr lang="en" sz="2200"/>
              <a:t>This dynamic process ensures data storage is always optimized for both performance and cost-effectiveness.</a:t>
            </a:r>
            <a:endParaRPr sz="2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Optimizing SANs with Tiered Storage</a:t>
            </a:r>
            <a:endParaRPr/>
          </a:p>
        </p:txBody>
      </p:sp>
      <p:sp>
        <p:nvSpPr>
          <p:cNvPr id="311" name="Google Shape;311;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92100" lvl="0" marL="457200" rtl="0" algn="l">
              <a:lnSpc>
                <a:spcPct val="115000"/>
              </a:lnSpc>
              <a:spcBef>
                <a:spcPts val="0"/>
              </a:spcBef>
              <a:spcAft>
                <a:spcPts val="0"/>
              </a:spcAft>
              <a:buClr>
                <a:schemeClr val="dk1"/>
              </a:buClr>
              <a:buSzPts val="1000"/>
              <a:buFont typeface="Arial"/>
              <a:buChar char="●"/>
            </a:pPr>
            <a:r>
              <a:rPr lang="en" sz="2300"/>
              <a:t>Tiered storage dramatically enhances performance by ensuring that hot data is readily accessible on high-speed storage tiers.</a:t>
            </a:r>
            <a:endParaRPr sz="2300"/>
          </a:p>
          <a:p>
            <a:pPr indent="-292100" lvl="0" marL="457200" rtl="0" algn="l">
              <a:lnSpc>
                <a:spcPct val="115000"/>
              </a:lnSpc>
              <a:spcBef>
                <a:spcPts val="0"/>
              </a:spcBef>
              <a:spcAft>
                <a:spcPts val="0"/>
              </a:spcAft>
              <a:buClr>
                <a:schemeClr val="dk1"/>
              </a:buClr>
              <a:buSzPts val="1000"/>
              <a:buFont typeface="Arial"/>
              <a:buChar char="●"/>
            </a:pPr>
            <a:r>
              <a:rPr lang="en" sz="2300"/>
              <a:t>Concurrently, it reduces overall storage costs by relegating cold data to more economical storage tiers.</a:t>
            </a:r>
            <a:endParaRPr sz="2300"/>
          </a:p>
          <a:p>
            <a:pPr indent="-292100" lvl="0" marL="457200" rtl="0" algn="l">
              <a:lnSpc>
                <a:spcPct val="115000"/>
              </a:lnSpc>
              <a:spcBef>
                <a:spcPts val="0"/>
              </a:spcBef>
              <a:spcAft>
                <a:spcPts val="0"/>
              </a:spcAft>
              <a:buClr>
                <a:schemeClr val="dk1"/>
              </a:buClr>
              <a:buSzPts val="1000"/>
              <a:buFont typeface="Arial"/>
              <a:buChar char="●"/>
            </a:pPr>
            <a:r>
              <a:rPr lang="en" sz="2300"/>
              <a:t>Intelligent SAN management tools are essential to manage this complex process, automating data movement based on real-time access patterns and predefined policies.</a:t>
            </a:r>
            <a:endParaRPr sz="23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RAID Levels in Tiered Storage: A Strategic Approach</a:t>
            </a:r>
            <a:endParaRPr sz="2500"/>
          </a:p>
        </p:txBody>
      </p:sp>
      <p:sp>
        <p:nvSpPr>
          <p:cNvPr id="317" name="Google Shape;317;p5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66700" lvl="0" marL="457200" rtl="0" algn="l">
              <a:lnSpc>
                <a:spcPct val="115000"/>
              </a:lnSpc>
              <a:spcBef>
                <a:spcPts val="0"/>
              </a:spcBef>
              <a:spcAft>
                <a:spcPts val="0"/>
              </a:spcAft>
              <a:buClr>
                <a:schemeClr val="dk1"/>
              </a:buClr>
              <a:buSzPts val="600"/>
              <a:buFont typeface="Arial"/>
              <a:buChar char="●"/>
            </a:pPr>
            <a:r>
              <a:rPr lang="en" sz="1900"/>
              <a:t>In tiered storage within SANs, different RAID levels can be applied to different tiers to optimize both performance and data redundancy.</a:t>
            </a:r>
            <a:endParaRPr sz="1900"/>
          </a:p>
          <a:p>
            <a:pPr indent="-266700" lvl="0" marL="457200" rtl="0" algn="l">
              <a:lnSpc>
                <a:spcPct val="115000"/>
              </a:lnSpc>
              <a:spcBef>
                <a:spcPts val="0"/>
              </a:spcBef>
              <a:spcAft>
                <a:spcPts val="0"/>
              </a:spcAft>
              <a:buClr>
                <a:schemeClr val="dk1"/>
              </a:buClr>
              <a:buSzPts val="600"/>
              <a:buFont typeface="Arial"/>
              <a:buChar char="●"/>
            </a:pPr>
            <a:r>
              <a:rPr lang="en" sz="1900"/>
              <a:t>Higher tiers (e.g., Tier 1), typically composed of faster storage like SSDs, might use RAID levels that prioritize performance, such as RAID 0 (striping) or RAID 10 (striping + mirroring), to enhance read/write speeds.</a:t>
            </a:r>
            <a:endParaRPr sz="1900"/>
          </a:p>
          <a:p>
            <a:pPr indent="-266700" lvl="0" marL="457200" rtl="0" algn="l">
              <a:lnSpc>
                <a:spcPct val="115000"/>
              </a:lnSpc>
              <a:spcBef>
                <a:spcPts val="0"/>
              </a:spcBef>
              <a:spcAft>
                <a:spcPts val="0"/>
              </a:spcAft>
              <a:buClr>
                <a:schemeClr val="dk1"/>
              </a:buClr>
              <a:buSzPts val="600"/>
              <a:buFont typeface="Arial"/>
              <a:buChar char="●"/>
            </a:pPr>
            <a:r>
              <a:rPr lang="en" sz="1900"/>
              <a:t>Lower tiers (e.g., Tier 2), generally consisting of slower, higher-capacity storage like HDDs, might use RAID levels that provide greater redundancy and capacity, such as RAID 5 (striping with parity) or RAID 6 (striping with double parity), ensuring data protection and cost efficiency.</a:t>
            </a:r>
            <a:endParaRPr sz="19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Optimizing Each Tier: RAID Considerations</a:t>
            </a:r>
            <a:endParaRPr/>
          </a:p>
        </p:txBody>
      </p:sp>
      <p:sp>
        <p:nvSpPr>
          <p:cNvPr id="323" name="Google Shape;323;p5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85750" lvl="0" marL="457200" rtl="0" algn="l">
              <a:lnSpc>
                <a:spcPct val="115000"/>
              </a:lnSpc>
              <a:spcBef>
                <a:spcPts val="0"/>
              </a:spcBef>
              <a:spcAft>
                <a:spcPts val="0"/>
              </a:spcAft>
              <a:buClr>
                <a:schemeClr val="dk1"/>
              </a:buClr>
              <a:buSzPts val="900"/>
              <a:buFont typeface="Arial"/>
              <a:buChar char="●"/>
            </a:pPr>
            <a:r>
              <a:rPr lang="en" sz="2200"/>
              <a:t>The choice of RAID level for each tier should align with the tier’s purpose and the type of data it stores.</a:t>
            </a:r>
            <a:endParaRPr sz="2200"/>
          </a:p>
          <a:p>
            <a:pPr indent="-285750" lvl="0" marL="457200" rtl="0" algn="l">
              <a:lnSpc>
                <a:spcPct val="115000"/>
              </a:lnSpc>
              <a:spcBef>
                <a:spcPts val="0"/>
              </a:spcBef>
              <a:spcAft>
                <a:spcPts val="0"/>
              </a:spcAft>
              <a:buClr>
                <a:schemeClr val="dk1"/>
              </a:buClr>
              <a:buSzPts val="900"/>
              <a:buFont typeface="Arial"/>
              <a:buChar char="●"/>
            </a:pPr>
            <a:r>
              <a:rPr lang="en" sz="2200"/>
              <a:t>For tiers holding critical, frequently accessed data (Tier 1), RAID levels that offer high performance and fault tolerance (like RAID 10) are preferred.</a:t>
            </a:r>
            <a:endParaRPr sz="2200"/>
          </a:p>
          <a:p>
            <a:pPr indent="-285750" lvl="0" marL="457200" rtl="0" algn="l">
              <a:lnSpc>
                <a:spcPct val="115000"/>
              </a:lnSpc>
              <a:spcBef>
                <a:spcPts val="0"/>
              </a:spcBef>
              <a:spcAft>
                <a:spcPts val="0"/>
              </a:spcAft>
              <a:buClr>
                <a:schemeClr val="dk1"/>
              </a:buClr>
              <a:buSzPts val="900"/>
              <a:buFont typeface="Arial"/>
              <a:buChar char="●"/>
            </a:pPr>
            <a:r>
              <a:rPr lang="en" sz="2200"/>
              <a:t>For tiers designed for less critical, infrequently accessed data (Tier 2 and beyond), RAID levels that offer a balance between capacity, fault tolerance, and performance (like RAID 5 or RAID 6) are commonly used.</a:t>
            </a:r>
            <a:endParaRPr sz="22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Implementing RAID Across Tiers</a:t>
            </a:r>
            <a:endParaRPr/>
          </a:p>
        </p:txBody>
      </p:sp>
      <p:sp>
        <p:nvSpPr>
          <p:cNvPr id="329" name="Google Shape;329;p5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79400" lvl="0" marL="457200" rtl="0" algn="l">
              <a:lnSpc>
                <a:spcPct val="115000"/>
              </a:lnSpc>
              <a:spcBef>
                <a:spcPts val="0"/>
              </a:spcBef>
              <a:spcAft>
                <a:spcPts val="0"/>
              </a:spcAft>
              <a:buClr>
                <a:schemeClr val="dk1"/>
              </a:buClr>
              <a:buSzPts val="800"/>
              <a:buFont typeface="Arial"/>
              <a:buChar char="●"/>
            </a:pPr>
            <a:r>
              <a:rPr lang="en" sz="2100"/>
              <a:t>Implementing different RAID levels across tiers requires careful planning and an understanding of the organization's data access patterns, performance requirements, and redundancy needs.</a:t>
            </a:r>
            <a:endParaRPr sz="2100"/>
          </a:p>
          <a:p>
            <a:pPr indent="-279400" lvl="0" marL="457200" rtl="0" algn="l">
              <a:lnSpc>
                <a:spcPct val="115000"/>
              </a:lnSpc>
              <a:spcBef>
                <a:spcPts val="0"/>
              </a:spcBef>
              <a:spcAft>
                <a:spcPts val="0"/>
              </a:spcAft>
              <a:buClr>
                <a:schemeClr val="dk1"/>
              </a:buClr>
              <a:buSzPts val="800"/>
              <a:buFont typeface="Arial"/>
              <a:buChar char="●"/>
            </a:pPr>
            <a:r>
              <a:rPr lang="en" sz="2100"/>
              <a:t>It's crucial to monitor the performance and redundancy of each tier continuously to ensure that the chosen RAID level aligns with the tier's function and the organization’s overall storage strategy.</a:t>
            </a:r>
            <a:endParaRPr sz="2100"/>
          </a:p>
          <a:p>
            <a:pPr indent="-279400" lvl="0" marL="457200" rtl="0" algn="l">
              <a:lnSpc>
                <a:spcPct val="115000"/>
              </a:lnSpc>
              <a:spcBef>
                <a:spcPts val="0"/>
              </a:spcBef>
              <a:spcAft>
                <a:spcPts val="0"/>
              </a:spcAft>
              <a:buClr>
                <a:schemeClr val="dk1"/>
              </a:buClr>
              <a:buSzPts val="800"/>
              <a:buFont typeface="Arial"/>
              <a:buChar char="●"/>
            </a:pPr>
            <a:r>
              <a:rPr lang="en" sz="2100"/>
              <a:t>Regularly review and adjust RAID configurations as needed based on changing data requirements, technology advancements, or shifts in organizational priorities.</a:t>
            </a:r>
            <a:endParaRPr sz="21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59"/>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335" name="Google Shape;335;p59"/>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Interfaces: SATA, SCSI, and SAS</a:t>
            </a:r>
            <a:endParaRPr/>
          </a:p>
        </p:txBody>
      </p:sp>
      <p:sp>
        <p:nvSpPr>
          <p:cNvPr id="341" name="Google Shape;341;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336550" lvl="0" marL="457200" rtl="0" algn="l">
              <a:lnSpc>
                <a:spcPct val="115000"/>
              </a:lnSpc>
              <a:spcBef>
                <a:spcPts val="0"/>
              </a:spcBef>
              <a:spcAft>
                <a:spcPts val="0"/>
              </a:spcAft>
              <a:buClr>
                <a:schemeClr val="dk1"/>
              </a:buClr>
              <a:buSzPts val="1700"/>
              <a:buFont typeface="Arial"/>
              <a:buChar char="●"/>
            </a:pPr>
            <a:r>
              <a:rPr b="1" lang="en" sz="1700"/>
              <a:t>SATA (Serial ATA)</a:t>
            </a:r>
            <a:r>
              <a:rPr lang="en" sz="1700"/>
              <a:t>: A common interface used in consumer devices. It's cost-effective but offers lower performance compared to SCSI and SAS. Not typically recommended for high-performance SAN environments due to slower data transfer rates and less robust error recovery features.</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SCSI (Small Computer System Interface)</a:t>
            </a:r>
            <a:r>
              <a:rPr lang="en" sz="1700"/>
              <a:t>: Historically used in servers and workstations. Offers better performance than SATA but has been largely superseded by SAS in modern systems.</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SAS (Serial Attached SCSI)</a:t>
            </a:r>
            <a:r>
              <a:rPr lang="en" sz="1700"/>
              <a:t>: Combines the best features of SCSI and SATA. It provides higher speed, dual-port connections for redundancy, and is more reliable for use in SANs. It's the preferred choice for enterprise environments where performance and reliability are critical.</a:t>
            </a:r>
            <a:endParaRPr sz="3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Interfaces Affect SAN Performance</a:t>
            </a:r>
            <a:endParaRPr/>
          </a:p>
        </p:txBody>
      </p:sp>
      <p:sp>
        <p:nvSpPr>
          <p:cNvPr id="347" name="Google Shape;347;p6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Data Loss and Caching</a:t>
            </a:r>
            <a:r>
              <a:rPr lang="en" sz="1900"/>
              <a:t>: SAS offers advanced error correction and detection mechanisms, reducing the risk of data loss. It supports extensive caching features, ensuring data integrity even during unexpected power losses or system crashes.</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Longevity and Purpose in SANs</a:t>
            </a:r>
            <a:r>
              <a:rPr lang="en" sz="1900"/>
              <a:t>: SAS drives are designed for continuous operation in demanding environments. They are built to handle a higher number of read/write cycles, making them ideal for SANs where longevity and consistent performance are paramount.</a:t>
            </a:r>
            <a:endParaRPr sz="32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SSD Types: SLC vs. MLC</a:t>
            </a:r>
            <a:endParaRPr/>
          </a:p>
        </p:txBody>
      </p:sp>
      <p:sp>
        <p:nvSpPr>
          <p:cNvPr id="353" name="Google Shape;353;p6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SLC (Single-Level Cell)</a:t>
            </a:r>
            <a:r>
              <a:rPr lang="en" sz="1900"/>
              <a:t>: Stores one bit per cell, offering faster write speeds, higher cell endurance, and lower power consumption. However, SLC SSDs are more expensive and typically have smaller storage capacities.</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MLC (Multi-Level Cell)</a:t>
            </a:r>
            <a:r>
              <a:rPr lang="en" sz="1900"/>
              <a:t>: Stores multiple bits per cell, allowing for larger storage capacity at a lower cost. However, MLC SSDs have slower write speeds and a lower lifespan due to the higher wear and tear from storing more bits per cell.</a:t>
            </a:r>
            <a:endParaRPr sz="32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Challenge with MLC SSDs in SANs</a:t>
            </a:r>
            <a:endParaRPr/>
          </a:p>
        </p:txBody>
      </p:sp>
      <p:sp>
        <p:nvSpPr>
          <p:cNvPr id="359" name="Google Shape;359;p6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285750" lvl="0" marL="457200" rtl="0" algn="l">
              <a:lnSpc>
                <a:spcPct val="115000"/>
              </a:lnSpc>
              <a:spcBef>
                <a:spcPts val="0"/>
              </a:spcBef>
              <a:spcAft>
                <a:spcPts val="0"/>
              </a:spcAft>
              <a:buClr>
                <a:schemeClr val="dk1"/>
              </a:buClr>
              <a:buSzPts val="900"/>
              <a:buFont typeface="Arial"/>
              <a:buChar char="●"/>
            </a:pPr>
            <a:r>
              <a:rPr lang="en" sz="2200"/>
              <a:t>MLC SSDs are not typically used in SAN environments due to their lower endurance and slower write speeds compared to SLC SSDs.</a:t>
            </a:r>
            <a:endParaRPr sz="2200"/>
          </a:p>
          <a:p>
            <a:pPr indent="-285750" lvl="0" marL="457200" rtl="0" algn="l">
              <a:lnSpc>
                <a:spcPct val="115000"/>
              </a:lnSpc>
              <a:spcBef>
                <a:spcPts val="0"/>
              </a:spcBef>
              <a:spcAft>
                <a:spcPts val="0"/>
              </a:spcAft>
              <a:buClr>
                <a:schemeClr val="dk1"/>
              </a:buClr>
              <a:buSzPts val="900"/>
              <a:buFont typeface="Arial"/>
              <a:buChar char="●"/>
            </a:pPr>
            <a:r>
              <a:rPr lang="en" sz="2200"/>
              <a:t>The intensive read/write cycles and the need for high reliability and performance in SANs make SLC SSDs a more suitable choice.</a:t>
            </a:r>
            <a:endParaRPr sz="2200"/>
          </a:p>
          <a:p>
            <a:pPr indent="-285750" lvl="0" marL="457200" rtl="0" algn="l">
              <a:lnSpc>
                <a:spcPct val="115000"/>
              </a:lnSpc>
              <a:spcBef>
                <a:spcPts val="0"/>
              </a:spcBef>
              <a:spcAft>
                <a:spcPts val="0"/>
              </a:spcAft>
              <a:buClr>
                <a:schemeClr val="dk1"/>
              </a:buClr>
              <a:buSzPts val="900"/>
              <a:buFont typeface="Arial"/>
              <a:buChar char="●"/>
            </a:pPr>
            <a:r>
              <a:rPr lang="en" sz="2200"/>
              <a:t>The potential for faster wear-out and data integrity issues under heavy use make MLC SSDs less ideal for the high-demand environment of a SAN.</a:t>
            </a:r>
            <a:endParaRPr sz="22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100"/>
              <a:t>Charge levels per cell</a:t>
            </a:r>
            <a:endParaRPr sz="3100"/>
          </a:p>
        </p:txBody>
      </p:sp>
      <p:sp>
        <p:nvSpPr>
          <p:cNvPr id="365" name="Google Shape;365;p6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Source: </a:t>
            </a:r>
            <a:r>
              <a:rPr lang="en" u="sng">
                <a:solidFill>
                  <a:schemeClr val="hlink"/>
                </a:solidFill>
                <a:hlinkClick r:id="rId3"/>
              </a:rPr>
              <a:t>Kingston</a:t>
            </a:r>
            <a:endParaRPr/>
          </a:p>
        </p:txBody>
      </p:sp>
      <p:pic>
        <p:nvPicPr>
          <p:cNvPr id="366" name="Google Shape;366;p64"/>
          <p:cNvPicPr preferRelativeResize="0"/>
          <p:nvPr/>
        </p:nvPicPr>
        <p:blipFill>
          <a:blip r:embed="rId4">
            <a:alphaModFix/>
          </a:blip>
          <a:stretch>
            <a:fillRect/>
          </a:stretch>
        </p:blipFill>
        <p:spPr>
          <a:xfrm>
            <a:off x="1464088" y="1017725"/>
            <a:ext cx="5525448" cy="310805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NAND Flash Basics</a:t>
            </a:r>
            <a:endParaRPr/>
          </a:p>
        </p:txBody>
      </p:sp>
      <p:sp>
        <p:nvSpPr>
          <p:cNvPr id="372" name="Google Shape;372;p6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300"/>
              <a:t>Types of NAND</a:t>
            </a:r>
            <a:endParaRPr b="1" sz="1300"/>
          </a:p>
          <a:p>
            <a:pPr indent="-311150" lvl="0" marL="457200" rtl="0" algn="l">
              <a:lnSpc>
                <a:spcPct val="115000"/>
              </a:lnSpc>
              <a:spcBef>
                <a:spcPts val="1200"/>
              </a:spcBef>
              <a:spcAft>
                <a:spcPts val="0"/>
              </a:spcAft>
              <a:buClr>
                <a:schemeClr val="dk1"/>
              </a:buClr>
              <a:buSzPts val="1300"/>
              <a:buFont typeface="Arial"/>
              <a:buChar char="●"/>
            </a:pPr>
            <a:r>
              <a:rPr b="1" lang="en" sz="1300"/>
              <a:t>SLC</a:t>
            </a:r>
            <a:r>
              <a:rPr lang="en" sz="1300"/>
              <a:t> – Single-Level Cell (1 bit/cell)</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MLC</a:t>
            </a:r>
            <a:r>
              <a:rPr lang="en" sz="1300"/>
              <a:t> – Multi-Level Cell (2 bits/cell)</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TLC</a:t>
            </a:r>
            <a:r>
              <a:rPr lang="en" sz="1300"/>
              <a:t> – Triple-Level Cell (3 bits/cell)</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QLC</a:t>
            </a:r>
            <a:r>
              <a:rPr lang="en" sz="1300"/>
              <a:t> – Quad-Level Cell (4 bits/cell)</a:t>
            </a:r>
            <a:endParaRPr sz="1300"/>
          </a:p>
          <a:p>
            <a:pPr indent="0" lvl="0" marL="0" rtl="0" algn="l">
              <a:lnSpc>
                <a:spcPct val="115000"/>
              </a:lnSpc>
              <a:spcBef>
                <a:spcPts val="1200"/>
              </a:spcBef>
              <a:spcAft>
                <a:spcPts val="0"/>
              </a:spcAft>
              <a:buClr>
                <a:schemeClr val="dk1"/>
              </a:buClr>
              <a:buSzPts val="1100"/>
              <a:buFont typeface="Arial"/>
              <a:buNone/>
            </a:pPr>
            <a:r>
              <a:rPr b="1" lang="en" sz="1300"/>
              <a:t>Production Reality</a:t>
            </a:r>
            <a:endParaRPr b="1" sz="1300"/>
          </a:p>
          <a:p>
            <a:pPr indent="-311150" lvl="0" marL="457200" rtl="0" algn="l">
              <a:lnSpc>
                <a:spcPct val="115000"/>
              </a:lnSpc>
              <a:spcBef>
                <a:spcPts val="1200"/>
              </a:spcBef>
              <a:spcAft>
                <a:spcPts val="0"/>
              </a:spcAft>
              <a:buClr>
                <a:schemeClr val="dk1"/>
              </a:buClr>
              <a:buSzPts val="1300"/>
              <a:buFont typeface="Arial"/>
              <a:buChar char="●"/>
            </a:pPr>
            <a:r>
              <a:rPr b="1" lang="en" sz="1300"/>
              <a:t>TLC</a:t>
            </a:r>
            <a:r>
              <a:rPr lang="en" sz="1300"/>
              <a:t> is now the baseline (most commonly produced).</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QLC</a:t>
            </a:r>
            <a:r>
              <a:rPr lang="en" sz="1300"/>
              <a:t> is the lowest cost (and lowest endurance).</a:t>
            </a:r>
            <a:endParaRPr sz="1300"/>
          </a:p>
          <a:p>
            <a:pPr indent="-311150" lvl="0" marL="457200" rtl="0" algn="l">
              <a:lnSpc>
                <a:spcPct val="115000"/>
              </a:lnSpc>
              <a:spcBef>
                <a:spcPts val="0"/>
              </a:spcBef>
              <a:spcAft>
                <a:spcPts val="0"/>
              </a:spcAft>
              <a:buClr>
                <a:schemeClr val="dk1"/>
              </a:buClr>
              <a:buSzPts val="1300"/>
              <a:buFont typeface="Arial"/>
              <a:buChar char="●"/>
            </a:pPr>
            <a:r>
              <a:rPr lang="en" sz="1300"/>
              <a:t>SLC and MLC aren’t mass-produced anymore, but the concepts live on in “pseudo” modes.</a:t>
            </a:r>
            <a:endParaRPr sz="1300"/>
          </a:p>
          <a:p>
            <a:pPr indent="0" lvl="0" marL="0" rtl="0" algn="l">
              <a:lnSpc>
                <a:spcPct val="115000"/>
              </a:lnSpc>
              <a:spcBef>
                <a:spcPts val="1200"/>
              </a:spcBef>
              <a:spcAft>
                <a:spcPts val="0"/>
              </a:spcAft>
              <a:buClr>
                <a:schemeClr val="dk1"/>
              </a:buClr>
              <a:buSzPts val="1100"/>
              <a:buFont typeface="Arial"/>
              <a:buNone/>
            </a:pPr>
            <a:r>
              <a:rPr b="1" lang="en" sz="1300"/>
              <a:t>Endurance vs. Capacity</a:t>
            </a:r>
            <a:endParaRPr b="1" sz="1300"/>
          </a:p>
          <a:p>
            <a:pPr indent="-311150" lvl="0" marL="457200" rtl="0" algn="l">
              <a:lnSpc>
                <a:spcPct val="115000"/>
              </a:lnSpc>
              <a:spcBef>
                <a:spcPts val="1200"/>
              </a:spcBef>
              <a:spcAft>
                <a:spcPts val="0"/>
              </a:spcAft>
              <a:buClr>
                <a:schemeClr val="dk1"/>
              </a:buClr>
              <a:buSzPts val="1300"/>
              <a:buFont typeface="Arial"/>
              <a:buChar char="●"/>
            </a:pPr>
            <a:r>
              <a:rPr lang="en" sz="1300"/>
              <a:t>More bits per cell = </a:t>
            </a:r>
            <a:r>
              <a:rPr b="1" lang="en" sz="1300"/>
              <a:t>Higher capacity</a:t>
            </a:r>
            <a:r>
              <a:rPr lang="en" sz="1300"/>
              <a:t> but </a:t>
            </a:r>
            <a:r>
              <a:rPr b="1" lang="en" sz="1300"/>
              <a:t>Lower endurance</a:t>
            </a:r>
            <a:r>
              <a:rPr lang="en" sz="1300"/>
              <a:t>.</a:t>
            </a:r>
            <a:endParaRPr sz="1300"/>
          </a:p>
          <a:p>
            <a:pPr indent="-311150" lvl="0" marL="457200" rtl="0" algn="l">
              <a:lnSpc>
                <a:spcPct val="115000"/>
              </a:lnSpc>
              <a:spcBef>
                <a:spcPts val="0"/>
              </a:spcBef>
              <a:spcAft>
                <a:spcPts val="0"/>
              </a:spcAft>
              <a:buClr>
                <a:schemeClr val="dk1"/>
              </a:buClr>
              <a:buSzPts val="1300"/>
              <a:buFont typeface="Arial"/>
              <a:buChar char="●"/>
            </a:pPr>
            <a:r>
              <a:rPr lang="en" sz="1300"/>
              <a:t>Fewer bits per cell = </a:t>
            </a:r>
            <a:r>
              <a:rPr b="1" lang="en" sz="1300"/>
              <a:t>Lower capacity</a:t>
            </a:r>
            <a:r>
              <a:rPr lang="en" sz="1300"/>
              <a:t> but </a:t>
            </a:r>
            <a:r>
              <a:rPr b="1" lang="en" sz="1300"/>
              <a:t>Higher endurance</a:t>
            </a:r>
            <a:r>
              <a:rPr lang="en" sz="1300"/>
              <a:t>.</a:t>
            </a:r>
            <a:endParaRPr sz="26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pSLC &amp; pMLC (Pseudo Modes)</a:t>
            </a:r>
            <a:endParaRPr/>
          </a:p>
        </p:txBody>
      </p:sp>
      <p:sp>
        <p:nvSpPr>
          <p:cNvPr id="378" name="Google Shape;378;p6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300"/>
              <a:t>pSLC (Pseudo-SLC)</a:t>
            </a:r>
            <a:endParaRPr b="1" sz="1300"/>
          </a:p>
          <a:p>
            <a:pPr indent="-311150" lvl="0" marL="457200" rtl="0" algn="l">
              <a:lnSpc>
                <a:spcPct val="115000"/>
              </a:lnSpc>
              <a:spcBef>
                <a:spcPts val="1200"/>
              </a:spcBef>
              <a:spcAft>
                <a:spcPts val="0"/>
              </a:spcAft>
              <a:buClr>
                <a:schemeClr val="dk1"/>
              </a:buClr>
              <a:buSzPts val="1300"/>
              <a:buFont typeface="Arial"/>
              <a:buChar char="●"/>
            </a:pPr>
            <a:r>
              <a:rPr lang="en" sz="1300"/>
              <a:t>Treats </a:t>
            </a:r>
            <a:r>
              <a:rPr b="1" lang="en" sz="1300"/>
              <a:t>TLC</a:t>
            </a:r>
            <a:r>
              <a:rPr lang="en" sz="1300"/>
              <a:t> cells as if they were SLC (1 bit/cell).</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Uses only 2 charge levels</a:t>
            </a:r>
            <a:r>
              <a:rPr lang="en" sz="1300"/>
              <a:t> (0 or 1).</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Boosts endurance &amp; speed</a:t>
            </a:r>
            <a:r>
              <a:rPr lang="en" sz="1300"/>
              <a:t>—fewer voltage states mean less wear and faster writes.</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Trade-off</a:t>
            </a:r>
            <a:r>
              <a:rPr lang="en" sz="1300"/>
              <a:t>: You lose ~⅔ of the capacity (using 1 bit instead of 3).</a:t>
            </a:r>
            <a:endParaRPr sz="1300"/>
          </a:p>
          <a:p>
            <a:pPr indent="0" lvl="0" marL="0" rtl="0" algn="l">
              <a:lnSpc>
                <a:spcPct val="115000"/>
              </a:lnSpc>
              <a:spcBef>
                <a:spcPts val="1200"/>
              </a:spcBef>
              <a:spcAft>
                <a:spcPts val="0"/>
              </a:spcAft>
              <a:buClr>
                <a:schemeClr val="dk1"/>
              </a:buClr>
              <a:buSzPts val="1100"/>
              <a:buFont typeface="Arial"/>
              <a:buNone/>
            </a:pPr>
            <a:r>
              <a:rPr b="1" lang="en" sz="1300"/>
              <a:t>pMLC (Pseudo-MLC)</a:t>
            </a:r>
            <a:endParaRPr b="1" sz="1300"/>
          </a:p>
          <a:p>
            <a:pPr indent="-311150" lvl="0" marL="457200" rtl="0" algn="l">
              <a:lnSpc>
                <a:spcPct val="115000"/>
              </a:lnSpc>
              <a:spcBef>
                <a:spcPts val="1200"/>
              </a:spcBef>
              <a:spcAft>
                <a:spcPts val="0"/>
              </a:spcAft>
              <a:buClr>
                <a:schemeClr val="dk1"/>
              </a:buClr>
              <a:buSzPts val="1300"/>
              <a:buFont typeface="Arial"/>
              <a:buChar char="●"/>
            </a:pPr>
            <a:r>
              <a:rPr lang="en" sz="1300"/>
              <a:t>Also uses </a:t>
            </a:r>
            <a:r>
              <a:rPr b="1" lang="en" sz="1300"/>
              <a:t>TLC</a:t>
            </a:r>
            <a:r>
              <a:rPr lang="en" sz="1300"/>
              <a:t> but stores </a:t>
            </a:r>
            <a:r>
              <a:rPr b="1" lang="en" sz="1300"/>
              <a:t>2 bits/cell</a:t>
            </a:r>
            <a:r>
              <a:rPr lang="en" sz="1300"/>
              <a:t>.</a:t>
            </a:r>
            <a:endParaRPr sz="1300"/>
          </a:p>
          <a:p>
            <a:pPr indent="-311150" lvl="0" marL="457200" rtl="0" algn="l">
              <a:lnSpc>
                <a:spcPct val="115000"/>
              </a:lnSpc>
              <a:spcBef>
                <a:spcPts val="0"/>
              </a:spcBef>
              <a:spcAft>
                <a:spcPts val="0"/>
              </a:spcAft>
              <a:buClr>
                <a:schemeClr val="dk1"/>
              </a:buClr>
              <a:buSzPts val="1300"/>
              <a:buFont typeface="Arial"/>
              <a:buChar char="●"/>
            </a:pPr>
            <a:r>
              <a:rPr lang="en" sz="1300"/>
              <a:t>Strikes a balance between </a:t>
            </a:r>
            <a:r>
              <a:rPr b="1" lang="en" sz="1300"/>
              <a:t>speed/endurance</a:t>
            </a:r>
            <a:r>
              <a:rPr lang="en" sz="1300"/>
              <a:t> and </a:t>
            </a:r>
            <a:r>
              <a:rPr b="1" lang="en" sz="1300"/>
              <a:t>capacity</a:t>
            </a:r>
            <a:r>
              <a:rPr lang="en" sz="1300"/>
              <a:t>.</a:t>
            </a:r>
            <a:endParaRPr sz="1300"/>
          </a:p>
          <a:p>
            <a:pPr indent="-311150" lvl="0" marL="457200" rtl="0" algn="l">
              <a:lnSpc>
                <a:spcPct val="115000"/>
              </a:lnSpc>
              <a:spcBef>
                <a:spcPts val="0"/>
              </a:spcBef>
              <a:spcAft>
                <a:spcPts val="0"/>
              </a:spcAft>
              <a:buClr>
                <a:schemeClr val="dk1"/>
              </a:buClr>
              <a:buSzPts val="1300"/>
              <a:buFont typeface="Arial"/>
              <a:buChar char="●"/>
            </a:pPr>
            <a:r>
              <a:rPr b="1" lang="en" sz="1300"/>
              <a:t>Trade-off</a:t>
            </a:r>
            <a:r>
              <a:rPr lang="en" sz="1300"/>
              <a:t>: Less capacity reduction than pSLC, but still higher endurance than regular TLC.</a:t>
            </a:r>
            <a:endParaRPr sz="1300"/>
          </a:p>
          <a:p>
            <a:pPr indent="0" lvl="0" marL="0" rtl="0" algn="l">
              <a:lnSpc>
                <a:spcPct val="115000"/>
              </a:lnSpc>
              <a:spcBef>
                <a:spcPts val="1200"/>
              </a:spcBef>
              <a:spcAft>
                <a:spcPts val="0"/>
              </a:spcAft>
              <a:buClr>
                <a:schemeClr val="dk1"/>
              </a:buClr>
              <a:buSzPts val="1100"/>
              <a:buFont typeface="Arial"/>
              <a:buNone/>
            </a:pPr>
            <a:r>
              <a:rPr b="1" lang="en" sz="1300"/>
              <a:t>Why Do This?</a:t>
            </a:r>
            <a:endParaRPr b="1" sz="1300"/>
          </a:p>
          <a:p>
            <a:pPr indent="-311150" lvl="0" marL="457200" rtl="0" algn="l">
              <a:lnSpc>
                <a:spcPct val="115000"/>
              </a:lnSpc>
              <a:spcBef>
                <a:spcPts val="1200"/>
              </a:spcBef>
              <a:spcAft>
                <a:spcPts val="0"/>
              </a:spcAft>
              <a:buClr>
                <a:schemeClr val="dk1"/>
              </a:buClr>
              <a:buSzPts val="1300"/>
              <a:buFont typeface="Arial"/>
              <a:buChar char="●"/>
            </a:pPr>
            <a:r>
              <a:rPr lang="en" sz="1300"/>
              <a:t>Critical workloads (e.g., caching, logging, high-write databases) need higher endurance.</a:t>
            </a:r>
            <a:endParaRPr sz="1300"/>
          </a:p>
          <a:p>
            <a:pPr indent="-311150" lvl="0" marL="457200" rtl="0" algn="l">
              <a:lnSpc>
                <a:spcPct val="115000"/>
              </a:lnSpc>
              <a:spcBef>
                <a:spcPts val="0"/>
              </a:spcBef>
              <a:spcAft>
                <a:spcPts val="0"/>
              </a:spcAft>
              <a:buClr>
                <a:schemeClr val="dk1"/>
              </a:buClr>
              <a:buSzPts val="1300"/>
              <a:buFont typeface="Arial"/>
              <a:buChar char="●"/>
            </a:pPr>
            <a:r>
              <a:rPr lang="en" sz="1300"/>
              <a:t>pSLC/pMLC ensures </a:t>
            </a:r>
            <a:r>
              <a:rPr b="1" lang="en" sz="1300"/>
              <a:t>longer lifespan</a:t>
            </a:r>
            <a:r>
              <a:rPr lang="en" sz="1300"/>
              <a:t> and </a:t>
            </a:r>
            <a:r>
              <a:rPr b="1" lang="en" sz="1300"/>
              <a:t>faster writes</a:t>
            </a:r>
            <a:r>
              <a:rPr lang="en" sz="1300"/>
              <a:t> at the expense of capacity.</a:t>
            </a:r>
            <a:endParaRPr sz="26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More Bits Wear Out Cells Faster</a:t>
            </a:r>
            <a:endParaRPr/>
          </a:p>
        </p:txBody>
      </p:sp>
      <p:sp>
        <p:nvSpPr>
          <p:cNvPr id="384" name="Google Shape;384;p6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1500"/>
              <a:t>Voltage Levels</a:t>
            </a:r>
            <a:endParaRPr b="1" sz="1500"/>
          </a:p>
          <a:p>
            <a:pPr indent="-323850" lvl="0" marL="457200" rtl="0" algn="l">
              <a:lnSpc>
                <a:spcPct val="115000"/>
              </a:lnSpc>
              <a:spcBef>
                <a:spcPts val="1200"/>
              </a:spcBef>
              <a:spcAft>
                <a:spcPts val="0"/>
              </a:spcAft>
              <a:buClr>
                <a:schemeClr val="dk1"/>
              </a:buClr>
              <a:buSzPts val="1500"/>
              <a:buFont typeface="Arial"/>
              <a:buChar char="●"/>
            </a:pPr>
            <a:r>
              <a:rPr lang="en" sz="1500"/>
              <a:t>Each additional bit doubles the number of voltage states needed.</a:t>
            </a:r>
            <a:endParaRPr sz="1500"/>
          </a:p>
          <a:p>
            <a:pPr indent="-323850" lvl="0" marL="457200" rtl="0" algn="l">
              <a:lnSpc>
                <a:spcPct val="115000"/>
              </a:lnSpc>
              <a:spcBef>
                <a:spcPts val="0"/>
              </a:spcBef>
              <a:spcAft>
                <a:spcPts val="0"/>
              </a:spcAft>
              <a:buClr>
                <a:schemeClr val="dk1"/>
              </a:buClr>
              <a:buSzPts val="1500"/>
              <a:buFont typeface="Arial"/>
              <a:buChar char="●"/>
            </a:pPr>
            <a:r>
              <a:rPr lang="en" sz="1500"/>
              <a:t>Example: TLC requires </a:t>
            </a:r>
            <a:r>
              <a:rPr b="1" lang="en" sz="1500"/>
              <a:t>8 distinct voltage states</a:t>
            </a:r>
            <a:r>
              <a:rPr lang="en" sz="1500"/>
              <a:t>, QLC needs </a:t>
            </a:r>
            <a:r>
              <a:rPr b="1" lang="en" sz="1500"/>
              <a:t>16</a:t>
            </a:r>
            <a:r>
              <a:rPr lang="en" sz="1500"/>
              <a:t>.</a:t>
            </a:r>
            <a:endParaRPr sz="1500"/>
          </a:p>
          <a:p>
            <a:pPr indent="-323850" lvl="0" marL="457200" rtl="0" algn="l">
              <a:lnSpc>
                <a:spcPct val="115000"/>
              </a:lnSpc>
              <a:spcBef>
                <a:spcPts val="0"/>
              </a:spcBef>
              <a:spcAft>
                <a:spcPts val="0"/>
              </a:spcAft>
              <a:buClr>
                <a:schemeClr val="dk1"/>
              </a:buClr>
              <a:buSzPts val="1500"/>
              <a:buFont typeface="Arial"/>
              <a:buChar char="●"/>
            </a:pPr>
            <a:r>
              <a:rPr lang="en" sz="1500"/>
              <a:t>Tighter voltage tolerances = </a:t>
            </a:r>
            <a:r>
              <a:rPr b="1" lang="en" sz="1500"/>
              <a:t>more stress</a:t>
            </a:r>
            <a:r>
              <a:rPr lang="en" sz="1500"/>
              <a:t> on each cell.</a:t>
            </a:r>
            <a:endParaRPr sz="1500"/>
          </a:p>
          <a:p>
            <a:pPr indent="0" lvl="0" marL="0" rtl="0" algn="l">
              <a:lnSpc>
                <a:spcPct val="115000"/>
              </a:lnSpc>
              <a:spcBef>
                <a:spcPts val="1200"/>
              </a:spcBef>
              <a:spcAft>
                <a:spcPts val="0"/>
              </a:spcAft>
              <a:buClr>
                <a:schemeClr val="dk1"/>
              </a:buClr>
              <a:buSzPts val="1100"/>
              <a:buFont typeface="Arial"/>
              <a:buNone/>
            </a:pPr>
            <a:r>
              <a:rPr b="1" lang="en" sz="1500"/>
              <a:t>Write Amplification</a:t>
            </a:r>
            <a:endParaRPr b="1" sz="1500"/>
          </a:p>
          <a:p>
            <a:pPr indent="-323850" lvl="0" marL="457200" rtl="0" algn="l">
              <a:lnSpc>
                <a:spcPct val="115000"/>
              </a:lnSpc>
              <a:spcBef>
                <a:spcPts val="1200"/>
              </a:spcBef>
              <a:spcAft>
                <a:spcPts val="0"/>
              </a:spcAft>
              <a:buClr>
                <a:schemeClr val="dk1"/>
              </a:buClr>
              <a:buSzPts val="1500"/>
              <a:buFont typeface="Arial"/>
              <a:buChar char="●"/>
            </a:pPr>
            <a:r>
              <a:rPr lang="en" sz="1500"/>
              <a:t>More complex state programming = </a:t>
            </a:r>
            <a:r>
              <a:rPr b="1" lang="en" sz="1500"/>
              <a:t>increased wear</a:t>
            </a:r>
            <a:r>
              <a:rPr lang="en" sz="1500"/>
              <a:t> per write/erase cycle.</a:t>
            </a:r>
            <a:endParaRPr sz="1500"/>
          </a:p>
          <a:p>
            <a:pPr indent="-323850" lvl="0" marL="457200" rtl="0" algn="l">
              <a:lnSpc>
                <a:spcPct val="115000"/>
              </a:lnSpc>
              <a:spcBef>
                <a:spcPts val="0"/>
              </a:spcBef>
              <a:spcAft>
                <a:spcPts val="0"/>
              </a:spcAft>
              <a:buClr>
                <a:schemeClr val="dk1"/>
              </a:buClr>
              <a:buSzPts val="1500"/>
              <a:buFont typeface="Arial"/>
              <a:buChar char="●"/>
            </a:pPr>
            <a:r>
              <a:rPr lang="en" sz="1500"/>
              <a:t>Cells degrade faster, reducing total program/erase (P/E) cycles.</a:t>
            </a:r>
            <a:endParaRPr sz="1500"/>
          </a:p>
          <a:p>
            <a:pPr indent="0" lvl="0" marL="0" rtl="0" algn="l">
              <a:lnSpc>
                <a:spcPct val="115000"/>
              </a:lnSpc>
              <a:spcBef>
                <a:spcPts val="1200"/>
              </a:spcBef>
              <a:spcAft>
                <a:spcPts val="0"/>
              </a:spcAft>
              <a:buClr>
                <a:schemeClr val="dk1"/>
              </a:buClr>
              <a:buSzPts val="1100"/>
              <a:buFont typeface="Arial"/>
              <a:buNone/>
            </a:pPr>
            <a:r>
              <a:rPr b="1" lang="en" sz="1500"/>
              <a:t>pSLC Advantage</a:t>
            </a:r>
            <a:endParaRPr b="1" sz="1500"/>
          </a:p>
          <a:p>
            <a:pPr indent="-323850" lvl="0" marL="457200" rtl="0" algn="l">
              <a:lnSpc>
                <a:spcPct val="115000"/>
              </a:lnSpc>
              <a:spcBef>
                <a:spcPts val="1200"/>
              </a:spcBef>
              <a:spcAft>
                <a:spcPts val="0"/>
              </a:spcAft>
              <a:buClr>
                <a:schemeClr val="dk1"/>
              </a:buClr>
              <a:buSzPts val="1500"/>
              <a:buFont typeface="Arial"/>
              <a:buChar char="●"/>
            </a:pPr>
            <a:r>
              <a:rPr lang="en" sz="1500"/>
              <a:t>Only </a:t>
            </a:r>
            <a:r>
              <a:rPr b="1" lang="en" sz="1500"/>
              <a:t>2 voltage states</a:t>
            </a:r>
            <a:r>
              <a:rPr lang="en" sz="1500"/>
              <a:t> → simpler, quicker, less stress.</a:t>
            </a:r>
            <a:endParaRPr sz="1500"/>
          </a:p>
          <a:p>
            <a:pPr indent="-323850" lvl="0" marL="457200" rtl="0" algn="l">
              <a:lnSpc>
                <a:spcPct val="115000"/>
              </a:lnSpc>
              <a:spcBef>
                <a:spcPts val="0"/>
              </a:spcBef>
              <a:spcAft>
                <a:spcPts val="0"/>
              </a:spcAft>
              <a:buClr>
                <a:schemeClr val="dk1"/>
              </a:buClr>
              <a:buSzPts val="1500"/>
              <a:buFont typeface="Arial"/>
              <a:buChar char="●"/>
            </a:pPr>
            <a:r>
              <a:rPr lang="en" sz="1500"/>
              <a:t>Fewer errors, less error correction overhead, and </a:t>
            </a:r>
            <a:r>
              <a:rPr b="1" lang="en" sz="1500"/>
              <a:t>longer component life</a:t>
            </a:r>
            <a:r>
              <a:rPr lang="en" sz="1500"/>
              <a:t>.</a:t>
            </a:r>
            <a:endParaRPr sz="28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Write Policies in SANs: Write Back vs. Write Through</a:t>
            </a:r>
            <a:endParaRPr sz="2500"/>
          </a:p>
        </p:txBody>
      </p:sp>
      <p:sp>
        <p:nvSpPr>
          <p:cNvPr id="390" name="Google Shape;390;p6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Write Through</a:t>
            </a:r>
            <a:r>
              <a:rPr lang="en" sz="1900"/>
              <a:t>: Every write operation is written directly to the storage media and confirmed before the next operation. It ensures data integrity but can lead to slower write performance as each write requires acknowledgment from the storage media.</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Write Back (Write Behind)</a:t>
            </a:r>
            <a:r>
              <a:rPr lang="en" sz="1900"/>
              <a:t>: Write operations are first written to a fast cache and then written to the storage media at a later time. This allows for faster write performance as operations don't have to wait for storage media acknowledgment. However, it introduces the risk of data loss if the cache is not properly protected.</a:t>
            </a:r>
            <a:endParaRPr sz="32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Leveraging Cache for Performance in SANs</a:t>
            </a:r>
            <a:endParaRPr sz="2800"/>
          </a:p>
        </p:txBody>
      </p:sp>
      <p:sp>
        <p:nvSpPr>
          <p:cNvPr id="396" name="Google Shape;396;p6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lang="en" sz="1800"/>
              <a:t>The cache in a SAN environment temporarily stores data for quick access. It plays a critical role in both write back and write through policies.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Write Through</a:t>
            </a:r>
            <a:r>
              <a:rPr lang="en" sz="1800"/>
              <a:t>: The cache improves read performance but doesn't impact write performance significantly.</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Write Back</a:t>
            </a:r>
            <a:r>
              <a:rPr lang="en" sz="1800"/>
              <a:t>: The cache significantly enhances write performance but requires robust protection to ensure data integrity.</a:t>
            </a:r>
            <a:endParaRPr sz="31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7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Protecting Data with Battery Backup in SANs</a:t>
            </a:r>
            <a:endParaRPr sz="2700"/>
          </a:p>
        </p:txBody>
      </p:sp>
      <p:sp>
        <p:nvSpPr>
          <p:cNvPr id="402" name="Google Shape;402;p7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292100" lvl="0" marL="457200" rtl="0" algn="l">
              <a:lnSpc>
                <a:spcPct val="115000"/>
              </a:lnSpc>
              <a:spcBef>
                <a:spcPts val="0"/>
              </a:spcBef>
              <a:spcAft>
                <a:spcPts val="0"/>
              </a:spcAft>
              <a:buClr>
                <a:schemeClr val="dk1"/>
              </a:buClr>
              <a:buSzPts val="1000"/>
              <a:buFont typeface="Arial"/>
              <a:buChar char="●"/>
            </a:pPr>
            <a:r>
              <a:rPr lang="en" sz="2300"/>
              <a:t>Battery backup units (BBUs) or supercapacitors are essential in SANs, especially when using write-back cache policies.</a:t>
            </a:r>
            <a:endParaRPr sz="2300"/>
          </a:p>
          <a:p>
            <a:pPr indent="-292100" lvl="0" marL="457200" rtl="0" algn="l">
              <a:lnSpc>
                <a:spcPct val="115000"/>
              </a:lnSpc>
              <a:spcBef>
                <a:spcPts val="0"/>
              </a:spcBef>
              <a:spcAft>
                <a:spcPts val="0"/>
              </a:spcAft>
              <a:buClr>
                <a:schemeClr val="dk1"/>
              </a:buClr>
              <a:buSzPts val="1000"/>
              <a:buFont typeface="Arial"/>
              <a:buChar char="●"/>
            </a:pPr>
            <a:r>
              <a:rPr lang="en" sz="2300"/>
              <a:t>They ensure that data in the cache can be written to permanent storage in the event of a power failure, preventing data loss.</a:t>
            </a:r>
            <a:endParaRPr sz="2300"/>
          </a:p>
          <a:p>
            <a:pPr indent="-292100" lvl="0" marL="457200" rtl="0" algn="l">
              <a:lnSpc>
                <a:spcPct val="115000"/>
              </a:lnSpc>
              <a:spcBef>
                <a:spcPts val="0"/>
              </a:spcBef>
              <a:spcAft>
                <a:spcPts val="0"/>
              </a:spcAft>
              <a:buClr>
                <a:schemeClr val="dk1"/>
              </a:buClr>
              <a:buSzPts val="1000"/>
              <a:buFont typeface="Arial"/>
              <a:buChar char="●"/>
            </a:pPr>
            <a:r>
              <a:rPr lang="en" sz="2300"/>
              <a:t>BBUs provide power to the SAN long enough for all data in the cache to be safely transferred to non-volatile storage, such as SSDs or HDDs.</a:t>
            </a:r>
            <a:endParaRPr sz="23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7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Destinations: Memory vs. SSD</a:t>
            </a:r>
            <a:endParaRPr/>
          </a:p>
        </p:txBody>
      </p:sp>
      <p:sp>
        <p:nvSpPr>
          <p:cNvPr id="408" name="Google Shape;408;p7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Cache to Memory</a:t>
            </a:r>
            <a:r>
              <a:rPr lang="en" sz="1900"/>
              <a:t>: Offers extremely fast data access but is volatile. In the event of power loss, data in memory can be lost unless a battery backup is in place.</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Cache to SSD</a:t>
            </a:r>
            <a:r>
              <a:rPr lang="en" sz="1900"/>
              <a:t>: SSDs, being non-volatile, offer a safer option for caching data. While not as fast as memory, modern SSDs provide high-speed access and ensure data is not lost if power is unexpectedly cut.</a:t>
            </a:r>
            <a:endParaRPr sz="1900"/>
          </a:p>
          <a:p>
            <a:pPr indent="-349250" lvl="0" marL="457200" rtl="0" algn="l">
              <a:lnSpc>
                <a:spcPct val="115000"/>
              </a:lnSpc>
              <a:spcBef>
                <a:spcPts val="0"/>
              </a:spcBef>
              <a:spcAft>
                <a:spcPts val="0"/>
              </a:spcAft>
              <a:buClr>
                <a:schemeClr val="dk1"/>
              </a:buClr>
              <a:buSzPts val="1900"/>
              <a:buFont typeface="Arial"/>
              <a:buChar char="●"/>
            </a:pPr>
            <a:r>
              <a:rPr lang="en" sz="1900"/>
              <a:t>The choice between memory and SSD for caching should be based on the balance between performance needs and data safety requirements.</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