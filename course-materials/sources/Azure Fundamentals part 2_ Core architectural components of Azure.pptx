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y="5143500" cx="9144000"/>
  <p:notesSz cx="6858000" cy="9144000"/>
  <p:embeddedFontLst>
    <p:embeddedFont>
      <p:font typeface="Amatic SC"/>
      <p:regular r:id="rId106"/>
      <p:bold r:id="rId107"/>
    </p:embeddedFont>
    <p:embeddedFont>
      <p:font typeface="Source Code Pro"/>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AmaticSC-bold.fntdata"/><Relationship Id="rId106" Type="http://schemas.openxmlformats.org/officeDocument/2006/relationships/font" Target="fonts/AmaticSC-regular.fntdata"/><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SourceCodePro-bold.fntdata"/><Relationship Id="rId108" Type="http://schemas.openxmlformats.org/officeDocument/2006/relationships/font" Target="fonts/SourceCodePro-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SourceCodePro-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1" Type="http://schemas.openxmlformats.org/officeDocument/2006/relationships/font" Target="fonts/SourceCodePro-bold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04470fd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404470fd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SLIDES_API123876805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SLIDES_API123876805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04470fd87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04470fd8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404470fd8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404470fd8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SLIDES_API192842896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SLIDES_API192842896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404470fd87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404470fd87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404470fd87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404470fd87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404470fd8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404470fd8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404470fd8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404470fd8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404470fd8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404470fd8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404470fd87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404470fd87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404470fd87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404470fd87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404470fd87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404470fd87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04470fd87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04470fd87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404470fd8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404470fd8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404470fd8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404470fd8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404470fd8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404470fd8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404470fd87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404470fd87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404470fd8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404470fd87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404470fd87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404470fd87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04470fd8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04470fd8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404470fd8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404470fd8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404470fd87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404470fd87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404470fd8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404470fd8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404470fd8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404470fd8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404470fd87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404470fd87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404470fd8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404470fd8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404470fd87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404470fd87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404470fd87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404470fd87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04470fd87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04470fd87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404470fd87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404470fd87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404470fd8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404470fd8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04470fd87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404470fd87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404470fd8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404470fd8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404470fd87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404470fd87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404470fd87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404470fd87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404470fd87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404470fd87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404470fd87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404470fd87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404470fd87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404470fd87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404470fd87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404470fd87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404470fd87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404470fd87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404470fd87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404470fd87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404470fd87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404470fd87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404470fd87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404470fd87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404470fd87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404470fd87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404470fd87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404470fd87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404470fd87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404470fd87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404470fd87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404470fd87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404470fd87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404470fd87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404470fd87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404470fd87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404470fd87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404470fd87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404470fd87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404470fd87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404470fd87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404470fd87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404470fd87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404470fd87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404470fd87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404470fd87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404470fd87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404470fd87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404470fd87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404470fd87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404470fd87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404470fd87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404470fd87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404470fd87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404470fd87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404470fd87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404470fd8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404470fd8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404470fd87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404470fd87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404470fd87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404470fd87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404470fd87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404470fd87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SLIDES_API211280076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SLIDES_API211280076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404470fd87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404470fd87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404470fd87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404470fd87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404470fd87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404470fd87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404470fd87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404470fd87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404470fd87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404470fd87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404470fd87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404470fd87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404470fd87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404470fd87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404470fd8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404470fd8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404470fd87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404470fd87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SLIDES_API98201156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SLIDES_API98201156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404470fd87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404470fd87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404470fd87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404470fd87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404470fd87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404470fd87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404470fd87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404470fd87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404470fd87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404470fd87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404470fd87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2404470fd87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404470fd87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2404470fd87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404470fd87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2404470fd87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404470fd87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404470fd87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404470fd87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404470fd87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404470fd87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404470fd87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404470fd87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404470fd87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2404470fd87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2404470fd87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404470fd87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404470fd87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404470fd87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404470fd87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404470fd87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404470fd87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404470fd87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404470fd87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404470fd87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404470fd87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404470fd87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404470fd87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404470fd87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2404470fd87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404470fd87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404470fd87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404470fd87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404470fd87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404470fd87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404470fd87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404470fd87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404470fd87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learn.microsoft.com/en-us/training/modules/describe-core-architectural-components-of-azure/4-exercise-explore-learn-sandbox"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6.jpg"/><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20.jpg"/><Relationship Id="rId4" Type="http://schemas.openxmlformats.org/officeDocument/2006/relationships/image" Target="../media/image3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3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Azure Fundamentals part 2</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Core architectural </a:t>
            </a:r>
            <a:r>
              <a:rPr lang="en"/>
              <a:t>components</a:t>
            </a:r>
            <a:r>
              <a:rPr lang="en"/>
              <a:t> of Azure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PowerShell CLI</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4" name="Google Shape;64;p14"/>
          <p:cNvPicPr preferRelativeResize="0"/>
          <p:nvPr/>
        </p:nvPicPr>
        <p:blipFill>
          <a:blip r:embed="rId3">
            <a:alphaModFix/>
          </a:blip>
          <a:stretch>
            <a:fillRect/>
          </a:stretch>
        </p:blipFill>
        <p:spPr>
          <a:xfrm>
            <a:off x="2429578" y="1017725"/>
            <a:ext cx="5878846" cy="3661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70" name="Google Shape;70;p15"/>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PowerShell for Linux</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77" name="Google Shape;77;p16"/>
          <p:cNvPicPr preferRelativeResize="0"/>
          <p:nvPr/>
        </p:nvPicPr>
        <p:blipFill>
          <a:blip r:embed="rId3">
            <a:alphaModFix/>
          </a:blip>
          <a:stretch>
            <a:fillRect/>
          </a:stretch>
        </p:blipFill>
        <p:spPr>
          <a:xfrm>
            <a:off x="85725" y="1843088"/>
            <a:ext cx="8972550" cy="1457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Cpuinfo - I was curious</a:t>
            </a:r>
            <a:endParaRPr/>
          </a:p>
        </p:txBody>
      </p:sp>
      <p:sp>
        <p:nvSpPr>
          <p:cNvPr id="83" name="Google Shape;83;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84" name="Google Shape;84;p17"/>
          <p:cNvPicPr preferRelativeResize="0"/>
          <p:nvPr/>
        </p:nvPicPr>
        <p:blipFill>
          <a:blip r:embed="rId3">
            <a:alphaModFix/>
          </a:blip>
          <a:stretch>
            <a:fillRect/>
          </a:stretch>
        </p:blipFill>
        <p:spPr>
          <a:xfrm>
            <a:off x="1951848" y="1209400"/>
            <a:ext cx="6320625" cy="328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90" name="Google Shape;90;p18"/>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a:t>
            </a:r>
            <a:r>
              <a:rPr lang="en"/>
              <a:t> - </a:t>
            </a:r>
            <a:r>
              <a:rPr lang="en"/>
              <a:t>Curiosity</a:t>
            </a:r>
            <a:r>
              <a:rPr lang="en"/>
              <a:t> continued</a:t>
            </a:r>
            <a:endParaRPr/>
          </a:p>
        </p:txBody>
      </p:sp>
      <p:sp>
        <p:nvSpPr>
          <p:cNvPr id="96" name="Google Shape;96;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97" name="Google Shape;97;p19"/>
          <p:cNvPicPr preferRelativeResize="0"/>
          <p:nvPr/>
        </p:nvPicPr>
        <p:blipFill>
          <a:blip r:embed="rId3">
            <a:alphaModFix/>
          </a:blip>
          <a:stretch>
            <a:fillRect/>
          </a:stretch>
        </p:blipFill>
        <p:spPr>
          <a:xfrm>
            <a:off x="42863" y="1590675"/>
            <a:ext cx="9058275" cy="196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Shells</a:t>
            </a:r>
            <a:endParaRPr/>
          </a:p>
        </p:txBody>
      </p:sp>
      <p:sp>
        <p:nvSpPr>
          <p:cNvPr id="103" name="Google Shape;103;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can use the default PowerShell for Linux</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Bash</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Interative which is Intellisense on steroids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 interactive</a:t>
            </a:r>
            <a:endParaRPr/>
          </a:p>
        </p:txBody>
      </p:sp>
      <p:sp>
        <p:nvSpPr>
          <p:cNvPr id="109" name="Google Shape;109;p21"/>
          <p:cNvSpPr txBox="1"/>
          <p:nvPr>
            <p:ph idx="1" type="body"/>
          </p:nvPr>
        </p:nvSpPr>
        <p:spPr>
          <a:xfrm>
            <a:off x="311700" y="1152475"/>
            <a:ext cx="3549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 not require </a:t>
            </a:r>
            <a:endParaRPr/>
          </a:p>
          <a:p>
            <a:pPr indent="0" lvl="0" marL="0" rtl="0" algn="l">
              <a:spcBef>
                <a:spcPts val="1200"/>
              </a:spcBef>
              <a:spcAft>
                <a:spcPts val="0"/>
              </a:spcAft>
              <a:buNone/>
            </a:pPr>
            <a:r>
              <a:rPr lang="en"/>
              <a:t>az command for</a:t>
            </a:r>
            <a:endParaRPr/>
          </a:p>
          <a:p>
            <a:pPr indent="0" lvl="0" marL="0" rtl="0" algn="l">
              <a:spcBef>
                <a:spcPts val="1200"/>
              </a:spcBef>
              <a:spcAft>
                <a:spcPts val="1200"/>
              </a:spcAft>
              <a:buNone/>
            </a:pPr>
            <a:r>
              <a:rPr lang="en"/>
              <a:t>Azure </a:t>
            </a:r>
            <a:r>
              <a:rPr lang="en"/>
              <a:t>specific</a:t>
            </a:r>
            <a:r>
              <a:rPr lang="en"/>
              <a:t> commands</a:t>
            </a:r>
            <a:endParaRPr/>
          </a:p>
        </p:txBody>
      </p:sp>
      <p:pic>
        <p:nvPicPr>
          <p:cNvPr id="110" name="Google Shape;110;p21"/>
          <p:cNvPicPr preferRelativeResize="0"/>
          <p:nvPr/>
        </p:nvPicPr>
        <p:blipFill>
          <a:blip r:embed="rId3">
            <a:alphaModFix/>
          </a:blip>
          <a:stretch>
            <a:fillRect/>
          </a:stretch>
        </p:blipFill>
        <p:spPr>
          <a:xfrm>
            <a:off x="3915288" y="1233475"/>
            <a:ext cx="4962525" cy="2676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 subscription</a:t>
            </a:r>
            <a:endParaRPr/>
          </a:p>
        </p:txBody>
      </p:sp>
      <p:sp>
        <p:nvSpPr>
          <p:cNvPr id="116" name="Google Shape;116;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17" name="Google Shape;117;p22"/>
          <p:cNvPicPr preferRelativeResize="0"/>
          <p:nvPr/>
        </p:nvPicPr>
        <p:blipFill>
          <a:blip r:embed="rId3">
            <a:alphaModFix/>
          </a:blip>
          <a:stretch>
            <a:fillRect/>
          </a:stretch>
        </p:blipFill>
        <p:spPr>
          <a:xfrm>
            <a:off x="1427125" y="962325"/>
            <a:ext cx="7107275" cy="3657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a:t>
            </a:r>
            <a:endParaRPr/>
          </a:p>
        </p:txBody>
      </p:sp>
      <p:sp>
        <p:nvSpPr>
          <p:cNvPr id="123" name="Google Shape;123;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Take ten minutes to figure out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1) The OS drive - what is the size? </a:t>
            </a:r>
            <a:endParaRPr/>
          </a:p>
          <a:p>
            <a:pPr indent="0" lvl="0" marL="0" rtl="0" algn="l">
              <a:spcBef>
                <a:spcPts val="1200"/>
              </a:spcBef>
              <a:spcAft>
                <a:spcPts val="1200"/>
              </a:spcAft>
              <a:buNone/>
            </a:pPr>
            <a:r>
              <a:rPr lang="en"/>
              <a:t>2) W</a:t>
            </a:r>
            <a:r>
              <a:rPr lang="en"/>
              <a:t>hat is the drive used for production files? Size? Filetype?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Sanbox URL</a:t>
            </a:r>
            <a:endParaRPr/>
          </a:p>
        </p:txBody>
      </p:sp>
      <p:sp>
        <p:nvSpPr>
          <p:cNvPr id="129" name="Google Shape;129;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https://learn.microsoft.com/en-us/training/modules/describe-core-architectural-components-of-azure/4-exercise-explore-learn-sandbox</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Root</a:t>
            </a:r>
            <a:endParaRPr/>
          </a:p>
        </p:txBody>
      </p:sp>
      <p:sp>
        <p:nvSpPr>
          <p:cNvPr id="135" name="Google Shape;135;p25"/>
          <p:cNvSpPr txBox="1"/>
          <p:nvPr>
            <p:ph idx="1" type="body"/>
          </p:nvPr>
        </p:nvSpPr>
        <p:spPr>
          <a:xfrm>
            <a:off x="311700" y="1152475"/>
            <a:ext cx="2884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Overlay filetype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Voodo magic</a:t>
            </a:r>
            <a:endParaRPr/>
          </a:p>
          <a:p>
            <a:pPr indent="0" lvl="0" marL="0" rtl="0" algn="l">
              <a:spcBef>
                <a:spcPts val="1200"/>
              </a:spcBef>
              <a:spcAft>
                <a:spcPts val="1200"/>
              </a:spcAft>
              <a:buNone/>
            </a:pPr>
            <a:r>
              <a:rPr lang="en"/>
              <a:t>By Docker.</a:t>
            </a:r>
            <a:endParaRPr/>
          </a:p>
        </p:txBody>
      </p:sp>
      <p:pic>
        <p:nvPicPr>
          <p:cNvPr id="136" name="Google Shape;136;p25"/>
          <p:cNvPicPr preferRelativeResize="0"/>
          <p:nvPr/>
        </p:nvPicPr>
        <p:blipFill>
          <a:blip r:embed="rId3">
            <a:alphaModFix/>
          </a:blip>
          <a:stretch>
            <a:fillRect/>
          </a:stretch>
        </p:blipFill>
        <p:spPr>
          <a:xfrm>
            <a:off x="3122099" y="650612"/>
            <a:ext cx="5924549" cy="384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Clouddrive</a:t>
            </a:r>
            <a:endParaRPr/>
          </a:p>
        </p:txBody>
      </p:sp>
      <p:sp>
        <p:nvSpPr>
          <p:cNvPr id="142" name="Google Shape;142;p26"/>
          <p:cNvSpPr txBox="1"/>
          <p:nvPr>
            <p:ph idx="1" type="body"/>
          </p:nvPr>
        </p:nvSpPr>
        <p:spPr>
          <a:xfrm>
            <a:off x="311700" y="1152475"/>
            <a:ext cx="2884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Notice the </a:t>
            </a:r>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Look </a:t>
            </a:r>
            <a:r>
              <a:rPr lang="en"/>
              <a:t>familiar</a:t>
            </a:r>
            <a:r>
              <a:rPr lang="en"/>
              <a:t>?</a:t>
            </a:r>
            <a:endParaRPr/>
          </a:p>
        </p:txBody>
      </p:sp>
      <p:pic>
        <p:nvPicPr>
          <p:cNvPr id="143" name="Google Shape;143;p26"/>
          <p:cNvPicPr preferRelativeResize="0"/>
          <p:nvPr/>
        </p:nvPicPr>
        <p:blipFill>
          <a:blip r:embed="rId3">
            <a:alphaModFix/>
          </a:blip>
          <a:stretch>
            <a:fillRect/>
          </a:stretch>
        </p:blipFill>
        <p:spPr>
          <a:xfrm>
            <a:off x="3122099" y="650612"/>
            <a:ext cx="5924549" cy="3842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5TB Cloud Drive</a:t>
            </a:r>
            <a:endParaRPr/>
          </a:p>
        </p:txBody>
      </p:sp>
      <p:sp>
        <p:nvSpPr>
          <p:cNvPr id="149" name="Google Shape;149;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50" name="Google Shape;150;p27"/>
          <p:cNvPicPr preferRelativeResize="0"/>
          <p:nvPr/>
        </p:nvPicPr>
        <p:blipFill>
          <a:blip r:embed="rId3">
            <a:alphaModFix/>
          </a:blip>
          <a:stretch>
            <a:fillRect/>
          </a:stretch>
        </p:blipFill>
        <p:spPr>
          <a:xfrm>
            <a:off x="47625" y="1743075"/>
            <a:ext cx="9048750" cy="1657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335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 fileshare</a:t>
            </a:r>
            <a:endParaRPr/>
          </a:p>
        </p:txBody>
      </p:sp>
      <p:sp>
        <p:nvSpPr>
          <p:cNvPr id="156" name="Google Shape;156;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57" name="Google Shape;157;p28"/>
          <p:cNvPicPr preferRelativeResize="0"/>
          <p:nvPr/>
        </p:nvPicPr>
        <p:blipFill>
          <a:blip r:embed="rId3">
            <a:alphaModFix/>
          </a:blip>
          <a:stretch>
            <a:fillRect/>
          </a:stretch>
        </p:blipFill>
        <p:spPr>
          <a:xfrm>
            <a:off x="3137951" y="392150"/>
            <a:ext cx="4939251" cy="4669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CIFS is the Windows File Sharing</a:t>
            </a:r>
            <a:endParaRPr/>
          </a:p>
        </p:txBody>
      </p:sp>
      <p:sp>
        <p:nvSpPr>
          <p:cNvPr id="163" name="Google Shape;163;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64" name="Google Shape;164;p29"/>
          <p:cNvPicPr preferRelativeResize="0"/>
          <p:nvPr/>
        </p:nvPicPr>
        <p:blipFill>
          <a:blip r:embed="rId3">
            <a:alphaModFix/>
          </a:blip>
          <a:stretch>
            <a:fillRect/>
          </a:stretch>
        </p:blipFill>
        <p:spPr>
          <a:xfrm>
            <a:off x="52388" y="1519238"/>
            <a:ext cx="9039225" cy="2105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fstab vs mtab</a:t>
            </a:r>
            <a:endParaRPr/>
          </a:p>
        </p:txBody>
      </p:sp>
      <p:sp>
        <p:nvSpPr>
          <p:cNvPr id="170" name="Google Shape;170;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Just fyi</a:t>
            </a:r>
            <a:endParaRPr/>
          </a:p>
          <a:p>
            <a:pPr indent="0" lvl="0" marL="0" rtl="0" algn="l">
              <a:spcBef>
                <a:spcPts val="1200"/>
              </a:spcBef>
              <a:spcAft>
                <a:spcPts val="0"/>
              </a:spcAft>
              <a:buNone/>
            </a:pPr>
            <a:r>
              <a:rPr lang="en"/>
              <a:t> </a:t>
            </a:r>
            <a:r>
              <a:rPr b="1" lang="en"/>
              <a:t>fstab</a:t>
            </a:r>
            <a:r>
              <a:rPr lang="en"/>
              <a:t> you learned in Securing Linux was systems to be mounted on startup</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 </a:t>
            </a:r>
            <a:r>
              <a:rPr b="1" lang="en"/>
              <a:t>mtab</a:t>
            </a:r>
            <a:r>
              <a:rPr lang="en"/>
              <a:t> is everything is mounted. </a:t>
            </a:r>
            <a:endParaRPr/>
          </a:p>
          <a:p>
            <a:pPr indent="0" lvl="0" marL="0" rtl="0" algn="l">
              <a:spcBef>
                <a:spcPts val="1200"/>
              </a:spcBef>
              <a:spcAft>
                <a:spcPts val="1200"/>
              </a:spcAft>
              <a:buNone/>
            </a:pPr>
            <a:r>
              <a:rPr lang="en"/>
              <a:t>   Conclusion: everything on this </a:t>
            </a:r>
            <a:r>
              <a:rPr lang="en"/>
              <a:t>environment</a:t>
            </a:r>
            <a:r>
              <a:rPr lang="en"/>
              <a:t> was mounted after system startup by </a:t>
            </a:r>
            <a:r>
              <a:rPr i="1" lang="en"/>
              <a:t>something</a:t>
            </a:r>
            <a:r>
              <a:rPr lang="en"/>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 stroll around the globe</a:t>
            </a:r>
            <a:endParaRPr/>
          </a:p>
        </p:txBody>
      </p:sp>
      <p:sp>
        <p:nvSpPr>
          <p:cNvPr id="176" name="Google Shape;176;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https://datacenters.microsoft.com/globe/explore</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Regions</a:t>
            </a:r>
            <a:endParaRPr/>
          </a:p>
        </p:txBody>
      </p:sp>
      <p:sp>
        <p:nvSpPr>
          <p:cNvPr id="182" name="Google Shape;182;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S</a:t>
            </a:r>
            <a:r>
              <a:rPr lang="en"/>
              <a:t>et of datacenters deployed within a latency-defined perimeter </a:t>
            </a:r>
            <a:endParaRPr/>
          </a:p>
          <a:p>
            <a:pPr indent="0" lvl="0" marL="0" rtl="0" algn="l">
              <a:spcBef>
                <a:spcPts val="1200"/>
              </a:spcBef>
              <a:spcAft>
                <a:spcPts val="1200"/>
              </a:spcAft>
              <a:buNone/>
            </a:pPr>
            <a:r>
              <a:rPr lang="en"/>
              <a:t>2) connected through a dedicated regional low-latency network.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Sovereign </a:t>
            </a:r>
            <a:r>
              <a:rPr lang="en"/>
              <a:t>Regions</a:t>
            </a:r>
            <a:endParaRPr/>
          </a:p>
        </p:txBody>
      </p:sp>
      <p:sp>
        <p:nvSpPr>
          <p:cNvPr id="188" name="Google Shape;188;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US Department of Defence</a:t>
            </a:r>
            <a:r>
              <a:rPr lang="en"/>
              <a:t>: These regions are physical and logical network-isolated instances of Azure for U.S. government agencies and partners. These datacenters are operated by screened U.S. personnel and include additional compliance certifications.</a:t>
            </a:r>
            <a:endParaRPr/>
          </a:p>
          <a:p>
            <a:pPr indent="0" lvl="0" marL="0" rtl="0" algn="l">
              <a:spcBef>
                <a:spcPts val="1200"/>
              </a:spcBef>
              <a:spcAft>
                <a:spcPts val="0"/>
              </a:spcAft>
              <a:buClr>
                <a:schemeClr val="dk1"/>
              </a:buClr>
              <a:buSzPts val="1100"/>
              <a:buFont typeface="Arial"/>
              <a:buNone/>
            </a:pPr>
            <a:r>
              <a:rPr lang="en"/>
              <a:t>Cina East, China North, and more: These regions are available through a unique partnership between Microsoft and 21Vianet, whereby Microsoft doesn't directly maintain the datacenters.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Availability zones</a:t>
            </a:r>
            <a:endParaRPr/>
          </a:p>
        </p:txBody>
      </p:sp>
      <p:sp>
        <p:nvSpPr>
          <p:cNvPr id="194" name="Google Shape;194;p34"/>
          <p:cNvSpPr txBox="1"/>
          <p:nvPr>
            <p:ph idx="1" type="body"/>
          </p:nvPr>
        </p:nvSpPr>
        <p:spPr>
          <a:xfrm>
            <a:off x="311700" y="1152475"/>
            <a:ext cx="3195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Connects at least three independent DCs with their own cooling, power and networking in the </a:t>
            </a:r>
            <a:r>
              <a:rPr b="1" lang="en"/>
              <a:t>same region.</a:t>
            </a:r>
            <a:endParaRPr/>
          </a:p>
        </p:txBody>
      </p:sp>
      <p:pic>
        <p:nvPicPr>
          <p:cNvPr id="195" name="Google Shape;195;p34"/>
          <p:cNvPicPr preferRelativeResize="0"/>
          <p:nvPr/>
        </p:nvPicPr>
        <p:blipFill>
          <a:blip r:embed="rId3">
            <a:alphaModFix/>
          </a:blip>
          <a:stretch>
            <a:fillRect/>
          </a:stretch>
        </p:blipFill>
        <p:spPr>
          <a:xfrm>
            <a:off x="3536975" y="1207675"/>
            <a:ext cx="5295324" cy="2579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Availability zones</a:t>
            </a:r>
            <a:endParaRPr/>
          </a:p>
        </p:txBody>
      </p:sp>
      <p:sp>
        <p:nvSpPr>
          <p:cNvPr id="201" name="Google Shape;201;p35"/>
          <p:cNvSpPr txBox="1"/>
          <p:nvPr>
            <p:ph idx="1" type="body"/>
          </p:nvPr>
        </p:nvSpPr>
        <p:spPr>
          <a:xfrm>
            <a:off x="311700" y="1152475"/>
            <a:ext cx="3195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Will pay for </a:t>
            </a:r>
            <a:r>
              <a:rPr b="1" lang="en"/>
              <a:t>data transfer between zones</a:t>
            </a:r>
            <a:r>
              <a:rPr lang="en"/>
              <a:t> and the additional </a:t>
            </a:r>
            <a:r>
              <a:rPr b="1" lang="en"/>
              <a:t>VMs in every zone</a:t>
            </a:r>
            <a:endParaRPr b="1"/>
          </a:p>
        </p:txBody>
      </p:sp>
      <p:pic>
        <p:nvPicPr>
          <p:cNvPr id="202" name="Google Shape;202;p35"/>
          <p:cNvPicPr preferRelativeResize="0"/>
          <p:nvPr/>
        </p:nvPicPr>
        <p:blipFill>
          <a:blip r:embed="rId3">
            <a:alphaModFix/>
          </a:blip>
          <a:stretch>
            <a:fillRect/>
          </a:stretch>
        </p:blipFill>
        <p:spPr>
          <a:xfrm>
            <a:off x="3536975" y="1207675"/>
            <a:ext cx="5295324" cy="2579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Region pairs</a:t>
            </a:r>
            <a:endParaRPr/>
          </a:p>
        </p:txBody>
      </p:sp>
      <p:sp>
        <p:nvSpPr>
          <p:cNvPr id="208" name="Google Shape;208;p36"/>
          <p:cNvSpPr txBox="1"/>
          <p:nvPr>
            <p:ph idx="1" type="body"/>
          </p:nvPr>
        </p:nvSpPr>
        <p:spPr>
          <a:xfrm>
            <a:off x="311700" y="1152475"/>
            <a:ext cx="3195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Availability zones can be replicated into </a:t>
            </a:r>
            <a:r>
              <a:rPr b="1" lang="en"/>
              <a:t>region pairs</a:t>
            </a:r>
            <a:endParaRPr b="1"/>
          </a:p>
        </p:txBody>
      </p:sp>
      <p:pic>
        <p:nvPicPr>
          <p:cNvPr id="209" name="Google Shape;209;p36"/>
          <p:cNvPicPr preferRelativeResize="0"/>
          <p:nvPr/>
        </p:nvPicPr>
        <p:blipFill>
          <a:blip r:embed="rId3">
            <a:alphaModFix/>
          </a:blip>
          <a:stretch>
            <a:fillRect/>
          </a:stretch>
        </p:blipFill>
        <p:spPr>
          <a:xfrm>
            <a:off x="3660000" y="1170125"/>
            <a:ext cx="5331601" cy="295029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Edge Zones</a:t>
            </a:r>
            <a:endParaRPr/>
          </a:p>
        </p:txBody>
      </p:sp>
      <p:sp>
        <p:nvSpPr>
          <p:cNvPr id="215" name="Google Shape;215;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Get your application as close to the customer as possible.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Azure public MEC (multi-access edge compute) integrates Azure compute and services with mobile operator 5G connectivity for low-latency applications at the operator edge.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Geographies</a:t>
            </a:r>
            <a:endParaRPr/>
          </a:p>
        </p:txBody>
      </p:sp>
      <p:sp>
        <p:nvSpPr>
          <p:cNvPr id="221" name="Google Shape;221;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 Azure geography is a distinct market, typically containing one or more regions.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Specific data residency (where data is stored and processed). Example would be Canada with medical records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Points-of-Presence (PoPs)</a:t>
            </a:r>
            <a:endParaRPr/>
          </a:p>
        </p:txBody>
      </p:sp>
      <p:sp>
        <p:nvSpPr>
          <p:cNvPr id="227" name="Google Shape;227;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sz="4400">
                <a:solidFill>
                  <a:srgbClr val="6F6F6F"/>
                </a:solidFill>
              </a:rPr>
              <a:t>Customer is in </a:t>
            </a:r>
            <a:r>
              <a:rPr b="1" lang="en" sz="4400">
                <a:solidFill>
                  <a:srgbClr val="6F6F6F"/>
                </a:solidFill>
              </a:rPr>
              <a:t>New York</a:t>
            </a:r>
            <a:r>
              <a:rPr lang="en" sz="4400">
                <a:solidFill>
                  <a:srgbClr val="6F6F6F"/>
                </a:solidFill>
              </a:rPr>
              <a:t>, however our Azure service is in the </a:t>
            </a:r>
            <a:r>
              <a:rPr b="1" lang="en" sz="4400">
                <a:solidFill>
                  <a:srgbClr val="6F6F6F"/>
                </a:solidFill>
              </a:rPr>
              <a:t>West US region</a:t>
            </a:r>
            <a:r>
              <a:rPr lang="en" sz="4400">
                <a:solidFill>
                  <a:srgbClr val="6F6F6F"/>
                </a:solidFill>
              </a:rPr>
              <a:t>.</a:t>
            </a:r>
            <a:endParaRPr sz="4400">
              <a:solidFill>
                <a:srgbClr val="6F6F6F"/>
              </a:solidFill>
            </a:endParaRPr>
          </a:p>
          <a:p>
            <a:pPr indent="0" lvl="0" marL="0" rtl="0" algn="l">
              <a:spcBef>
                <a:spcPts val="1200"/>
              </a:spcBef>
              <a:spcAft>
                <a:spcPts val="1200"/>
              </a:spcAft>
              <a:buNone/>
            </a:pPr>
            <a:r>
              <a:rPr lang="en" sz="4400">
                <a:solidFill>
                  <a:srgbClr val="6F6F6F"/>
                </a:solidFill>
              </a:rPr>
              <a:t>How is the data going to get there?</a:t>
            </a:r>
            <a:endParaRPr sz="4400">
              <a:solidFill>
                <a:srgbClr val="6F6F6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Points-of-Presence (PoPs)</a:t>
            </a:r>
            <a:endParaRPr/>
          </a:p>
        </p:txBody>
      </p:sp>
      <p:sp>
        <p:nvSpPr>
          <p:cNvPr id="233" name="Google Shape;233;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400">
                <a:solidFill>
                  <a:srgbClr val="6F6F6F"/>
                </a:solidFill>
              </a:rPr>
              <a:t>Traditionally this would go through the public internet.</a:t>
            </a:r>
            <a:endParaRPr sz="4400">
              <a:solidFill>
                <a:srgbClr val="6F6F6F"/>
              </a:solidFill>
            </a:endParaRPr>
          </a:p>
          <a:p>
            <a:pPr indent="0" lvl="0" marL="0" rtl="0" algn="l">
              <a:spcBef>
                <a:spcPts val="1200"/>
              </a:spcBef>
              <a:spcAft>
                <a:spcPts val="1200"/>
              </a:spcAft>
              <a:buNone/>
            </a:pPr>
            <a:r>
              <a:rPr lang="en" sz="4400">
                <a:solidFill>
                  <a:srgbClr val="6F6F6F"/>
                </a:solidFill>
              </a:rPr>
              <a:t>What about with PoPs?</a:t>
            </a:r>
            <a:endParaRPr sz="4400">
              <a:solidFill>
                <a:srgbClr val="6F6F6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Points-of-Presence (PoPs)</a:t>
            </a:r>
            <a:endParaRPr/>
          </a:p>
        </p:txBody>
      </p:sp>
      <p:sp>
        <p:nvSpPr>
          <p:cNvPr id="239" name="Google Shape;239;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400">
                <a:solidFill>
                  <a:srgbClr val="6F6F6F"/>
                </a:solidFill>
              </a:rPr>
              <a:t>1) Customer will access the nearest Azure PoP</a:t>
            </a:r>
            <a:endParaRPr sz="4400">
              <a:solidFill>
                <a:srgbClr val="6F6F6F"/>
              </a:solidFill>
            </a:endParaRPr>
          </a:p>
          <a:p>
            <a:pPr indent="0" lvl="0" marL="0" rtl="0" algn="l">
              <a:spcBef>
                <a:spcPts val="1200"/>
              </a:spcBef>
              <a:spcAft>
                <a:spcPts val="1200"/>
              </a:spcAft>
              <a:buNone/>
            </a:pPr>
            <a:r>
              <a:rPr lang="en" sz="4400">
                <a:solidFill>
                  <a:srgbClr val="6F6F6F"/>
                </a:solidFill>
              </a:rPr>
              <a:t>2) traffic will then use Microsoft’s backbone to reach West US’s DC</a:t>
            </a:r>
            <a:endParaRPr sz="4400">
              <a:solidFill>
                <a:srgbClr val="6F6F6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Points-of-Presence (PoPs)</a:t>
            </a:r>
            <a:endParaRPr/>
          </a:p>
        </p:txBody>
      </p:sp>
      <p:sp>
        <p:nvSpPr>
          <p:cNvPr id="245" name="Google Shape;245;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400">
                <a:solidFill>
                  <a:srgbClr val="6F6F6F"/>
                </a:solidFill>
              </a:rPr>
              <a:t>You might pay for the data transferred from the PoP to your region. </a:t>
            </a:r>
            <a:endParaRPr sz="4400">
              <a:solidFill>
                <a:srgbClr val="6F6F6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 the final frontier? </a:t>
            </a:r>
            <a:endParaRPr/>
          </a:p>
        </p:txBody>
      </p:sp>
      <p:sp>
        <p:nvSpPr>
          <p:cNvPr id="251" name="Google Shape;251;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4400">
                <a:solidFill>
                  <a:srgbClr val="6F6F6F"/>
                </a:solidFill>
              </a:rPr>
              <a:t>You operate a </a:t>
            </a:r>
            <a:r>
              <a:rPr b="1" lang="en" sz="4400">
                <a:solidFill>
                  <a:srgbClr val="6F6F6F"/>
                </a:solidFill>
              </a:rPr>
              <a:t>constellation of satellites</a:t>
            </a:r>
            <a:r>
              <a:rPr lang="en" sz="4400">
                <a:solidFill>
                  <a:srgbClr val="6F6F6F"/>
                </a:solidFill>
              </a:rPr>
              <a:t> that capture high-resolution images of Earth's surface but want to </a:t>
            </a:r>
            <a:r>
              <a:rPr b="1" lang="en" sz="4400">
                <a:solidFill>
                  <a:srgbClr val="6F6F6F"/>
                </a:solidFill>
              </a:rPr>
              <a:t>store the footage in the cloud</a:t>
            </a:r>
            <a:r>
              <a:rPr lang="en" sz="4400">
                <a:solidFill>
                  <a:srgbClr val="6F6F6F"/>
                </a:solidFill>
              </a:rPr>
              <a:t>.</a:t>
            </a:r>
            <a:endParaRPr sz="4400">
              <a:solidFill>
                <a:srgbClr val="6F6F6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 the final frontier? </a:t>
            </a:r>
            <a:endParaRPr/>
          </a:p>
        </p:txBody>
      </p:sp>
      <p:sp>
        <p:nvSpPr>
          <p:cNvPr id="257" name="Google Shape;257;p44"/>
          <p:cNvSpPr txBox="1"/>
          <p:nvPr>
            <p:ph idx="1" type="body"/>
          </p:nvPr>
        </p:nvSpPr>
        <p:spPr>
          <a:xfrm>
            <a:off x="311700" y="1152475"/>
            <a:ext cx="4037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400">
                <a:solidFill>
                  <a:srgbClr val="6F6F6F"/>
                </a:solidFill>
              </a:rPr>
              <a:t>1) One or more ground stations</a:t>
            </a:r>
            <a:endParaRPr sz="4400">
              <a:solidFill>
                <a:srgbClr val="6F6F6F"/>
              </a:solidFill>
            </a:endParaRPr>
          </a:p>
        </p:txBody>
      </p:sp>
      <p:pic>
        <p:nvPicPr>
          <p:cNvPr id="258" name="Google Shape;258;p44"/>
          <p:cNvPicPr preferRelativeResize="0"/>
          <p:nvPr/>
        </p:nvPicPr>
        <p:blipFill>
          <a:blip r:embed="rId3">
            <a:alphaModFix/>
          </a:blip>
          <a:stretch>
            <a:fillRect/>
          </a:stretch>
        </p:blipFill>
        <p:spPr>
          <a:xfrm>
            <a:off x="4657100" y="1017725"/>
            <a:ext cx="2864836" cy="3820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 the final frontier? </a:t>
            </a:r>
            <a:endParaRPr/>
          </a:p>
        </p:txBody>
      </p:sp>
      <p:sp>
        <p:nvSpPr>
          <p:cNvPr id="264" name="Google Shape;264;p45"/>
          <p:cNvSpPr txBox="1"/>
          <p:nvPr>
            <p:ph idx="1" type="body"/>
          </p:nvPr>
        </p:nvSpPr>
        <p:spPr>
          <a:xfrm>
            <a:off x="311700" y="1152475"/>
            <a:ext cx="4037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400">
                <a:solidFill>
                  <a:srgbClr val="6F6F6F"/>
                </a:solidFill>
              </a:rPr>
              <a:t>2</a:t>
            </a:r>
            <a:r>
              <a:rPr lang="en" sz="4400">
                <a:solidFill>
                  <a:srgbClr val="6F6F6F"/>
                </a:solidFill>
              </a:rPr>
              <a:t>) Download the imagery data</a:t>
            </a:r>
            <a:endParaRPr sz="4400">
              <a:solidFill>
                <a:srgbClr val="6F6F6F"/>
              </a:solidFill>
            </a:endParaRPr>
          </a:p>
        </p:txBody>
      </p:sp>
      <p:pic>
        <p:nvPicPr>
          <p:cNvPr id="265" name="Google Shape;265;p45"/>
          <p:cNvPicPr preferRelativeResize="0"/>
          <p:nvPr/>
        </p:nvPicPr>
        <p:blipFill>
          <a:blip r:embed="rId3">
            <a:alphaModFix/>
          </a:blip>
          <a:stretch>
            <a:fillRect/>
          </a:stretch>
        </p:blipFill>
        <p:spPr>
          <a:xfrm>
            <a:off x="4657100" y="1017725"/>
            <a:ext cx="2864836" cy="3820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 the final frontier? </a:t>
            </a:r>
            <a:endParaRPr/>
          </a:p>
        </p:txBody>
      </p:sp>
      <p:sp>
        <p:nvSpPr>
          <p:cNvPr id="271" name="Google Shape;271;p46"/>
          <p:cNvSpPr txBox="1"/>
          <p:nvPr>
            <p:ph idx="1" type="body"/>
          </p:nvPr>
        </p:nvSpPr>
        <p:spPr>
          <a:xfrm>
            <a:off x="311700" y="1152475"/>
            <a:ext cx="40374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4400">
                <a:solidFill>
                  <a:srgbClr val="6F6F6F"/>
                </a:solidFill>
              </a:rPr>
              <a:t>3</a:t>
            </a:r>
            <a:r>
              <a:rPr lang="en" sz="4400">
                <a:solidFill>
                  <a:srgbClr val="6F6F6F"/>
                </a:solidFill>
              </a:rPr>
              <a:t>) Process the data on-premises or upload to the cloud</a:t>
            </a:r>
            <a:endParaRPr sz="4400">
              <a:solidFill>
                <a:srgbClr val="6F6F6F"/>
              </a:solidFill>
            </a:endParaRPr>
          </a:p>
        </p:txBody>
      </p:sp>
      <p:pic>
        <p:nvPicPr>
          <p:cNvPr id="272" name="Google Shape;272;p46"/>
          <p:cNvPicPr preferRelativeResize="0"/>
          <p:nvPr/>
        </p:nvPicPr>
        <p:blipFill>
          <a:blip r:embed="rId3">
            <a:alphaModFix/>
          </a:blip>
          <a:stretch>
            <a:fillRect/>
          </a:stretch>
        </p:blipFill>
        <p:spPr>
          <a:xfrm>
            <a:off x="4657100" y="1017725"/>
            <a:ext cx="2864836" cy="3820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Space - Easy button</a:t>
            </a:r>
            <a:endParaRPr/>
          </a:p>
        </p:txBody>
      </p:sp>
      <p:sp>
        <p:nvSpPr>
          <p:cNvPr id="278" name="Google Shape;278;p47"/>
          <p:cNvSpPr txBox="1"/>
          <p:nvPr>
            <p:ph idx="1" type="body"/>
          </p:nvPr>
        </p:nvSpPr>
        <p:spPr>
          <a:xfrm>
            <a:off x="311700" y="1152475"/>
            <a:ext cx="40374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4400">
                <a:solidFill>
                  <a:srgbClr val="6F6F6F"/>
                </a:solidFill>
              </a:rPr>
              <a:t>1) Microsoft's ground station as a service called </a:t>
            </a:r>
            <a:r>
              <a:rPr b="1" lang="en" sz="4400">
                <a:solidFill>
                  <a:srgbClr val="6F6F6F"/>
                </a:solidFill>
              </a:rPr>
              <a:t>Azure Orbital</a:t>
            </a:r>
            <a:endParaRPr b="1" sz="4400">
              <a:solidFill>
                <a:srgbClr val="6F6F6F"/>
              </a:solidFill>
            </a:endParaRPr>
          </a:p>
        </p:txBody>
      </p:sp>
      <p:pic>
        <p:nvPicPr>
          <p:cNvPr id="279" name="Google Shape;279;p47"/>
          <p:cNvPicPr preferRelativeResize="0"/>
          <p:nvPr/>
        </p:nvPicPr>
        <p:blipFill>
          <a:blip r:embed="rId3">
            <a:alphaModFix/>
          </a:blip>
          <a:stretch>
            <a:fillRect/>
          </a:stretch>
        </p:blipFill>
        <p:spPr>
          <a:xfrm>
            <a:off x="4501500" y="1170125"/>
            <a:ext cx="4490101" cy="255815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 Groups examples</a:t>
            </a:r>
            <a:endParaRPr/>
          </a:p>
        </p:txBody>
      </p:sp>
      <p:sp>
        <p:nvSpPr>
          <p:cNvPr id="285" name="Google Shape;285;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Group by: </a:t>
            </a:r>
            <a:endParaRPr/>
          </a:p>
          <a:p>
            <a:pPr indent="0" lvl="0" marL="0" rtl="0" algn="l">
              <a:spcBef>
                <a:spcPts val="1200"/>
              </a:spcBef>
              <a:spcAft>
                <a:spcPts val="0"/>
              </a:spcAft>
              <a:buNone/>
            </a:pPr>
            <a:r>
              <a:rPr lang="en"/>
              <a:t> 1) Function such as temporary dev </a:t>
            </a:r>
            <a:r>
              <a:rPr lang="en"/>
              <a:t>environment</a:t>
            </a:r>
            <a:endParaRPr/>
          </a:p>
          <a:p>
            <a:pPr indent="0" lvl="0" marL="0" rtl="0" algn="l">
              <a:spcBef>
                <a:spcPts val="1200"/>
              </a:spcBef>
              <a:spcAft>
                <a:spcPts val="0"/>
              </a:spcAft>
              <a:buNone/>
            </a:pPr>
            <a:r>
              <a:rPr lang="en"/>
              <a:t> 2) Access schema </a:t>
            </a:r>
            <a:endParaRPr/>
          </a:p>
          <a:p>
            <a:pPr indent="0" lvl="0" marL="0" rtl="0" algn="l">
              <a:spcBef>
                <a:spcPts val="1200"/>
              </a:spcBef>
              <a:spcAft>
                <a:spcPts val="1200"/>
              </a:spcAft>
              <a:buNone/>
            </a:pPr>
            <a:r>
              <a:rPr lang="en"/>
              <a:t>Flexible to designed in </a:t>
            </a:r>
            <a:r>
              <a:rPr i="1" lang="en"/>
              <a:t>many ways</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Accounts vs subscriptions</a:t>
            </a:r>
            <a:endParaRPr/>
          </a:p>
        </p:txBody>
      </p:sp>
      <p:sp>
        <p:nvSpPr>
          <p:cNvPr id="291" name="Google Shape;291;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Accounts: You can only have one account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Subscriptions: You require one subscription but can have many.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Subscription boundary examples</a:t>
            </a:r>
            <a:endParaRPr/>
          </a:p>
        </p:txBody>
      </p:sp>
      <p:sp>
        <p:nvSpPr>
          <p:cNvPr id="297" name="Google Shape;297;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Billing: Azure generates separate billing reports and invoices for each subscription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Access Control: Can create separate subscriptions to reflect different organizational structures.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Management groups</a:t>
            </a:r>
            <a:endParaRPr/>
          </a:p>
        </p:txBody>
      </p:sp>
      <p:sp>
        <p:nvSpPr>
          <p:cNvPr id="303" name="Google Shape;303;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have three subscriptions but a single governance </a:t>
            </a:r>
            <a:r>
              <a:rPr lang="en"/>
              <a:t>strategy</a:t>
            </a:r>
            <a:r>
              <a:rPr lang="en"/>
              <a:t>.  How do you apply this equally to all three?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Nest three subscriptions into a single management group and apply the policy.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Management</a:t>
            </a:r>
            <a:r>
              <a:rPr lang="en"/>
              <a:t> Group </a:t>
            </a:r>
            <a:r>
              <a:rPr lang="en"/>
              <a:t>examples</a:t>
            </a:r>
            <a:endParaRPr/>
          </a:p>
        </p:txBody>
      </p:sp>
      <p:sp>
        <p:nvSpPr>
          <p:cNvPr id="309" name="Google Shape;309;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Governance: Limit VM Location to Canada. The administrator of the subscription cannot override.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Role Based Access: Apply to the group, which is inherited by all subscriptions and resource groups.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Machines - scale sets</a:t>
            </a:r>
            <a:endParaRPr/>
          </a:p>
        </p:txBody>
      </p:sp>
      <p:sp>
        <p:nvSpPr>
          <p:cNvPr id="315" name="Google Shape;315;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Virtual machine scale sets automate the management, configuration, and scaling of a </a:t>
            </a:r>
            <a:r>
              <a:rPr b="1" lang="en">
                <a:highlight>
                  <a:srgbClr val="FFFF00"/>
                </a:highlight>
              </a:rPr>
              <a:t>group of identical</a:t>
            </a:r>
            <a:r>
              <a:rPr lang="en"/>
              <a:t>, load-balanced VMs, simplifying large-scale deployments and ensuring efficient resource utilization.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Virtual Machines - availability sets</a:t>
            </a:r>
            <a:endParaRPr sz="3800"/>
          </a:p>
        </p:txBody>
      </p:sp>
      <p:sp>
        <p:nvSpPr>
          <p:cNvPr id="321" name="Google Shape;321;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Update Domain: ensures minimal downtime during updates by grouping VMs for sequential updates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Fault Domain: enhances fault tolerance by spreading VMs across different power sources and network switches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300"/>
              <a:t>VM Resources</a:t>
            </a:r>
            <a:endParaRPr sz="4300"/>
          </a:p>
        </p:txBody>
      </p:sp>
      <p:sp>
        <p:nvSpPr>
          <p:cNvPr id="327" name="Google Shape;327;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Size (purpose, number of processor cores, and amount of RAM)</a:t>
            </a:r>
            <a:endParaRPr/>
          </a:p>
          <a:p>
            <a:pPr indent="0" lvl="0" marL="0" rtl="0" algn="l">
              <a:spcBef>
                <a:spcPts val="1200"/>
              </a:spcBef>
              <a:spcAft>
                <a:spcPts val="0"/>
              </a:spcAft>
              <a:buClr>
                <a:schemeClr val="dk1"/>
              </a:buClr>
              <a:buSzPts val="1100"/>
              <a:buFont typeface="Arial"/>
              <a:buNone/>
            </a:pPr>
            <a:r>
              <a:rPr lang="en"/>
              <a:t>    Storage disks (hard disk drives, solid state drives, etc.)</a:t>
            </a:r>
            <a:endParaRPr/>
          </a:p>
          <a:p>
            <a:pPr indent="0" lvl="0" marL="0" rtl="0" algn="l">
              <a:spcBef>
                <a:spcPts val="1200"/>
              </a:spcBef>
              <a:spcAft>
                <a:spcPts val="1200"/>
              </a:spcAft>
              <a:buNone/>
            </a:pPr>
            <a:r>
              <a:rPr lang="en"/>
              <a:t>    Networking (virtual network, public IP address, and port configuration)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Manage your keys</a:t>
            </a:r>
            <a:endParaRPr/>
          </a:p>
        </p:txBody>
      </p:sp>
      <p:sp>
        <p:nvSpPr>
          <p:cNvPr id="333" name="Google Shape;333;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334" name="Google Shape;334;p56"/>
          <p:cNvPicPr preferRelativeResize="0"/>
          <p:nvPr/>
        </p:nvPicPr>
        <p:blipFill>
          <a:blip r:embed="rId3">
            <a:alphaModFix/>
          </a:blip>
          <a:stretch>
            <a:fillRect/>
          </a:stretch>
        </p:blipFill>
        <p:spPr>
          <a:xfrm>
            <a:off x="52375" y="1112413"/>
            <a:ext cx="9039225" cy="3324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Desktops</a:t>
            </a:r>
            <a:endParaRPr/>
          </a:p>
        </p:txBody>
      </p:sp>
      <p:sp>
        <p:nvSpPr>
          <p:cNvPr id="340" name="Google Shape;340;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Cloud-hosted desktops and apps: Azure Virtual Desktop enables secure, remote access to Windows desktops and applications from any device or browser.</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Enhanced security: Centralized security management with Azure AD, multifactor authentication, and granular RBACs, ensuring data protection and secure user access.</a:t>
            </a:r>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Desktops</a:t>
            </a:r>
            <a:endParaRPr/>
          </a:p>
        </p:txBody>
      </p:sp>
      <p:sp>
        <p:nvSpPr>
          <p:cNvPr id="346" name="Google Shape;346;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Multi-session Windows 10/11: Offers a consistent user experience with support for multiple concurrent users on a single VM, and broader application compatibility.</a:t>
            </a:r>
            <a:endParaRPr/>
          </a:p>
          <a:p>
            <a:pPr indent="0" lvl="0" marL="0" rtl="0" algn="l">
              <a:spcBef>
                <a:spcPts val="1200"/>
              </a:spcBef>
              <a:spcAft>
                <a:spcPts val="1200"/>
              </a:spcAft>
              <a:buNone/>
            </a:pPr>
            <a:r>
              <a:rPr lang="en"/>
              <a:t>Note: this is exclusively in the Windows 10 Enterprise edition for </a:t>
            </a:r>
            <a:r>
              <a:rPr b="1" lang="en"/>
              <a:t>Azure Virtual Desktop deployments.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Desktops</a:t>
            </a:r>
            <a:endParaRPr/>
          </a:p>
        </p:txBody>
      </p:sp>
      <p:sp>
        <p:nvSpPr>
          <p:cNvPr id="352" name="Google Shape;352;p5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Prior to Azure Virtual Desktop the closest solution was RDS on Windows Server. </a:t>
            </a:r>
            <a:endParaRPr/>
          </a:p>
          <a:p>
            <a:pPr indent="0" lvl="0" marL="0" rtl="0" algn="l">
              <a:spcBef>
                <a:spcPts val="1200"/>
              </a:spcBef>
              <a:spcAft>
                <a:spcPts val="0"/>
              </a:spcAft>
              <a:buNone/>
            </a:pPr>
            <a:r>
              <a:rPr lang="en"/>
              <a:t>1) Less familiar user </a:t>
            </a:r>
            <a:r>
              <a:rPr lang="en"/>
              <a:t>experience</a:t>
            </a:r>
            <a:endParaRPr/>
          </a:p>
          <a:p>
            <a:pPr indent="0" lvl="0" marL="0" rtl="0" algn="l">
              <a:spcBef>
                <a:spcPts val="1200"/>
              </a:spcBef>
              <a:spcAft>
                <a:spcPts val="1200"/>
              </a:spcAft>
              <a:buNone/>
            </a:pPr>
            <a:r>
              <a:rPr lang="en"/>
              <a:t>2) limited compatibility with certain applications designed for Windows client OS like Windows 10 &amp; 11.</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VMs vs Containers</a:t>
            </a:r>
            <a:endParaRPr/>
          </a:p>
        </p:txBody>
      </p:sp>
      <p:sp>
        <p:nvSpPr>
          <p:cNvPr id="358" name="Google Shape;358;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55000"/>
              <a:buFont typeface="Arial"/>
              <a:buNone/>
            </a:pPr>
            <a:r>
              <a:rPr lang="en" sz="2000"/>
              <a:t>    Resource Efficiency: Containers are lightweight and share the host's OS kernel, which makes them faster to start and more resource-efficient than VMs, which have their own full OS.</a:t>
            </a:r>
            <a:endParaRPr sz="2000"/>
          </a:p>
          <a:p>
            <a:pPr indent="0" lvl="0" marL="0" rtl="0" algn="l">
              <a:spcBef>
                <a:spcPts val="1200"/>
              </a:spcBef>
              <a:spcAft>
                <a:spcPts val="0"/>
              </a:spcAft>
              <a:buClr>
                <a:schemeClr val="dk1"/>
              </a:buClr>
              <a:buSzPct val="55000"/>
              <a:buFont typeface="Arial"/>
              <a:buNone/>
            </a:pPr>
            <a:r>
              <a:rPr lang="en" sz="2000"/>
              <a:t>    Scalability: Containers are designed for agility and can be easily created, scaled out, or stopped dynamically, making them ideal for responding to changes in application demand quickly, while VMs are slower to scale.</a:t>
            </a:r>
            <a:endParaRPr sz="2000"/>
          </a:p>
          <a:p>
            <a:pPr indent="0" lvl="0" marL="0" rtl="0" algn="l">
              <a:spcBef>
                <a:spcPts val="1200"/>
              </a:spcBef>
              <a:spcAft>
                <a:spcPts val="1200"/>
              </a:spcAft>
              <a:buNone/>
            </a:pPr>
            <a:r>
              <a:rPr lang="en" sz="2000"/>
              <a:t>    Deployment and Isolation: VMs provide a full OS with strong isolation between instances, while containers offer process-level isolation, allowing for faster deployment and independent updates of application components.</a:t>
            </a:r>
            <a:endParaRPr sz="2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Functions</a:t>
            </a:r>
            <a:endParaRPr sz="4500"/>
          </a:p>
        </p:txBody>
      </p:sp>
      <p:sp>
        <p:nvSpPr>
          <p:cNvPr id="364" name="Google Shape;364;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Event-driven and Serverless: Azure Functions is a serverless compute option that is triggered by events, allowing you to focus on your code without worrying about underlying infrastructure or resource provisioning.</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Scalability and Cost-Effective: Azure Functions automatically scale based on demand and only charge for the CPU time used during execution, making them a cost-effective solution for variable workloads.</a:t>
            </a:r>
            <a:endParaRPr/>
          </a:p>
          <a:p>
            <a:pPr indent="0" lvl="0" marL="0" rtl="0" algn="l">
              <a:spcBef>
                <a:spcPts val="12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Azure Functions - stateful vs stateless</a:t>
            </a:r>
            <a:endParaRPr sz="3900"/>
          </a:p>
        </p:txBody>
      </p:sp>
      <p:sp>
        <p:nvSpPr>
          <p:cNvPr id="370" name="Google Shape;370;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2200"/>
              <a:t>    Stateless Functions: Ideal for short-lived, isolated tasks that do not require context from previous executions. Quick and efficient for single-purpose jobs like image processing or data validation.</a:t>
            </a:r>
            <a:endParaRPr sz="2200"/>
          </a:p>
          <a:p>
            <a:pPr indent="0" lvl="0" marL="0" rtl="0" algn="l">
              <a:spcBef>
                <a:spcPts val="1200"/>
              </a:spcBef>
              <a:spcAft>
                <a:spcPts val="0"/>
              </a:spcAft>
              <a:buNone/>
            </a:pPr>
            <a:r>
              <a:rPr lang="en" sz="2200"/>
              <a:t>    Stateful Functions (Durable Functions): Designed for more complex workflows that need to maintain context and track prior activity, such as multi-step approval processes, long-running tasks, or coordinating multiple functions.</a:t>
            </a:r>
            <a:endParaRPr sz="2200"/>
          </a:p>
          <a:p>
            <a:pPr indent="0" lvl="0" marL="0" rtl="0" algn="l">
              <a:spcBef>
                <a:spcPts val="1200"/>
              </a:spcBef>
              <a:spcAft>
                <a:spcPts val="1200"/>
              </a:spcAft>
              <a:buNone/>
            </a:pPr>
            <a:r>
              <a:rPr lang="en" sz="2200"/>
              <a:t>    Flexible Design: Choose stateless for simplicity and speed, or stateful when context is required, enabling developers to build versatile serverless applications tailored to their specific needs.</a:t>
            </a:r>
            <a:endParaRPr sz="22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Application hosting options</a:t>
            </a:r>
            <a:endParaRPr sz="3900"/>
          </a:p>
        </p:txBody>
      </p:sp>
      <p:sp>
        <p:nvSpPr>
          <p:cNvPr id="376" name="Google Shape;376;p6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Azure App Service: A fully managed platform for building, deploying, and scaling web apps, APIs, and mobile backends.</a:t>
            </a:r>
            <a:endParaRPr/>
          </a:p>
          <a:p>
            <a:pPr indent="0" lvl="0" marL="0" rtl="0" algn="l">
              <a:spcBef>
                <a:spcPts val="1200"/>
              </a:spcBef>
              <a:spcAft>
                <a:spcPts val="0"/>
              </a:spcAft>
              <a:buNone/>
            </a:pPr>
            <a:r>
              <a:rPr lang="en"/>
              <a:t>    Multiple Language Support: Build using .NET, .NET Core, Java, Ruby, Node.js, PHP, or Python.</a:t>
            </a:r>
            <a:endParaRPr/>
          </a:p>
          <a:p>
            <a:pPr indent="0" lvl="0" marL="0" rtl="0" algn="l">
              <a:spcBef>
                <a:spcPts val="1200"/>
              </a:spcBef>
              <a:spcAft>
                <a:spcPts val="0"/>
              </a:spcAft>
              <a:buNone/>
            </a:pPr>
            <a:r>
              <a:rPr lang="en"/>
              <a:t>    Platform Choices: Supports both Windows and Linux hosting environments.</a:t>
            </a:r>
            <a:endParaRPr/>
          </a:p>
          <a:p>
            <a:pPr indent="0" lvl="0" marL="0" rtl="0" algn="l">
              <a:spcBef>
                <a:spcPts val="1200"/>
              </a:spcBef>
              <a:spcAft>
                <a:spcPts val="1200"/>
              </a:spcAft>
              <a:buNone/>
            </a:pPr>
            <a:r>
              <a:rPr lang="en"/>
              <a:t>    Seamless Deployment: Automated deployments from GitHub, Azure DevOps, or any Git repo for continuous integration and deployment.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Application hosting options</a:t>
            </a:r>
            <a:endParaRPr sz="3900"/>
          </a:p>
        </p:txBody>
      </p:sp>
      <p:sp>
        <p:nvSpPr>
          <p:cNvPr id="382" name="Google Shape;382;p6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Types of App Services: Web apps, API apps, WebJobs, and Mobile apps.</a:t>
            </a:r>
            <a:endParaRPr/>
          </a:p>
          <a:p>
            <a:pPr indent="0" lvl="0" marL="0" rtl="0" algn="l">
              <a:spcBef>
                <a:spcPts val="1200"/>
              </a:spcBef>
              <a:spcAft>
                <a:spcPts val="0"/>
              </a:spcAft>
              <a:buNone/>
            </a:pPr>
            <a:r>
              <a:rPr lang="en"/>
              <a:t>    Scalability &amp; High Availability: Built-in load balancing, traffic manager, and easy scaling to handle traffic loads.</a:t>
            </a:r>
            <a:endParaRPr/>
          </a:p>
          <a:p>
            <a:pPr indent="0" lvl="0" marL="0" rtl="0" algn="l">
              <a:spcBef>
                <a:spcPts val="1200"/>
              </a:spcBef>
              <a:spcAft>
                <a:spcPts val="0"/>
              </a:spcAft>
              <a:buNone/>
            </a:pPr>
            <a:r>
              <a:rPr lang="en"/>
              <a:t>    WebJobs: Run programs or scripts in the same context as a web app, triggered or scheduled, for background tasks.</a:t>
            </a:r>
            <a:endParaRPr/>
          </a:p>
          <a:p>
            <a:pPr indent="0" lvl="0" marL="0" rtl="0" algn="l">
              <a:spcBef>
                <a:spcPts val="1200"/>
              </a:spcBef>
              <a:spcAft>
                <a:spcPts val="1200"/>
              </a:spcAft>
              <a:buNone/>
            </a:pPr>
            <a:r>
              <a:rPr lang="en"/>
              <a:t>    Mobile Apps: Quickly build backends for iOS and Android apps, store data, authenticate users, send push notifications, and execute custom logic.</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Networking - isolation</a:t>
            </a:r>
            <a:endParaRPr/>
          </a:p>
        </p:txBody>
      </p:sp>
      <p:sp>
        <p:nvSpPr>
          <p:cNvPr id="388" name="Google Shape;388;p6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Private: Private address space accessible within Azure. Not publicly accessible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Public: Accessible by the internet (IPv4 or IPv6).  Can also be the IP of a load balancer.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Networking - on-prem</a:t>
            </a:r>
            <a:endParaRPr/>
          </a:p>
        </p:txBody>
      </p:sp>
      <p:sp>
        <p:nvSpPr>
          <p:cNvPr id="394" name="Google Shape;394;p6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Point-to-site: client machine on-prem makes a connection to the Azure network</a:t>
            </a:r>
            <a:endParaRPr/>
          </a:p>
          <a:p>
            <a:pPr indent="0" lvl="0" marL="0" rtl="0" algn="l">
              <a:spcBef>
                <a:spcPts val="1200"/>
              </a:spcBef>
              <a:spcAft>
                <a:spcPts val="0"/>
              </a:spcAft>
              <a:buNone/>
            </a:pPr>
            <a:r>
              <a:rPr lang="en"/>
              <a:t>Site-to-site: Azure devices appear as if they were on the local network</a:t>
            </a:r>
            <a:endParaRPr/>
          </a:p>
          <a:p>
            <a:pPr indent="0" lvl="0" marL="0" rtl="0" algn="l">
              <a:spcBef>
                <a:spcPts val="1200"/>
              </a:spcBef>
              <a:spcAft>
                <a:spcPts val="1200"/>
              </a:spcAft>
              <a:buNone/>
            </a:pPr>
            <a:r>
              <a:rPr lang="en"/>
              <a:t>Azure ExpressRoute: dedicating link through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Networking - on-prem</a:t>
            </a:r>
            <a:endParaRPr/>
          </a:p>
        </p:txBody>
      </p:sp>
      <p:sp>
        <p:nvSpPr>
          <p:cNvPr id="400" name="Google Shape;400;p6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Azure ExpressRoute: Through an ExpressRoute partner such as Verizon, AT&amp;T, etc. </a:t>
            </a:r>
            <a:endParaRPr/>
          </a:p>
          <a:p>
            <a:pPr indent="0" lvl="0" marL="0" rtl="0" algn="l">
              <a:spcBef>
                <a:spcPts val="1200"/>
              </a:spcBef>
              <a:spcAft>
                <a:spcPts val="0"/>
              </a:spcAft>
              <a:buNone/>
            </a:pPr>
            <a:r>
              <a:rPr lang="en"/>
              <a:t>ExpressRoute supports four models </a:t>
            </a:r>
            <a:endParaRPr/>
          </a:p>
          <a:p>
            <a:pPr indent="0" lvl="0" marL="0" rtl="0" algn="l">
              <a:spcBef>
                <a:spcPts val="1200"/>
              </a:spcBef>
              <a:spcAft>
                <a:spcPts val="0"/>
              </a:spcAft>
              <a:buNone/>
            </a:pPr>
            <a:r>
              <a:rPr lang="en"/>
              <a:t>1) CloudExchange colocation, 2) Point-to-point Ethernet connection 3) Any-to-any connection, </a:t>
            </a:r>
            <a:endParaRPr/>
          </a:p>
          <a:p>
            <a:pPr indent="0" lvl="0" marL="0" rtl="0" algn="l">
              <a:spcBef>
                <a:spcPts val="1200"/>
              </a:spcBef>
              <a:spcAft>
                <a:spcPts val="0"/>
              </a:spcAft>
              <a:buNone/>
            </a:pPr>
            <a:r>
              <a:rPr lang="en"/>
              <a:t>4) Directly from ExpressRoute sites</a:t>
            </a:r>
            <a:endParaRPr/>
          </a:p>
          <a:p>
            <a:pPr indent="0" lvl="0" marL="0" rtl="0" algn="l">
              <a:spcBef>
                <a:spcPts val="1200"/>
              </a:spcBef>
              <a:spcAft>
                <a:spcPts val="1200"/>
              </a:spcAft>
              <a:buNone/>
            </a:pPr>
            <a:r>
              <a:rPr lang="en"/>
              <a:t>Note: </a:t>
            </a:r>
            <a:r>
              <a:rPr lang="en">
                <a:highlight>
                  <a:srgbClr val="FFFF00"/>
                </a:highlight>
              </a:rPr>
              <a:t>bypasses the public internet</a:t>
            </a:r>
            <a:endParaRPr>
              <a:highlight>
                <a:srgbClr val="FFFF00"/>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Networking - Filter traffic</a:t>
            </a:r>
            <a:endParaRPr/>
          </a:p>
        </p:txBody>
      </p:sp>
      <p:sp>
        <p:nvSpPr>
          <p:cNvPr id="406" name="Google Shape;406;p6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 security groups: define rules for inbound/outbound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Network virtual appliances: firewall, WAN optimization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Virtual Networking - Custom routes</a:t>
            </a:r>
            <a:endParaRPr sz="3900"/>
          </a:p>
        </p:txBody>
      </p:sp>
      <p:sp>
        <p:nvSpPr>
          <p:cNvPr id="412" name="Google Shape;412;p6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Custom route tables - by default Azure will determine the path.</a:t>
            </a:r>
            <a:endParaRPr/>
          </a:p>
          <a:p>
            <a:pPr indent="0" lvl="0" marL="0" rtl="0" algn="l">
              <a:spcBef>
                <a:spcPts val="1200"/>
              </a:spcBef>
              <a:spcAft>
                <a:spcPts val="1200"/>
              </a:spcAft>
              <a:buNone/>
            </a:pPr>
            <a:r>
              <a:rPr lang="en"/>
              <a:t>But you have an Network Virtual Appliance (firewall) in the previous example, and want all traffic to pass through the NVA. You’ll require a custom route for this.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Configure </a:t>
            </a:r>
            <a:r>
              <a:rPr b="1" lang="en" sz="3800">
                <a:solidFill>
                  <a:srgbClr val="FF0000"/>
                </a:solidFill>
              </a:rPr>
              <a:t>N</a:t>
            </a:r>
            <a:r>
              <a:rPr lang="en" sz="3800"/>
              <a:t>etwork </a:t>
            </a:r>
            <a:r>
              <a:rPr b="1" lang="en" sz="3800">
                <a:solidFill>
                  <a:srgbClr val="FF0000"/>
                </a:solidFill>
              </a:rPr>
              <a:t>S</a:t>
            </a:r>
            <a:r>
              <a:rPr lang="en" sz="3800"/>
              <a:t>ecurity </a:t>
            </a:r>
            <a:r>
              <a:rPr b="1" lang="en" sz="3800">
                <a:solidFill>
                  <a:srgbClr val="FF0000"/>
                </a:solidFill>
              </a:rPr>
              <a:t>G</a:t>
            </a:r>
            <a:r>
              <a:rPr lang="en" sz="3800"/>
              <a:t>roups</a:t>
            </a:r>
            <a:endParaRPr sz="3800"/>
          </a:p>
        </p:txBody>
      </p:sp>
      <p:sp>
        <p:nvSpPr>
          <p:cNvPr id="418" name="Google Shape;418;p7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419" name="Google Shape;419;p70"/>
          <p:cNvPicPr preferRelativeResize="0"/>
          <p:nvPr/>
        </p:nvPicPr>
        <p:blipFill>
          <a:blip r:embed="rId3">
            <a:alphaModFix/>
          </a:blip>
          <a:stretch>
            <a:fillRect/>
          </a:stretch>
        </p:blipFill>
        <p:spPr>
          <a:xfrm>
            <a:off x="2552975" y="1028372"/>
            <a:ext cx="5609950" cy="36531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700"/>
              <a:t>Virtual Private Networks - Gateways</a:t>
            </a:r>
            <a:endParaRPr sz="3700"/>
          </a:p>
        </p:txBody>
      </p:sp>
      <p:sp>
        <p:nvSpPr>
          <p:cNvPr id="425" name="Google Shape;425;p7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Policy-based VPN Gateway:</a:t>
            </a:r>
            <a:endParaRPr/>
          </a:p>
          <a:p>
            <a:pPr indent="0" lvl="0" marL="0" rtl="0" algn="l">
              <a:spcBef>
                <a:spcPts val="1200"/>
              </a:spcBef>
              <a:spcAft>
                <a:spcPts val="0"/>
              </a:spcAft>
              <a:buClr>
                <a:schemeClr val="dk1"/>
              </a:buClr>
              <a:buSzPts val="1100"/>
              <a:buFont typeface="Arial"/>
              <a:buNone/>
            </a:pPr>
            <a:r>
              <a:rPr lang="en"/>
              <a:t>    Uses </a:t>
            </a:r>
            <a:r>
              <a:rPr b="1" lang="en"/>
              <a:t>static IP</a:t>
            </a:r>
            <a:r>
              <a:rPr lang="en"/>
              <a:t> addresses for packet encryption</a:t>
            </a:r>
            <a:endParaRPr/>
          </a:p>
          <a:p>
            <a:pPr indent="0" lvl="0" marL="0" rtl="0" algn="l">
              <a:spcBef>
                <a:spcPts val="1200"/>
              </a:spcBef>
              <a:spcAft>
                <a:spcPts val="0"/>
              </a:spcAft>
              <a:buClr>
                <a:schemeClr val="dk1"/>
              </a:buClr>
              <a:buSzPts val="1100"/>
              <a:buFont typeface="Arial"/>
              <a:buNone/>
            </a:pPr>
            <a:r>
              <a:rPr lang="en"/>
              <a:t>    Suitable for </a:t>
            </a:r>
            <a:r>
              <a:rPr b="1" lang="en"/>
              <a:t>simple</a:t>
            </a:r>
            <a:r>
              <a:rPr lang="en"/>
              <a:t>, </a:t>
            </a:r>
            <a:r>
              <a:rPr lang="en">
                <a:highlight>
                  <a:srgbClr val="FFFF00"/>
                </a:highlight>
              </a:rPr>
              <a:t>fixed network topologies</a:t>
            </a:r>
            <a:endParaRPr>
              <a:highlight>
                <a:srgbClr val="FFFF00"/>
              </a:highlight>
            </a:endParaRPr>
          </a:p>
          <a:p>
            <a:pPr indent="0" lvl="0" marL="0" rtl="0" algn="l">
              <a:spcBef>
                <a:spcPts val="1200"/>
              </a:spcBef>
              <a:spcAft>
                <a:spcPts val="1200"/>
              </a:spcAft>
              <a:buNone/>
            </a:pPr>
            <a:r>
              <a:rPr lang="en"/>
              <a:t>    Manually define allowed subnets for secure communication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Virtual Private Networks - Gateways</a:t>
            </a:r>
            <a:endParaRPr sz="3800"/>
          </a:p>
        </p:txBody>
      </p:sp>
      <p:sp>
        <p:nvSpPr>
          <p:cNvPr id="431" name="Google Shape;431;p7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Route-based VPN Gateway:</a:t>
            </a:r>
            <a:endParaRPr/>
          </a:p>
          <a:p>
            <a:pPr indent="0" lvl="0" marL="0" rtl="0" algn="l">
              <a:spcBef>
                <a:spcPts val="1200"/>
              </a:spcBef>
              <a:spcAft>
                <a:spcPts val="0"/>
              </a:spcAft>
              <a:buNone/>
            </a:pPr>
            <a:r>
              <a:rPr lang="en"/>
              <a:t>    Supports </a:t>
            </a:r>
            <a:r>
              <a:rPr b="1" lang="en"/>
              <a:t>dynamic routing protocols</a:t>
            </a:r>
            <a:r>
              <a:rPr lang="en"/>
              <a:t> (e.g., BGP)</a:t>
            </a:r>
            <a:endParaRPr/>
          </a:p>
          <a:p>
            <a:pPr indent="0" lvl="0" marL="0" rtl="0" algn="l">
              <a:spcBef>
                <a:spcPts val="1200"/>
              </a:spcBef>
              <a:spcAft>
                <a:spcPts val="0"/>
              </a:spcAft>
              <a:buNone/>
            </a:pPr>
            <a:r>
              <a:rPr lang="en"/>
              <a:t>    </a:t>
            </a:r>
            <a:r>
              <a:rPr b="1" lang="en"/>
              <a:t>Adapts</a:t>
            </a:r>
            <a:r>
              <a:rPr lang="en"/>
              <a:t> automatically to network </a:t>
            </a:r>
            <a:r>
              <a:rPr b="1" lang="en">
                <a:highlight>
                  <a:srgbClr val="FFFF00"/>
                </a:highlight>
              </a:rPr>
              <a:t>topology changes</a:t>
            </a:r>
            <a:endParaRPr b="1">
              <a:highlight>
                <a:srgbClr val="FFFF00"/>
              </a:highlight>
            </a:endParaRPr>
          </a:p>
          <a:p>
            <a:pPr indent="0" lvl="0" marL="0" rtl="0" algn="l">
              <a:spcBef>
                <a:spcPts val="1200"/>
              </a:spcBef>
              <a:spcAft>
                <a:spcPts val="1200"/>
              </a:spcAft>
              <a:buNone/>
            </a:pPr>
            <a:r>
              <a:rPr lang="en"/>
              <a:t>    Enables traffic engineering and </a:t>
            </a:r>
            <a:r>
              <a:rPr b="1" lang="en"/>
              <a:t>load balancing</a:t>
            </a:r>
            <a:r>
              <a:rPr lang="en"/>
              <a:t> between </a:t>
            </a:r>
            <a:r>
              <a:rPr b="1" lang="en"/>
              <a:t>multiple VPN tunnels</a:t>
            </a:r>
            <a:endParaRPr b="1"/>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Virtual Private Networks - HA</a:t>
            </a:r>
            <a:endParaRPr sz="4000"/>
          </a:p>
        </p:txBody>
      </p:sp>
      <p:sp>
        <p:nvSpPr>
          <p:cNvPr id="437" name="Google Shape;437;p7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Active/Standby: Default configuration, with two instances where the standby takes over during maintenance or disruptions; short connection interruptions.</a:t>
            </a:r>
            <a:endParaRPr b="1"/>
          </a:p>
          <a:p>
            <a:pPr indent="0" lvl="0" marL="0" rtl="0" algn="l">
              <a:spcBef>
                <a:spcPts val="1200"/>
              </a:spcBef>
              <a:spcAft>
                <a:spcPts val="0"/>
              </a:spcAft>
              <a:buNone/>
            </a:pPr>
            <a:r>
              <a:rPr b="1" lang="en"/>
              <a:t>Active/Active: Utilizes BGP routing protocol, assigns unique public IP addresses to each instance, and establishes separate tunnels to improve availability.</a:t>
            </a:r>
            <a:endParaRPr b="1"/>
          </a:p>
          <a:p>
            <a:pPr indent="0" lvl="0" marL="0" rtl="0" algn="l">
              <a:spcBef>
                <a:spcPts val="1200"/>
              </a:spcBef>
              <a:spcAft>
                <a:spcPts val="1200"/>
              </a:spcAft>
              <a:buNone/>
            </a:pPr>
            <a:r>
              <a:rPr b="1" lang="en"/>
              <a:t>On-premises redundancy: Enhance high availability by deploying an additional VPN device on-premises for more resilient connections.</a:t>
            </a:r>
            <a:endParaRPr b="1"/>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Virtual Private Networks - HA</a:t>
            </a:r>
            <a:endParaRPr sz="4000"/>
          </a:p>
        </p:txBody>
      </p:sp>
      <p:sp>
        <p:nvSpPr>
          <p:cNvPr id="443" name="Google Shape;443;p7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2200"/>
              <a:t>ExpressRoute Failover: Configure a VPN gateway as a secure failover path for ExpressRoute connections to maintain connectivity during outages.</a:t>
            </a:r>
            <a:endParaRPr b="1" sz="2200"/>
          </a:p>
          <a:p>
            <a:pPr indent="0" lvl="0" marL="0" rtl="0" algn="l">
              <a:spcBef>
                <a:spcPts val="1200"/>
              </a:spcBef>
              <a:spcAft>
                <a:spcPts val="0"/>
              </a:spcAft>
              <a:buNone/>
            </a:pPr>
            <a:r>
              <a:rPr b="1" lang="en" sz="2200"/>
              <a:t>Built-in Resiliency: ExpressRoute circuits have built-in resiliency, but can still be affected by physical issues or complete location outages.</a:t>
            </a:r>
            <a:endParaRPr b="1" sz="2200"/>
          </a:p>
          <a:p>
            <a:pPr indent="0" lvl="0" marL="0" rtl="0" algn="l">
              <a:spcBef>
                <a:spcPts val="1200"/>
              </a:spcBef>
              <a:spcAft>
                <a:spcPts val="1200"/>
              </a:spcAft>
              <a:buNone/>
            </a:pPr>
            <a:r>
              <a:rPr b="1" lang="en" sz="2200"/>
              <a:t>Zone-Redundant Gateways: In availability zone-supported regions, deploy VPN and ExpressRoute gateways in a zone-redundant configuration for enhanced resiliency and scalability.</a:t>
            </a:r>
            <a:endParaRPr b="1" sz="22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DNS - Security</a:t>
            </a:r>
            <a:endParaRPr/>
          </a:p>
        </p:txBody>
      </p:sp>
      <p:sp>
        <p:nvSpPr>
          <p:cNvPr id="449" name="Google Shape;449;p7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Azure role-based access control (Azure </a:t>
            </a:r>
            <a:r>
              <a:rPr b="1" lang="en"/>
              <a:t>RBAC</a:t>
            </a:r>
            <a:r>
              <a:rPr lang="en"/>
              <a:t>)</a:t>
            </a:r>
            <a:endParaRPr/>
          </a:p>
          <a:p>
            <a:pPr indent="0" lvl="0" marL="0" rtl="0" algn="l">
              <a:spcBef>
                <a:spcPts val="1200"/>
              </a:spcBef>
              <a:spcAft>
                <a:spcPts val="0"/>
              </a:spcAft>
              <a:buClr>
                <a:schemeClr val="dk1"/>
              </a:buClr>
              <a:buSzPts val="1100"/>
              <a:buFont typeface="Arial"/>
              <a:buNone/>
            </a:pPr>
            <a:r>
              <a:rPr b="1" lang="en"/>
              <a:t>Activity logs</a:t>
            </a:r>
            <a:r>
              <a:rPr lang="en"/>
              <a:t> to monitor how a user in your organization </a:t>
            </a:r>
            <a:r>
              <a:rPr b="1" lang="en"/>
              <a:t>modified</a:t>
            </a:r>
            <a:r>
              <a:rPr lang="en"/>
              <a:t> a resource or to find an error when troubleshooting.</a:t>
            </a:r>
            <a:endParaRPr/>
          </a:p>
          <a:p>
            <a:pPr indent="0" lvl="0" marL="0" rtl="0" algn="l">
              <a:spcBef>
                <a:spcPts val="1200"/>
              </a:spcBef>
              <a:spcAft>
                <a:spcPts val="0"/>
              </a:spcAft>
              <a:buClr>
                <a:schemeClr val="dk1"/>
              </a:buClr>
              <a:buSzPts val="1100"/>
              <a:buFont typeface="Arial"/>
              <a:buNone/>
            </a:pPr>
            <a:r>
              <a:rPr b="1" lang="en"/>
              <a:t>Resource locking</a:t>
            </a:r>
            <a:r>
              <a:rPr lang="en"/>
              <a:t> to lock a subscription, resource group, or resource. Locking prevents other users in your organization from accidentally deleting or modifying critical resources.</a:t>
            </a:r>
            <a:endParaRPr/>
          </a:p>
          <a:p>
            <a:pPr indent="0" lvl="0" marL="0" rtl="0" algn="l">
              <a:spcBef>
                <a:spcPts val="1200"/>
              </a:spcBef>
              <a:spcAft>
                <a:spcPts val="120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accounts - namespace</a:t>
            </a:r>
            <a:endParaRPr/>
          </a:p>
        </p:txBody>
      </p:sp>
      <p:sp>
        <p:nvSpPr>
          <p:cNvPr id="455" name="Google Shape;455;p7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Storage account name must be unique within Azure. Consists of the </a:t>
            </a:r>
            <a:r>
              <a:rPr b="1" lang="en"/>
              <a:t>account name</a:t>
            </a:r>
            <a:r>
              <a:rPr lang="en"/>
              <a:t> and the </a:t>
            </a:r>
            <a:r>
              <a:rPr b="1" lang="en"/>
              <a:t>Azure Storage service endpoint</a:t>
            </a:r>
            <a:r>
              <a:rPr lang="en"/>
              <a: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Next slide gives examples of Storage service endpoints.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Service</a:t>
            </a:r>
            <a:endParaRPr/>
          </a:p>
        </p:txBody>
      </p:sp>
      <p:sp>
        <p:nvSpPr>
          <p:cNvPr id="461" name="Google Shape;461;p7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55000"/>
              <a:buFont typeface="Arial"/>
              <a:buNone/>
            </a:pPr>
            <a:r>
              <a:rPr lang="en" sz="2000"/>
              <a:t>1) Blob Storage: Storing large amounts of unstructured data, such as images, videos, or documents.</a:t>
            </a:r>
            <a:endParaRPr sz="2000"/>
          </a:p>
          <a:p>
            <a:pPr indent="0" lvl="0" marL="0" rtl="0" algn="l">
              <a:spcBef>
                <a:spcPts val="1200"/>
              </a:spcBef>
              <a:spcAft>
                <a:spcPts val="0"/>
              </a:spcAft>
              <a:buClr>
                <a:schemeClr val="dk1"/>
              </a:buClr>
              <a:buSzPct val="55000"/>
              <a:buFont typeface="Arial"/>
              <a:buNone/>
            </a:pPr>
            <a:r>
              <a:rPr lang="en" sz="2000"/>
              <a:t>2) Data Lake Storage Gen2: Analyzing and processing big data workloads in a data lake environment.</a:t>
            </a:r>
            <a:endParaRPr sz="2000"/>
          </a:p>
          <a:p>
            <a:pPr indent="0" lvl="0" marL="0" rtl="0" algn="l">
              <a:spcBef>
                <a:spcPts val="1200"/>
              </a:spcBef>
              <a:spcAft>
                <a:spcPts val="0"/>
              </a:spcAft>
              <a:buClr>
                <a:schemeClr val="dk1"/>
              </a:buClr>
              <a:buSzPct val="55000"/>
              <a:buFont typeface="Arial"/>
              <a:buNone/>
            </a:pPr>
            <a:r>
              <a:rPr lang="en" sz="2000"/>
              <a:t>3) Azure Files: Creating a shared network file system that can be accessed by multiple VMs or applications.</a:t>
            </a:r>
            <a:endParaRPr sz="2000"/>
          </a:p>
          <a:p>
            <a:pPr indent="0" lvl="0" marL="0" rtl="0" algn="l">
              <a:spcBef>
                <a:spcPts val="1200"/>
              </a:spcBef>
              <a:spcAft>
                <a:spcPts val="0"/>
              </a:spcAft>
              <a:buClr>
                <a:schemeClr val="dk1"/>
              </a:buClr>
              <a:buSzPct val="55000"/>
              <a:buFont typeface="Arial"/>
              <a:buNone/>
            </a:pPr>
            <a:r>
              <a:rPr lang="en" sz="2000"/>
              <a:t>4) Queue Storage: Managing a queue of messages for asynchronous processing between different application components.</a:t>
            </a:r>
            <a:endParaRPr sz="2000"/>
          </a:p>
          <a:p>
            <a:pPr indent="0" lvl="0" marL="0" rtl="0" algn="l">
              <a:spcBef>
                <a:spcPts val="1200"/>
              </a:spcBef>
              <a:spcAft>
                <a:spcPts val="1200"/>
              </a:spcAft>
              <a:buNone/>
            </a:pPr>
            <a:r>
              <a:rPr lang="en" sz="2000"/>
              <a:t>5) </a:t>
            </a:r>
            <a:r>
              <a:rPr lang="en" sz="2000"/>
              <a:t>Table Storage: Storing large amounts of structured, non-relational data in a NoSQL table format, such as user metadata or application settings.</a:t>
            </a:r>
            <a:endParaRPr sz="20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78"/>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467" name="Google Shape;467;p78"/>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accounts - endpoints</a:t>
            </a:r>
            <a:endParaRPr/>
          </a:p>
        </p:txBody>
      </p:sp>
      <p:sp>
        <p:nvSpPr>
          <p:cNvPr id="473" name="Google Shape;473;p7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474" name="Google Shape;474;p79"/>
          <p:cNvPicPr preferRelativeResize="0"/>
          <p:nvPr/>
        </p:nvPicPr>
        <p:blipFill>
          <a:blip r:embed="rId3">
            <a:alphaModFix/>
          </a:blip>
          <a:stretch>
            <a:fillRect/>
          </a:stretch>
        </p:blipFill>
        <p:spPr>
          <a:xfrm>
            <a:off x="1449007" y="1017725"/>
            <a:ext cx="7104443" cy="35352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8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Storage redundancy - Primary region</a:t>
            </a:r>
            <a:endParaRPr sz="3600"/>
          </a:p>
        </p:txBody>
      </p:sp>
      <p:sp>
        <p:nvSpPr>
          <p:cNvPr id="480" name="Google Shape;480;p80"/>
          <p:cNvSpPr txBox="1"/>
          <p:nvPr>
            <p:ph idx="1" type="body"/>
          </p:nvPr>
        </p:nvSpPr>
        <p:spPr>
          <a:xfrm>
            <a:off x="311700" y="1152475"/>
            <a:ext cx="588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Locally Redundant Storage (LRS): Replicates data three times within a single data center in the primary region.</a:t>
            </a:r>
            <a:endParaRPr/>
          </a:p>
          <a:p>
            <a:pPr indent="0" lvl="0" marL="0" rtl="0" algn="l">
              <a:spcBef>
                <a:spcPts val="1200"/>
              </a:spcBef>
              <a:spcAft>
                <a:spcPts val="1200"/>
              </a:spcAft>
              <a:buNone/>
            </a:pPr>
            <a:r>
              <a:rPr lang="en"/>
              <a:t>2) LRS Durability: Provides at least 11 nines of durability (99.999999999%) of objects over a given year.</a:t>
            </a:r>
            <a:endParaRPr/>
          </a:p>
        </p:txBody>
      </p:sp>
      <p:pic>
        <p:nvPicPr>
          <p:cNvPr id="481" name="Google Shape;481;p80"/>
          <p:cNvPicPr preferRelativeResize="0"/>
          <p:nvPr/>
        </p:nvPicPr>
        <p:blipFill>
          <a:blip r:embed="rId3">
            <a:alphaModFix/>
          </a:blip>
          <a:stretch>
            <a:fillRect/>
          </a:stretch>
        </p:blipFill>
        <p:spPr>
          <a:xfrm>
            <a:off x="6199613" y="1263938"/>
            <a:ext cx="2600325" cy="27146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Storage redundancy - Primary region</a:t>
            </a:r>
            <a:endParaRPr sz="3600"/>
          </a:p>
        </p:txBody>
      </p:sp>
      <p:sp>
        <p:nvSpPr>
          <p:cNvPr id="487" name="Google Shape;487;p81"/>
          <p:cNvSpPr txBox="1"/>
          <p:nvPr>
            <p:ph idx="1" type="body"/>
          </p:nvPr>
        </p:nvSpPr>
        <p:spPr>
          <a:xfrm>
            <a:off x="311700" y="1152475"/>
            <a:ext cx="588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LRS Protection: Guards against server rack and drive failures but doesn't protect against data center disasters.</a:t>
            </a:r>
            <a:endParaRPr/>
          </a:p>
          <a:p>
            <a:pPr indent="0" lvl="0" marL="0" rtl="0" algn="l">
              <a:spcBef>
                <a:spcPts val="1200"/>
              </a:spcBef>
              <a:spcAft>
                <a:spcPts val="1200"/>
              </a:spcAft>
              <a:buNone/>
            </a:pPr>
            <a:r>
              <a:rPr lang="en"/>
              <a:t>4) Alternative Options: To mitigate data center disaster risks, consider using Zone-Redundant Storage (ZRS), Geo-Redundant Storage (GRS), or Geo-Zone-Redundant Storage (GZRS). </a:t>
            </a:r>
            <a:endParaRPr/>
          </a:p>
        </p:txBody>
      </p:sp>
      <p:pic>
        <p:nvPicPr>
          <p:cNvPr id="488" name="Google Shape;488;p81"/>
          <p:cNvPicPr preferRelativeResize="0"/>
          <p:nvPr/>
        </p:nvPicPr>
        <p:blipFill>
          <a:blip r:embed="rId3">
            <a:alphaModFix/>
          </a:blip>
          <a:stretch>
            <a:fillRect/>
          </a:stretch>
        </p:blipFill>
        <p:spPr>
          <a:xfrm>
            <a:off x="6199613" y="1263938"/>
            <a:ext cx="2600325" cy="27146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Zone-redundant storage</a:t>
            </a:r>
            <a:endParaRPr sz="4000"/>
          </a:p>
        </p:txBody>
      </p:sp>
      <p:sp>
        <p:nvSpPr>
          <p:cNvPr id="494" name="Google Shape;494;p82"/>
          <p:cNvSpPr txBox="1"/>
          <p:nvPr>
            <p:ph idx="1" type="body"/>
          </p:nvPr>
        </p:nvSpPr>
        <p:spPr>
          <a:xfrm>
            <a:off x="311700" y="1152475"/>
            <a:ext cx="588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Zone-Redundant Storage (ZRS): Replicates data synchronously across three Azure availability zones in the primary region.</a:t>
            </a:r>
            <a:endParaRPr/>
          </a:p>
          <a:p>
            <a:pPr indent="0" lvl="0" marL="0" rtl="0" algn="l">
              <a:spcBef>
                <a:spcPts val="1200"/>
              </a:spcBef>
              <a:spcAft>
                <a:spcPts val="1200"/>
              </a:spcAft>
              <a:buNone/>
            </a:pPr>
            <a:r>
              <a:rPr lang="en"/>
              <a:t>2) ZRS Durability: Offers at least 12 nines of durability (99.9999999999%) for Azure Storage data objects over a given year.</a:t>
            </a:r>
            <a:endParaRPr/>
          </a:p>
        </p:txBody>
      </p:sp>
      <p:pic>
        <p:nvPicPr>
          <p:cNvPr id="495" name="Google Shape;495;p82"/>
          <p:cNvPicPr preferRelativeResize="0"/>
          <p:nvPr/>
        </p:nvPicPr>
        <p:blipFill>
          <a:blip r:embed="rId3">
            <a:alphaModFix/>
          </a:blip>
          <a:stretch>
            <a:fillRect/>
          </a:stretch>
        </p:blipFill>
        <p:spPr>
          <a:xfrm>
            <a:off x="6351900" y="1170125"/>
            <a:ext cx="2639700" cy="262920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8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Zone-redundant storage</a:t>
            </a:r>
            <a:endParaRPr sz="4000"/>
          </a:p>
        </p:txBody>
      </p:sp>
      <p:sp>
        <p:nvSpPr>
          <p:cNvPr id="501" name="Google Shape;501;p83"/>
          <p:cNvSpPr txBox="1"/>
          <p:nvPr>
            <p:ph idx="1" type="body"/>
          </p:nvPr>
        </p:nvSpPr>
        <p:spPr>
          <a:xfrm>
            <a:off x="311700" y="1152475"/>
            <a:ext cx="588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High Availability: ZRS ensures data remains accessible for both read and write operations even if one zone becomes unavailable.</a:t>
            </a:r>
            <a:endParaRPr/>
          </a:p>
          <a:p>
            <a:pPr indent="0" lvl="0" marL="0" rtl="0" algn="l">
              <a:spcBef>
                <a:spcPts val="1200"/>
              </a:spcBef>
              <a:spcAft>
                <a:spcPts val="1200"/>
              </a:spcAft>
              <a:buNone/>
            </a:pPr>
            <a:r>
              <a:rPr lang="en"/>
              <a:t>4) Data Governance: Ideal for scenarios that require high availability or need to restrict data replication within a country or region to comply with data governance requirements.</a:t>
            </a:r>
            <a:endParaRPr/>
          </a:p>
        </p:txBody>
      </p:sp>
      <p:pic>
        <p:nvPicPr>
          <p:cNvPr id="502" name="Google Shape;502;p83"/>
          <p:cNvPicPr preferRelativeResize="0"/>
          <p:nvPr/>
        </p:nvPicPr>
        <p:blipFill>
          <a:blip r:embed="rId3">
            <a:alphaModFix/>
          </a:blip>
          <a:stretch>
            <a:fillRect/>
          </a:stretch>
        </p:blipFill>
        <p:spPr>
          <a:xfrm>
            <a:off x="6351900" y="1170125"/>
            <a:ext cx="2639700" cy="262920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Geo-redundant storage</a:t>
            </a:r>
            <a:endParaRPr sz="4000"/>
          </a:p>
        </p:txBody>
      </p:sp>
      <p:sp>
        <p:nvSpPr>
          <p:cNvPr id="508" name="Google Shape;508;p84"/>
          <p:cNvSpPr txBox="1"/>
          <p:nvPr>
            <p:ph idx="1" type="body"/>
          </p:nvPr>
        </p:nvSpPr>
        <p:spPr>
          <a:xfrm>
            <a:off x="311700" y="1152475"/>
            <a:ext cx="5887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GRS Overview: Combines synchronous LRS replication in the primary region with asynchronous LRS replication in the secondary region.</a:t>
            </a:r>
            <a:endParaRPr/>
          </a:p>
          <a:p>
            <a:pPr indent="0" lvl="0" marL="0" rtl="0" algn="l">
              <a:spcBef>
                <a:spcPts val="1200"/>
              </a:spcBef>
              <a:spcAft>
                <a:spcPts val="1200"/>
              </a:spcAft>
              <a:buNone/>
            </a:pPr>
            <a:r>
              <a:rPr lang="en"/>
              <a:t>2) Enhanced Durability: Provides a 99.99999999999999% durability for Azure Storage data objects over a given year.</a:t>
            </a:r>
            <a:endParaRPr/>
          </a:p>
        </p:txBody>
      </p:sp>
      <p:pic>
        <p:nvPicPr>
          <p:cNvPr id="509" name="Google Shape;509;p84"/>
          <p:cNvPicPr preferRelativeResize="0"/>
          <p:nvPr/>
        </p:nvPicPr>
        <p:blipFill>
          <a:blip r:embed="rId3">
            <a:alphaModFix/>
          </a:blip>
          <a:stretch>
            <a:fillRect/>
          </a:stretch>
        </p:blipFill>
        <p:spPr>
          <a:xfrm>
            <a:off x="5827275" y="942250"/>
            <a:ext cx="3238825" cy="16438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Redundancy in a secondary region</a:t>
            </a:r>
            <a:endParaRPr sz="3800"/>
          </a:p>
        </p:txBody>
      </p:sp>
      <p:sp>
        <p:nvSpPr>
          <p:cNvPr id="515" name="Google Shape;515;p8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sz="1800"/>
              <a:t>1) Secondary Region Redundancy: Enhances data durability by copying data to a secondary region, hundreds of miles away from the primary region.</a:t>
            </a:r>
            <a:endParaRPr sz="1800"/>
          </a:p>
          <a:p>
            <a:pPr indent="0" lvl="0" marL="0" rtl="0" algn="l">
              <a:spcBef>
                <a:spcPts val="1200"/>
              </a:spcBef>
              <a:spcAft>
                <a:spcPts val="0"/>
              </a:spcAft>
              <a:buNone/>
            </a:pPr>
            <a:r>
              <a:rPr lang="en" sz="1800"/>
              <a:t>2) Two Options: Geo-redundant storage (GRS) for LRS-like redundancy in both regions, and geo-zone-redundant storage (GZRS) for ZRS-like redundancy in the primary region and LRS in the secondary region.</a:t>
            </a:r>
            <a:endParaRPr sz="1800"/>
          </a:p>
          <a:p>
            <a:pPr indent="0" lvl="0" marL="0" rtl="0" algn="l">
              <a:spcBef>
                <a:spcPts val="1200"/>
              </a:spcBef>
              <a:spcAft>
                <a:spcPts val="0"/>
              </a:spcAft>
              <a:buNone/>
            </a:pPr>
            <a:r>
              <a:rPr lang="en" sz="1800"/>
              <a:t>3) Failover Capability: In case of primary region unavailability, you can choose to fail over to the secondary region, making it the new primary region for read and write access.</a:t>
            </a:r>
            <a:endParaRPr sz="1800"/>
          </a:p>
          <a:p>
            <a:pPr indent="0" lvl="0" marL="0" rtl="0" algn="l">
              <a:spcBef>
                <a:spcPts val="1200"/>
              </a:spcBef>
              <a:spcAft>
                <a:spcPts val="1200"/>
              </a:spcAft>
              <a:buNone/>
            </a:pPr>
            <a:r>
              <a:rPr lang="en" sz="1800"/>
              <a:t>4) Recovery Point Objective (RPO): Represents the possible data loss in case of primary region failure, typically less than 15 minutes for Azure Storage, although there's no SLA for replication time to the secondary region.</a:t>
            </a:r>
            <a:endParaRPr sz="18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Geo-zone-redundant storage</a:t>
            </a:r>
            <a:endParaRPr sz="4000"/>
          </a:p>
        </p:txBody>
      </p:sp>
      <p:sp>
        <p:nvSpPr>
          <p:cNvPr id="521" name="Google Shape;521;p86"/>
          <p:cNvSpPr txBox="1"/>
          <p:nvPr>
            <p:ph idx="1" type="body"/>
          </p:nvPr>
        </p:nvSpPr>
        <p:spPr>
          <a:xfrm>
            <a:off x="311700" y="1152475"/>
            <a:ext cx="525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GZRS Overview: Combines the high availability of ZRS (across three availability zones in primary region) with LRS in the secondary region.</a:t>
            </a:r>
            <a:endParaRPr/>
          </a:p>
          <a:p>
            <a:pPr indent="0" lvl="0" marL="0" rtl="0" algn="l">
              <a:spcBef>
                <a:spcPts val="1200"/>
              </a:spcBef>
              <a:spcAft>
                <a:spcPts val="1200"/>
              </a:spcAft>
              <a:buNone/>
            </a:pPr>
            <a:r>
              <a:rPr lang="en"/>
              <a:t>2) Regional Disaster Protection: Ensures data safety even during regional outages by replicating data to a secondary geographic region.</a:t>
            </a:r>
            <a:endParaRPr/>
          </a:p>
        </p:txBody>
      </p:sp>
      <p:pic>
        <p:nvPicPr>
          <p:cNvPr id="522" name="Google Shape;522;p86"/>
          <p:cNvPicPr preferRelativeResize="0"/>
          <p:nvPr/>
        </p:nvPicPr>
        <p:blipFill>
          <a:blip r:embed="rId3">
            <a:alphaModFix/>
          </a:blip>
          <a:stretch>
            <a:fillRect/>
          </a:stretch>
        </p:blipFill>
        <p:spPr>
          <a:xfrm>
            <a:off x="5530250" y="1471700"/>
            <a:ext cx="3613750" cy="2315051"/>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Geo-zone-redundant storage</a:t>
            </a:r>
            <a:endParaRPr sz="4000"/>
          </a:p>
        </p:txBody>
      </p:sp>
      <p:sp>
        <p:nvSpPr>
          <p:cNvPr id="528" name="Google Shape;528;p87"/>
          <p:cNvSpPr txBox="1"/>
          <p:nvPr>
            <p:ph idx="1" type="body"/>
          </p:nvPr>
        </p:nvSpPr>
        <p:spPr>
          <a:xfrm>
            <a:off x="311700" y="1152475"/>
            <a:ext cx="525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Maximum Consistency and Availability: Ideal for applications requiring excellent performance, resilience, and disaster recovery.</a:t>
            </a:r>
            <a:endParaRPr/>
          </a:p>
          <a:p>
            <a:pPr indent="0" lvl="0" marL="0" rtl="0" algn="l">
              <a:spcBef>
                <a:spcPts val="1200"/>
              </a:spcBef>
              <a:spcAft>
                <a:spcPts val="1200"/>
              </a:spcAft>
              <a:buNone/>
            </a:pPr>
            <a:r>
              <a:rPr lang="en"/>
              <a:t>4) Enhanced Durability: Provides 99.99999999999999% durability of objects over a given year for maximum data safety.</a:t>
            </a:r>
            <a:endParaRPr/>
          </a:p>
        </p:txBody>
      </p:sp>
      <p:pic>
        <p:nvPicPr>
          <p:cNvPr id="529" name="Google Shape;529;p87"/>
          <p:cNvPicPr preferRelativeResize="0"/>
          <p:nvPr/>
        </p:nvPicPr>
        <p:blipFill>
          <a:blip r:embed="rId3">
            <a:alphaModFix/>
          </a:blip>
          <a:stretch>
            <a:fillRect/>
          </a:stretch>
        </p:blipFill>
        <p:spPr>
          <a:xfrm>
            <a:off x="5530250" y="1471700"/>
            <a:ext cx="3613750" cy="231505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88"/>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535" name="Google Shape;535;p88"/>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Blob storage tiers</a:t>
            </a:r>
            <a:endParaRPr sz="4000"/>
          </a:p>
        </p:txBody>
      </p:sp>
      <p:sp>
        <p:nvSpPr>
          <p:cNvPr id="541" name="Google Shape;541;p8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Hot Access Tier: Optimized for frequently accessed data, such as website images.</a:t>
            </a:r>
            <a:endParaRPr/>
          </a:p>
          <a:p>
            <a:pPr indent="0" lvl="0" marL="0" rtl="0" algn="l">
              <a:spcBef>
                <a:spcPts val="1200"/>
              </a:spcBef>
              <a:spcAft>
                <a:spcPts val="0"/>
              </a:spcAft>
              <a:buNone/>
            </a:pPr>
            <a:r>
              <a:rPr lang="en"/>
              <a:t>2) Cool Access Tier: Ideal for infrequently accessed data stored for at least 30 days, like customer invoices.</a:t>
            </a:r>
            <a:endParaRPr/>
          </a:p>
          <a:p>
            <a:pPr indent="0" lvl="0" marL="0" rtl="0" algn="l">
              <a:spcBef>
                <a:spcPts val="1200"/>
              </a:spcBef>
              <a:spcAft>
                <a:spcPts val="0"/>
              </a:spcAft>
              <a:buNone/>
            </a:pPr>
            <a:r>
              <a:rPr lang="en"/>
              <a:t>3) Archive Access Tier: Suitable for rarely accessed data stored for at least 180 days, such as long-term backups.</a:t>
            </a:r>
            <a:endParaRPr/>
          </a:p>
          <a:p>
            <a:pPr indent="0" lvl="0" marL="0" rtl="0" algn="l">
              <a:spcBef>
                <a:spcPts val="1200"/>
              </a:spcBef>
              <a:spcAft>
                <a:spcPts val="1200"/>
              </a:spcAft>
              <a:buNone/>
            </a:pPr>
            <a:r>
              <a:rPr lang="en"/>
              <a:t>4) Access Tier Considerations: Choose the appropriate tier based on data usage patterns, balancing availability, durability, retrieval latency, and storage costs.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Azure Files</a:t>
            </a:r>
            <a:endParaRPr sz="4000"/>
          </a:p>
        </p:txBody>
      </p:sp>
      <p:sp>
        <p:nvSpPr>
          <p:cNvPr id="547" name="Google Shape;547;p9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sz="2100"/>
              <a:t>1) Shared Access: Azure Files supports SMB and NFS protocols, enabling seamless integration with existing on-premises file shares.</a:t>
            </a:r>
            <a:endParaRPr sz="2100"/>
          </a:p>
          <a:p>
            <a:pPr indent="0" lvl="0" marL="0" rtl="0" algn="l">
              <a:spcBef>
                <a:spcPts val="1200"/>
              </a:spcBef>
              <a:spcAft>
                <a:spcPts val="0"/>
              </a:spcAft>
              <a:buNone/>
            </a:pPr>
            <a:r>
              <a:rPr lang="en" sz="2100"/>
              <a:t>2) Fully Managed: No need to manage hardware or OS, allowing for hands-off maintenance and improved security.</a:t>
            </a:r>
            <a:endParaRPr sz="2100"/>
          </a:p>
          <a:p>
            <a:pPr indent="0" lvl="0" marL="0" rtl="0" algn="l">
              <a:spcBef>
                <a:spcPts val="1200"/>
              </a:spcBef>
              <a:spcAft>
                <a:spcPts val="0"/>
              </a:spcAft>
              <a:buNone/>
            </a:pPr>
            <a:r>
              <a:rPr lang="en" sz="2100"/>
              <a:t>3) Scripting &amp; Tooling: Use PowerShell cmdlets, Azure CLI, Azure portal, and Azure Storage Explorer to easily create, mount, and manage Azure file shares.</a:t>
            </a:r>
            <a:endParaRPr sz="2100"/>
          </a:p>
          <a:p>
            <a:pPr indent="0" lvl="0" marL="0" rtl="0" algn="l">
              <a:spcBef>
                <a:spcPts val="1200"/>
              </a:spcBef>
              <a:spcAft>
                <a:spcPts val="1200"/>
              </a:spcAft>
              <a:buNone/>
            </a:pPr>
            <a:r>
              <a:rPr lang="en" sz="2100"/>
              <a:t>4) Resiliency &amp; Familiar Programmability: Built for high availability, with familiar file system I/O APIs, making migration of existing applications straightforward.</a:t>
            </a:r>
            <a:endParaRPr sz="21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Queue Storage</a:t>
            </a:r>
            <a:endParaRPr sz="4000"/>
          </a:p>
        </p:txBody>
      </p:sp>
      <p:sp>
        <p:nvSpPr>
          <p:cNvPr id="553" name="Google Shape;553;p9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Scalable Message Storage: Queue Storage allows storing large numbers of messages with the capacity to handle potentially millions, making it suitable for asynchronous work backlogs.</a:t>
            </a:r>
            <a:endParaRPr/>
          </a:p>
          <a:p>
            <a:pPr indent="0" lvl="0" marL="0" rtl="0" algn="l">
              <a:spcBef>
                <a:spcPts val="1200"/>
              </a:spcBef>
              <a:spcAft>
                <a:spcPts val="1200"/>
              </a:spcAft>
              <a:buNone/>
            </a:pPr>
            <a:r>
              <a:rPr lang="en"/>
              <a:t> </a:t>
            </a:r>
            <a:r>
              <a:rPr b="1" lang="en"/>
              <a:t>Integration with Azure Functions</a:t>
            </a:r>
            <a:r>
              <a:rPr lang="en"/>
              <a:t>: Easily trigger actions when messages are received, streamlining processes such as responding to customer form submissions.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Disk Storage</a:t>
            </a:r>
            <a:endParaRPr sz="4000"/>
          </a:p>
        </p:txBody>
      </p:sp>
      <p:sp>
        <p:nvSpPr>
          <p:cNvPr id="559" name="Google Shape;559;p9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Simplified Management: Azure managed disks provide </a:t>
            </a:r>
            <a:r>
              <a:rPr b="1" lang="en"/>
              <a:t>block-level </a:t>
            </a:r>
            <a:r>
              <a:rPr lang="en"/>
              <a:t>storage volumes with automated management, reducing the effort needed for provisioning and maintenance.</a:t>
            </a:r>
            <a:endParaRPr/>
          </a:p>
          <a:p>
            <a:pPr indent="0" lvl="0" marL="0" rtl="0" algn="l">
              <a:spcBef>
                <a:spcPts val="1200"/>
              </a:spcBef>
              <a:spcAft>
                <a:spcPts val="1200"/>
              </a:spcAft>
              <a:buNone/>
            </a:pPr>
            <a:r>
              <a:rPr lang="en"/>
              <a:t> Enhanced Resiliency &amp; Availability: Virtualization of disk storage ensures greater resiliency and availability compared to physical disks, improving performance and reliability.</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Blob Storage account</a:t>
            </a:r>
            <a:endParaRPr/>
          </a:p>
        </p:txBody>
      </p:sp>
      <p:sp>
        <p:nvSpPr>
          <p:cNvPr id="565" name="Google Shape;565;p9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566" name="Google Shape;566;p93"/>
          <p:cNvPicPr preferRelativeResize="0"/>
          <p:nvPr/>
        </p:nvPicPr>
        <p:blipFill>
          <a:blip r:embed="rId3">
            <a:alphaModFix/>
          </a:blip>
          <a:stretch>
            <a:fillRect/>
          </a:stretch>
        </p:blipFill>
        <p:spPr>
          <a:xfrm>
            <a:off x="0" y="1136833"/>
            <a:ext cx="9144001" cy="286983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Blob Storage account</a:t>
            </a:r>
            <a:endParaRPr/>
          </a:p>
        </p:txBody>
      </p:sp>
      <p:sp>
        <p:nvSpPr>
          <p:cNvPr id="572" name="Google Shape;572;p9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573" name="Google Shape;573;p94"/>
          <p:cNvPicPr preferRelativeResize="0"/>
          <p:nvPr/>
        </p:nvPicPr>
        <p:blipFill>
          <a:blip r:embed="rId3">
            <a:alphaModFix/>
          </a:blip>
          <a:stretch>
            <a:fillRect/>
          </a:stretch>
        </p:blipFill>
        <p:spPr>
          <a:xfrm>
            <a:off x="2595400" y="1073575"/>
            <a:ext cx="5786600" cy="34936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Blob Storage account</a:t>
            </a:r>
            <a:endParaRPr/>
          </a:p>
        </p:txBody>
      </p:sp>
      <p:sp>
        <p:nvSpPr>
          <p:cNvPr id="579" name="Google Shape;579;p9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580" name="Google Shape;580;p95"/>
          <p:cNvPicPr preferRelativeResize="0"/>
          <p:nvPr/>
        </p:nvPicPr>
        <p:blipFill>
          <a:blip r:embed="rId3">
            <a:alphaModFix/>
          </a:blip>
          <a:stretch>
            <a:fillRect/>
          </a:stretch>
        </p:blipFill>
        <p:spPr>
          <a:xfrm>
            <a:off x="2728301" y="1126900"/>
            <a:ext cx="3898376" cy="35594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9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Migration options - Azure data box</a:t>
            </a:r>
            <a:endParaRPr sz="3900"/>
          </a:p>
        </p:txBody>
      </p:sp>
      <p:sp>
        <p:nvSpPr>
          <p:cNvPr id="586" name="Google Shape;586;p9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1) Fast &amp; Reliable Data Transfer: Azure Data Box provides a secure and efficient physical migration service for transferring large volumes of data to or from Azure.</a:t>
            </a:r>
            <a:endParaRPr/>
          </a:p>
          <a:p>
            <a:pPr indent="0" lvl="0" marL="0" rtl="0" algn="l">
              <a:spcBef>
                <a:spcPts val="1200"/>
              </a:spcBef>
              <a:spcAft>
                <a:spcPts val="1200"/>
              </a:spcAft>
              <a:buNone/>
            </a:pPr>
            <a:r>
              <a:rPr lang="en"/>
              <a:t>2) End-to-End Tracking: The Data Box service in the Azure portal allows for easy monitoring of the entire data migration process, from shipping to data uploading.</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t>file movement options - Azure file sync</a:t>
            </a:r>
            <a:endParaRPr sz="3800"/>
          </a:p>
        </p:txBody>
      </p:sp>
      <p:sp>
        <p:nvSpPr>
          <p:cNvPr id="592" name="Google Shape;592;p9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a:t>
            </a:r>
            <a:r>
              <a:rPr lang="en"/>
              <a:t>Centralized File Shares: Azure File Sync allows you to centralize your file shares in Azure Files while maintaining the flexibility and performance of a local Windows file server.</a:t>
            </a:r>
            <a:endParaRPr/>
          </a:p>
          <a:p>
            <a:pPr indent="0" lvl="0" marL="0" rtl="0" algn="l">
              <a:spcBef>
                <a:spcPts val="1200"/>
              </a:spcBef>
              <a:spcAft>
                <a:spcPts val="1200"/>
              </a:spcAft>
              <a:buNone/>
            </a:pPr>
            <a:r>
              <a:rPr lang="en"/>
              <a:t> Global Caching &amp; Cloud Tiering: Supports multiple caches worldwide, seamless data access through various protocols, and optimizes storage by keeping frequently accessed files local and infrequently accessed files in the cloud.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Azure directory services vs AD</a:t>
            </a:r>
            <a:endParaRPr sz="4000"/>
          </a:p>
        </p:txBody>
      </p:sp>
      <p:sp>
        <p:nvSpPr>
          <p:cNvPr id="598" name="Google Shape;598;p9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Similarities with on-prem Active Directory:</a:t>
            </a:r>
            <a:endParaRPr/>
          </a:p>
          <a:p>
            <a:pPr indent="0" lvl="0" marL="0" rtl="0" algn="l">
              <a:spcBef>
                <a:spcPts val="1200"/>
              </a:spcBef>
              <a:spcAft>
                <a:spcPts val="0"/>
              </a:spcAft>
              <a:buNone/>
            </a:pPr>
            <a:r>
              <a:rPr lang="en"/>
              <a:t>    Familiar Structure: Both Azure AD and on-premises Active Directory provide </a:t>
            </a:r>
            <a:r>
              <a:rPr b="1" lang="en"/>
              <a:t>identity and access management services</a:t>
            </a:r>
            <a:r>
              <a:rPr lang="en"/>
              <a:t> with a familiar structure for managing </a:t>
            </a:r>
            <a:r>
              <a:rPr lang="en">
                <a:highlight>
                  <a:srgbClr val="FFFF00"/>
                </a:highlight>
              </a:rPr>
              <a:t>users, groups, and devices</a:t>
            </a:r>
            <a:r>
              <a:rPr lang="en"/>
              <a:t>.</a:t>
            </a:r>
            <a:endParaRPr/>
          </a:p>
          <a:p>
            <a:pPr indent="0" lvl="0" marL="0" rtl="0" algn="l">
              <a:spcBef>
                <a:spcPts val="1200"/>
              </a:spcBef>
              <a:spcAft>
                <a:spcPts val="1200"/>
              </a:spcAft>
              <a:buNone/>
            </a:pPr>
            <a:r>
              <a:rPr lang="en"/>
              <a:t>    Integration: Azure AD can be integrated with on-premises Active Directory deployments, allowing seamless management and synchronization of users and groups.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9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000"/>
              <a:t>Azure directory services vs AD</a:t>
            </a:r>
            <a:endParaRPr sz="4000"/>
          </a:p>
        </p:txBody>
      </p:sp>
      <p:sp>
        <p:nvSpPr>
          <p:cNvPr id="604" name="Google Shape;604;p9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Differences</a:t>
            </a:r>
            <a:r>
              <a:rPr lang="en"/>
              <a:t> with on-prem Active Directory:</a:t>
            </a:r>
            <a:endParaRPr/>
          </a:p>
          <a:p>
            <a:pPr indent="0" lvl="0" marL="0" rtl="0" algn="l">
              <a:spcBef>
                <a:spcPts val="1200"/>
              </a:spcBef>
              <a:spcAft>
                <a:spcPts val="0"/>
              </a:spcAft>
              <a:buNone/>
            </a:pPr>
            <a:r>
              <a:rPr lang="en"/>
              <a:t>    Cloud-based Service: Azure AD is a cloud-based service managed by Microsoft, providing global availability, while on-premises Active Directory is managed by your organization.</a:t>
            </a:r>
            <a:endParaRPr/>
          </a:p>
          <a:p>
            <a:pPr indent="0" lvl="0" marL="0" rtl="0" algn="l">
              <a:spcBef>
                <a:spcPts val="1200"/>
              </a:spcBef>
              <a:spcAft>
                <a:spcPts val="1200"/>
              </a:spcAft>
              <a:buNone/>
            </a:pPr>
            <a:r>
              <a:rPr lang="en"/>
              <a:t>    Enhanced Security: Azure AD offers advanced security features like suspicious sign-in attempt detection and monitoring, which are not available with on-premises Active Directory.</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AD Connect</a:t>
            </a:r>
            <a:endParaRPr/>
          </a:p>
        </p:txBody>
      </p:sp>
      <p:sp>
        <p:nvSpPr>
          <p:cNvPr id="610" name="Google Shape;610;p10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a:t>
            </a:r>
            <a:r>
              <a:rPr lang="en"/>
              <a:t>Seamless Integration: Connect on-premises AD with Azure AD using Azure AD Connect for a consistent identity experience between cloud and on-premises environments.</a:t>
            </a:r>
            <a:endParaRPr/>
          </a:p>
          <a:p>
            <a:pPr indent="0" lvl="0" marL="0" rtl="0" algn="l">
              <a:spcBef>
                <a:spcPts val="1200"/>
              </a:spcBef>
              <a:spcAft>
                <a:spcPts val="1200"/>
              </a:spcAft>
              <a:buNone/>
            </a:pPr>
            <a:r>
              <a:rPr lang="en"/>
              <a:t> Synchronized Features: Azure AD Connect enables </a:t>
            </a:r>
            <a:r>
              <a:rPr b="1" lang="en"/>
              <a:t>synchronization of user identities</a:t>
            </a:r>
            <a:r>
              <a:rPr lang="en"/>
              <a:t>, allowing you to leverage features like SSO, multifactor authentication, and self-service password reset across both systems.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Authentication Methods</a:t>
            </a:r>
            <a:endParaRPr/>
          </a:p>
        </p:txBody>
      </p:sp>
      <p:sp>
        <p:nvSpPr>
          <p:cNvPr id="616" name="Google Shape;616;p10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17" name="Google Shape;617;p101"/>
          <p:cNvPicPr preferRelativeResize="0"/>
          <p:nvPr/>
        </p:nvPicPr>
        <p:blipFill>
          <a:blip r:embed="rId3">
            <a:alphaModFix/>
          </a:blip>
          <a:stretch>
            <a:fillRect/>
          </a:stretch>
        </p:blipFill>
        <p:spPr>
          <a:xfrm>
            <a:off x="1285875" y="961625"/>
            <a:ext cx="7562850" cy="37056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Passwordless Authentication</a:t>
            </a:r>
            <a:endParaRPr/>
          </a:p>
        </p:txBody>
      </p:sp>
      <p:sp>
        <p:nvSpPr>
          <p:cNvPr id="623" name="Google Shape;623;p10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Clr>
                <a:schemeClr val="dk1"/>
              </a:buClr>
              <a:buSzPct val="55000"/>
              <a:buFont typeface="Arial"/>
              <a:buNone/>
            </a:pPr>
            <a:r>
              <a:rPr lang="en" sz="2000"/>
              <a:t> </a:t>
            </a:r>
            <a:r>
              <a:rPr lang="en" sz="2000"/>
              <a:t>Enhanced Security and Convenience: Passwordless authentication replaces passwords with a combination of something you have, something you are, or something you know, making it more secure and user-friendly.</a:t>
            </a:r>
            <a:endParaRPr sz="2000"/>
          </a:p>
          <a:p>
            <a:pPr indent="0" lvl="0" marL="0" rtl="0" algn="l">
              <a:spcBef>
                <a:spcPts val="1200"/>
              </a:spcBef>
              <a:spcAft>
                <a:spcPts val="0"/>
              </a:spcAft>
              <a:buClr>
                <a:schemeClr val="dk1"/>
              </a:buClr>
              <a:buSzPct val="55000"/>
              <a:buFont typeface="Arial"/>
              <a:buNone/>
            </a:pPr>
            <a:r>
              <a:rPr lang="en" sz="2000"/>
              <a:t> Device Setup: Passwordless authentication requires a registered or enrolled device, allowing Azure to associate it with the user for secure access.</a:t>
            </a:r>
            <a:endParaRPr sz="2000"/>
          </a:p>
          <a:p>
            <a:pPr indent="0" lvl="0" marL="0" rtl="0" algn="l">
              <a:spcBef>
                <a:spcPts val="1200"/>
              </a:spcBef>
              <a:spcAft>
                <a:spcPts val="1200"/>
              </a:spcAft>
              <a:buNone/>
            </a:pPr>
            <a:r>
              <a:rPr lang="en" sz="2000"/>
              <a:t> Multiple Options: Azure AD integrates with Windows Hello for Business, Microsoft Authenticator app, and FIDO2 security keys to provide a range of passwordless authentication choices for organizations.</a:t>
            </a:r>
            <a:endParaRPr sz="20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Microsoft Authenticator App</a:t>
            </a:r>
            <a:endParaRPr/>
          </a:p>
        </p:txBody>
      </p:sp>
      <p:sp>
        <p:nvSpPr>
          <p:cNvPr id="629" name="Google Shape;629;p10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Biometric or PIN Verification: To authenticate, users receive a notification on their phone, match the displayed number on their device with the one on the screen, and confirm using biometric (touch or face) or PIN verification.</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0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external identities</a:t>
            </a:r>
            <a:endParaRPr/>
          </a:p>
        </p:txBody>
      </p:sp>
      <p:sp>
        <p:nvSpPr>
          <p:cNvPr id="635" name="Google Shape;635;p10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4705"/>
              <a:buFont typeface="Arial"/>
              <a:buNone/>
            </a:pPr>
            <a:r>
              <a:rPr lang="en" sz="1700"/>
              <a:t>1) External Identities: Azure AD External Identities enables secure interactions with users outside your organization, accommodating collaboration with partners, suppliers, or managing customer identity experiences.</a:t>
            </a:r>
            <a:endParaRPr sz="1700"/>
          </a:p>
          <a:p>
            <a:pPr indent="0" lvl="0" marL="0" rtl="0" algn="l">
              <a:spcBef>
                <a:spcPts val="1200"/>
              </a:spcBef>
              <a:spcAft>
                <a:spcPts val="0"/>
              </a:spcAft>
              <a:buClr>
                <a:schemeClr val="dk1"/>
              </a:buClr>
              <a:buSzPct val="64705"/>
              <a:buFont typeface="Arial"/>
              <a:buNone/>
            </a:pPr>
            <a:r>
              <a:rPr lang="en" sz="1700"/>
              <a:t>2) Bring Your Own Identity: External users can sign in with their existing corporate, government-issued, or social credentials, such as Google or Facebook, maintaining control over their identity while accessing your resources.</a:t>
            </a:r>
            <a:endParaRPr sz="1700"/>
          </a:p>
          <a:p>
            <a:pPr indent="0" lvl="0" marL="0" rtl="0" algn="l">
              <a:spcBef>
                <a:spcPts val="1200"/>
              </a:spcBef>
              <a:spcAft>
                <a:spcPts val="0"/>
              </a:spcAft>
              <a:buClr>
                <a:schemeClr val="dk1"/>
              </a:buClr>
              <a:buSzPct val="64705"/>
              <a:buFont typeface="Arial"/>
              <a:buNone/>
            </a:pPr>
            <a:r>
              <a:rPr lang="en" sz="1700"/>
              <a:t>3) B2B Collaboration: Azure AD allows external users to sign in to Microsoft and enterprise applications with their preferred identity. B2B direct connect establishes a mutual trust for seamless collaboration.</a:t>
            </a:r>
            <a:endParaRPr sz="1700"/>
          </a:p>
          <a:p>
            <a:pPr indent="0" lvl="0" marL="0" rtl="0" algn="l">
              <a:spcBef>
                <a:spcPts val="1200"/>
              </a:spcBef>
              <a:spcAft>
                <a:spcPts val="1200"/>
              </a:spcAft>
              <a:buNone/>
            </a:pPr>
            <a:r>
              <a:rPr lang="en" sz="1700"/>
              <a:t>4) Azure AD B2C: For customer-facing apps, use Azure AD B2C for identity and access management, enabling the publication of modern SaaS or custom-developed apps.</a:t>
            </a:r>
            <a:endParaRPr sz="17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Azure </a:t>
            </a:r>
            <a:r>
              <a:rPr lang="en"/>
              <a:t>Conditional Access</a:t>
            </a:r>
            <a:endParaRPr/>
          </a:p>
        </p:txBody>
      </p:sp>
      <p:sp>
        <p:nvSpPr>
          <p:cNvPr id="641" name="Google Shape;641;p10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800"/>
              <a:t>1) Conditional Access: Azure Active Directory tool that grants or denies access to resources based on identity signals, including user, location, and device.</a:t>
            </a:r>
            <a:endParaRPr sz="1800"/>
          </a:p>
          <a:p>
            <a:pPr indent="0" lvl="0" marL="0" rtl="0" algn="l">
              <a:spcBef>
                <a:spcPts val="1200"/>
              </a:spcBef>
              <a:spcAft>
                <a:spcPts val="0"/>
              </a:spcAft>
              <a:buNone/>
            </a:pPr>
            <a:r>
              <a:rPr lang="en" sz="1800"/>
              <a:t>2) Empowering Users and Protecting Assets: Helps users maintain productivity while safeguarding the organization's resources through flexible access control.</a:t>
            </a:r>
            <a:endParaRPr sz="1800"/>
          </a:p>
          <a:p>
            <a:pPr indent="0" lvl="0" marL="0" rtl="0" algn="l">
              <a:spcBef>
                <a:spcPts val="1200"/>
              </a:spcBef>
              <a:spcAft>
                <a:spcPts val="0"/>
              </a:spcAft>
              <a:buNone/>
            </a:pPr>
            <a:r>
              <a:rPr lang="en" sz="1800"/>
              <a:t>3) Granular MFA Experience: Adjusts multifactor authentication challenges depending on user's location and behavior, enhancing security and user experience.</a:t>
            </a:r>
            <a:endParaRPr sz="1800"/>
          </a:p>
          <a:p>
            <a:pPr indent="0" lvl="0" marL="0" rtl="0" algn="l">
              <a:spcBef>
                <a:spcPts val="1200"/>
              </a:spcBef>
              <a:spcAft>
                <a:spcPts val="1200"/>
              </a:spcAft>
              <a:buNone/>
            </a:pPr>
            <a:r>
              <a:rPr lang="en" sz="1800"/>
              <a:t>4) Signal-based Decisions and Enforcement: Conditional Access collects identity signals, makes decisions, and enforces access policies, such as requiring MFA or blocking access from high-risk locations.</a:t>
            </a:r>
            <a:endParaRPr sz="18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0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 Based Access Control</a:t>
            </a:r>
            <a:endParaRPr/>
          </a:p>
        </p:txBody>
      </p:sp>
      <p:sp>
        <p:nvSpPr>
          <p:cNvPr id="647" name="Google Shape;647;p10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8750"/>
              <a:buFont typeface="Arial"/>
              <a:buNone/>
            </a:pPr>
            <a:r>
              <a:rPr lang="en" sz="1600"/>
              <a:t>1) Azure RBAC: Azure role-based access control (RBAC) helps manage permissions for individuals or groups, adhering to the principle of least privilege.</a:t>
            </a:r>
            <a:endParaRPr sz="1600"/>
          </a:p>
          <a:p>
            <a:pPr indent="0" lvl="0" marL="0" rtl="0" algn="l">
              <a:spcBef>
                <a:spcPts val="1200"/>
              </a:spcBef>
              <a:spcAft>
                <a:spcPts val="0"/>
              </a:spcAft>
              <a:buClr>
                <a:schemeClr val="dk1"/>
              </a:buClr>
              <a:buSzPct val="68750"/>
              <a:buFont typeface="Arial"/>
              <a:buNone/>
            </a:pPr>
            <a:r>
              <a:rPr lang="en" sz="1600"/>
              <a:t>2) Built-in and Custom Roles: Azure offers built-in roles describing common access rules, and you can also define your own roles for more specific access requirements.</a:t>
            </a:r>
            <a:endParaRPr sz="1600"/>
          </a:p>
          <a:p>
            <a:pPr indent="0" lvl="0" marL="0" rtl="0" algn="l">
              <a:spcBef>
                <a:spcPts val="1200"/>
              </a:spcBef>
              <a:spcAft>
                <a:spcPts val="0"/>
              </a:spcAft>
              <a:buClr>
                <a:schemeClr val="dk1"/>
              </a:buClr>
              <a:buSzPct val="68750"/>
              <a:buFont typeface="Arial"/>
              <a:buNone/>
            </a:pPr>
            <a:r>
              <a:rPr lang="en" sz="1600"/>
              <a:t>3) Scopes: RBAC is applied to a scope, which could be a management group, subscription, resource group, or a single resource, determining the access level of assigned individuals/groups.</a:t>
            </a:r>
            <a:endParaRPr sz="1600"/>
          </a:p>
          <a:p>
            <a:pPr indent="0" lvl="0" marL="0" rtl="0" algn="l">
              <a:spcBef>
                <a:spcPts val="1200"/>
              </a:spcBef>
              <a:spcAft>
                <a:spcPts val="0"/>
              </a:spcAft>
              <a:buClr>
                <a:schemeClr val="dk1"/>
              </a:buClr>
              <a:buSzPct val="68750"/>
              <a:buFont typeface="Arial"/>
              <a:buNone/>
            </a:pPr>
            <a:r>
              <a:rPr lang="en" sz="1600"/>
              <a:t>4) Hierarchical Permissions: RBAC uses a hierarchical model, allowing permissions granted at a parent scope to be inherited by all child scopes.</a:t>
            </a:r>
            <a:endParaRPr sz="1600"/>
          </a:p>
          <a:p>
            <a:pPr indent="0" lvl="0" marL="0" rtl="0" algn="l">
              <a:spcBef>
                <a:spcPts val="1200"/>
              </a:spcBef>
              <a:spcAft>
                <a:spcPts val="1200"/>
              </a:spcAft>
              <a:buNone/>
            </a:pPr>
            <a:r>
              <a:rPr lang="en" sz="1600"/>
              <a:t>5) </a:t>
            </a:r>
            <a:r>
              <a:rPr lang="en" sz="1600"/>
              <a:t>Azure RBAC Enforcement: Access permissions are enforced through Azure Resource Manager, which manages cloud resources and handles resource-level access but not application or data-level security.</a:t>
            </a:r>
            <a:endParaRPr sz="1600"/>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Zero Trust Model</a:t>
            </a:r>
            <a:endParaRPr/>
          </a:p>
        </p:txBody>
      </p:sp>
      <p:sp>
        <p:nvSpPr>
          <p:cNvPr id="653" name="Google Shape;653;p10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sz="1400"/>
              <a:t>1) Assume Breach: The Zero Trust model operates under the assumption that a breach has occurred and verifies each request as though it originated from an uncontrolled network.</a:t>
            </a:r>
            <a:endParaRPr sz="1400"/>
          </a:p>
          <a:p>
            <a:pPr indent="0" lvl="0" marL="0" rtl="0" algn="l">
              <a:spcBef>
                <a:spcPts val="1200"/>
              </a:spcBef>
              <a:spcAft>
                <a:spcPts val="0"/>
              </a:spcAft>
              <a:buClr>
                <a:schemeClr val="dk1"/>
              </a:buClr>
              <a:buSzPts val="1100"/>
              <a:buFont typeface="Arial"/>
              <a:buNone/>
            </a:pPr>
            <a:r>
              <a:rPr lang="en" sz="1400"/>
              <a:t>2) Guiding Principles: Verify explicitly, use least privilege access, and assume breach. This involves authenticating and authorizing based on all data points, limiting user access, and minimizing the blast radius.</a:t>
            </a:r>
            <a:endParaRPr sz="1400"/>
          </a:p>
          <a:p>
            <a:pPr indent="0" lvl="0" marL="0" rtl="0" algn="l">
              <a:spcBef>
                <a:spcPts val="1200"/>
              </a:spcBef>
              <a:spcAft>
                <a:spcPts val="0"/>
              </a:spcAft>
              <a:buClr>
                <a:schemeClr val="dk1"/>
              </a:buClr>
              <a:buSzPts val="1100"/>
              <a:buFont typeface="Arial"/>
              <a:buNone/>
            </a:pPr>
            <a:r>
              <a:rPr lang="en" sz="1400"/>
              <a:t>3) Adaptation to Modern Environment: The Zero Trust model adapts to modern computing environments, securing mobile workforces, devices, applications, and data regardless of their location.</a:t>
            </a:r>
            <a:endParaRPr sz="1400"/>
          </a:p>
          <a:p>
            <a:pPr indent="0" lvl="0" marL="0" rtl="0" algn="l">
              <a:spcBef>
                <a:spcPts val="1200"/>
              </a:spcBef>
              <a:spcAft>
                <a:spcPts val="0"/>
              </a:spcAft>
              <a:buClr>
                <a:schemeClr val="dk1"/>
              </a:buClr>
              <a:buSzPts val="1100"/>
              <a:buFont typeface="Arial"/>
              <a:buNone/>
            </a:pPr>
            <a:r>
              <a:rPr lang="en" sz="1400"/>
              <a:t>4) Zero Trust vs. Traditional Security: Unlike traditional security models that rely on location and trust within the corporate network, Zero Trust requires authentication and grants access based on that authentication rather than location.</a:t>
            </a:r>
            <a:endParaRPr sz="1400"/>
          </a:p>
          <a:p>
            <a:pPr indent="0" lvl="0" marL="0" rtl="0" algn="l">
              <a:spcBef>
                <a:spcPts val="1200"/>
              </a:spcBef>
              <a:spcAft>
                <a:spcPts val="1200"/>
              </a:spcAft>
              <a:buNone/>
            </a:pPr>
            <a:r>
              <a:rPr lang="en" sz="1400"/>
              <a:t>5) Embracing Change: The Zero Trust model promotes increased security through continuous authentication, adapting to complex environments and better protecting resources across an organization.</a:t>
            </a:r>
            <a:endParaRPr sz="14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8"/>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750"/>
              </a:spcBef>
              <a:spcAft>
                <a:spcPts val="0"/>
              </a:spcAft>
              <a:buClr>
                <a:schemeClr val="dk1"/>
              </a:buClr>
              <a:buSzPts val="1100"/>
              <a:buFont typeface="Arial"/>
              <a:buNone/>
            </a:pPr>
            <a:r>
              <a:rPr lang="en" sz="3200">
                <a:solidFill>
                  <a:schemeClr val="dk1"/>
                </a:solidFill>
              </a:rPr>
              <a:t>Defense-in-depth</a:t>
            </a:r>
            <a:endParaRPr/>
          </a:p>
        </p:txBody>
      </p:sp>
      <p:sp>
        <p:nvSpPr>
          <p:cNvPr id="659" name="Google Shape;659;p10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Defense-in-depth is a security strategy that employs a series of mechanisms to protect information and prevent unauthorized access to data. The concept is based on multiple layers of protection, ensuring that even if one layer is breached, the subsequent layers continue to protect the data. This approach removes reliance on any single layer of protection, slowing down attacks and providing valuable alert information for security teams to act upon.</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0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750"/>
              </a:spcBef>
              <a:spcAft>
                <a:spcPts val="0"/>
              </a:spcAft>
              <a:buNone/>
            </a:pPr>
            <a:r>
              <a:rPr lang="en" sz="3200">
                <a:solidFill>
                  <a:schemeClr val="dk1"/>
                </a:solidFill>
              </a:rPr>
              <a:t>The layers of defense-in-depth include</a:t>
            </a:r>
            <a:endParaRPr sz="3200">
              <a:solidFill>
                <a:schemeClr val="dk1"/>
              </a:solidFill>
            </a:endParaRPr>
          </a:p>
        </p:txBody>
      </p:sp>
      <p:sp>
        <p:nvSpPr>
          <p:cNvPr id="665" name="Google Shape;665;p10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1300"/>
              <a:t>    Physical security: Protects access to buildings and computing hardware in the datacenter.</a:t>
            </a:r>
            <a:endParaRPr sz="1300"/>
          </a:p>
          <a:p>
            <a:pPr indent="0" lvl="0" marL="0" rtl="0" algn="l">
              <a:spcBef>
                <a:spcPts val="1200"/>
              </a:spcBef>
              <a:spcAft>
                <a:spcPts val="0"/>
              </a:spcAft>
              <a:buClr>
                <a:schemeClr val="dk1"/>
              </a:buClr>
              <a:buSzPts val="1100"/>
              <a:buFont typeface="Arial"/>
              <a:buNone/>
            </a:pPr>
            <a:r>
              <a:rPr lang="en" sz="1300"/>
              <a:t>    Identity and access: Secures identities, grants access only when needed, and logs sign-in events and changes.</a:t>
            </a:r>
            <a:endParaRPr sz="1300"/>
          </a:p>
          <a:p>
            <a:pPr indent="0" lvl="0" marL="0" rtl="0" algn="l">
              <a:spcBef>
                <a:spcPts val="1200"/>
              </a:spcBef>
              <a:spcAft>
                <a:spcPts val="0"/>
              </a:spcAft>
              <a:buClr>
                <a:schemeClr val="dk1"/>
              </a:buClr>
              <a:buSzPts val="1100"/>
              <a:buFont typeface="Arial"/>
              <a:buNone/>
            </a:pPr>
            <a:r>
              <a:rPr lang="en" sz="1300"/>
              <a:t>    Perimeter: Protects from network-based attacks using tools like DDoS protection and perimeter firewalls.</a:t>
            </a:r>
            <a:endParaRPr sz="1300"/>
          </a:p>
          <a:p>
            <a:pPr indent="0" lvl="0" marL="0" rtl="0" algn="l">
              <a:spcBef>
                <a:spcPts val="1200"/>
              </a:spcBef>
              <a:spcAft>
                <a:spcPts val="0"/>
              </a:spcAft>
              <a:buClr>
                <a:schemeClr val="dk1"/>
              </a:buClr>
              <a:buSzPts val="1100"/>
              <a:buFont typeface="Arial"/>
              <a:buNone/>
            </a:pPr>
            <a:r>
              <a:rPr lang="en" sz="1300"/>
              <a:t>    Network: Limits network connectivity across resources to allow only what's required, minimizing the risk of an attack spreading to other systems.</a:t>
            </a:r>
            <a:endParaRPr sz="1300"/>
          </a:p>
          <a:p>
            <a:pPr indent="0" lvl="0" marL="0" rtl="0" algn="l">
              <a:spcBef>
                <a:spcPts val="1200"/>
              </a:spcBef>
              <a:spcAft>
                <a:spcPts val="0"/>
              </a:spcAft>
              <a:buClr>
                <a:schemeClr val="dk1"/>
              </a:buClr>
              <a:buSzPts val="1100"/>
              <a:buFont typeface="Arial"/>
              <a:buNone/>
            </a:pPr>
            <a:r>
              <a:rPr lang="en" sz="1300"/>
              <a:t>    Compute: Ensures compute resources are secure, with proper controls in place to minimize security issues.</a:t>
            </a:r>
            <a:endParaRPr sz="1300"/>
          </a:p>
          <a:p>
            <a:pPr indent="0" lvl="0" marL="0" rtl="0" algn="l">
              <a:spcBef>
                <a:spcPts val="1200"/>
              </a:spcBef>
              <a:spcAft>
                <a:spcPts val="0"/>
              </a:spcAft>
              <a:buClr>
                <a:schemeClr val="dk1"/>
              </a:buClr>
              <a:buSzPts val="1100"/>
              <a:buFont typeface="Arial"/>
              <a:buNone/>
            </a:pPr>
            <a:r>
              <a:rPr lang="en" sz="1300"/>
              <a:t>    Application: Integrates security into the application development lifecycle to reduce vulnerabilities in code.</a:t>
            </a:r>
            <a:endParaRPr sz="1300"/>
          </a:p>
          <a:p>
            <a:pPr indent="0" lvl="0" marL="0" rtl="0" algn="l">
              <a:spcBef>
                <a:spcPts val="1200"/>
              </a:spcBef>
              <a:spcAft>
                <a:spcPts val="0"/>
              </a:spcAft>
              <a:buClr>
                <a:schemeClr val="dk1"/>
              </a:buClr>
              <a:buSzPts val="1100"/>
              <a:buFont typeface="Arial"/>
              <a:buNone/>
            </a:pPr>
            <a:r>
              <a:rPr lang="en" sz="1300"/>
              <a:t>    Data: Controls access to data and ensures its confidentiality, integrity, and availability.</a:t>
            </a:r>
            <a:endParaRPr sz="1300"/>
          </a:p>
          <a:p>
            <a:pPr indent="0" lvl="0" marL="0" rtl="0" algn="l">
              <a:spcBef>
                <a:spcPts val="1200"/>
              </a:spcBef>
              <a:spcAft>
                <a:spcPts val="1200"/>
              </a:spcAft>
              <a:buNone/>
            </a:pPr>
            <a:r>
              <a:rPr lang="en" sz="1300"/>
              <a:t>Azure provides security tools and features at every level of the defense-in-depth concept, helping organizations create a robust and secure infrastructure.</a:t>
            </a:r>
            <a:endParaRPr sz="13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1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Windows Defender</a:t>
            </a:r>
            <a:endParaRPr/>
          </a:p>
        </p:txBody>
      </p:sp>
      <p:sp>
        <p:nvSpPr>
          <p:cNvPr id="671" name="Google Shape;671;p11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55000"/>
              <a:buFont typeface="Arial"/>
              <a:buNone/>
            </a:pPr>
            <a:r>
              <a:rPr lang="en" sz="2000"/>
              <a:t>The tool focuses on three main functions to help manage the security of your resources and workloads:</a:t>
            </a:r>
            <a:endParaRPr sz="2000"/>
          </a:p>
          <a:p>
            <a:pPr indent="0" lvl="0" marL="0" rtl="0" algn="l">
              <a:spcBef>
                <a:spcPts val="1200"/>
              </a:spcBef>
              <a:spcAft>
                <a:spcPts val="0"/>
              </a:spcAft>
              <a:buClr>
                <a:schemeClr val="dk1"/>
              </a:buClr>
              <a:buSzPct val="55000"/>
              <a:buFont typeface="Arial"/>
              <a:buNone/>
            </a:pPr>
            <a:r>
              <a:rPr lang="en" sz="2000"/>
              <a:t>    Continuously assess: Identify and track vulnerabilities through regular, detailed vulnerability scans covering your compute, data, and infrastructure.</a:t>
            </a:r>
            <a:endParaRPr sz="2000"/>
          </a:p>
          <a:p>
            <a:pPr indent="0" lvl="0" marL="0" rtl="0" algn="l">
              <a:spcBef>
                <a:spcPts val="1200"/>
              </a:spcBef>
              <a:spcAft>
                <a:spcPts val="0"/>
              </a:spcAft>
              <a:buClr>
                <a:schemeClr val="dk1"/>
              </a:buClr>
              <a:buSzPct val="55000"/>
              <a:buFont typeface="Arial"/>
              <a:buNone/>
            </a:pPr>
            <a:r>
              <a:rPr lang="en" sz="2000"/>
              <a:t>    Secure: Harden resources and services using Azure Security Benchmark and monitor new resources to ensure they are configured according to security best practices.</a:t>
            </a:r>
            <a:endParaRPr sz="2000"/>
          </a:p>
          <a:p>
            <a:pPr indent="0" lvl="0" marL="0" rtl="0" algn="l">
              <a:spcBef>
                <a:spcPts val="1200"/>
              </a:spcBef>
              <a:spcAft>
                <a:spcPts val="1200"/>
              </a:spcAft>
              <a:buNone/>
            </a:pPr>
            <a:r>
              <a:rPr lang="en" sz="2000"/>
              <a:t>    Defend: Detect and resolve threats to resources, workloads, and services through security alerts and advanced threat protection features.</a:t>
            </a:r>
            <a:endParaRPr sz="20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1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a:t>
            </a:r>
            <a:endParaRPr/>
          </a:p>
        </p:txBody>
      </p:sp>
      <p:sp>
        <p:nvSpPr>
          <p:cNvPr id="677" name="Google Shape;677;p11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https://learn.microsoft.com/en-us/training/paths/azure-fundamentals-describe-azure-architecture-services/</a:t>
            </a:r>
            <a:endParaRPr/>
          </a:p>
          <a:p>
            <a:pPr indent="0" lvl="0" marL="0" rtl="0" algn="l">
              <a:spcBef>
                <a:spcPts val="1200"/>
              </a:spcBef>
              <a:spcAft>
                <a:spcPts val="0"/>
              </a:spcAft>
              <a:buNone/>
            </a:pPr>
            <a:r>
              <a:rPr lang="en"/>
              <a:t>Link on the course site</a:t>
            </a:r>
            <a:endParaRPr/>
          </a:p>
          <a:p>
            <a:pPr indent="0" lvl="0" marL="0" rtl="0" algn="l">
              <a:lnSpc>
                <a:spcPct val="115000"/>
              </a:lnSpc>
              <a:spcBef>
                <a:spcPts val="2400"/>
              </a:spcBef>
              <a:spcAft>
                <a:spcPts val="0"/>
              </a:spcAft>
              <a:buClr>
                <a:schemeClr val="dk1"/>
              </a:buClr>
              <a:buSzPts val="1100"/>
              <a:buFont typeface="Arial"/>
              <a:buNone/>
            </a:pPr>
            <a:r>
              <a:rPr b="1" lang="en" sz="2300"/>
              <a:t>Microsoft Azure Fundamentals: Describe Azure architecture and services</a:t>
            </a:r>
            <a:endParaRPr b="1" sz="2300"/>
          </a:p>
          <a:p>
            <a:pPr indent="0" lvl="0" marL="0" rtl="0" algn="l">
              <a:spcBef>
                <a:spcPts val="600"/>
              </a:spcBef>
              <a:spcAft>
                <a:spcPts val="1200"/>
              </a:spcAft>
              <a:buNone/>
            </a:pPr>
            <a:r>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Slide 2</a:t>
            </a:r>
            <a:endParaRPr/>
          </a:p>
        </p:txBody>
      </p:sp>
      <p:sp>
        <p:nvSpPr>
          <p:cNvPr id="683" name="Google Shape;683;p11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684" name="Google Shape;684;p112"/>
          <p:cNvPicPr preferRelativeResize="0"/>
          <p:nvPr/>
        </p:nvPicPr>
        <p:blipFill>
          <a:blip r:embed="rId3">
            <a:alphaModFix/>
          </a:blip>
          <a:stretch>
            <a:fillRect/>
          </a:stretch>
        </p:blipFill>
        <p:spPr>
          <a:xfrm>
            <a:off x="2281549" y="636200"/>
            <a:ext cx="5836925" cy="389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