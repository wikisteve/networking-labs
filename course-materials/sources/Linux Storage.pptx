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y="5143500" cx="9144000"/>
  <p:notesSz cx="6858000" cy="9144000"/>
  <p:embeddedFontLst>
    <p:embeddedFont>
      <p:font typeface="Amatic SC"/>
      <p:regular r:id="rId57"/>
      <p:bold r:id="rId58"/>
    </p:embeddedFont>
    <p:embeddedFont>
      <p:font typeface="Source Code Pro"/>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SourceCodePro-boldItalic.fntdata"/><Relationship Id="rId61" Type="http://schemas.openxmlformats.org/officeDocument/2006/relationships/font" Target="fonts/SourceCodePro-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SourceCodePro-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AmaticSC-regular.fntdata"/><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SourceCodePro-regular.fntdata"/><Relationship Id="rId14" Type="http://schemas.openxmlformats.org/officeDocument/2006/relationships/slide" Target="slides/slide9.xml"/><Relationship Id="rId58" Type="http://schemas.openxmlformats.org/officeDocument/2006/relationships/font" Target="fonts/AmaticSC-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f4770b8fb8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f4770b8fb8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f4770b8fb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f4770b8f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f4770b8fb8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f4770b8fb8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f4770b8fb8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f4770b8fb8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f4770b8fb8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f4770b8fb8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f4770b8fb8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f4770b8fb8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f4770b8fb8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f4770b8fb8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f4770b8fb8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f4770b8fb8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f4770b8fb8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f4770b8fb8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f4770b8fb8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f4770b8fb8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f4770b8fb8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f4770b8fb8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f4770b8fb8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f4770b8fb8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f4770b8fb8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f4770b8fb8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f4770b8fb8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f4770b8fb8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f4770b8fb8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f4770b8fb8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f4770b8fb8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f4770b8fb8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f4770b8fb8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f4770b8fb8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f4770b8fb8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f4770b8fb8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f4770b8fb8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f4770b8fb8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f4770b8fb8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f4770b8fb8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f4770b8fb8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f4770b8fb8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f4770b8fb8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f4770b8fb8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f4770b8fb8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f4770b8fb8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f4770b8fb8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f4770b8fb8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f4770b8fb8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f4770b8fb8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f4770b8fb8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f4770b8fb8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f4770b8fb8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f4770b8fb8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f4770b8fb8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f4770b8fb8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f4770b8fb8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f4770b8fb8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f4770b8fb8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f4770b8fb8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f4770b8fb8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f4770b8fb8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f4770b8fb8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f4770b8fb8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f4770b8fb8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f4770b8fb8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f4770b8fb8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f4770b8fb8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f4770b8fb8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f4770b8fb8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f4770b8fb8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f4770b8fb8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f4770b8fb8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f4770b8fb8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f4770b8fb8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f4770b8fb8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f4770b8fb8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f4770b8fb8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f4770b8fb8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f4770b8fb8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f4770b8fb8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f4770b8fb8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f4770b8fb8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f4770b8fb8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f4770b8fb8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f4770b8fb8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f4770b8fb8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f4770b8fb8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f4770b8fb8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f4770b8fb8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f4770b8fb8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f4770b8fb8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f4770b8fb8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f4770b8fb8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f4770b8fb8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f4770b8fb8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f4770b8fb8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f4770b8fb8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f4770b8fb8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f4770b8fb8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redhat.com/en/topics/data-storage/file-block-object-storag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en.wikipedia.org/wiki/Ext4"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en.wikipedia.org/wiki/Inode" TargetMode="Externa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en.wikipedia.org/wiki/Fragmentation_(computing)#Data_fragmentatio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en.wikipedia.org/wiki/Loop_device" TargetMode="Externa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en.wikipedia.org/wiki/Bare_machin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linuxconfig.org/improve-hard-drive-write-speed-with-write-back-cachin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en.wikipedia.org/wiki/Device_mapper" TargetMode="External"/><Relationship Id="rId4" Type="http://schemas.openxmlformats.org/officeDocument/2006/relationships/hyperlink" Target="https://en.wikipedia.org/wiki/Device_mapper#Feature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en.wikipedia.org/wiki/Dm-crypt" TargetMode="External"/><Relationship Id="rId4" Type="http://schemas.openxmlformats.org/officeDocument/2006/relationships/hyperlink" Target="https://en.wikipedia.org/wiki/Logical_Volume_Manager_(Linux)"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wiki.archlinux.org/title/Solid_state_drive/NVMe" TargetMode="Externa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tldp.org/LDP/sag/html/partitions.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access.redhat.com/documentation/en-us/red_hat_enterprise_linux/6/html/logical_volume_manager_administration/raid_volume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www.redhat.com/en/blog/improving-read-performance-dm-cache"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en.wikipedia.org/wiki/Dm-cache"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wiki.archlinux.org/title/file_system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en.wikipedia.org/wiki/File:Lvm.svg" TargetMode="External"/><Relationship Id="rId4"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en.wikipedia.org/wiki/Copy-on-write"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hyperlink" Target="https://www.ibm.com/cloud/learn/object-storage#toc-open-sourc-KdQQC_0d"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hyperlink" Target="https://en.wikipedia.org/wiki/Tape_drive" TargetMode="External"/><Relationship Id="rId4" Type="http://schemas.openxmlformats.org/officeDocument/2006/relationships/hyperlink" Target="https://en.wikipedia.org/wiki/Linear_Tape-Open"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s://serverfault.com/questions/279571/lvm-dangers-and-caveats/279577#279577"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Storage</a:t>
            </a:r>
            <a:endParaRPr/>
          </a:p>
        </p:txBody>
      </p:sp>
      <p:sp>
        <p:nvSpPr>
          <p:cNvPr id="57" name="Google Shape;57;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 Sharpe Curriculum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Storage is a big topic</a:t>
            </a:r>
            <a:endParaRPr/>
          </a:p>
        </p:txBody>
      </p:sp>
      <p:sp>
        <p:nvSpPr>
          <p:cNvPr id="63" name="Google Shape;63;p1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We’ll brush on some important and very introductory parts but it’s so important and broad there are whole job titles dedicated to just storage.  You’re single job title could be storage specialist.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Storage types</a:t>
            </a:r>
            <a:endParaRPr/>
          </a:p>
        </p:txBody>
      </p:sp>
      <p:sp>
        <p:nvSpPr>
          <p:cNvPr id="69" name="Google Shape;69;p1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will be talking about the following</a:t>
            </a:r>
            <a:endParaRPr/>
          </a:p>
          <a:p>
            <a:pPr indent="0" lvl="0" marL="0" rtl="0" algn="l">
              <a:spcBef>
                <a:spcPts val="1200"/>
              </a:spcBef>
              <a:spcAft>
                <a:spcPts val="0"/>
              </a:spcAft>
              <a:buNone/>
            </a:pPr>
            <a:r>
              <a:rPr lang="en"/>
              <a:t>File</a:t>
            </a:r>
            <a:endParaRPr/>
          </a:p>
          <a:p>
            <a:pPr indent="0" lvl="0" marL="0" rtl="0" algn="l">
              <a:spcBef>
                <a:spcPts val="1200"/>
              </a:spcBef>
              <a:spcAft>
                <a:spcPts val="0"/>
              </a:spcAft>
              <a:buNone/>
            </a:pPr>
            <a:r>
              <a:rPr lang="en"/>
              <a:t>Block</a:t>
            </a:r>
            <a:endParaRPr/>
          </a:p>
          <a:p>
            <a:pPr indent="0" lvl="0" marL="0" rtl="0" algn="l">
              <a:spcBef>
                <a:spcPts val="1200"/>
              </a:spcBef>
              <a:spcAft>
                <a:spcPts val="0"/>
              </a:spcAft>
              <a:buNone/>
            </a:pPr>
            <a:r>
              <a:rPr lang="en"/>
              <a:t>Object</a:t>
            </a:r>
            <a:endParaRPr/>
          </a:p>
          <a:p>
            <a:pPr indent="0" lvl="0" marL="0" rtl="0" algn="l">
              <a:spcBef>
                <a:spcPts val="1200"/>
              </a:spcBef>
              <a:spcAft>
                <a:spcPts val="1200"/>
              </a:spcAft>
              <a:buNone/>
            </a:pPr>
            <a:r>
              <a:rPr lang="en"/>
              <a:t>Make sure to </a:t>
            </a:r>
            <a:r>
              <a:rPr lang="en" u="sng">
                <a:solidFill>
                  <a:schemeClr val="hlink"/>
                </a:solidFill>
                <a:hlinkClick r:id="rId3"/>
              </a:rPr>
              <a:t>read this link</a:t>
            </a:r>
            <a:r>
              <a:rPr lang="en"/>
              <a:t> on these three types.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File</a:t>
            </a:r>
            <a:endParaRPr/>
          </a:p>
        </p:txBody>
      </p:sp>
      <p:sp>
        <p:nvSpPr>
          <p:cNvPr id="75" name="Google Shape;75;p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organized structure you’re used to</a:t>
            </a:r>
            <a:endParaRPr/>
          </a:p>
          <a:p>
            <a:pPr indent="-342900" lvl="0" marL="457200" rtl="0" algn="l">
              <a:spcBef>
                <a:spcPts val="0"/>
              </a:spcBef>
              <a:spcAft>
                <a:spcPts val="0"/>
              </a:spcAft>
              <a:buSzPts val="1800"/>
              <a:buChar char="●"/>
            </a:pPr>
            <a:r>
              <a:rPr lang="en"/>
              <a:t>Has directories, files which we can access and human readable names</a:t>
            </a:r>
            <a:endParaRPr/>
          </a:p>
          <a:p>
            <a:pPr indent="-342900" lvl="0" marL="457200" rtl="0" algn="l">
              <a:spcBef>
                <a:spcPts val="0"/>
              </a:spcBef>
              <a:spcAft>
                <a:spcPts val="0"/>
              </a:spcAft>
              <a:buSzPts val="1800"/>
              <a:buChar char="●"/>
            </a:pPr>
            <a:r>
              <a:rPr b="1" lang="en"/>
              <a:t>Key</a:t>
            </a:r>
            <a:r>
              <a:rPr lang="en"/>
              <a:t>: If we use a service/protocol we can have multi-access to allow more than one access to the filesystem. Example: Samba or NFS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Block</a:t>
            </a:r>
            <a:endParaRPr/>
          </a:p>
        </p:txBody>
      </p:sp>
      <p:sp>
        <p:nvSpPr>
          <p:cNvPr id="81" name="Google Shape;81;p1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-Filesystems determine a block size</a:t>
            </a:r>
            <a:endParaRPr/>
          </a:p>
          <a:p>
            <a:pPr indent="0" lvl="0" marL="0" rtl="0" algn="l">
              <a:spcBef>
                <a:spcPts val="1200"/>
              </a:spcBef>
              <a:spcAft>
                <a:spcPts val="0"/>
              </a:spcAft>
              <a:buNone/>
            </a:pPr>
            <a:r>
              <a:rPr lang="en"/>
              <a:t>-</a:t>
            </a:r>
            <a:r>
              <a:rPr lang="en" u="sng">
                <a:solidFill>
                  <a:schemeClr val="hlink"/>
                </a:solidFill>
                <a:hlinkClick r:id="rId3"/>
              </a:rPr>
              <a:t>Ext4</a:t>
            </a:r>
            <a:r>
              <a:rPr lang="en"/>
              <a:t> is </a:t>
            </a:r>
            <a:r>
              <a:rPr b="1" lang="en"/>
              <a:t>4KB block sizes</a:t>
            </a:r>
            <a:r>
              <a:rPr lang="en"/>
              <a:t> which supports 1 exabyte volumes and 16TB file sizes</a:t>
            </a:r>
            <a:endParaRPr/>
          </a:p>
          <a:p>
            <a:pPr indent="0" lvl="0" marL="0" rtl="0" algn="l">
              <a:spcBef>
                <a:spcPts val="1200"/>
              </a:spcBef>
              <a:spcAft>
                <a:spcPts val="1200"/>
              </a:spcAft>
              <a:buNone/>
            </a:pPr>
            <a:r>
              <a:rPr lang="en"/>
              <a:t>Files larger than 4KB must get stored in multiple inodes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Block</a:t>
            </a:r>
            <a:endParaRPr/>
          </a:p>
        </p:txBody>
      </p:sp>
      <p:sp>
        <p:nvSpPr>
          <p:cNvPr id="87" name="Google Shape;87;p1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Highlighted portion are the </a:t>
            </a:r>
            <a:r>
              <a:rPr lang="en" u="sng">
                <a:solidFill>
                  <a:schemeClr val="hlink"/>
                </a:solidFill>
                <a:hlinkClick r:id="rId3"/>
              </a:rPr>
              <a:t>inodes</a:t>
            </a:r>
            <a:r>
              <a:rPr lang="en"/>
              <a:t>, which is an index node</a:t>
            </a:r>
            <a:endParaRPr/>
          </a:p>
        </p:txBody>
      </p:sp>
      <p:pic>
        <p:nvPicPr>
          <p:cNvPr id="88" name="Google Shape;88;p18"/>
          <p:cNvPicPr preferRelativeResize="0"/>
          <p:nvPr/>
        </p:nvPicPr>
        <p:blipFill>
          <a:blip r:embed="rId4">
            <a:alphaModFix/>
          </a:blip>
          <a:stretch>
            <a:fillRect/>
          </a:stretch>
        </p:blipFill>
        <p:spPr>
          <a:xfrm>
            <a:off x="2709513" y="1902963"/>
            <a:ext cx="4810125" cy="2390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Block</a:t>
            </a:r>
            <a:endParaRPr/>
          </a:p>
        </p:txBody>
      </p:sp>
      <p:sp>
        <p:nvSpPr>
          <p:cNvPr id="94" name="Google Shape;94;p1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To see the inodes add the switch -i to ls. </a:t>
            </a:r>
            <a:endParaRPr/>
          </a:p>
          <a:p>
            <a:pPr indent="0" lvl="0" marL="0" rtl="0" algn="l">
              <a:spcBef>
                <a:spcPts val="1200"/>
              </a:spcBef>
              <a:spcAft>
                <a:spcPts val="0"/>
              </a:spcAft>
              <a:buNone/>
            </a:pPr>
            <a:r>
              <a:rPr lang="en"/>
              <a:t>In the example I used ls -ail</a:t>
            </a:r>
            <a:endParaRPr/>
          </a:p>
          <a:p>
            <a:pPr indent="0" lvl="0" marL="0" rtl="0" algn="l">
              <a:spcBef>
                <a:spcPts val="1200"/>
              </a:spcBef>
              <a:spcAft>
                <a:spcPts val="0"/>
              </a:spcAft>
              <a:buNone/>
            </a:pPr>
            <a:r>
              <a:rPr lang="en"/>
              <a:t>-a all files (include hidden)</a:t>
            </a:r>
            <a:endParaRPr/>
          </a:p>
          <a:p>
            <a:pPr indent="0" lvl="0" marL="0" rtl="0" algn="l">
              <a:spcBef>
                <a:spcPts val="1200"/>
              </a:spcBef>
              <a:spcAft>
                <a:spcPts val="0"/>
              </a:spcAft>
              <a:buNone/>
            </a:pPr>
            <a:r>
              <a:rPr lang="en"/>
              <a:t>-i inodes</a:t>
            </a:r>
            <a:endParaRPr/>
          </a:p>
          <a:p>
            <a:pPr indent="0" lvl="0" marL="0" rtl="0" algn="l">
              <a:spcBef>
                <a:spcPts val="1200"/>
              </a:spcBef>
              <a:spcAft>
                <a:spcPts val="1200"/>
              </a:spcAft>
              <a:buNone/>
            </a:pPr>
            <a:r>
              <a:rPr lang="en"/>
              <a:t>-l list format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Block</a:t>
            </a:r>
            <a:endParaRPr/>
          </a:p>
        </p:txBody>
      </p:sp>
      <p:sp>
        <p:nvSpPr>
          <p:cNvPr id="100" name="Google Shape;100;p2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-If a file is </a:t>
            </a:r>
            <a:r>
              <a:rPr b="1" lang="en"/>
              <a:t>4KB or less</a:t>
            </a:r>
            <a:r>
              <a:rPr lang="en"/>
              <a:t> the inode value in the listing is the one and only inode</a:t>
            </a:r>
            <a:endParaRPr/>
          </a:p>
          <a:p>
            <a:pPr indent="0" lvl="0" marL="0" rtl="0" algn="l">
              <a:spcBef>
                <a:spcPts val="1200"/>
              </a:spcBef>
              <a:spcAft>
                <a:spcPts val="0"/>
              </a:spcAft>
              <a:buNone/>
            </a:pPr>
            <a:r>
              <a:rPr lang="en"/>
              <a:t>-If a file is </a:t>
            </a:r>
            <a:r>
              <a:rPr b="1" lang="en"/>
              <a:t>greater than 4KB</a:t>
            </a:r>
            <a:r>
              <a:rPr lang="en"/>
              <a:t> the inode value is start of the file and has a link to the next inode</a:t>
            </a:r>
            <a:endParaRPr/>
          </a:p>
          <a:p>
            <a:pPr indent="0" lvl="0" marL="0" rtl="0" algn="l">
              <a:spcBef>
                <a:spcPts val="1200"/>
              </a:spcBef>
              <a:spcAft>
                <a:spcPts val="1200"/>
              </a:spcAft>
              <a:buNone/>
            </a:pPr>
            <a:r>
              <a:rPr lang="en"/>
              <a:t>-Note: inodes are not always </a:t>
            </a:r>
            <a:r>
              <a:rPr lang="en" u="sng">
                <a:solidFill>
                  <a:schemeClr val="hlink"/>
                </a:solidFill>
                <a:hlinkClick r:id="rId3"/>
              </a:rPr>
              <a:t>contiguous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Block</a:t>
            </a:r>
            <a:endParaRPr/>
          </a:p>
        </p:txBody>
      </p:sp>
      <p:sp>
        <p:nvSpPr>
          <p:cNvPr id="106" name="Google Shape;106;p2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Besides just data inodes contain metadata</a:t>
            </a:r>
            <a:endParaRPr/>
          </a:p>
          <a:p>
            <a:pPr indent="0" lvl="0" marL="0" rtl="0" algn="l">
              <a:spcBef>
                <a:spcPts val="1200"/>
              </a:spcBef>
              <a:spcAft>
                <a:spcPts val="0"/>
              </a:spcAft>
              <a:buNone/>
            </a:pPr>
            <a:r>
              <a:rPr lang="en"/>
              <a:t>-times of last change</a:t>
            </a:r>
            <a:endParaRPr/>
          </a:p>
          <a:p>
            <a:pPr indent="0" lvl="0" marL="0" rtl="0" algn="l">
              <a:spcBef>
                <a:spcPts val="1200"/>
              </a:spcBef>
              <a:spcAft>
                <a:spcPts val="0"/>
              </a:spcAft>
              <a:buNone/>
            </a:pPr>
            <a:r>
              <a:rPr lang="en"/>
              <a:t>-times of last access</a:t>
            </a:r>
            <a:endParaRPr/>
          </a:p>
          <a:p>
            <a:pPr indent="0" lvl="0" marL="0" rtl="0" algn="l">
              <a:spcBef>
                <a:spcPts val="1200"/>
              </a:spcBef>
              <a:spcAft>
                <a:spcPts val="0"/>
              </a:spcAft>
              <a:buNone/>
            </a:pPr>
            <a:r>
              <a:rPr lang="en"/>
              <a:t>-times of last modification</a:t>
            </a:r>
            <a:endParaRPr/>
          </a:p>
          <a:p>
            <a:pPr indent="0" lvl="0" marL="0" rtl="0" algn="l">
              <a:spcBef>
                <a:spcPts val="1200"/>
              </a:spcBef>
              <a:spcAft>
                <a:spcPts val="0"/>
              </a:spcAft>
              <a:buNone/>
            </a:pPr>
            <a:r>
              <a:rPr lang="en"/>
              <a:t>-mode (means permissions) </a:t>
            </a:r>
            <a:endParaRPr/>
          </a:p>
          <a:p>
            <a:pPr indent="0" lvl="0" marL="0" rtl="0" algn="l">
              <a:spcBef>
                <a:spcPts val="1200"/>
              </a:spcBef>
              <a:spcAft>
                <a:spcPts val="1200"/>
              </a:spcAft>
              <a:buNone/>
            </a:pPr>
            <a:r>
              <a:rPr lang="en"/>
              <a:t>-owner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Block</a:t>
            </a:r>
            <a:endParaRPr/>
          </a:p>
        </p:txBody>
      </p:sp>
      <p:sp>
        <p:nvSpPr>
          <p:cNvPr id="112" name="Google Shape;112;p2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Block devices: hard drives, cd-rom, USB storage, iSCSI, </a:t>
            </a:r>
            <a:r>
              <a:rPr lang="en" u="sng">
                <a:solidFill>
                  <a:schemeClr val="hlink"/>
                </a:solidFill>
                <a:hlinkClick r:id="rId3"/>
              </a:rPr>
              <a:t>loop devices</a:t>
            </a:r>
            <a:r>
              <a:rPr lang="en"/>
              <a:t> and a lot more</a:t>
            </a:r>
            <a:endParaRPr/>
          </a:p>
        </p:txBody>
      </p:sp>
      <p:pic>
        <p:nvPicPr>
          <p:cNvPr id="113" name="Google Shape;113;p22"/>
          <p:cNvPicPr preferRelativeResize="0"/>
          <p:nvPr/>
        </p:nvPicPr>
        <p:blipFill>
          <a:blip r:embed="rId4">
            <a:alphaModFix/>
          </a:blip>
          <a:stretch>
            <a:fillRect/>
          </a:stretch>
        </p:blipFill>
        <p:spPr>
          <a:xfrm>
            <a:off x="1898450" y="2571750"/>
            <a:ext cx="4572000" cy="1485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Decisions</a:t>
            </a:r>
            <a:endParaRPr/>
          </a:p>
        </p:txBody>
      </p:sp>
      <p:sp>
        <p:nvSpPr>
          <p:cNvPr id="119" name="Google Shape;119;p2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You could use LVM as we did in our lab, see lsblk screenshot in the previous slide, or create a filesystem directly on the local partitions themselves.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Decisions</a:t>
            </a:r>
            <a:endParaRPr/>
          </a:p>
        </p:txBody>
      </p:sp>
      <p:sp>
        <p:nvSpPr>
          <p:cNvPr id="125" name="Google Shape;125;p2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 example of partitioning then writing the filesystem right to the logical volume. </a:t>
            </a:r>
            <a:endParaRPr/>
          </a:p>
          <a:p>
            <a:pPr indent="0" lvl="0" marL="0" rtl="0" algn="l">
              <a:spcBef>
                <a:spcPts val="1200"/>
              </a:spcBef>
              <a:spcAft>
                <a:spcPts val="1200"/>
              </a:spcAft>
              <a:buNone/>
            </a:pPr>
            <a:r>
              <a:t/>
            </a:r>
            <a:endParaRPr/>
          </a:p>
        </p:txBody>
      </p:sp>
      <p:pic>
        <p:nvPicPr>
          <p:cNvPr id="126" name="Google Shape;126;p24"/>
          <p:cNvPicPr preferRelativeResize="0"/>
          <p:nvPr/>
        </p:nvPicPr>
        <p:blipFill>
          <a:blip r:embed="rId3">
            <a:alphaModFix/>
          </a:blip>
          <a:stretch>
            <a:fillRect/>
          </a:stretch>
        </p:blipFill>
        <p:spPr>
          <a:xfrm>
            <a:off x="2255538" y="2319188"/>
            <a:ext cx="4486275" cy="1552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Know your installation</a:t>
            </a:r>
            <a:endParaRPr/>
          </a:p>
        </p:txBody>
      </p:sp>
      <p:sp>
        <p:nvSpPr>
          <p:cNvPr id="132" name="Google Shape;132;p2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Is this Linux installation on </a:t>
            </a:r>
            <a:r>
              <a:rPr lang="en" u="sng">
                <a:solidFill>
                  <a:schemeClr val="hlink"/>
                </a:solidFill>
                <a:hlinkClick r:id="rId3"/>
              </a:rPr>
              <a:t>bare metal</a:t>
            </a:r>
            <a:r>
              <a:rPr lang="en"/>
              <a:t>, or in a virtual machine?</a:t>
            </a:r>
            <a:endParaRPr/>
          </a:p>
          <a:p>
            <a:pPr indent="0" lvl="0" marL="0" rtl="0" algn="l">
              <a:spcBef>
                <a:spcPts val="1200"/>
              </a:spcBef>
              <a:spcAft>
                <a:spcPts val="0"/>
              </a:spcAft>
              <a:buNone/>
            </a:pPr>
            <a:r>
              <a:rPr lang="en"/>
              <a:t>Is this computer using directly attached storage or network storage? </a:t>
            </a:r>
            <a:endParaRPr/>
          </a:p>
          <a:p>
            <a:pPr indent="0" lvl="0" marL="0" rtl="0" algn="l">
              <a:spcBef>
                <a:spcPts val="1200"/>
              </a:spcBef>
              <a:spcAft>
                <a:spcPts val="1200"/>
              </a:spcAft>
              <a:buNone/>
            </a:pPr>
            <a:r>
              <a:rPr lang="en"/>
              <a:t>Let’s look at some considerations of bare metal first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Bare metal</a:t>
            </a:r>
            <a:endParaRPr/>
          </a:p>
        </p:txBody>
      </p:sp>
      <p:sp>
        <p:nvSpPr>
          <p:cNvPr id="138" name="Google Shape;138;p2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There are two choices that could exist</a:t>
            </a:r>
            <a:endParaRPr/>
          </a:p>
          <a:p>
            <a:pPr indent="-342900" lvl="0" marL="457200" rtl="0" algn="l">
              <a:spcBef>
                <a:spcPts val="1200"/>
              </a:spcBef>
              <a:spcAft>
                <a:spcPts val="0"/>
              </a:spcAft>
              <a:buSzPts val="1800"/>
              <a:buAutoNum type="arabicParenR"/>
            </a:pPr>
            <a:r>
              <a:rPr lang="en"/>
              <a:t>Computer could utilize RAID directly </a:t>
            </a:r>
            <a:r>
              <a:rPr lang="en"/>
              <a:t>with directly attached storage</a:t>
            </a:r>
            <a:endParaRPr/>
          </a:p>
          <a:p>
            <a:pPr indent="-342900" lvl="0" marL="457200" rtl="0" algn="l">
              <a:spcBef>
                <a:spcPts val="0"/>
              </a:spcBef>
              <a:spcAft>
                <a:spcPts val="0"/>
              </a:spcAft>
              <a:buSzPts val="1800"/>
              <a:buAutoNum type="arabicParenR"/>
            </a:pPr>
            <a:r>
              <a:rPr lang="en"/>
              <a:t>Could use network storage to a SAN which would use RAID</a:t>
            </a:r>
            <a:endParaRPr/>
          </a:p>
          <a:p>
            <a:pPr indent="0" lvl="0" marL="457200" rtl="0" algn="l">
              <a:spcBef>
                <a:spcPts val="1200"/>
              </a:spcBef>
              <a:spcAft>
                <a:spcPts val="0"/>
              </a:spcAft>
              <a:buNone/>
            </a:pPr>
            <a:r>
              <a:rPr lang="en"/>
              <a:t>Unless the data is unimportant RAID will exist somewhere</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 machine</a:t>
            </a:r>
            <a:endParaRPr/>
          </a:p>
        </p:txBody>
      </p:sp>
      <p:sp>
        <p:nvSpPr>
          <p:cNvPr id="144" name="Google Shape;144;p2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machine that hosts the virtual machine would handle the data </a:t>
            </a:r>
            <a:r>
              <a:rPr lang="en"/>
              <a:t>redundancy</a:t>
            </a:r>
            <a:r>
              <a:rPr lang="en"/>
              <a:t>.  Regardless if on bare metal or in a virtual machine we now need a discussion on write back to prevent data loss.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a:t>
            </a:r>
            <a:endParaRPr/>
          </a:p>
        </p:txBody>
      </p:sp>
      <p:sp>
        <p:nvSpPr>
          <p:cNvPr id="150" name="Google Shape;150;p2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t>I want the </a:t>
            </a:r>
            <a:r>
              <a:rPr i="1" lang="en"/>
              <a:t>Lambo Huracán please</a:t>
            </a:r>
            <a:endParaRPr i="1"/>
          </a:p>
          <a:p>
            <a:pPr indent="0" lvl="0" marL="0" rtl="0" algn="l">
              <a:spcBef>
                <a:spcPts val="1200"/>
              </a:spcBef>
              <a:spcAft>
                <a:spcPts val="0"/>
              </a:spcAft>
              <a:buNone/>
            </a:pPr>
            <a:r>
              <a:rPr lang="en"/>
              <a:t>Systems default to write caching, which means in userland it </a:t>
            </a:r>
            <a:r>
              <a:rPr b="1" lang="en"/>
              <a:t>appears</a:t>
            </a:r>
            <a:r>
              <a:rPr lang="en"/>
              <a:t> the file was written but instead is </a:t>
            </a:r>
            <a:r>
              <a:rPr b="1" lang="en"/>
              <a:t>queued</a:t>
            </a:r>
            <a:r>
              <a:rPr lang="en"/>
              <a:t> for writing.</a:t>
            </a:r>
            <a:endParaRPr/>
          </a:p>
          <a:p>
            <a:pPr indent="0" lvl="0" marL="0" rtl="0" algn="l">
              <a:spcBef>
                <a:spcPts val="1200"/>
              </a:spcBef>
              <a:spcAft>
                <a:spcPts val="1200"/>
              </a:spcAft>
              <a:buNone/>
            </a:pPr>
            <a:r>
              <a:rPr lang="en"/>
              <a:t>This gives the user extra performance at a cost.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26190"/>
              <a:buFont typeface="Arial"/>
              <a:buNone/>
            </a:pPr>
            <a:r>
              <a:rPr lang="en"/>
              <a:t>Performance!</a:t>
            </a:r>
            <a:endParaRPr/>
          </a:p>
        </p:txBody>
      </p:sp>
      <p:sp>
        <p:nvSpPr>
          <p:cNvPr id="156" name="Google Shape;156;p2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problem with caching writes is on system failure. </a:t>
            </a:r>
            <a:r>
              <a:rPr lang="en"/>
              <a:t>Power loss? Kernel panic? Any number of issues can cause a system to halt.  If the system doesn’t have time to write the cache to disk you’ve experienced </a:t>
            </a:r>
            <a:r>
              <a:rPr b="1" lang="en"/>
              <a:t>data loss</a:t>
            </a:r>
            <a:r>
              <a:rPr lang="en"/>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Mitigations</a:t>
            </a:r>
            <a:endParaRPr/>
          </a:p>
        </p:txBody>
      </p:sp>
      <p:sp>
        <p:nvSpPr>
          <p:cNvPr id="162" name="Google Shape;162;p3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arenR"/>
            </a:pPr>
            <a:r>
              <a:rPr lang="en"/>
              <a:t>For power loss providing battery power backup with a communication cable to the server to shutdown on power loss.</a:t>
            </a:r>
            <a:endParaRPr/>
          </a:p>
          <a:p>
            <a:pPr indent="-342900" lvl="0" marL="457200" rtl="0" algn="l">
              <a:spcBef>
                <a:spcPts val="0"/>
              </a:spcBef>
              <a:spcAft>
                <a:spcPts val="0"/>
              </a:spcAft>
              <a:buSzPts val="1800"/>
              <a:buAutoNum type="arabicParenR"/>
            </a:pPr>
            <a:r>
              <a:rPr lang="en"/>
              <a:t>Disabling write backs</a:t>
            </a:r>
            <a:endParaRPr/>
          </a:p>
          <a:p>
            <a:pPr indent="0" lvl="0" marL="457200" rtl="0" algn="l">
              <a:spcBef>
                <a:spcPts val="1200"/>
              </a:spcBef>
              <a:spcAft>
                <a:spcPts val="1200"/>
              </a:spcAft>
              <a:buNone/>
            </a:pPr>
            <a:r>
              <a:rPr lang="en"/>
              <a:t>These decisions rest on how important the data is.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Levels of write caching</a:t>
            </a:r>
            <a:endParaRPr/>
          </a:p>
        </p:txBody>
      </p:sp>
      <p:sp>
        <p:nvSpPr>
          <p:cNvPr id="168" name="Google Shape;168;p3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Write caching otherwise called write back could exist at the filesystem level, device mapper (in our case LVM!) and the </a:t>
            </a:r>
            <a:r>
              <a:rPr lang="en" u="sng">
                <a:solidFill>
                  <a:schemeClr val="hlink"/>
                </a:solidFill>
                <a:hlinkClick r:id="rId3"/>
              </a:rPr>
              <a:t>disks itself</a:t>
            </a:r>
            <a:endParaRPr/>
          </a:p>
          <a:p>
            <a:pPr indent="0" lvl="0" marL="0" rtl="0" algn="l">
              <a:spcBef>
                <a:spcPts val="1200"/>
              </a:spcBef>
              <a:spcAft>
                <a:spcPts val="1200"/>
              </a:spcAft>
              <a:buNone/>
            </a:pPr>
            <a:r>
              <a:rPr lang="en"/>
              <a:t>The opposite of write back is called write-through which writes directly to the disk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solidFill>
                  <a:schemeClr val="hlink"/>
                </a:solidFill>
                <a:hlinkClick r:id="rId3"/>
              </a:rPr>
              <a:t>Device mapper</a:t>
            </a:r>
            <a:endParaRPr/>
          </a:p>
        </p:txBody>
      </p:sp>
      <p:sp>
        <p:nvSpPr>
          <p:cNvPr id="174" name="Google Shape;174;p3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-It’s the magic or framework that connects physical block devices to virtual block devices</a:t>
            </a:r>
            <a:endParaRPr/>
          </a:p>
          <a:p>
            <a:pPr indent="0" lvl="0" marL="0" rtl="0" algn="l">
              <a:spcBef>
                <a:spcPts val="1200"/>
              </a:spcBef>
              <a:spcAft>
                <a:spcPts val="0"/>
              </a:spcAft>
              <a:buNone/>
            </a:pPr>
            <a:r>
              <a:rPr lang="en"/>
              <a:t>-This abstraction gives us the ability of: </a:t>
            </a:r>
            <a:endParaRPr/>
          </a:p>
          <a:p>
            <a:pPr indent="0" lvl="0" marL="0" rtl="0" algn="l">
              <a:spcBef>
                <a:spcPts val="1200"/>
              </a:spcBef>
              <a:spcAft>
                <a:spcPts val="1200"/>
              </a:spcAft>
              <a:buNone/>
            </a:pPr>
            <a:r>
              <a:rPr lang="en"/>
              <a:t>   -   caching, encryption, snapshots, striping, mirroring, thin and a </a:t>
            </a:r>
            <a:r>
              <a:rPr lang="en" u="sng">
                <a:solidFill>
                  <a:schemeClr val="hlink"/>
                </a:solidFill>
                <a:hlinkClick r:id="rId4"/>
              </a:rPr>
              <a:t>whole lot more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Device Mapper</a:t>
            </a:r>
            <a:endParaRPr/>
          </a:p>
        </p:txBody>
      </p:sp>
      <p:sp>
        <p:nvSpPr>
          <p:cNvPr id="180" name="Google Shape;180;p3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If we were to encrypt an entire block device we would use </a:t>
            </a:r>
            <a:r>
              <a:rPr lang="en" u="sng">
                <a:solidFill>
                  <a:schemeClr val="hlink"/>
                </a:solidFill>
                <a:hlinkClick r:id="rId3"/>
              </a:rPr>
              <a:t>dm-crypt</a:t>
            </a:r>
            <a:r>
              <a:rPr lang="en"/>
              <a:t> for full disk encryption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For our lab we will be using </a:t>
            </a:r>
            <a:r>
              <a:rPr lang="en" u="sng">
                <a:solidFill>
                  <a:schemeClr val="hlink"/>
                </a:solidFill>
                <a:hlinkClick r:id="rId4"/>
              </a:rPr>
              <a:t>LVM2</a:t>
            </a:r>
            <a:r>
              <a:rPr lang="en"/>
              <a:t> which uses device mapper as well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Logical Volume Manager (LVM)</a:t>
            </a:r>
            <a:endParaRPr/>
          </a:p>
        </p:txBody>
      </p:sp>
      <p:sp>
        <p:nvSpPr>
          <p:cNvPr id="186" name="Google Shape;186;p3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Is an </a:t>
            </a:r>
            <a:r>
              <a:rPr b="1" lang="en"/>
              <a:t>abstraction</a:t>
            </a:r>
            <a:r>
              <a:rPr lang="en"/>
              <a:t> of the </a:t>
            </a:r>
            <a:r>
              <a:rPr lang="en"/>
              <a:t>underlying</a:t>
            </a:r>
            <a:r>
              <a:rPr lang="en"/>
              <a:t> physical drives utilizing the </a:t>
            </a:r>
            <a:r>
              <a:rPr b="1" lang="en"/>
              <a:t>device mapper</a:t>
            </a:r>
            <a:r>
              <a:rPr lang="en"/>
              <a:t> previously introduced.  </a:t>
            </a:r>
            <a:endParaRPr/>
          </a:p>
          <a:p>
            <a:pPr indent="0" lvl="0" marL="0" rtl="0" algn="l">
              <a:spcBef>
                <a:spcPts val="1200"/>
              </a:spcBef>
              <a:spcAft>
                <a:spcPts val="1200"/>
              </a:spcAft>
              <a:buNone/>
            </a:pPr>
            <a:r>
              <a:rPr lang="en"/>
              <a:t>Terms: physical volume, physical partition, volume group, logical volume, filesystem, mount point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Physical Volume</a:t>
            </a:r>
            <a:endParaRPr/>
          </a:p>
        </p:txBody>
      </p:sp>
      <p:sp>
        <p:nvSpPr>
          <p:cNvPr id="192" name="Google Shape;192;p3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These are the hard drives that are physically attached to the computer.  They’re all located under /dev</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Physical Volume </a:t>
            </a:r>
            <a:endParaRPr/>
          </a:p>
        </p:txBody>
      </p:sp>
      <p:sp>
        <p:nvSpPr>
          <p:cNvPr id="198" name="Google Shape;198;p3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example sda (no number!) is the physical volume.  This is on sata port 1.  sdb would be sata port 2, etc, etc. Note the </a:t>
            </a:r>
            <a:r>
              <a:rPr b="1" lang="en"/>
              <a:t>b</a:t>
            </a:r>
            <a:r>
              <a:rPr lang="en"/>
              <a:t> in the mode, stands for </a:t>
            </a:r>
            <a:r>
              <a:rPr b="1" lang="en"/>
              <a:t>b</a:t>
            </a:r>
            <a:r>
              <a:rPr lang="en"/>
              <a:t>lock.</a:t>
            </a:r>
            <a:endParaRPr/>
          </a:p>
        </p:txBody>
      </p:sp>
      <p:pic>
        <p:nvPicPr>
          <p:cNvPr id="199" name="Google Shape;199;p36"/>
          <p:cNvPicPr preferRelativeResize="0"/>
          <p:nvPr/>
        </p:nvPicPr>
        <p:blipFill>
          <a:blip r:embed="rId3">
            <a:alphaModFix/>
          </a:blip>
          <a:stretch>
            <a:fillRect/>
          </a:stretch>
        </p:blipFill>
        <p:spPr>
          <a:xfrm>
            <a:off x="3325975" y="3103006"/>
            <a:ext cx="5425450" cy="10244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Physical partition</a:t>
            </a:r>
            <a:endParaRPr/>
          </a:p>
        </p:txBody>
      </p:sp>
      <p:sp>
        <p:nvSpPr>
          <p:cNvPr id="205" name="Google Shape;205;p3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this example nvme</a:t>
            </a:r>
            <a:r>
              <a:rPr b="1" lang="en"/>
              <a:t>0</a:t>
            </a:r>
            <a:r>
              <a:rPr lang="en"/>
              <a:t>n1 is the the first NVMe slot on this laptop and nvme</a:t>
            </a:r>
            <a:r>
              <a:rPr b="1" lang="en"/>
              <a:t>1</a:t>
            </a:r>
            <a:r>
              <a:rPr lang="en"/>
              <a:t>n1 is the second slot. More on </a:t>
            </a:r>
            <a:r>
              <a:rPr lang="en" u="sng">
                <a:solidFill>
                  <a:schemeClr val="hlink"/>
                </a:solidFill>
                <a:hlinkClick r:id="rId3"/>
              </a:rPr>
              <a:t>NVMe in Linux</a:t>
            </a:r>
            <a:endParaRPr/>
          </a:p>
        </p:txBody>
      </p:sp>
      <p:pic>
        <p:nvPicPr>
          <p:cNvPr id="206" name="Google Shape;206;p37"/>
          <p:cNvPicPr preferRelativeResize="0"/>
          <p:nvPr/>
        </p:nvPicPr>
        <p:blipFill>
          <a:blip r:embed="rId4">
            <a:alphaModFix/>
          </a:blip>
          <a:stretch>
            <a:fillRect/>
          </a:stretch>
        </p:blipFill>
        <p:spPr>
          <a:xfrm>
            <a:off x="3045038" y="2571738"/>
            <a:ext cx="4029075" cy="17049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Physical partition</a:t>
            </a:r>
            <a:endParaRPr/>
          </a:p>
        </p:txBody>
      </p:sp>
      <p:sp>
        <p:nvSpPr>
          <p:cNvPr id="212" name="Google Shape;212;p3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This step is still mandatory for both classic partitioning and using LVM.  You can create a primary partition, extended partition and from there make multiple logical partitions.</a:t>
            </a:r>
            <a:endParaRPr/>
          </a:p>
          <a:p>
            <a:pPr indent="0" lvl="0" marL="0" rtl="0" algn="l">
              <a:spcBef>
                <a:spcPts val="1200"/>
              </a:spcBef>
              <a:spcAft>
                <a:spcPts val="1200"/>
              </a:spcAft>
              <a:buNone/>
            </a:pPr>
            <a:r>
              <a:rPr lang="en"/>
              <a:t>Read about </a:t>
            </a:r>
            <a:r>
              <a:rPr lang="en" u="sng">
                <a:solidFill>
                  <a:schemeClr val="hlink"/>
                </a:solidFill>
                <a:hlinkClick r:id="rId3"/>
              </a:rPr>
              <a:t>partitioning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Physical partition</a:t>
            </a:r>
            <a:endParaRPr/>
          </a:p>
        </p:txBody>
      </p:sp>
      <p:sp>
        <p:nvSpPr>
          <p:cNvPr id="218" name="Google Shape;218;p3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this example sda</a:t>
            </a:r>
            <a:r>
              <a:rPr b="1" lang="en"/>
              <a:t>1</a:t>
            </a:r>
            <a:r>
              <a:rPr lang="en"/>
              <a:t> is the first partition on sda.  Subsequent partitions would have been sda</a:t>
            </a:r>
            <a:r>
              <a:rPr b="1" lang="en"/>
              <a:t>2</a:t>
            </a:r>
            <a:r>
              <a:rPr lang="en"/>
              <a:t>, sda</a:t>
            </a:r>
            <a:r>
              <a:rPr b="1" lang="en"/>
              <a:t>3</a:t>
            </a:r>
            <a:r>
              <a:rPr lang="en"/>
              <a:t>, etc. </a:t>
            </a:r>
            <a:endParaRPr/>
          </a:p>
        </p:txBody>
      </p:sp>
      <p:pic>
        <p:nvPicPr>
          <p:cNvPr id="219" name="Google Shape;219;p39"/>
          <p:cNvPicPr preferRelativeResize="0"/>
          <p:nvPr/>
        </p:nvPicPr>
        <p:blipFill>
          <a:blip r:embed="rId3">
            <a:alphaModFix/>
          </a:blip>
          <a:stretch>
            <a:fillRect/>
          </a:stretch>
        </p:blipFill>
        <p:spPr>
          <a:xfrm>
            <a:off x="2805100" y="3161063"/>
            <a:ext cx="3533775" cy="5810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Physical partition</a:t>
            </a:r>
            <a:endParaRPr/>
          </a:p>
        </p:txBody>
      </p:sp>
      <p:sp>
        <p:nvSpPr>
          <p:cNvPr id="225" name="Google Shape;225;p4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Partitions are nvme0n1p</a:t>
            </a:r>
            <a:r>
              <a:rPr b="1" lang="en"/>
              <a:t>1</a:t>
            </a:r>
            <a:r>
              <a:rPr lang="en"/>
              <a:t>, so the first NVMe drive has a single partition. </a:t>
            </a:r>
            <a:endParaRPr/>
          </a:p>
          <a:p>
            <a:pPr indent="0" lvl="0" marL="0" rtl="0" algn="l">
              <a:spcBef>
                <a:spcPts val="1200"/>
              </a:spcBef>
              <a:spcAft>
                <a:spcPts val="0"/>
              </a:spcAft>
              <a:buNone/>
            </a:pPr>
            <a:r>
              <a:rPr lang="en"/>
              <a:t>nvme1n1p</a:t>
            </a:r>
            <a:r>
              <a:rPr b="1" lang="en"/>
              <a:t>1</a:t>
            </a:r>
            <a:r>
              <a:rPr lang="en"/>
              <a:t>,</a:t>
            </a:r>
            <a:r>
              <a:rPr lang="en"/>
              <a:t>nvme1n1p</a:t>
            </a:r>
            <a:r>
              <a:rPr b="1" lang="en"/>
              <a:t>2</a:t>
            </a:r>
            <a:r>
              <a:rPr lang="en"/>
              <a:t>,nvme1n1p</a:t>
            </a:r>
            <a:r>
              <a:rPr b="1" lang="en"/>
              <a:t>3</a:t>
            </a:r>
            <a:r>
              <a:rPr lang="en"/>
              <a:t> </a:t>
            </a:r>
            <a:endParaRPr/>
          </a:p>
          <a:p>
            <a:pPr indent="0" lvl="0" marL="0" rtl="0" algn="l">
              <a:spcBef>
                <a:spcPts val="1200"/>
              </a:spcBef>
              <a:spcAft>
                <a:spcPts val="0"/>
              </a:spcAft>
              <a:buNone/>
            </a:pPr>
            <a:r>
              <a:rPr lang="en"/>
              <a:t>Second drive has</a:t>
            </a:r>
            <a:endParaRPr/>
          </a:p>
          <a:p>
            <a:pPr indent="0" lvl="0" marL="0" rtl="0" algn="l">
              <a:spcBef>
                <a:spcPts val="1200"/>
              </a:spcBef>
              <a:spcAft>
                <a:spcPts val="1200"/>
              </a:spcAft>
              <a:buNone/>
            </a:pPr>
            <a:r>
              <a:rPr lang="en"/>
              <a:t>3 partitions</a:t>
            </a:r>
            <a:endParaRPr/>
          </a:p>
        </p:txBody>
      </p:sp>
      <p:pic>
        <p:nvPicPr>
          <p:cNvPr id="226" name="Google Shape;226;p40"/>
          <p:cNvPicPr preferRelativeResize="0"/>
          <p:nvPr/>
        </p:nvPicPr>
        <p:blipFill>
          <a:blip r:embed="rId3">
            <a:alphaModFix/>
          </a:blip>
          <a:stretch>
            <a:fillRect/>
          </a:stretch>
        </p:blipFill>
        <p:spPr>
          <a:xfrm>
            <a:off x="3806763" y="2766675"/>
            <a:ext cx="4086225" cy="1600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Volume group</a:t>
            </a:r>
            <a:endParaRPr/>
          </a:p>
        </p:txBody>
      </p:sp>
      <p:sp>
        <p:nvSpPr>
          <p:cNvPr id="232" name="Google Shape;232;p4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Don’t be confused by the naming. You add physical partitions but the commands are pv (physical volume). You must partition a volume (drive) to use for LVM</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Volume group</a:t>
            </a:r>
            <a:endParaRPr/>
          </a:p>
        </p:txBody>
      </p:sp>
      <p:sp>
        <p:nvSpPr>
          <p:cNvPr id="238" name="Google Shape;238;p4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volume group is part of physical volumes.  Once a physical </a:t>
            </a:r>
            <a:r>
              <a:rPr lang="en"/>
              <a:t>volume has been added it has extents written across in chunks.  This is completely filesystem agnostic.</a:t>
            </a:r>
            <a:endParaRPr/>
          </a:p>
          <a:p>
            <a:pPr indent="0" lvl="0" marL="0" rtl="0" algn="l">
              <a:spcBef>
                <a:spcPts val="1200"/>
              </a:spcBef>
              <a:spcAft>
                <a:spcPts val="1200"/>
              </a:spcAft>
              <a:buNone/>
            </a:pPr>
            <a:r>
              <a:rPr lang="en"/>
              <a:t>Let’s see what the size of a “chunk” is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Volume group</a:t>
            </a:r>
            <a:endParaRPr/>
          </a:p>
        </p:txBody>
      </p:sp>
      <p:sp>
        <p:nvSpPr>
          <p:cNvPr id="244" name="Google Shape;244;p43"/>
          <p:cNvSpPr txBox="1"/>
          <p:nvPr>
            <p:ph idx="1" type="body"/>
          </p:nvPr>
        </p:nvSpPr>
        <p:spPr>
          <a:xfrm>
            <a:off x="311700" y="1152475"/>
            <a:ext cx="537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PE is Physical extent is 4MB chunks</a:t>
            </a:r>
            <a:endParaRPr/>
          </a:p>
          <a:p>
            <a:pPr indent="0" lvl="0" marL="0" rtl="0" algn="l">
              <a:spcBef>
                <a:spcPts val="1200"/>
              </a:spcBef>
              <a:spcAft>
                <a:spcPts val="0"/>
              </a:spcAft>
              <a:buNone/>
            </a:pPr>
            <a:r>
              <a:rPr lang="en"/>
              <a:t>4*5119 extents is 20476MB or 20GB</a:t>
            </a:r>
            <a:endParaRPr/>
          </a:p>
          <a:p>
            <a:pPr indent="0" lvl="0" marL="0" rtl="0" algn="l">
              <a:spcBef>
                <a:spcPts val="1200"/>
              </a:spcBef>
              <a:spcAft>
                <a:spcPts val="1200"/>
              </a:spcAft>
              <a:buNone/>
            </a:pPr>
            <a:r>
              <a:t/>
            </a:r>
            <a:endParaRPr/>
          </a:p>
        </p:txBody>
      </p:sp>
      <p:pic>
        <p:nvPicPr>
          <p:cNvPr id="245" name="Google Shape;245;p43"/>
          <p:cNvPicPr preferRelativeResize="0"/>
          <p:nvPr/>
        </p:nvPicPr>
        <p:blipFill>
          <a:blip r:embed="rId3">
            <a:alphaModFix/>
          </a:blip>
          <a:stretch>
            <a:fillRect/>
          </a:stretch>
        </p:blipFill>
        <p:spPr>
          <a:xfrm>
            <a:off x="5622363" y="1152475"/>
            <a:ext cx="3209925" cy="3543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Volume group - RAID</a:t>
            </a:r>
            <a:endParaRPr/>
          </a:p>
        </p:txBody>
      </p:sp>
      <p:sp>
        <p:nvSpPr>
          <p:cNvPr id="251" name="Google Shape;251;p4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You can have tiers by having some groups protected by mirroring, parity and others without protection. Yes you read that right, </a:t>
            </a:r>
            <a:r>
              <a:rPr b="1" lang="en"/>
              <a:t>LVM supports RAID</a:t>
            </a:r>
            <a:r>
              <a:rPr lang="en"/>
              <a:t> out of the box.  You need to meet the same requirements of a regular RAID by the </a:t>
            </a:r>
            <a:r>
              <a:rPr lang="en"/>
              <a:t>minimum</a:t>
            </a:r>
            <a:r>
              <a:rPr lang="en"/>
              <a:t> number of physical disks.  </a:t>
            </a:r>
            <a:r>
              <a:rPr lang="en" u="sng">
                <a:solidFill>
                  <a:schemeClr val="hlink"/>
                </a:solidFill>
                <a:hlinkClick r:id="rId3"/>
              </a:rPr>
              <a:t>Read how to implement RAID in LVM</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Volume group - dm-cache</a:t>
            </a:r>
            <a:endParaRPr/>
          </a:p>
        </p:txBody>
      </p:sp>
      <p:sp>
        <p:nvSpPr>
          <p:cNvPr id="257" name="Google Shape;257;p4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Caching typically involves combining slower HDDs with faster SSDs</a:t>
            </a:r>
            <a:endParaRPr/>
          </a:p>
          <a:p>
            <a:pPr indent="0" lvl="0" marL="0" rtl="0" algn="l">
              <a:spcBef>
                <a:spcPts val="1200"/>
              </a:spcBef>
              <a:spcAft>
                <a:spcPts val="0"/>
              </a:spcAft>
              <a:buNone/>
            </a:pPr>
            <a:r>
              <a:rPr lang="en"/>
              <a:t>Write-back will first write to SSD then slowly write to HDD when there is enough free I/O</a:t>
            </a:r>
            <a:endParaRPr/>
          </a:p>
          <a:p>
            <a:pPr indent="0" lvl="0" marL="0" rtl="0" algn="l">
              <a:spcBef>
                <a:spcPts val="1200"/>
              </a:spcBef>
              <a:spcAft>
                <a:spcPts val="1200"/>
              </a:spcAft>
              <a:buNone/>
            </a:pPr>
            <a:r>
              <a:rPr lang="en" u="sng">
                <a:solidFill>
                  <a:schemeClr val="hlink"/>
                </a:solidFill>
                <a:hlinkClick r:id="rId3"/>
              </a:rPr>
              <a:t>Read-cache</a:t>
            </a:r>
            <a:r>
              <a:rPr lang="en"/>
              <a:t> commonly read blocks get copied to SSD for faster reads (no risk here)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Logical volume</a:t>
            </a:r>
            <a:endParaRPr/>
          </a:p>
        </p:txBody>
      </p:sp>
      <p:sp>
        <p:nvSpPr>
          <p:cNvPr id="263" name="Google Shape;263;p4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volume group can make any number of logical volumes as long as there are free extents available.  A single system can have multiple volume groups.  Could have /guests with VMs backed by mirroring and a </a:t>
            </a:r>
            <a:r>
              <a:rPr lang="en"/>
              <a:t>read cache and /isos with no protection nor cache.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Logical group - dm-cache</a:t>
            </a:r>
            <a:endParaRPr/>
          </a:p>
        </p:txBody>
      </p:sp>
      <p:sp>
        <p:nvSpPr>
          <p:cNvPr id="269" name="Google Shape;269;p4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logical volumes that need performance can enable caching through </a:t>
            </a:r>
            <a:r>
              <a:rPr lang="en" u="sng">
                <a:solidFill>
                  <a:schemeClr val="hlink"/>
                </a:solidFill>
                <a:hlinkClick r:id="rId3"/>
              </a:rPr>
              <a:t>dm-cache</a:t>
            </a:r>
            <a:r>
              <a:rPr lang="en"/>
              <a:t>.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Because RAID was at the group level you can have both RAID and caching if desired.</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Logical volume - dm-cache</a:t>
            </a:r>
            <a:endParaRPr/>
          </a:p>
        </p:txBody>
      </p:sp>
      <p:sp>
        <p:nvSpPr>
          <p:cNvPr id="275" name="Google Shape;275;p4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discussed some risks with caching, but it however can be great performance.  There are two types of caching</a:t>
            </a:r>
            <a:endParaRPr/>
          </a:p>
          <a:p>
            <a:pPr indent="0" lvl="0" marL="0" rtl="0" algn="l">
              <a:spcBef>
                <a:spcPts val="1200"/>
              </a:spcBef>
              <a:spcAft>
                <a:spcPts val="0"/>
              </a:spcAft>
              <a:buNone/>
            </a:pPr>
            <a:r>
              <a:rPr lang="en"/>
              <a:t>Write cache - write back</a:t>
            </a:r>
            <a:endParaRPr/>
          </a:p>
          <a:p>
            <a:pPr indent="0" lvl="0" marL="0" rtl="0" algn="l">
              <a:spcBef>
                <a:spcPts val="1200"/>
              </a:spcBef>
              <a:spcAft>
                <a:spcPts val="1200"/>
              </a:spcAft>
              <a:buNone/>
            </a:pPr>
            <a:r>
              <a:rPr lang="en"/>
              <a:t>Read cache - commonly read blocks get cached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Filesystem</a:t>
            </a:r>
            <a:endParaRPr/>
          </a:p>
        </p:txBody>
      </p:sp>
      <p:sp>
        <p:nvSpPr>
          <p:cNvPr id="281" name="Google Shape;281;p4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When you create a logical volume it comes with no filesystem. You could even use it for swap.  To create a filesystem it’s the same whether on classical partitioning to sda1, sda2 etc or to a logical volume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Filesystem</a:t>
            </a:r>
            <a:endParaRPr/>
          </a:p>
        </p:txBody>
      </p:sp>
      <p:sp>
        <p:nvSpPr>
          <p:cNvPr id="287" name="Google Shape;287;p5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If creating a filesystem on your logical volumes you can list their </a:t>
            </a:r>
            <a:r>
              <a:rPr lang="en"/>
              <a:t>locations with </a:t>
            </a:r>
            <a:r>
              <a:rPr b="1" lang="en"/>
              <a:t>lvscan</a:t>
            </a:r>
            <a:r>
              <a:rPr lang="en"/>
              <a:t>.</a:t>
            </a:r>
            <a:r>
              <a:rPr lang="en"/>
              <a:t> </a:t>
            </a:r>
            <a:endParaRPr/>
          </a:p>
        </p:txBody>
      </p:sp>
      <p:pic>
        <p:nvPicPr>
          <p:cNvPr id="288" name="Google Shape;288;p50"/>
          <p:cNvPicPr preferRelativeResize="0"/>
          <p:nvPr/>
        </p:nvPicPr>
        <p:blipFill>
          <a:blip r:embed="rId3">
            <a:alphaModFix/>
          </a:blip>
          <a:stretch>
            <a:fillRect/>
          </a:stretch>
        </p:blipFill>
        <p:spPr>
          <a:xfrm>
            <a:off x="2159313" y="2503213"/>
            <a:ext cx="5076825" cy="9239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Filesystem - resizing</a:t>
            </a:r>
            <a:endParaRPr/>
          </a:p>
        </p:txBody>
      </p:sp>
      <p:sp>
        <p:nvSpPr>
          <p:cNvPr id="294" name="Google Shape;294;p5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Logical volumes can be either shrunk or grown to do so you’ll need to use</a:t>
            </a:r>
            <a:r>
              <a:rPr b="1" lang="en"/>
              <a:t> resize2fs</a:t>
            </a:r>
            <a:endParaRPr b="1"/>
          </a:p>
          <a:p>
            <a:pPr indent="0" lvl="0" marL="0" rtl="0" algn="l">
              <a:spcBef>
                <a:spcPts val="1200"/>
              </a:spcBef>
              <a:spcAft>
                <a:spcPts val="1200"/>
              </a:spcAft>
              <a:buNone/>
            </a:pPr>
            <a:r>
              <a:rPr lang="en"/>
              <a:t>If growing you run resize2fs after growing the partition, if shrinking it’s before removing extents.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Filesystems are wide ranging</a:t>
            </a:r>
            <a:endParaRPr/>
          </a:p>
        </p:txBody>
      </p:sp>
      <p:sp>
        <p:nvSpPr>
          <p:cNvPr id="300" name="Google Shape;300;p5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There are numerous filesystems, the </a:t>
            </a:r>
            <a:r>
              <a:rPr lang="en"/>
              <a:t>current</a:t>
            </a:r>
            <a:r>
              <a:rPr lang="en"/>
              <a:t> version of ext is ext4 but there are other types that really depend on their use cases. Research use cases for: </a:t>
            </a:r>
            <a:r>
              <a:rPr lang="en" u="sng">
                <a:solidFill>
                  <a:schemeClr val="hlink"/>
                </a:solidFill>
                <a:hlinkClick r:id="rId3"/>
              </a:rPr>
              <a:t>xfs and btrfs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Mount point</a:t>
            </a:r>
            <a:endParaRPr/>
          </a:p>
        </p:txBody>
      </p:sp>
      <p:sp>
        <p:nvSpPr>
          <p:cNvPr id="306" name="Google Shape;306;p5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Once you have created the filesystem you’ll need to add a mount point to /etc/fstab so it will be available upon subsequent restarts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 source: </a:t>
            </a:r>
            <a:r>
              <a:rPr lang="en" u="sng">
                <a:solidFill>
                  <a:schemeClr val="hlink"/>
                </a:solidFill>
                <a:hlinkClick r:id="rId3"/>
              </a:rPr>
              <a:t>Wikipedia</a:t>
            </a:r>
            <a:endParaRPr/>
          </a:p>
        </p:txBody>
      </p:sp>
      <p:sp>
        <p:nvSpPr>
          <p:cNvPr id="312" name="Google Shape;312;p5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313" name="Google Shape;313;p54"/>
          <p:cNvPicPr preferRelativeResize="0"/>
          <p:nvPr/>
        </p:nvPicPr>
        <p:blipFill>
          <a:blip r:embed="rId4">
            <a:alphaModFix/>
          </a:blip>
          <a:stretch>
            <a:fillRect/>
          </a:stretch>
        </p:blipFill>
        <p:spPr>
          <a:xfrm>
            <a:off x="3227339" y="965350"/>
            <a:ext cx="4098261" cy="412577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 Snapshot</a:t>
            </a:r>
            <a:endParaRPr/>
          </a:p>
        </p:txBody>
      </p:sp>
      <p:sp>
        <p:nvSpPr>
          <p:cNvPr id="319" name="Google Shape;319;p5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Using a feature called </a:t>
            </a:r>
            <a:r>
              <a:rPr lang="en" u="sng">
                <a:solidFill>
                  <a:schemeClr val="hlink"/>
                </a:solidFill>
                <a:hlinkClick r:id="rId3"/>
              </a:rPr>
              <a:t>copy on write</a:t>
            </a:r>
            <a:r>
              <a:rPr lang="en"/>
              <a:t> (COW) LVM supports snapshots.  Most common use case for a snapshot is when you need to backup a live system.  Imagine trying to capture a point in time backup of a system that is continuously changing through constant writes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 Snapshot</a:t>
            </a:r>
            <a:endParaRPr/>
          </a:p>
        </p:txBody>
      </p:sp>
      <p:sp>
        <p:nvSpPr>
          <p:cNvPr id="325" name="Google Shape;325;p5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Prior to performing a backup on a system it’s best practice to first take a snapshot.  Once you take a snapshot it becomes a brand new device that is treated like an other regular logical volume, you simply mount the logical volume.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 Snapshot</a:t>
            </a:r>
            <a:endParaRPr/>
          </a:p>
        </p:txBody>
      </p:sp>
      <p:sp>
        <p:nvSpPr>
          <p:cNvPr id="331" name="Google Shape;331;p5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Once you have mounted the filesystem you can begin the backup process by either compressing the entire contents or select directories and copying the archive to: file storage (shared drive), tape or more recently object storage.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 moving extents</a:t>
            </a:r>
            <a:endParaRPr/>
          </a:p>
        </p:txBody>
      </p:sp>
      <p:sp>
        <p:nvSpPr>
          <p:cNvPr id="337" name="Google Shape;337;p5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Two common lifecycle of a hard drive</a:t>
            </a:r>
            <a:endParaRPr/>
          </a:p>
          <a:p>
            <a:pPr indent="-342900" lvl="0" marL="457200" rtl="0" algn="l">
              <a:spcBef>
                <a:spcPts val="1200"/>
              </a:spcBef>
              <a:spcAft>
                <a:spcPts val="0"/>
              </a:spcAft>
              <a:buSzPts val="1800"/>
              <a:buChar char="●"/>
            </a:pPr>
            <a:r>
              <a:rPr lang="en"/>
              <a:t>Begins to approach end of life</a:t>
            </a:r>
            <a:endParaRPr/>
          </a:p>
          <a:p>
            <a:pPr indent="-342900" lvl="0" marL="457200" rtl="0" algn="l">
              <a:spcBef>
                <a:spcPts val="0"/>
              </a:spcBef>
              <a:spcAft>
                <a:spcPts val="0"/>
              </a:spcAft>
              <a:buSzPts val="1800"/>
              <a:buChar char="●"/>
            </a:pPr>
            <a:r>
              <a:rPr lang="en"/>
              <a:t>Management wishes to upgrade existing drives</a:t>
            </a:r>
            <a:endParaRPr/>
          </a:p>
          <a:p>
            <a:pPr indent="0" lvl="0" marL="457200" rtl="0" algn="l">
              <a:spcBef>
                <a:spcPts val="1200"/>
              </a:spcBef>
              <a:spcAft>
                <a:spcPts val="1200"/>
              </a:spcAft>
              <a:buNone/>
            </a:pPr>
            <a:r>
              <a:rPr lang="en"/>
              <a:t>Both cases we can easily replace drives with little to no downtime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 moving extents</a:t>
            </a:r>
            <a:endParaRPr/>
          </a:p>
        </p:txBody>
      </p:sp>
      <p:sp>
        <p:nvSpPr>
          <p:cNvPr id="343" name="Google Shape;343;p5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When installing a new drive using </a:t>
            </a:r>
            <a:r>
              <a:rPr b="1" lang="en"/>
              <a:t>pvmove</a:t>
            </a:r>
            <a:r>
              <a:rPr lang="en"/>
              <a:t> the extents can be moved from one drive to the other </a:t>
            </a:r>
            <a:r>
              <a:rPr b="1" lang="en"/>
              <a:t>without taking the volume group offline. </a:t>
            </a:r>
            <a:r>
              <a:rPr lang="en"/>
              <a:t>Once moved you may remove the old drive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6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a:t>
            </a:r>
            <a:endParaRPr/>
          </a:p>
        </p:txBody>
      </p:sp>
      <p:sp>
        <p:nvSpPr>
          <p:cNvPr id="349" name="Google Shape;349;p6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Usually cloud storage, you can however </a:t>
            </a:r>
            <a:r>
              <a:rPr lang="en" u="sng">
                <a:solidFill>
                  <a:schemeClr val="hlink"/>
                </a:solidFill>
                <a:hlinkClick r:id="rId3"/>
              </a:rPr>
              <a:t>roll your own</a:t>
            </a:r>
            <a:endParaRPr/>
          </a:p>
          <a:p>
            <a:pPr indent="-342900" lvl="0" marL="457200" rtl="0" algn="l">
              <a:spcBef>
                <a:spcPts val="0"/>
              </a:spcBef>
              <a:spcAft>
                <a:spcPts val="0"/>
              </a:spcAft>
              <a:buSzPts val="1800"/>
              <a:buChar char="●"/>
            </a:pPr>
            <a:r>
              <a:rPr lang="en"/>
              <a:t>If you require petabytes of storage</a:t>
            </a:r>
            <a:endParaRPr/>
          </a:p>
          <a:p>
            <a:pPr indent="-342900" lvl="0" marL="457200" rtl="0" algn="l">
              <a:spcBef>
                <a:spcPts val="0"/>
              </a:spcBef>
              <a:spcAft>
                <a:spcPts val="0"/>
              </a:spcAft>
              <a:buSzPts val="1800"/>
              <a:buChar char="●"/>
            </a:pPr>
            <a:r>
              <a:rPr lang="en"/>
              <a:t>A replacement for tape backup for some organizations</a:t>
            </a:r>
            <a:endParaRPr/>
          </a:p>
          <a:p>
            <a:pPr indent="-342900" lvl="0" marL="457200" rtl="0" algn="l">
              <a:spcBef>
                <a:spcPts val="0"/>
              </a:spcBef>
              <a:spcAft>
                <a:spcPts val="0"/>
              </a:spcAft>
              <a:buSzPts val="1800"/>
              <a:buChar char="●"/>
            </a:pPr>
            <a:r>
              <a:rPr lang="en"/>
              <a:t>Typically off site storage</a:t>
            </a:r>
            <a:endParaRPr/>
          </a:p>
          <a:p>
            <a:pPr indent="-342900" lvl="0" marL="457200" rtl="0" algn="l">
              <a:spcBef>
                <a:spcPts val="0"/>
              </a:spcBef>
              <a:spcAft>
                <a:spcPts val="0"/>
              </a:spcAft>
              <a:buSzPts val="1800"/>
              <a:buChar char="●"/>
            </a:pPr>
            <a:r>
              <a:rPr lang="en"/>
              <a:t>Heavily distributed</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6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solidFill>
                  <a:schemeClr val="hlink"/>
                </a:solidFill>
                <a:hlinkClick r:id="rId3"/>
              </a:rPr>
              <a:t>Tape</a:t>
            </a:r>
            <a:endParaRPr/>
          </a:p>
        </p:txBody>
      </p:sp>
      <p:sp>
        <p:nvSpPr>
          <p:cNvPr id="355" name="Google Shape;355;p6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-Easy to move off site </a:t>
            </a:r>
            <a:r>
              <a:rPr b="1" lang="en"/>
              <a:t>without network access</a:t>
            </a:r>
            <a:endParaRPr b="1"/>
          </a:p>
          <a:p>
            <a:pPr indent="0" lvl="0" marL="0" rtl="0" algn="l">
              <a:spcBef>
                <a:spcPts val="1200"/>
              </a:spcBef>
              <a:spcAft>
                <a:spcPts val="0"/>
              </a:spcAft>
              <a:buNone/>
            </a:pPr>
            <a:r>
              <a:rPr lang="en"/>
              <a:t>-Still common today</a:t>
            </a:r>
            <a:endParaRPr/>
          </a:p>
          <a:p>
            <a:pPr indent="0" lvl="0" marL="0" rtl="0" algn="l">
              <a:spcBef>
                <a:spcPts val="1200"/>
              </a:spcBef>
              <a:spcAft>
                <a:spcPts val="1200"/>
              </a:spcAft>
              <a:buNone/>
            </a:pPr>
            <a:r>
              <a:rPr lang="en"/>
              <a:t>-2021 Linear Tape-Open (</a:t>
            </a:r>
            <a:r>
              <a:rPr lang="en" u="sng">
                <a:solidFill>
                  <a:schemeClr val="hlink"/>
                </a:solidFill>
                <a:hlinkClick r:id="rId4"/>
              </a:rPr>
              <a:t>LTO</a:t>
            </a:r>
            <a:r>
              <a:rPr lang="en"/>
              <a:t>-9) stores 18TB </a:t>
            </a:r>
            <a:r>
              <a:rPr b="1" lang="en"/>
              <a:t>per tape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6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tar utility has tape in its name! </a:t>
            </a:r>
            <a:endParaRPr/>
          </a:p>
        </p:txBody>
      </p:sp>
      <p:sp>
        <p:nvSpPr>
          <p:cNvPr id="361" name="Google Shape;361;p6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Tar stands for </a:t>
            </a:r>
            <a:r>
              <a:rPr b="1" lang="en"/>
              <a:t>ta</a:t>
            </a:r>
            <a:r>
              <a:rPr lang="en"/>
              <a:t>pe </a:t>
            </a:r>
            <a:r>
              <a:rPr b="1" lang="en"/>
              <a:t>ar</a:t>
            </a:r>
            <a:r>
              <a:rPr lang="en"/>
              <a:t>chiver</a:t>
            </a:r>
            <a:endParaRPr/>
          </a:p>
        </p:txBody>
      </p:sp>
      <p:pic>
        <p:nvPicPr>
          <p:cNvPr id="362" name="Google Shape;362;p62"/>
          <p:cNvPicPr preferRelativeResize="0"/>
          <p:nvPr/>
        </p:nvPicPr>
        <p:blipFill>
          <a:blip r:embed="rId3">
            <a:alphaModFix/>
          </a:blip>
          <a:stretch>
            <a:fillRect/>
          </a:stretch>
        </p:blipFill>
        <p:spPr>
          <a:xfrm>
            <a:off x="1557338" y="2005013"/>
            <a:ext cx="6029325" cy="11334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LVM for everything!</a:t>
            </a:r>
            <a:endParaRPr/>
          </a:p>
        </p:txBody>
      </p:sp>
      <p:sp>
        <p:nvSpPr>
          <p:cNvPr id="368" name="Google Shape;368;p6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Not so fast.  Read this </a:t>
            </a:r>
            <a:r>
              <a:rPr lang="en" u="sng">
                <a:solidFill>
                  <a:schemeClr val="hlink"/>
                </a:solidFill>
                <a:hlinkClick r:id="rId3"/>
              </a:rPr>
              <a:t>clear warning</a:t>
            </a:r>
            <a:r>
              <a:rPr lang="en"/>
              <a:t>.</a:t>
            </a:r>
            <a:endParaRPr/>
          </a:p>
          <a:p>
            <a:pPr indent="0" lvl="0" marL="0" rtl="0" algn="l">
              <a:spcBef>
                <a:spcPts val="1200"/>
              </a:spcBef>
              <a:spcAft>
                <a:spcPts val="1200"/>
              </a:spcAft>
              <a:buNone/>
            </a:pPr>
            <a:r>
              <a:rPr lang="en"/>
              <a:t>LVM has its use cases. If on bare metal ease of resizing and hot swapping is useful but as a VM the hypervisors host takes care of those which mostly leaves snapshots for backups as a useful feature.  When building systems plan accordingly!</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