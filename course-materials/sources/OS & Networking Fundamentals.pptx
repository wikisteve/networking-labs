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embeddedFontLst>
    <p:embeddedFont>
      <p:font typeface="Amatic SC"/>
      <p:regular r:id="rId38"/>
      <p:bold r:id="rId39"/>
    </p:embeddedFont>
    <p:embeddedFont>
      <p:font typeface="Source Code Pr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urceCodePro-regular.fntdata"/><Relationship Id="rId20" Type="http://schemas.openxmlformats.org/officeDocument/2006/relationships/slide" Target="slides/slide15.xml"/><Relationship Id="rId42" Type="http://schemas.openxmlformats.org/officeDocument/2006/relationships/font" Target="fonts/SourceCodePro-italic.fntdata"/><Relationship Id="rId41" Type="http://schemas.openxmlformats.org/officeDocument/2006/relationships/font" Target="fonts/SourceCodePro-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SourceCodePro-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AmaticSC-bold.fntdata"/><Relationship Id="rId16" Type="http://schemas.openxmlformats.org/officeDocument/2006/relationships/slide" Target="slides/slide11.xml"/><Relationship Id="rId38" Type="http://schemas.openxmlformats.org/officeDocument/2006/relationships/font" Target="fonts/AmaticSC-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f7e2016284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f7e2016284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f7e2016284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f7e201628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1f7e2016284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1f7e2016284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f7e2016284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1f7e2016284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f7e2016284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f7e2016284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f7e2016284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f7e2016284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1f7e2016284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1f7e2016284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f7e2016284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f7e2016284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f7e2016284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f7e2016284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f7e2016284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f7e2016284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f7e2016284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f7e2016284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f7e2016284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f7e2016284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1f7e2016284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1f7e2016284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f7e2016284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f7e2016284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f7e2016284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f7e2016284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f7e2016284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f7e2016284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f7e2016284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f7e2016284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f7e2016284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f7e2016284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1f7e2016284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1f7e2016284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f7e2016284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f7e2016284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1f7e2016284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1f7e2016284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f7e2016284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f7e2016284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f7e2016284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f7e2016284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f7e34f4092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f7e34f4092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1f7e34f409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1f7e34f409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f7e34f409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f7e34f409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f7e34f4092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f7e34f4092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f7e34f4092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f7e34f4092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f7e2016284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f7e201628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f7e34f409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f7e34f409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f7e2016284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f7e2016284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en.wikipedia.org/wiki/Operating_system" TargetMode="External"/><Relationship Id="rId4" Type="http://schemas.openxmlformats.org/officeDocument/2006/relationships/hyperlink" Target="https://en.wikipedia.org/wiki/OSI_model" TargetMode="External"/><Relationship Id="rId5" Type="http://schemas.openxmlformats.org/officeDocument/2006/relationships/hyperlink" Target="https://en.wikipedia.org/wiki/OSI_model#Comparison_with_TCP/IP_mode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OS &amp; Networking Fundamentals</a:t>
            </a:r>
            <a:endParaRPr/>
          </a:p>
        </p:txBody>
      </p:sp>
      <p:sp>
        <p:nvSpPr>
          <p:cNvPr id="57" name="Google Shape;57;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lnSpcReduction="20000"/>
          </a:bodyPr>
          <a:lstStyle/>
          <a:p>
            <a:pPr indent="0" lvl="0" marL="0" rtl="0" algn="ctr">
              <a:spcBef>
                <a:spcPts val="0"/>
              </a:spcBef>
              <a:spcAft>
                <a:spcPts val="0"/>
              </a:spcAft>
              <a:buNone/>
            </a:pPr>
            <a:r>
              <a:rPr lang="en"/>
              <a:t>Sailing Through Systems, Networking the Seas of Data.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Operating Systems</a:t>
            </a:r>
            <a:endParaRPr/>
          </a:p>
        </p:txBody>
      </p:sp>
      <p:sp>
        <p:nvSpPr>
          <p:cNvPr id="63" name="Google Shape;63;p1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55600" lvl="0" marL="457200" rtl="0" algn="l">
              <a:spcBef>
                <a:spcPts val="1200"/>
              </a:spcBef>
              <a:spcAft>
                <a:spcPts val="0"/>
              </a:spcAft>
              <a:buClr>
                <a:srgbClr val="000000"/>
              </a:buClr>
              <a:buSzPts val="2000"/>
              <a:buFont typeface="Arial"/>
              <a:buChar char="●"/>
            </a:pPr>
            <a:r>
              <a:rPr lang="en" sz="2000">
                <a:solidFill>
                  <a:srgbClr val="000000"/>
                </a:solidFill>
                <a:latin typeface="Arial"/>
                <a:ea typeface="Arial"/>
                <a:cs typeface="Arial"/>
                <a:sym typeface="Arial"/>
              </a:rPr>
              <a:t>Software that manages computer hardware and software resources.</a:t>
            </a:r>
            <a:endParaRPr sz="2000">
              <a:solidFill>
                <a:srgbClr val="000000"/>
              </a:solidFill>
              <a:latin typeface="Arial"/>
              <a:ea typeface="Arial"/>
              <a:cs typeface="Arial"/>
              <a:sym typeface="Arial"/>
            </a:endParaRPr>
          </a:p>
          <a:p>
            <a:pPr indent="-355600" lvl="0" marL="457200" rtl="0" algn="l">
              <a:spcBef>
                <a:spcPts val="0"/>
              </a:spcBef>
              <a:spcAft>
                <a:spcPts val="0"/>
              </a:spcAft>
              <a:buClr>
                <a:srgbClr val="000000"/>
              </a:buClr>
              <a:buSzPts val="2000"/>
              <a:buFont typeface="Arial"/>
              <a:buChar char="●"/>
            </a:pPr>
            <a:r>
              <a:rPr b="1" lang="en" sz="2000">
                <a:solidFill>
                  <a:srgbClr val="000000"/>
                </a:solidFill>
                <a:latin typeface="Arial"/>
                <a:ea typeface="Arial"/>
                <a:cs typeface="Arial"/>
                <a:sym typeface="Arial"/>
              </a:rPr>
              <a:t>Functions</a:t>
            </a:r>
            <a:r>
              <a:rPr lang="en" sz="2000">
                <a:solidFill>
                  <a:srgbClr val="000000"/>
                </a:solidFill>
                <a:latin typeface="Arial"/>
                <a:ea typeface="Arial"/>
                <a:cs typeface="Arial"/>
                <a:sym typeface="Arial"/>
              </a:rPr>
              <a:t>:</a:t>
            </a:r>
            <a:endParaRPr sz="2000">
              <a:solidFill>
                <a:srgbClr val="000000"/>
              </a:solidFill>
              <a:latin typeface="Arial"/>
              <a:ea typeface="Arial"/>
              <a:cs typeface="Arial"/>
              <a:sym typeface="Arial"/>
            </a:endParaRPr>
          </a:p>
          <a:p>
            <a:pPr indent="-355600" lvl="1" marL="914400" rtl="0" algn="l">
              <a:spcBef>
                <a:spcPts val="0"/>
              </a:spcBef>
              <a:spcAft>
                <a:spcPts val="0"/>
              </a:spcAft>
              <a:buClr>
                <a:srgbClr val="000000"/>
              </a:buClr>
              <a:buSzPts val="2000"/>
              <a:buFont typeface="Arial"/>
              <a:buChar char="○"/>
            </a:pPr>
            <a:r>
              <a:rPr b="1" lang="en" sz="2000">
                <a:solidFill>
                  <a:srgbClr val="000000"/>
                </a:solidFill>
                <a:latin typeface="Arial"/>
                <a:ea typeface="Arial"/>
                <a:cs typeface="Arial"/>
                <a:sym typeface="Arial"/>
              </a:rPr>
              <a:t>Resource Management</a:t>
            </a:r>
            <a:r>
              <a:rPr lang="en" sz="2000">
                <a:solidFill>
                  <a:srgbClr val="000000"/>
                </a:solidFill>
                <a:latin typeface="Arial"/>
                <a:ea typeface="Arial"/>
                <a:cs typeface="Arial"/>
                <a:sym typeface="Arial"/>
              </a:rPr>
              <a:t>: Manages hardware and software resources.</a:t>
            </a:r>
            <a:endParaRPr sz="2000">
              <a:solidFill>
                <a:srgbClr val="000000"/>
              </a:solidFill>
              <a:latin typeface="Arial"/>
              <a:ea typeface="Arial"/>
              <a:cs typeface="Arial"/>
              <a:sym typeface="Arial"/>
            </a:endParaRPr>
          </a:p>
          <a:p>
            <a:pPr indent="-355600" lvl="1" marL="914400" rtl="0" algn="l">
              <a:spcBef>
                <a:spcPts val="0"/>
              </a:spcBef>
              <a:spcAft>
                <a:spcPts val="0"/>
              </a:spcAft>
              <a:buClr>
                <a:srgbClr val="000000"/>
              </a:buClr>
              <a:buSzPts val="2000"/>
              <a:buFont typeface="Arial"/>
              <a:buChar char="○"/>
            </a:pPr>
            <a:r>
              <a:rPr b="1" lang="en" sz="2000">
                <a:solidFill>
                  <a:srgbClr val="000000"/>
                </a:solidFill>
                <a:latin typeface="Arial"/>
                <a:ea typeface="Arial"/>
                <a:cs typeface="Arial"/>
                <a:sym typeface="Arial"/>
              </a:rPr>
              <a:t>User Interface</a:t>
            </a:r>
            <a:r>
              <a:rPr lang="en" sz="2000">
                <a:solidFill>
                  <a:srgbClr val="000000"/>
                </a:solidFill>
                <a:latin typeface="Arial"/>
                <a:ea typeface="Arial"/>
                <a:cs typeface="Arial"/>
                <a:sym typeface="Arial"/>
              </a:rPr>
              <a:t>: Allows user interaction with the machine.</a:t>
            </a:r>
            <a:endParaRPr sz="2000">
              <a:solidFill>
                <a:srgbClr val="000000"/>
              </a:solidFill>
              <a:latin typeface="Arial"/>
              <a:ea typeface="Arial"/>
              <a:cs typeface="Arial"/>
              <a:sym typeface="Arial"/>
            </a:endParaRPr>
          </a:p>
          <a:p>
            <a:pPr indent="-355600" lvl="1" marL="914400" rtl="0" algn="l">
              <a:spcBef>
                <a:spcPts val="0"/>
              </a:spcBef>
              <a:spcAft>
                <a:spcPts val="0"/>
              </a:spcAft>
              <a:buClr>
                <a:srgbClr val="000000"/>
              </a:buClr>
              <a:buSzPts val="2000"/>
              <a:buFont typeface="Arial"/>
              <a:buChar char="○"/>
            </a:pPr>
            <a:r>
              <a:rPr b="1" lang="en" sz="2000">
                <a:solidFill>
                  <a:srgbClr val="000000"/>
                </a:solidFill>
                <a:latin typeface="Arial"/>
                <a:ea typeface="Arial"/>
                <a:cs typeface="Arial"/>
                <a:sym typeface="Arial"/>
              </a:rPr>
              <a:t>File Management</a:t>
            </a:r>
            <a:r>
              <a:rPr lang="en" sz="2000">
                <a:solidFill>
                  <a:srgbClr val="000000"/>
                </a:solidFill>
                <a:latin typeface="Arial"/>
                <a:ea typeface="Arial"/>
                <a:cs typeface="Arial"/>
                <a:sym typeface="Arial"/>
              </a:rPr>
              <a:t>: Manages file operations.</a:t>
            </a:r>
            <a:endParaRPr sz="23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Operating Systems: Resource Management </a:t>
            </a:r>
            <a:endParaRPr/>
          </a:p>
        </p:txBody>
      </p:sp>
      <p:sp>
        <p:nvSpPr>
          <p:cNvPr id="69" name="Google Shape;69;p15"/>
          <p:cNvSpPr txBox="1"/>
          <p:nvPr>
            <p:ph idx="1" type="body"/>
          </p:nvPr>
        </p:nvSpPr>
        <p:spPr>
          <a:xfrm>
            <a:off x="311700" y="1228675"/>
            <a:ext cx="59583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solidFill>
                  <a:srgbClr val="000000"/>
                </a:solidFill>
                <a:latin typeface="Arial"/>
                <a:ea typeface="Arial"/>
                <a:cs typeface="Arial"/>
                <a:sym typeface="Arial"/>
              </a:rPr>
              <a:t>CPU Scheduling</a:t>
            </a:r>
            <a:r>
              <a:rPr lang="en">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42900" lvl="0" marL="457200" rtl="0" algn="l">
              <a:spcBef>
                <a:spcPts val="1200"/>
              </a:spcBef>
              <a:spcAft>
                <a:spcPts val="0"/>
              </a:spcAft>
              <a:buClr>
                <a:srgbClr val="000000"/>
              </a:buClr>
              <a:buSzPts val="1800"/>
              <a:buFont typeface="Arial"/>
              <a:buChar char="●"/>
            </a:pPr>
            <a:r>
              <a:rPr lang="en">
                <a:solidFill>
                  <a:srgbClr val="000000"/>
                </a:solidFill>
                <a:latin typeface="Arial"/>
                <a:ea typeface="Arial"/>
                <a:cs typeface="Arial"/>
                <a:sym typeface="Arial"/>
              </a:rPr>
              <a:t>The OS is responsible for deciding which processes and programs receive CPU time, when they receive it, and for how long. This involves complex scheduling algorithms to ensure efficient, fair, and productive CPU use.</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b="1" lang="en">
                <a:solidFill>
                  <a:srgbClr val="000000"/>
                </a:solidFill>
                <a:latin typeface="Arial"/>
                <a:ea typeface="Arial"/>
                <a:cs typeface="Arial"/>
                <a:sym typeface="Arial"/>
              </a:rPr>
              <a:t>Example</a:t>
            </a:r>
            <a:r>
              <a:rPr lang="en">
                <a:solidFill>
                  <a:srgbClr val="000000"/>
                </a:solidFill>
                <a:latin typeface="Arial"/>
                <a:ea typeface="Arial"/>
                <a:cs typeface="Arial"/>
                <a:sym typeface="Arial"/>
              </a:rPr>
              <a:t>: Round-robin, priority-based scheduling, and multilevel queue scheduling are common algorithms used.</a:t>
            </a:r>
            <a:endParaRPr sz="2500"/>
          </a:p>
        </p:txBody>
      </p:sp>
      <p:pic>
        <p:nvPicPr>
          <p:cNvPr id="70" name="Google Shape;70;p15"/>
          <p:cNvPicPr preferRelativeResize="0"/>
          <p:nvPr/>
        </p:nvPicPr>
        <p:blipFill>
          <a:blip r:embed="rId3">
            <a:alphaModFix/>
          </a:blip>
          <a:stretch>
            <a:fillRect/>
          </a:stretch>
        </p:blipFill>
        <p:spPr>
          <a:xfrm>
            <a:off x="6270063" y="1184275"/>
            <a:ext cx="2562225" cy="3429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Operating Systems: Resource Management </a:t>
            </a:r>
            <a:endParaRPr/>
          </a:p>
        </p:txBody>
      </p:sp>
      <p:sp>
        <p:nvSpPr>
          <p:cNvPr id="76" name="Google Shape;76;p16"/>
          <p:cNvSpPr txBox="1"/>
          <p:nvPr>
            <p:ph idx="1" type="body"/>
          </p:nvPr>
        </p:nvSpPr>
        <p:spPr>
          <a:xfrm>
            <a:off x="311700" y="1228675"/>
            <a:ext cx="5958300" cy="33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rgbClr val="000000"/>
                </a:solidFill>
                <a:latin typeface="Arial"/>
                <a:ea typeface="Arial"/>
                <a:cs typeface="Arial"/>
                <a:sym typeface="Arial"/>
              </a:rPr>
              <a:t>Memory Management</a:t>
            </a:r>
            <a:r>
              <a:rPr lang="en"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317500" lvl="0" marL="457200" rtl="0" algn="l">
              <a:spcBef>
                <a:spcPts val="1200"/>
              </a:spcBef>
              <a:spcAft>
                <a:spcPts val="0"/>
              </a:spcAft>
              <a:buClr>
                <a:srgbClr val="000000"/>
              </a:buClr>
              <a:buSzPts val="1400"/>
              <a:buFont typeface="Arial"/>
              <a:buChar char="●"/>
            </a:pPr>
            <a:r>
              <a:rPr lang="en" sz="1400">
                <a:solidFill>
                  <a:srgbClr val="000000"/>
                </a:solidFill>
                <a:latin typeface="Arial"/>
                <a:ea typeface="Arial"/>
                <a:cs typeface="Arial"/>
                <a:sym typeface="Arial"/>
              </a:rPr>
              <a:t>The OS handles allocation and deallocation of memory space as needed by various applications. This ensures that the system's memory is used effectively without causing conflicts or memory leaks.</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Key Functions</a:t>
            </a:r>
            <a:r>
              <a:rPr lang="en"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317500" lvl="1" marL="914400" rtl="0" algn="l">
              <a:spcBef>
                <a:spcPts val="0"/>
              </a:spcBef>
              <a:spcAft>
                <a:spcPts val="0"/>
              </a:spcAft>
              <a:buClr>
                <a:srgbClr val="000000"/>
              </a:buClr>
              <a:buSzPts val="1400"/>
              <a:buFont typeface="Arial"/>
              <a:buChar char="○"/>
            </a:pPr>
            <a:r>
              <a:rPr b="1" lang="en">
                <a:solidFill>
                  <a:srgbClr val="000000"/>
                </a:solidFill>
                <a:latin typeface="Arial"/>
                <a:ea typeface="Arial"/>
                <a:cs typeface="Arial"/>
                <a:sym typeface="Arial"/>
              </a:rPr>
              <a:t>Virtual Memory</a:t>
            </a:r>
            <a:r>
              <a:rPr lang="en">
                <a:solidFill>
                  <a:srgbClr val="000000"/>
                </a:solidFill>
                <a:latin typeface="Arial"/>
                <a:ea typeface="Arial"/>
                <a:cs typeface="Arial"/>
                <a:sym typeface="Arial"/>
              </a:rPr>
              <a:t>: Extends the physical memory on a computer by using a portion of the disk space as a temporary holding area for data that cannot fit into RAM.</a:t>
            </a:r>
            <a:endParaRPr>
              <a:solidFill>
                <a:srgbClr val="000000"/>
              </a:solidFill>
              <a:latin typeface="Arial"/>
              <a:ea typeface="Arial"/>
              <a:cs typeface="Arial"/>
              <a:sym typeface="Arial"/>
            </a:endParaRPr>
          </a:p>
          <a:p>
            <a:pPr indent="-317500" lvl="1" marL="914400" rtl="0" algn="l">
              <a:spcBef>
                <a:spcPts val="0"/>
              </a:spcBef>
              <a:spcAft>
                <a:spcPts val="0"/>
              </a:spcAft>
              <a:buClr>
                <a:srgbClr val="000000"/>
              </a:buClr>
              <a:buSzPts val="1400"/>
              <a:buFont typeface="Arial"/>
              <a:buChar char="○"/>
            </a:pPr>
            <a:r>
              <a:rPr b="1" lang="en">
                <a:solidFill>
                  <a:srgbClr val="000000"/>
                </a:solidFill>
                <a:latin typeface="Arial"/>
                <a:ea typeface="Arial"/>
                <a:cs typeface="Arial"/>
                <a:sym typeface="Arial"/>
              </a:rPr>
              <a:t>Swapping</a:t>
            </a:r>
            <a:r>
              <a:rPr lang="en">
                <a:solidFill>
                  <a:srgbClr val="000000"/>
                </a:solidFill>
                <a:latin typeface="Arial"/>
                <a:ea typeface="Arial"/>
                <a:cs typeface="Arial"/>
                <a:sym typeface="Arial"/>
              </a:rPr>
              <a:t>: Involves moving parts of programs from the main memory to a secondary disk (swap space) to make space for other programs in the main memory, thus optimizing RAM usage.</a:t>
            </a:r>
            <a:endParaRPr sz="1700"/>
          </a:p>
        </p:txBody>
      </p:sp>
      <p:pic>
        <p:nvPicPr>
          <p:cNvPr id="77" name="Google Shape;77;p16"/>
          <p:cNvPicPr preferRelativeResize="0"/>
          <p:nvPr/>
        </p:nvPicPr>
        <p:blipFill>
          <a:blip r:embed="rId3">
            <a:alphaModFix/>
          </a:blip>
          <a:stretch>
            <a:fillRect/>
          </a:stretch>
        </p:blipFill>
        <p:spPr>
          <a:xfrm>
            <a:off x="6270063" y="1184275"/>
            <a:ext cx="2562225" cy="3429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Operating Systems: Resource Management </a:t>
            </a:r>
            <a:endParaRPr/>
          </a:p>
        </p:txBody>
      </p:sp>
      <p:sp>
        <p:nvSpPr>
          <p:cNvPr id="83" name="Google Shape;83;p17"/>
          <p:cNvSpPr txBox="1"/>
          <p:nvPr>
            <p:ph idx="1" type="body"/>
          </p:nvPr>
        </p:nvSpPr>
        <p:spPr>
          <a:xfrm>
            <a:off x="311700" y="1228675"/>
            <a:ext cx="59583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900">
                <a:solidFill>
                  <a:srgbClr val="000000"/>
                </a:solidFill>
                <a:latin typeface="Arial"/>
                <a:ea typeface="Arial"/>
                <a:cs typeface="Arial"/>
                <a:sym typeface="Arial"/>
              </a:rPr>
              <a:t>Disk Management</a:t>
            </a:r>
            <a:r>
              <a:rPr lang="en" sz="1900">
                <a:solidFill>
                  <a:srgbClr val="000000"/>
                </a:solidFill>
                <a:latin typeface="Arial"/>
                <a:ea typeface="Arial"/>
                <a:cs typeface="Arial"/>
                <a:sym typeface="Arial"/>
              </a:rPr>
              <a:t>:</a:t>
            </a:r>
            <a:endParaRPr sz="1900">
              <a:solidFill>
                <a:srgbClr val="000000"/>
              </a:solidFill>
              <a:latin typeface="Arial"/>
              <a:ea typeface="Arial"/>
              <a:cs typeface="Arial"/>
              <a:sym typeface="Arial"/>
            </a:endParaRPr>
          </a:p>
          <a:p>
            <a:pPr indent="-349250" lvl="0" marL="457200" rtl="0" algn="l">
              <a:spcBef>
                <a:spcPts val="1200"/>
              </a:spcBef>
              <a:spcAft>
                <a:spcPts val="0"/>
              </a:spcAft>
              <a:buClr>
                <a:srgbClr val="000000"/>
              </a:buClr>
              <a:buSzPts val="1900"/>
              <a:buFont typeface="Arial"/>
              <a:buChar char="●"/>
            </a:pPr>
            <a:r>
              <a:rPr lang="en" sz="1900">
                <a:solidFill>
                  <a:srgbClr val="000000"/>
                </a:solidFill>
                <a:latin typeface="Arial"/>
                <a:ea typeface="Arial"/>
                <a:cs typeface="Arial"/>
                <a:sym typeface="Arial"/>
              </a:rPr>
              <a:t>Manages data storage and retrieval on disk drives. This includes managing the physical and logical partitions, overseeing file systems, and handling reading and writing operations.</a:t>
            </a:r>
            <a:endParaRPr sz="1900">
              <a:solidFill>
                <a:srgbClr val="000000"/>
              </a:solidFill>
              <a:latin typeface="Arial"/>
              <a:ea typeface="Arial"/>
              <a:cs typeface="Arial"/>
              <a:sym typeface="Arial"/>
            </a:endParaRPr>
          </a:p>
          <a:p>
            <a:pPr indent="-349250" lvl="0" marL="457200" rtl="0" algn="l">
              <a:spcBef>
                <a:spcPts val="0"/>
              </a:spcBef>
              <a:spcAft>
                <a:spcPts val="0"/>
              </a:spcAft>
              <a:buClr>
                <a:srgbClr val="000000"/>
              </a:buClr>
              <a:buSzPts val="1900"/>
              <a:buFont typeface="Arial"/>
              <a:buChar char="●"/>
            </a:pPr>
            <a:r>
              <a:rPr b="1" lang="en" sz="1900">
                <a:solidFill>
                  <a:srgbClr val="000000"/>
                </a:solidFill>
                <a:latin typeface="Arial"/>
                <a:ea typeface="Arial"/>
                <a:cs typeface="Arial"/>
                <a:sym typeface="Arial"/>
              </a:rPr>
              <a:t>File System Management</a:t>
            </a:r>
            <a:r>
              <a:rPr lang="en" sz="1900">
                <a:solidFill>
                  <a:srgbClr val="000000"/>
                </a:solidFill>
                <a:latin typeface="Arial"/>
                <a:ea typeface="Arial"/>
                <a:cs typeface="Arial"/>
                <a:sym typeface="Arial"/>
              </a:rPr>
              <a:t>: Responsible for organizing files in directories and keeping track of which areas of memory are available, which are reserved, and which have been freed up.</a:t>
            </a:r>
            <a:endParaRPr sz="2600"/>
          </a:p>
        </p:txBody>
      </p:sp>
      <p:pic>
        <p:nvPicPr>
          <p:cNvPr id="84" name="Google Shape;84;p17"/>
          <p:cNvPicPr preferRelativeResize="0"/>
          <p:nvPr/>
        </p:nvPicPr>
        <p:blipFill>
          <a:blip r:embed="rId3">
            <a:alphaModFix/>
          </a:blip>
          <a:stretch>
            <a:fillRect/>
          </a:stretch>
        </p:blipFill>
        <p:spPr>
          <a:xfrm>
            <a:off x="6270063" y="1184275"/>
            <a:ext cx="2562225" cy="3429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Operating Systems: Resource Management </a:t>
            </a:r>
            <a:endParaRPr/>
          </a:p>
        </p:txBody>
      </p:sp>
      <p:sp>
        <p:nvSpPr>
          <p:cNvPr id="90" name="Google Shape;90;p18"/>
          <p:cNvSpPr txBox="1"/>
          <p:nvPr>
            <p:ph idx="1" type="body"/>
          </p:nvPr>
        </p:nvSpPr>
        <p:spPr>
          <a:xfrm>
            <a:off x="311700" y="1228675"/>
            <a:ext cx="5958300" cy="3340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900">
                <a:solidFill>
                  <a:srgbClr val="000000"/>
                </a:solidFill>
                <a:latin typeface="Arial"/>
                <a:ea typeface="Arial"/>
                <a:cs typeface="Arial"/>
                <a:sym typeface="Arial"/>
              </a:rPr>
              <a:t>I/O System Management</a:t>
            </a:r>
            <a:r>
              <a:rPr lang="en" sz="1900">
                <a:solidFill>
                  <a:srgbClr val="000000"/>
                </a:solidFill>
                <a:latin typeface="Arial"/>
                <a:ea typeface="Arial"/>
                <a:cs typeface="Arial"/>
                <a:sym typeface="Arial"/>
              </a:rPr>
              <a:t>:</a:t>
            </a:r>
            <a:endParaRPr sz="1900">
              <a:solidFill>
                <a:srgbClr val="000000"/>
              </a:solidFill>
              <a:latin typeface="Arial"/>
              <a:ea typeface="Arial"/>
              <a:cs typeface="Arial"/>
              <a:sym typeface="Arial"/>
            </a:endParaRPr>
          </a:p>
          <a:p>
            <a:pPr indent="-349250" lvl="0" marL="457200" rtl="0" algn="l">
              <a:spcBef>
                <a:spcPts val="1200"/>
              </a:spcBef>
              <a:spcAft>
                <a:spcPts val="0"/>
              </a:spcAft>
              <a:buClr>
                <a:srgbClr val="000000"/>
              </a:buClr>
              <a:buSzPts val="1900"/>
              <a:buFont typeface="Arial"/>
              <a:buChar char="●"/>
            </a:pPr>
            <a:r>
              <a:rPr lang="en" sz="1900">
                <a:solidFill>
                  <a:srgbClr val="000000"/>
                </a:solidFill>
                <a:latin typeface="Arial"/>
                <a:ea typeface="Arial"/>
                <a:cs typeface="Arial"/>
                <a:sym typeface="Arial"/>
              </a:rPr>
              <a:t>Oversees all input and output device operations. This involves providing a buffer for I/O operations and ensuring that drivers are correctly interfaced with the corresponding devices.</a:t>
            </a:r>
            <a:endParaRPr sz="1900">
              <a:solidFill>
                <a:srgbClr val="000000"/>
              </a:solidFill>
              <a:latin typeface="Arial"/>
              <a:ea typeface="Arial"/>
              <a:cs typeface="Arial"/>
              <a:sym typeface="Arial"/>
            </a:endParaRPr>
          </a:p>
          <a:p>
            <a:pPr indent="-349250" lvl="0" marL="457200" rtl="0" algn="l">
              <a:spcBef>
                <a:spcPts val="0"/>
              </a:spcBef>
              <a:spcAft>
                <a:spcPts val="0"/>
              </a:spcAft>
              <a:buClr>
                <a:srgbClr val="000000"/>
              </a:buClr>
              <a:buSzPts val="1900"/>
              <a:buFont typeface="Arial"/>
              <a:buChar char="●"/>
            </a:pPr>
            <a:r>
              <a:rPr b="1" lang="en" sz="1900">
                <a:solidFill>
                  <a:srgbClr val="000000"/>
                </a:solidFill>
                <a:latin typeface="Arial"/>
                <a:ea typeface="Arial"/>
                <a:cs typeface="Arial"/>
                <a:sym typeface="Arial"/>
              </a:rPr>
              <a:t>Device Drivers</a:t>
            </a:r>
            <a:r>
              <a:rPr lang="en" sz="1900">
                <a:solidFill>
                  <a:srgbClr val="000000"/>
                </a:solidFill>
                <a:latin typeface="Arial"/>
                <a:ea typeface="Arial"/>
                <a:cs typeface="Arial"/>
                <a:sym typeface="Arial"/>
              </a:rPr>
              <a:t>: The OS uses device drivers to standardize application programming interfaces (APIs) for the hardware devices, which simplifies programming across varied hardware systems.</a:t>
            </a:r>
            <a:endParaRPr sz="3400"/>
          </a:p>
        </p:txBody>
      </p:sp>
      <p:pic>
        <p:nvPicPr>
          <p:cNvPr id="91" name="Google Shape;91;p18"/>
          <p:cNvPicPr preferRelativeResize="0"/>
          <p:nvPr/>
        </p:nvPicPr>
        <p:blipFill>
          <a:blip r:embed="rId3">
            <a:alphaModFix/>
          </a:blip>
          <a:stretch>
            <a:fillRect/>
          </a:stretch>
        </p:blipFill>
        <p:spPr>
          <a:xfrm>
            <a:off x="6270000" y="1246250"/>
            <a:ext cx="2721600" cy="21496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Role of the Kernel in Operating Systems</a:t>
            </a:r>
            <a:endParaRPr/>
          </a:p>
        </p:txBody>
      </p:sp>
      <p:sp>
        <p:nvSpPr>
          <p:cNvPr id="97" name="Google Shape;97;p19"/>
          <p:cNvSpPr txBox="1"/>
          <p:nvPr>
            <p:ph idx="1" type="body"/>
          </p:nvPr>
        </p:nvSpPr>
        <p:spPr>
          <a:xfrm>
            <a:off x="311700" y="1228675"/>
            <a:ext cx="5958300" cy="334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400">
                <a:solidFill>
                  <a:srgbClr val="000000"/>
                </a:solidFill>
                <a:latin typeface="Arial"/>
                <a:ea typeface="Arial"/>
                <a:cs typeface="Arial"/>
                <a:sym typeface="Arial"/>
              </a:rPr>
              <a:t>Kernel as a Resource Manager:</a:t>
            </a:r>
            <a:endParaRPr b="1" sz="1400">
              <a:solidFill>
                <a:srgbClr val="000000"/>
              </a:solidFill>
              <a:latin typeface="Arial"/>
              <a:ea typeface="Arial"/>
              <a:cs typeface="Arial"/>
              <a:sym typeface="Arial"/>
            </a:endParaRPr>
          </a:p>
          <a:p>
            <a:pPr indent="0" lvl="0" marL="0" rtl="0" algn="l">
              <a:spcBef>
                <a:spcPts val="1200"/>
              </a:spcBef>
              <a:spcAft>
                <a:spcPts val="0"/>
              </a:spcAft>
              <a:buNone/>
            </a:pPr>
            <a:r>
              <a:rPr lang="en" sz="1400">
                <a:solidFill>
                  <a:srgbClr val="000000"/>
                </a:solidFill>
                <a:latin typeface="Arial"/>
                <a:ea typeface="Arial"/>
                <a:cs typeface="Arial"/>
                <a:sym typeface="Arial"/>
              </a:rPr>
              <a:t>The kernel is crucial for resource management, which involves several key activities:</a:t>
            </a:r>
            <a:endParaRPr sz="1400">
              <a:solidFill>
                <a:srgbClr val="000000"/>
              </a:solidFill>
              <a:latin typeface="Arial"/>
              <a:ea typeface="Arial"/>
              <a:cs typeface="Arial"/>
              <a:sym typeface="Arial"/>
            </a:endParaRPr>
          </a:p>
          <a:p>
            <a:pPr indent="-317500" lvl="0" marL="457200" rtl="0" algn="l">
              <a:spcBef>
                <a:spcPts val="1200"/>
              </a:spcBef>
              <a:spcAft>
                <a:spcPts val="0"/>
              </a:spcAft>
              <a:buClr>
                <a:srgbClr val="000000"/>
              </a:buClr>
              <a:buSzPts val="1400"/>
              <a:buFont typeface="Arial"/>
              <a:buChar char="●"/>
            </a:pPr>
            <a:r>
              <a:rPr b="1" lang="en" sz="1400">
                <a:solidFill>
                  <a:srgbClr val="000000"/>
                </a:solidFill>
                <a:latin typeface="Arial"/>
                <a:ea typeface="Arial"/>
                <a:cs typeface="Arial"/>
                <a:sym typeface="Arial"/>
              </a:rPr>
              <a:t>CPU Scheduling</a:t>
            </a:r>
            <a:r>
              <a:rPr lang="en" sz="1400">
                <a:solidFill>
                  <a:srgbClr val="000000"/>
                </a:solidFill>
                <a:latin typeface="Arial"/>
                <a:ea typeface="Arial"/>
                <a:cs typeface="Arial"/>
                <a:sym typeface="Arial"/>
              </a:rPr>
              <a:t>: It prioritizes processes, effectively allocating CPU time to ensure that each application receives the attention it needs to perform efficiently.</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Memory Management</a:t>
            </a:r>
            <a:r>
              <a:rPr lang="en" sz="1400">
                <a:solidFill>
                  <a:srgbClr val="000000"/>
                </a:solidFill>
                <a:latin typeface="Arial"/>
                <a:ea typeface="Arial"/>
                <a:cs typeface="Arial"/>
                <a:sym typeface="Arial"/>
              </a:rPr>
              <a:t>: The kernel keeps track of each byte in a computer's memory and manages the allocation and deallocation of memory spaces to applications, leveraging mechanisms such as virtual memory and paging.</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b="1" lang="en" sz="1400">
                <a:solidFill>
                  <a:srgbClr val="000000"/>
                </a:solidFill>
                <a:latin typeface="Arial"/>
                <a:ea typeface="Arial"/>
                <a:cs typeface="Arial"/>
                <a:sym typeface="Arial"/>
              </a:rPr>
              <a:t>I/O System Management</a:t>
            </a:r>
            <a:r>
              <a:rPr lang="en" sz="1400">
                <a:solidFill>
                  <a:srgbClr val="000000"/>
                </a:solidFill>
                <a:latin typeface="Arial"/>
                <a:ea typeface="Arial"/>
                <a:cs typeface="Arial"/>
                <a:sym typeface="Arial"/>
              </a:rPr>
              <a:t>: The kernel translates input/output instructions from applications into data processing operations between the CPU and peripheral devices, often involving device drivers for communication.</a:t>
            </a:r>
            <a:endParaRPr b="1" sz="2200">
              <a:solidFill>
                <a:srgbClr val="000000"/>
              </a:solidFill>
              <a:latin typeface="Arial"/>
              <a:ea typeface="Arial"/>
              <a:cs typeface="Arial"/>
              <a:sym typeface="Arial"/>
            </a:endParaRPr>
          </a:p>
        </p:txBody>
      </p:sp>
      <p:pic>
        <p:nvPicPr>
          <p:cNvPr id="98" name="Google Shape;98;p19"/>
          <p:cNvPicPr preferRelativeResize="0"/>
          <p:nvPr/>
        </p:nvPicPr>
        <p:blipFill>
          <a:blip r:embed="rId3">
            <a:alphaModFix/>
          </a:blip>
          <a:stretch>
            <a:fillRect/>
          </a:stretch>
        </p:blipFill>
        <p:spPr>
          <a:xfrm>
            <a:off x="6270000" y="1246250"/>
            <a:ext cx="2721600" cy="21496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Protection Rings and Kernel Operations</a:t>
            </a:r>
            <a:endParaRPr/>
          </a:p>
        </p:txBody>
      </p:sp>
      <p:sp>
        <p:nvSpPr>
          <p:cNvPr id="104" name="Google Shape;104;p20"/>
          <p:cNvSpPr txBox="1"/>
          <p:nvPr>
            <p:ph idx="1" type="body"/>
          </p:nvPr>
        </p:nvSpPr>
        <p:spPr>
          <a:xfrm>
            <a:off x="311700" y="1228675"/>
            <a:ext cx="4047900" cy="334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700">
                <a:solidFill>
                  <a:srgbClr val="000000"/>
                </a:solidFill>
                <a:latin typeface="Arial"/>
                <a:ea typeface="Arial"/>
                <a:cs typeface="Arial"/>
                <a:sym typeface="Arial"/>
              </a:rPr>
              <a:t>Protection Rings:</a:t>
            </a:r>
            <a:endParaRPr b="1" sz="1700">
              <a:solidFill>
                <a:srgbClr val="000000"/>
              </a:solidFill>
              <a:latin typeface="Arial"/>
              <a:ea typeface="Arial"/>
              <a:cs typeface="Arial"/>
              <a:sym typeface="Arial"/>
            </a:endParaRPr>
          </a:p>
          <a:p>
            <a:pPr indent="-336550" lvl="0" marL="457200" rtl="0" algn="l">
              <a:spcBef>
                <a:spcPts val="1200"/>
              </a:spcBef>
              <a:spcAft>
                <a:spcPts val="0"/>
              </a:spcAft>
              <a:buClr>
                <a:srgbClr val="000000"/>
              </a:buClr>
              <a:buSzPts val="1700"/>
              <a:buFont typeface="Arial"/>
              <a:buChar char="●"/>
            </a:pPr>
            <a:r>
              <a:rPr b="1" lang="en" sz="1700">
                <a:solidFill>
                  <a:srgbClr val="000000"/>
                </a:solidFill>
                <a:latin typeface="Arial"/>
                <a:ea typeface="Arial"/>
                <a:cs typeface="Arial"/>
                <a:sym typeface="Arial"/>
              </a:rPr>
              <a:t>Rings of Privilege</a:t>
            </a:r>
            <a:r>
              <a:rPr lang="en" sz="1700">
                <a:solidFill>
                  <a:srgbClr val="000000"/>
                </a:solidFill>
                <a:latin typeface="Arial"/>
                <a:ea typeface="Arial"/>
                <a:cs typeface="Arial"/>
                <a:sym typeface="Arial"/>
              </a:rPr>
              <a:t>:</a:t>
            </a:r>
            <a:endParaRPr sz="1700">
              <a:solidFill>
                <a:srgbClr val="000000"/>
              </a:solidFill>
              <a:latin typeface="Arial"/>
              <a:ea typeface="Arial"/>
              <a:cs typeface="Arial"/>
              <a:sym typeface="Arial"/>
            </a:endParaRPr>
          </a:p>
          <a:p>
            <a:pPr indent="-336550" lvl="1" marL="9144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The protection rings demonstrate the layers of privilege from the most privileged (Ring 0) to the least privileged (Ring 3).</a:t>
            </a:r>
            <a:endParaRPr sz="1700">
              <a:solidFill>
                <a:srgbClr val="000000"/>
              </a:solidFill>
              <a:latin typeface="Arial"/>
              <a:ea typeface="Arial"/>
              <a:cs typeface="Arial"/>
              <a:sym typeface="Arial"/>
            </a:endParaRPr>
          </a:p>
          <a:p>
            <a:pPr indent="-336550" lvl="1" marL="914400" rtl="0" algn="l">
              <a:spcBef>
                <a:spcPts val="0"/>
              </a:spcBef>
              <a:spcAft>
                <a:spcPts val="0"/>
              </a:spcAft>
              <a:buClr>
                <a:srgbClr val="000000"/>
              </a:buClr>
              <a:buSzPts val="1700"/>
              <a:buFont typeface="Arial"/>
              <a:buChar char="○"/>
            </a:pPr>
            <a:r>
              <a:rPr b="1" lang="en" sz="1700">
                <a:solidFill>
                  <a:srgbClr val="000000"/>
                </a:solidFill>
                <a:latin typeface="Arial"/>
                <a:ea typeface="Arial"/>
                <a:cs typeface="Arial"/>
                <a:sym typeface="Arial"/>
              </a:rPr>
              <a:t>Ring 0</a:t>
            </a:r>
            <a:r>
              <a:rPr lang="en" sz="1700">
                <a:solidFill>
                  <a:srgbClr val="000000"/>
                </a:solidFill>
                <a:latin typeface="Arial"/>
                <a:ea typeface="Arial"/>
                <a:cs typeface="Arial"/>
                <a:sym typeface="Arial"/>
              </a:rPr>
              <a:t> contains the kernel itself, the core of the OS with complete access to all hardware and system resources.</a:t>
            </a:r>
            <a:endParaRPr b="1" sz="2800">
              <a:solidFill>
                <a:srgbClr val="000000"/>
              </a:solidFill>
              <a:latin typeface="Arial"/>
              <a:ea typeface="Arial"/>
              <a:cs typeface="Arial"/>
              <a:sym typeface="Arial"/>
            </a:endParaRPr>
          </a:p>
        </p:txBody>
      </p:sp>
      <p:pic>
        <p:nvPicPr>
          <p:cNvPr id="105" name="Google Shape;105;p20"/>
          <p:cNvPicPr preferRelativeResize="0"/>
          <p:nvPr/>
        </p:nvPicPr>
        <p:blipFill>
          <a:blip r:embed="rId3">
            <a:alphaModFix/>
          </a:blip>
          <a:stretch>
            <a:fillRect/>
          </a:stretch>
        </p:blipFill>
        <p:spPr>
          <a:xfrm>
            <a:off x="4359447" y="1246250"/>
            <a:ext cx="4632154" cy="33402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Role of the Kernel in Operating Systems</a:t>
            </a:r>
            <a:endParaRPr/>
          </a:p>
        </p:txBody>
      </p:sp>
      <p:sp>
        <p:nvSpPr>
          <p:cNvPr id="111" name="Google Shape;111;p21"/>
          <p:cNvSpPr txBox="1"/>
          <p:nvPr>
            <p:ph idx="1" type="body"/>
          </p:nvPr>
        </p:nvSpPr>
        <p:spPr>
          <a:xfrm>
            <a:off x="311700" y="1228675"/>
            <a:ext cx="4047900" cy="3340200"/>
          </a:xfrm>
          <a:prstGeom prst="rect">
            <a:avLst/>
          </a:prstGeom>
        </p:spPr>
        <p:txBody>
          <a:bodyPr anchorCtr="0" anchor="t" bIns="91425" lIns="91425" spcFirstLastPara="1" rIns="91425" wrap="square" tIns="91425">
            <a:noAutofit/>
          </a:bodyPr>
          <a:lstStyle/>
          <a:p>
            <a:pPr indent="-342900" lvl="1" marL="914400" rtl="0" algn="l">
              <a:spcBef>
                <a:spcPts val="1200"/>
              </a:spcBef>
              <a:spcAft>
                <a:spcPts val="0"/>
              </a:spcAft>
              <a:buClr>
                <a:srgbClr val="000000"/>
              </a:buClr>
              <a:buSzPts val="1800"/>
              <a:buFont typeface="Arial"/>
              <a:buChar char="○"/>
            </a:pPr>
            <a:r>
              <a:rPr b="1" lang="en" sz="1800">
                <a:solidFill>
                  <a:srgbClr val="000000"/>
                </a:solidFill>
                <a:latin typeface="Arial"/>
                <a:ea typeface="Arial"/>
                <a:cs typeface="Arial"/>
                <a:sym typeface="Arial"/>
              </a:rPr>
              <a:t>Ring 1 and Ring 2</a:t>
            </a:r>
            <a:r>
              <a:rPr lang="en" sz="1800">
                <a:solidFill>
                  <a:srgbClr val="000000"/>
                </a:solidFill>
                <a:latin typeface="Arial"/>
                <a:ea typeface="Arial"/>
                <a:cs typeface="Arial"/>
                <a:sym typeface="Arial"/>
              </a:rPr>
              <a:t> are often not used but can contain device drivers or other less critical parts of the OS that do not require full kernel privileges.</a:t>
            </a:r>
            <a:endParaRPr sz="1800">
              <a:solidFill>
                <a:srgbClr val="000000"/>
              </a:solidFill>
              <a:latin typeface="Arial"/>
              <a:ea typeface="Arial"/>
              <a:cs typeface="Arial"/>
              <a:sym typeface="Arial"/>
            </a:endParaRPr>
          </a:p>
          <a:p>
            <a:pPr indent="-342900" lvl="1" marL="914400" rtl="0" algn="l">
              <a:spcBef>
                <a:spcPts val="0"/>
              </a:spcBef>
              <a:spcAft>
                <a:spcPts val="0"/>
              </a:spcAft>
              <a:buClr>
                <a:srgbClr val="000000"/>
              </a:buClr>
              <a:buSzPts val="1800"/>
              <a:buFont typeface="Arial"/>
              <a:buChar char="○"/>
            </a:pPr>
            <a:r>
              <a:rPr b="1" lang="en" sz="1800">
                <a:solidFill>
                  <a:srgbClr val="000000"/>
                </a:solidFill>
                <a:latin typeface="Arial"/>
                <a:ea typeface="Arial"/>
                <a:cs typeface="Arial"/>
                <a:sym typeface="Arial"/>
              </a:rPr>
              <a:t>Ring 3</a:t>
            </a:r>
            <a:r>
              <a:rPr lang="en" sz="1800">
                <a:solidFill>
                  <a:srgbClr val="000000"/>
                </a:solidFill>
                <a:latin typeface="Arial"/>
                <a:ea typeface="Arial"/>
                <a:cs typeface="Arial"/>
                <a:sym typeface="Arial"/>
              </a:rPr>
              <a:t> is where user applications run; they have limited access to system functions and hardware.</a:t>
            </a:r>
            <a:endParaRPr b="1" sz="2700">
              <a:solidFill>
                <a:srgbClr val="000000"/>
              </a:solidFill>
              <a:latin typeface="Arial"/>
              <a:ea typeface="Arial"/>
              <a:cs typeface="Arial"/>
              <a:sym typeface="Arial"/>
            </a:endParaRPr>
          </a:p>
        </p:txBody>
      </p:sp>
      <p:pic>
        <p:nvPicPr>
          <p:cNvPr id="112" name="Google Shape;112;p21"/>
          <p:cNvPicPr preferRelativeResize="0"/>
          <p:nvPr/>
        </p:nvPicPr>
        <p:blipFill>
          <a:blip r:embed="rId3">
            <a:alphaModFix/>
          </a:blip>
          <a:stretch>
            <a:fillRect/>
          </a:stretch>
        </p:blipFill>
        <p:spPr>
          <a:xfrm>
            <a:off x="4359447" y="1246250"/>
            <a:ext cx="4632154" cy="33402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Kernel: System Calls</a:t>
            </a:r>
            <a:endParaRPr/>
          </a:p>
        </p:txBody>
      </p:sp>
      <p:sp>
        <p:nvSpPr>
          <p:cNvPr id="118" name="Google Shape;118;p22"/>
          <p:cNvSpPr txBox="1"/>
          <p:nvPr>
            <p:ph idx="1" type="body"/>
          </p:nvPr>
        </p:nvSpPr>
        <p:spPr>
          <a:xfrm>
            <a:off x="311700" y="1228675"/>
            <a:ext cx="4047900" cy="334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400">
                <a:solidFill>
                  <a:srgbClr val="000000"/>
                </a:solidFill>
                <a:latin typeface="Arial"/>
                <a:ea typeface="Arial"/>
                <a:cs typeface="Arial"/>
                <a:sym typeface="Arial"/>
              </a:rPr>
              <a:t>Interface Between Applications and Kernel</a:t>
            </a:r>
            <a:r>
              <a:rPr lang="en"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317500" lvl="0" marL="457200" rtl="0" algn="l">
              <a:spcBef>
                <a:spcPts val="1200"/>
              </a:spcBef>
              <a:spcAft>
                <a:spcPts val="0"/>
              </a:spcAft>
              <a:buClr>
                <a:srgbClr val="000000"/>
              </a:buClr>
              <a:buSzPts val="1400"/>
              <a:buFont typeface="Arial"/>
              <a:buChar char="●"/>
            </a:pPr>
            <a:r>
              <a:rPr lang="en" sz="1400">
                <a:solidFill>
                  <a:srgbClr val="000000"/>
                </a:solidFill>
                <a:latin typeface="Arial"/>
                <a:ea typeface="Arial"/>
                <a:cs typeface="Arial"/>
                <a:sym typeface="Arial"/>
              </a:rPr>
              <a:t>System calls are how user-space applications request services of the kernel (located in Ring 0). Since applications run in Ring 3, they cannot directly execute kernel code or access the hardware.</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When an application needs to perform an operation that requires higher privileges (like reading a file or sending network packets), it makes a system call, which is a well-defined, controlled entry point into the kernel.</a:t>
            </a:r>
            <a:endParaRPr b="1" sz="2500">
              <a:solidFill>
                <a:srgbClr val="000000"/>
              </a:solidFill>
              <a:latin typeface="Arial"/>
              <a:ea typeface="Arial"/>
              <a:cs typeface="Arial"/>
              <a:sym typeface="Arial"/>
            </a:endParaRPr>
          </a:p>
        </p:txBody>
      </p:sp>
      <p:pic>
        <p:nvPicPr>
          <p:cNvPr id="119" name="Google Shape;119;p22"/>
          <p:cNvPicPr preferRelativeResize="0"/>
          <p:nvPr/>
        </p:nvPicPr>
        <p:blipFill>
          <a:blip r:embed="rId3">
            <a:alphaModFix/>
          </a:blip>
          <a:stretch>
            <a:fillRect/>
          </a:stretch>
        </p:blipFill>
        <p:spPr>
          <a:xfrm>
            <a:off x="4359447" y="1246250"/>
            <a:ext cx="4632154" cy="33402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Kernel: System Calls</a:t>
            </a:r>
            <a:endParaRPr/>
          </a:p>
        </p:txBody>
      </p:sp>
      <p:sp>
        <p:nvSpPr>
          <p:cNvPr id="125" name="Google Shape;125;p23"/>
          <p:cNvSpPr txBox="1"/>
          <p:nvPr>
            <p:ph idx="1" type="body"/>
          </p:nvPr>
        </p:nvSpPr>
        <p:spPr>
          <a:xfrm>
            <a:off x="311700" y="1228675"/>
            <a:ext cx="4047900" cy="334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900">
                <a:solidFill>
                  <a:srgbClr val="000000"/>
                </a:solidFill>
                <a:latin typeface="Arial"/>
                <a:ea typeface="Arial"/>
                <a:cs typeface="Arial"/>
                <a:sym typeface="Arial"/>
              </a:rPr>
              <a:t>Example of a System Call</a:t>
            </a:r>
            <a:r>
              <a:rPr lang="en" sz="1900">
                <a:solidFill>
                  <a:srgbClr val="000000"/>
                </a:solidFill>
                <a:latin typeface="Arial"/>
                <a:ea typeface="Arial"/>
                <a:cs typeface="Arial"/>
                <a:sym typeface="Arial"/>
              </a:rPr>
              <a:t>:</a:t>
            </a:r>
            <a:endParaRPr sz="1900">
              <a:solidFill>
                <a:srgbClr val="000000"/>
              </a:solidFill>
              <a:latin typeface="Arial"/>
              <a:ea typeface="Arial"/>
              <a:cs typeface="Arial"/>
              <a:sym typeface="Arial"/>
            </a:endParaRPr>
          </a:p>
          <a:p>
            <a:pPr indent="-349250" lvl="0" marL="457200" rtl="0" algn="l">
              <a:spcBef>
                <a:spcPts val="1200"/>
              </a:spcBef>
              <a:spcAft>
                <a:spcPts val="0"/>
              </a:spcAft>
              <a:buClr>
                <a:srgbClr val="000000"/>
              </a:buClr>
              <a:buSzPts val="1900"/>
              <a:buFont typeface="Arial"/>
              <a:buChar char="●"/>
            </a:pPr>
            <a:r>
              <a:rPr lang="en" sz="1900">
                <a:solidFill>
                  <a:srgbClr val="000000"/>
                </a:solidFill>
                <a:latin typeface="Arial"/>
                <a:ea typeface="Arial"/>
                <a:cs typeface="Arial"/>
                <a:sym typeface="Arial"/>
              </a:rPr>
              <a:t>An application wants to open a file. It uses a system call to ask the kernel to open the file on its behalf. The kernel, after checking permissions and other security measures, will access the disk and return a file descriptor to the application if successful.</a:t>
            </a:r>
            <a:endParaRPr b="1" sz="3000">
              <a:solidFill>
                <a:srgbClr val="000000"/>
              </a:solidFill>
              <a:latin typeface="Arial"/>
              <a:ea typeface="Arial"/>
              <a:cs typeface="Arial"/>
              <a:sym typeface="Arial"/>
            </a:endParaRPr>
          </a:p>
        </p:txBody>
      </p:sp>
      <p:pic>
        <p:nvPicPr>
          <p:cNvPr id="126" name="Google Shape;126;p23"/>
          <p:cNvPicPr preferRelativeResize="0"/>
          <p:nvPr/>
        </p:nvPicPr>
        <p:blipFill>
          <a:blip r:embed="rId3">
            <a:alphaModFix/>
          </a:blip>
          <a:stretch>
            <a:fillRect/>
          </a:stretch>
        </p:blipFill>
        <p:spPr>
          <a:xfrm>
            <a:off x="4359447" y="1246250"/>
            <a:ext cx="4632154" cy="33402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Kernel: System Calls</a:t>
            </a:r>
            <a:endParaRPr/>
          </a:p>
        </p:txBody>
      </p:sp>
      <p:sp>
        <p:nvSpPr>
          <p:cNvPr id="132" name="Google Shape;132;p24"/>
          <p:cNvSpPr txBox="1"/>
          <p:nvPr>
            <p:ph idx="1" type="body"/>
          </p:nvPr>
        </p:nvSpPr>
        <p:spPr>
          <a:xfrm>
            <a:off x="311700" y="1228675"/>
            <a:ext cx="4047900" cy="334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700">
                <a:solidFill>
                  <a:srgbClr val="000000"/>
                </a:solidFill>
                <a:latin typeface="Arial"/>
                <a:ea typeface="Arial"/>
                <a:cs typeface="Arial"/>
                <a:sym typeface="Arial"/>
              </a:rPr>
              <a:t>File Management:</a:t>
            </a:r>
            <a:endParaRPr b="1" sz="1700">
              <a:solidFill>
                <a:srgbClr val="000000"/>
              </a:solidFill>
              <a:latin typeface="Arial"/>
              <a:ea typeface="Arial"/>
              <a:cs typeface="Arial"/>
              <a:sym typeface="Arial"/>
            </a:endParaRPr>
          </a:p>
          <a:p>
            <a:pPr indent="-336550" lvl="0" marL="457200" rtl="0" algn="l">
              <a:spcBef>
                <a:spcPts val="1200"/>
              </a:spcBef>
              <a:spcAft>
                <a:spcPts val="0"/>
              </a:spcAft>
              <a:buClr>
                <a:srgbClr val="000000"/>
              </a:buClr>
              <a:buSzPts val="1700"/>
              <a:buFont typeface="Arial"/>
              <a:buChar char="●"/>
            </a:pPr>
            <a:r>
              <a:rPr b="1" lang="en" sz="1700">
                <a:solidFill>
                  <a:srgbClr val="000000"/>
                </a:solidFill>
                <a:latin typeface="Arial"/>
                <a:ea typeface="Arial"/>
                <a:cs typeface="Arial"/>
                <a:sym typeface="Arial"/>
              </a:rPr>
              <a:t>Kernel’s Role</a:t>
            </a:r>
            <a:r>
              <a:rPr lang="en" sz="1700">
                <a:solidFill>
                  <a:srgbClr val="000000"/>
                </a:solidFill>
                <a:latin typeface="Arial"/>
                <a:ea typeface="Arial"/>
                <a:cs typeface="Arial"/>
                <a:sym typeface="Arial"/>
              </a:rPr>
              <a:t>:</a:t>
            </a:r>
            <a:endParaRPr sz="1700">
              <a:solidFill>
                <a:srgbClr val="000000"/>
              </a:solidFill>
              <a:latin typeface="Arial"/>
              <a:ea typeface="Arial"/>
              <a:cs typeface="Arial"/>
              <a:sym typeface="Arial"/>
            </a:endParaRPr>
          </a:p>
          <a:p>
            <a:pPr indent="-336550" lvl="1" marL="914400" rtl="0" algn="l">
              <a:spcBef>
                <a:spcPts val="0"/>
              </a:spcBef>
              <a:spcAft>
                <a:spcPts val="0"/>
              </a:spcAft>
              <a:buClr>
                <a:srgbClr val="000000"/>
              </a:buClr>
              <a:buSzPts val="1700"/>
              <a:buFont typeface="Arial"/>
              <a:buChar char="○"/>
            </a:pPr>
            <a:r>
              <a:rPr lang="en" sz="1700">
                <a:solidFill>
                  <a:srgbClr val="000000"/>
                </a:solidFill>
                <a:latin typeface="Arial"/>
                <a:ea typeface="Arial"/>
                <a:cs typeface="Arial"/>
                <a:sym typeface="Arial"/>
              </a:rPr>
              <a:t>The kernel manages files through system calls that handle opening, reading, writing, and closing files. It maintains the file system's integrity, manages permissions, and ensures that processes do not interfere with each other's data.</a:t>
            </a:r>
            <a:endParaRPr b="1" sz="3600">
              <a:solidFill>
                <a:srgbClr val="000000"/>
              </a:solidFill>
              <a:latin typeface="Arial"/>
              <a:ea typeface="Arial"/>
              <a:cs typeface="Arial"/>
              <a:sym typeface="Arial"/>
            </a:endParaRPr>
          </a:p>
        </p:txBody>
      </p:sp>
      <p:pic>
        <p:nvPicPr>
          <p:cNvPr id="133" name="Google Shape;133;p24"/>
          <p:cNvPicPr preferRelativeResize="0"/>
          <p:nvPr/>
        </p:nvPicPr>
        <p:blipFill>
          <a:blip r:embed="rId3">
            <a:alphaModFix/>
          </a:blip>
          <a:stretch>
            <a:fillRect/>
          </a:stretch>
        </p:blipFill>
        <p:spPr>
          <a:xfrm>
            <a:off x="4359447" y="1246250"/>
            <a:ext cx="4632154" cy="334020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Kernel: System Calls</a:t>
            </a:r>
            <a:endParaRPr/>
          </a:p>
        </p:txBody>
      </p:sp>
      <p:sp>
        <p:nvSpPr>
          <p:cNvPr id="139" name="Google Shape;139;p25"/>
          <p:cNvSpPr txBox="1"/>
          <p:nvPr>
            <p:ph idx="1" type="body"/>
          </p:nvPr>
        </p:nvSpPr>
        <p:spPr>
          <a:xfrm>
            <a:off x="311700" y="1228675"/>
            <a:ext cx="4047900" cy="334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300">
                <a:solidFill>
                  <a:srgbClr val="000000"/>
                </a:solidFill>
                <a:latin typeface="Arial"/>
                <a:ea typeface="Arial"/>
                <a:cs typeface="Arial"/>
                <a:sym typeface="Arial"/>
              </a:rPr>
              <a:t>Kernel in System Hierarchy (Using the Image):</a:t>
            </a:r>
            <a:endParaRPr b="1" sz="130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Char char="●"/>
            </a:pPr>
            <a:r>
              <a:rPr b="1" lang="en" sz="1300">
                <a:solidFill>
                  <a:srgbClr val="000000"/>
                </a:solidFill>
                <a:latin typeface="Arial"/>
                <a:ea typeface="Arial"/>
                <a:cs typeface="Arial"/>
                <a:sym typeface="Arial"/>
              </a:rPr>
              <a:t>Applications (Ring 3)</a:t>
            </a:r>
            <a:r>
              <a:rPr lang="en"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311150" lvl="1" marL="914400" rtl="0" algn="l">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Run in user mode and rely on the kernel for privileged operations.</a:t>
            </a:r>
            <a:endParaRPr sz="1300">
              <a:solidFill>
                <a:srgbClr val="000000"/>
              </a:solidFill>
              <a:latin typeface="Arial"/>
              <a:ea typeface="Arial"/>
              <a:cs typeface="Arial"/>
              <a:sym typeface="Arial"/>
            </a:endParaRPr>
          </a:p>
          <a:p>
            <a:pPr indent="-311150" lvl="1" marL="914400" rtl="0" algn="l">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They make requests (system calls) which are checked and executed by the kernel.</a:t>
            </a: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b="1" lang="en" sz="1300">
                <a:solidFill>
                  <a:srgbClr val="000000"/>
                </a:solidFill>
                <a:latin typeface="Arial"/>
                <a:ea typeface="Arial"/>
                <a:cs typeface="Arial"/>
                <a:sym typeface="Arial"/>
              </a:rPr>
              <a:t>Kernel (Ring 0)</a:t>
            </a:r>
            <a:r>
              <a:rPr lang="en"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311150" lvl="1" marL="914400" rtl="0" algn="l">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Sits at the core of the system, managing direct hardware interactions and system resources.</a:t>
            </a:r>
            <a:endParaRPr sz="1300">
              <a:solidFill>
                <a:srgbClr val="000000"/>
              </a:solidFill>
              <a:latin typeface="Arial"/>
              <a:ea typeface="Arial"/>
              <a:cs typeface="Arial"/>
              <a:sym typeface="Arial"/>
            </a:endParaRPr>
          </a:p>
          <a:p>
            <a:pPr indent="-311150" lvl="1" marL="914400" rtl="0" algn="l">
              <a:spcBef>
                <a:spcPts val="0"/>
              </a:spcBef>
              <a:spcAft>
                <a:spcPts val="0"/>
              </a:spcAft>
              <a:buClr>
                <a:srgbClr val="000000"/>
              </a:buClr>
              <a:buSzPts val="1300"/>
              <a:buFont typeface="Arial"/>
              <a:buChar char="○"/>
            </a:pPr>
            <a:r>
              <a:rPr lang="en" sz="1300">
                <a:solidFill>
                  <a:srgbClr val="000000"/>
                </a:solidFill>
                <a:latin typeface="Arial"/>
                <a:ea typeface="Arial"/>
                <a:cs typeface="Arial"/>
                <a:sym typeface="Arial"/>
              </a:rPr>
              <a:t>Performs requested operations from applications, ensuring they are allowed and safe.</a:t>
            </a: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b="1" lang="en" sz="1300">
                <a:solidFill>
                  <a:srgbClr val="000000"/>
                </a:solidFill>
                <a:latin typeface="Arial"/>
                <a:ea typeface="Arial"/>
                <a:cs typeface="Arial"/>
                <a:sym typeface="Arial"/>
              </a:rPr>
              <a:t>Hardware on next slide</a:t>
            </a:r>
            <a:endParaRPr b="1" sz="3200">
              <a:solidFill>
                <a:srgbClr val="000000"/>
              </a:solidFill>
              <a:latin typeface="Arial"/>
              <a:ea typeface="Arial"/>
              <a:cs typeface="Arial"/>
              <a:sym typeface="Arial"/>
            </a:endParaRPr>
          </a:p>
        </p:txBody>
      </p:sp>
      <p:pic>
        <p:nvPicPr>
          <p:cNvPr id="140" name="Google Shape;140;p25"/>
          <p:cNvPicPr preferRelativeResize="0"/>
          <p:nvPr/>
        </p:nvPicPr>
        <p:blipFill>
          <a:blip r:embed="rId3">
            <a:alphaModFix/>
          </a:blip>
          <a:stretch>
            <a:fillRect/>
          </a:stretch>
        </p:blipFill>
        <p:spPr>
          <a:xfrm>
            <a:off x="4359447" y="1246250"/>
            <a:ext cx="4632154" cy="33402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Kernel: System Calls</a:t>
            </a:r>
            <a:endParaRPr/>
          </a:p>
        </p:txBody>
      </p:sp>
      <p:sp>
        <p:nvSpPr>
          <p:cNvPr id="146" name="Google Shape;146;p26"/>
          <p:cNvSpPr txBox="1"/>
          <p:nvPr>
            <p:ph idx="1" type="body"/>
          </p:nvPr>
        </p:nvSpPr>
        <p:spPr>
          <a:xfrm>
            <a:off x="311700" y="1228675"/>
            <a:ext cx="4047900" cy="334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a:solidFill>
                  <a:srgbClr val="000000"/>
                </a:solidFill>
                <a:latin typeface="Arial"/>
                <a:ea typeface="Arial"/>
                <a:cs typeface="Arial"/>
                <a:sym typeface="Arial"/>
              </a:rPr>
              <a:t>Hardware (CPU, Memory, Devices)</a:t>
            </a:r>
            <a:r>
              <a:rPr lang="en">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42900" lvl="0" marL="457200" rtl="0" algn="l">
              <a:spcBef>
                <a:spcPts val="1200"/>
              </a:spcBef>
              <a:spcAft>
                <a:spcPts val="0"/>
              </a:spcAft>
              <a:buClr>
                <a:srgbClr val="000000"/>
              </a:buClr>
              <a:buSzPts val="1800"/>
              <a:buFont typeface="Arial"/>
              <a:buChar char="●"/>
            </a:pPr>
            <a:r>
              <a:rPr lang="en">
                <a:solidFill>
                  <a:srgbClr val="000000"/>
                </a:solidFill>
                <a:latin typeface="Arial"/>
                <a:ea typeface="Arial"/>
                <a:cs typeface="Arial"/>
                <a:sym typeface="Arial"/>
              </a:rPr>
              <a:t>The actual physical components managed by the kernel.</a:t>
            </a:r>
            <a:endParaRPr>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a:solidFill>
                  <a:srgbClr val="000000"/>
                </a:solidFill>
                <a:latin typeface="Arial"/>
                <a:ea typeface="Arial"/>
                <a:cs typeface="Arial"/>
                <a:sym typeface="Arial"/>
              </a:rPr>
              <a:t>The CPU executes instructions; memory stores active data; devices handle input/output, all under the command of the kernel.</a:t>
            </a:r>
            <a:endParaRPr b="1" sz="3700">
              <a:solidFill>
                <a:srgbClr val="000000"/>
              </a:solidFill>
              <a:latin typeface="Arial"/>
              <a:ea typeface="Arial"/>
              <a:cs typeface="Arial"/>
              <a:sym typeface="Arial"/>
            </a:endParaRPr>
          </a:p>
        </p:txBody>
      </p:sp>
      <p:pic>
        <p:nvPicPr>
          <p:cNvPr id="147" name="Google Shape;147;p26"/>
          <p:cNvPicPr preferRelativeResize="0"/>
          <p:nvPr/>
        </p:nvPicPr>
        <p:blipFill>
          <a:blip r:embed="rId3">
            <a:alphaModFix/>
          </a:blip>
          <a:stretch>
            <a:fillRect/>
          </a:stretch>
        </p:blipFill>
        <p:spPr>
          <a:xfrm>
            <a:off x="4359447" y="1246250"/>
            <a:ext cx="4632154" cy="33402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 Memory</a:t>
            </a:r>
            <a:endParaRPr/>
          </a:p>
        </p:txBody>
      </p:sp>
      <p:sp>
        <p:nvSpPr>
          <p:cNvPr id="153" name="Google Shape;153;p27"/>
          <p:cNvSpPr txBox="1"/>
          <p:nvPr>
            <p:ph idx="1" type="body"/>
          </p:nvPr>
        </p:nvSpPr>
        <p:spPr>
          <a:xfrm>
            <a:off x="311700" y="1214150"/>
            <a:ext cx="5806800" cy="334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600">
                <a:solidFill>
                  <a:srgbClr val="000000"/>
                </a:solidFill>
                <a:latin typeface="Arial"/>
                <a:ea typeface="Arial"/>
                <a:cs typeface="Arial"/>
                <a:sym typeface="Arial"/>
              </a:rPr>
              <a:t>Virtual memory is a memory management capability of an OS that uses hardware and software to allow a computer to compensate for physical memory shortages, temporarily transferring data from random access memory (RAM) to disk storage.</a:t>
            </a:r>
            <a:endParaRPr sz="1600">
              <a:solidFill>
                <a:srgbClr val="000000"/>
              </a:solidFill>
              <a:latin typeface="Arial"/>
              <a:ea typeface="Arial"/>
              <a:cs typeface="Arial"/>
              <a:sym typeface="Arial"/>
            </a:endParaRPr>
          </a:p>
          <a:p>
            <a:pPr indent="0" lvl="0" marL="0" rtl="0" algn="l">
              <a:spcBef>
                <a:spcPts val="1200"/>
              </a:spcBef>
              <a:spcAft>
                <a:spcPts val="0"/>
              </a:spcAft>
              <a:buNone/>
            </a:pPr>
            <a:r>
              <a:rPr b="1" lang="en" sz="1600">
                <a:solidFill>
                  <a:srgbClr val="000000"/>
                </a:solidFill>
                <a:latin typeface="Arial"/>
                <a:ea typeface="Arial"/>
                <a:cs typeface="Arial"/>
                <a:sym typeface="Arial"/>
              </a:rPr>
              <a:t>How It Works</a:t>
            </a:r>
            <a:r>
              <a:rPr lang="en" sz="1600">
                <a:solidFill>
                  <a:srgbClr val="000000"/>
                </a:solidFill>
                <a:latin typeface="Arial"/>
                <a:ea typeface="Arial"/>
                <a:cs typeface="Arial"/>
                <a:sym typeface="Arial"/>
              </a:rPr>
              <a:t>:</a:t>
            </a:r>
            <a:endParaRPr sz="1600">
              <a:solidFill>
                <a:srgbClr val="000000"/>
              </a:solidFill>
              <a:latin typeface="Arial"/>
              <a:ea typeface="Arial"/>
              <a:cs typeface="Arial"/>
              <a:sym typeface="Arial"/>
            </a:endParaRPr>
          </a:p>
          <a:p>
            <a:pPr indent="-330200" lvl="0" marL="457200" rtl="0" algn="l">
              <a:spcBef>
                <a:spcPts val="1200"/>
              </a:spcBef>
              <a:spcAft>
                <a:spcPts val="0"/>
              </a:spcAft>
              <a:buClr>
                <a:srgbClr val="000000"/>
              </a:buClr>
              <a:buSzPts val="1600"/>
              <a:buFont typeface="Arial"/>
              <a:buChar char="●"/>
            </a:pPr>
            <a:r>
              <a:rPr lang="en" sz="1600">
                <a:solidFill>
                  <a:srgbClr val="000000"/>
                </a:solidFill>
                <a:latin typeface="Arial"/>
                <a:ea typeface="Arial"/>
                <a:cs typeface="Arial"/>
                <a:sym typeface="Arial"/>
              </a:rPr>
              <a:t>This process is achieved by using disk space as an extension of RAM, allowing the system to combine the RAM with temporary space on the disk. This creates the illusion of a very large (virtual) memory.</a:t>
            </a:r>
            <a:endParaRPr b="1" sz="4200">
              <a:solidFill>
                <a:srgbClr val="000000"/>
              </a:solidFill>
              <a:latin typeface="Arial"/>
              <a:ea typeface="Arial"/>
              <a:cs typeface="Arial"/>
              <a:sym typeface="Arial"/>
            </a:endParaRPr>
          </a:p>
        </p:txBody>
      </p:sp>
      <p:pic>
        <p:nvPicPr>
          <p:cNvPr id="154" name="Google Shape;154;p27"/>
          <p:cNvPicPr preferRelativeResize="0"/>
          <p:nvPr/>
        </p:nvPicPr>
        <p:blipFill>
          <a:blip r:embed="rId3">
            <a:alphaModFix/>
          </a:blip>
          <a:stretch>
            <a:fillRect/>
          </a:stretch>
        </p:blipFill>
        <p:spPr>
          <a:xfrm>
            <a:off x="5872199" y="292850"/>
            <a:ext cx="2960098" cy="46806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Memory Paging</a:t>
            </a:r>
            <a:endParaRPr/>
          </a:p>
        </p:txBody>
      </p:sp>
      <p:sp>
        <p:nvSpPr>
          <p:cNvPr id="160" name="Google Shape;160;p28"/>
          <p:cNvSpPr txBox="1"/>
          <p:nvPr>
            <p:ph idx="1" type="body"/>
          </p:nvPr>
        </p:nvSpPr>
        <p:spPr>
          <a:xfrm>
            <a:off x="311700" y="1214150"/>
            <a:ext cx="5806800" cy="334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400">
                <a:solidFill>
                  <a:srgbClr val="000000"/>
                </a:solidFill>
                <a:latin typeface="Arial"/>
                <a:ea typeface="Arial"/>
                <a:cs typeface="Arial"/>
                <a:sym typeface="Arial"/>
              </a:rPr>
              <a:t>Paging</a:t>
            </a:r>
            <a:r>
              <a:rPr lang="en"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317500" lvl="0" marL="457200" rtl="0" algn="l">
              <a:spcBef>
                <a:spcPts val="1200"/>
              </a:spcBef>
              <a:spcAft>
                <a:spcPts val="0"/>
              </a:spcAft>
              <a:buClr>
                <a:srgbClr val="000000"/>
              </a:buClr>
              <a:buSzPts val="1400"/>
              <a:buFont typeface="Arial"/>
              <a:buChar char="●"/>
            </a:pPr>
            <a:r>
              <a:rPr lang="en" sz="1400">
                <a:solidFill>
                  <a:srgbClr val="000000"/>
                </a:solidFill>
                <a:latin typeface="Arial"/>
                <a:ea typeface="Arial"/>
                <a:cs typeface="Arial"/>
                <a:sym typeface="Arial"/>
              </a:rPr>
              <a:t>Paging is the process of swapping data between physical memory and disk storage, divided into 'pages' of a fixed size.</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 sz="1400">
                <a:solidFill>
                  <a:srgbClr val="000000"/>
                </a:solidFill>
                <a:latin typeface="Arial"/>
                <a:ea typeface="Arial"/>
                <a:cs typeface="Arial"/>
                <a:sym typeface="Arial"/>
              </a:rPr>
              <a:t>Page Swap</a:t>
            </a:r>
            <a:r>
              <a:rPr lang="en"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317500" lvl="0" marL="457200" rtl="0" algn="l">
              <a:spcBef>
                <a:spcPts val="1200"/>
              </a:spcBef>
              <a:spcAft>
                <a:spcPts val="0"/>
              </a:spcAft>
              <a:buClr>
                <a:srgbClr val="000000"/>
              </a:buClr>
              <a:buSzPts val="1400"/>
              <a:buFont typeface="Arial"/>
              <a:buChar char="●"/>
            </a:pPr>
            <a:r>
              <a:rPr lang="en" sz="1400">
                <a:solidFill>
                  <a:srgbClr val="000000"/>
                </a:solidFill>
                <a:latin typeface="Arial"/>
                <a:ea typeface="Arial"/>
                <a:cs typeface="Arial"/>
                <a:sym typeface="Arial"/>
              </a:rPr>
              <a:t>When the system runs out of RAM, the least used pages in memory might be 'swapped' to a reserved space on the disk, known as the swap file or page file, to make room for new pages.</a:t>
            </a:r>
            <a:endParaRPr sz="1400">
              <a:solidFill>
                <a:srgbClr val="000000"/>
              </a:solidFill>
              <a:latin typeface="Arial"/>
              <a:ea typeface="Arial"/>
              <a:cs typeface="Arial"/>
              <a:sym typeface="Arial"/>
            </a:endParaRPr>
          </a:p>
          <a:p>
            <a:pPr indent="0" lvl="0" marL="0" rtl="0" algn="l">
              <a:spcBef>
                <a:spcPts val="1200"/>
              </a:spcBef>
              <a:spcAft>
                <a:spcPts val="0"/>
              </a:spcAft>
              <a:buNone/>
            </a:pPr>
            <a:r>
              <a:rPr b="1" lang="en" sz="1400">
                <a:solidFill>
                  <a:srgbClr val="000000"/>
                </a:solidFill>
                <a:latin typeface="Arial"/>
                <a:ea typeface="Arial"/>
                <a:cs typeface="Arial"/>
                <a:sym typeface="Arial"/>
              </a:rPr>
              <a:t>Memory Protection</a:t>
            </a:r>
            <a:r>
              <a:rPr lang="en"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indent="-317500" lvl="0" marL="457200" rtl="0" algn="l">
              <a:spcBef>
                <a:spcPts val="1200"/>
              </a:spcBef>
              <a:spcAft>
                <a:spcPts val="0"/>
              </a:spcAft>
              <a:buClr>
                <a:srgbClr val="000000"/>
              </a:buClr>
              <a:buSzPts val="1400"/>
              <a:buFont typeface="Arial"/>
              <a:buChar char="●"/>
            </a:pPr>
            <a:r>
              <a:rPr lang="en" sz="1400">
                <a:solidFill>
                  <a:srgbClr val="000000"/>
                </a:solidFill>
                <a:latin typeface="Arial"/>
                <a:ea typeface="Arial"/>
                <a:cs typeface="Arial"/>
                <a:sym typeface="Arial"/>
              </a:rPr>
              <a:t>Paging also contributes to memory protection by isolating the memory space of different processes. This ensures that one process cannot read or write the memory of another process.</a:t>
            </a:r>
            <a:endParaRPr b="1" sz="4000">
              <a:solidFill>
                <a:srgbClr val="000000"/>
              </a:solidFill>
              <a:latin typeface="Arial"/>
              <a:ea typeface="Arial"/>
              <a:cs typeface="Arial"/>
              <a:sym typeface="Arial"/>
            </a:endParaRPr>
          </a:p>
        </p:txBody>
      </p:sp>
      <p:pic>
        <p:nvPicPr>
          <p:cNvPr id="161" name="Google Shape;161;p28"/>
          <p:cNvPicPr preferRelativeResize="0"/>
          <p:nvPr/>
        </p:nvPicPr>
        <p:blipFill>
          <a:blip r:embed="rId3">
            <a:alphaModFix/>
          </a:blip>
          <a:stretch>
            <a:fillRect/>
          </a:stretch>
        </p:blipFill>
        <p:spPr>
          <a:xfrm>
            <a:off x="5872199" y="292850"/>
            <a:ext cx="2960098" cy="46806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Swapping and System Performance</a:t>
            </a:r>
            <a:endParaRPr/>
          </a:p>
        </p:txBody>
      </p:sp>
      <p:sp>
        <p:nvSpPr>
          <p:cNvPr id="167" name="Google Shape;167;p29"/>
          <p:cNvSpPr txBox="1"/>
          <p:nvPr>
            <p:ph idx="1" type="body"/>
          </p:nvPr>
        </p:nvSpPr>
        <p:spPr>
          <a:xfrm>
            <a:off x="311700" y="1214150"/>
            <a:ext cx="5806800" cy="334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300">
                <a:solidFill>
                  <a:srgbClr val="000000"/>
                </a:solidFill>
                <a:latin typeface="Arial"/>
                <a:ea typeface="Arial"/>
                <a:cs typeface="Arial"/>
                <a:sym typeface="Arial"/>
              </a:rPr>
              <a:t>Performance Considerations</a:t>
            </a:r>
            <a:r>
              <a:rPr lang="en"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Char char="●"/>
            </a:pPr>
            <a:r>
              <a:rPr lang="en" sz="1300">
                <a:solidFill>
                  <a:srgbClr val="000000"/>
                </a:solidFill>
                <a:latin typeface="Arial"/>
                <a:ea typeface="Arial"/>
                <a:cs typeface="Arial"/>
                <a:sym typeface="Arial"/>
              </a:rPr>
              <a:t>While virtual memory allows for more efficient use of RAM, excessive reliance on disk swapping can lead to a performance issue known as 'thrashing,' where the system spends more time swapping pages in and out of memory than executing the program.</a:t>
            </a:r>
            <a:endParaRPr sz="1300">
              <a:solidFill>
                <a:srgbClr val="000000"/>
              </a:solidFill>
              <a:latin typeface="Arial"/>
              <a:ea typeface="Arial"/>
              <a:cs typeface="Arial"/>
              <a:sym typeface="Arial"/>
            </a:endParaRPr>
          </a:p>
          <a:p>
            <a:pPr indent="0" lvl="0" marL="0" rtl="0" algn="l">
              <a:spcBef>
                <a:spcPts val="1200"/>
              </a:spcBef>
              <a:spcAft>
                <a:spcPts val="0"/>
              </a:spcAft>
              <a:buNone/>
            </a:pPr>
            <a:r>
              <a:rPr b="1" lang="en" sz="1300">
                <a:solidFill>
                  <a:srgbClr val="000000"/>
                </a:solidFill>
                <a:latin typeface="Arial"/>
                <a:ea typeface="Arial"/>
                <a:cs typeface="Arial"/>
                <a:sym typeface="Arial"/>
              </a:rPr>
              <a:t>Managing Swap Space</a:t>
            </a:r>
            <a:r>
              <a:rPr lang="en"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Char char="●"/>
            </a:pPr>
            <a:r>
              <a:rPr lang="en" sz="1300">
                <a:solidFill>
                  <a:srgbClr val="000000"/>
                </a:solidFill>
                <a:latin typeface="Arial"/>
                <a:ea typeface="Arial"/>
                <a:cs typeface="Arial"/>
                <a:sym typeface="Arial"/>
              </a:rPr>
              <a:t>The operating system's kernel manages the swap space, deciding which pages to store in RAM and which to swap out, based on algorithms that predict which pages are less likely to be used.</a:t>
            </a:r>
            <a:endParaRPr sz="1300">
              <a:solidFill>
                <a:srgbClr val="000000"/>
              </a:solidFill>
              <a:latin typeface="Arial"/>
              <a:ea typeface="Arial"/>
              <a:cs typeface="Arial"/>
              <a:sym typeface="Arial"/>
            </a:endParaRPr>
          </a:p>
          <a:p>
            <a:pPr indent="0" lvl="0" marL="0" rtl="0" algn="l">
              <a:spcBef>
                <a:spcPts val="1200"/>
              </a:spcBef>
              <a:spcAft>
                <a:spcPts val="0"/>
              </a:spcAft>
              <a:buNone/>
            </a:pPr>
            <a:r>
              <a:rPr b="1" lang="en" sz="1300">
                <a:solidFill>
                  <a:srgbClr val="000000"/>
                </a:solidFill>
                <a:latin typeface="Arial"/>
                <a:ea typeface="Arial"/>
                <a:cs typeface="Arial"/>
                <a:sym typeface="Arial"/>
              </a:rPr>
              <a:t>Benefits</a:t>
            </a:r>
            <a:r>
              <a:rPr lang="en" sz="1300">
                <a:solidFill>
                  <a:srgbClr val="000000"/>
                </a:solidFill>
                <a:latin typeface="Arial"/>
                <a:ea typeface="Arial"/>
                <a:cs typeface="Arial"/>
                <a:sym typeface="Arial"/>
              </a:rPr>
              <a:t>:</a:t>
            </a:r>
            <a:endParaRPr sz="130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Char char="●"/>
            </a:pPr>
            <a:r>
              <a:rPr lang="en" sz="1300">
                <a:solidFill>
                  <a:srgbClr val="000000"/>
                </a:solidFill>
                <a:latin typeface="Arial"/>
                <a:ea typeface="Arial"/>
                <a:cs typeface="Arial"/>
                <a:sym typeface="Arial"/>
              </a:rPr>
              <a:t>Despite potential performance impacts, virtual memory is crucial for multitasking environments and is necessary to run large applications on computers with limited physical memory.</a:t>
            </a:r>
            <a:endParaRPr b="1" sz="3900">
              <a:solidFill>
                <a:srgbClr val="000000"/>
              </a:solidFill>
              <a:latin typeface="Arial"/>
              <a:ea typeface="Arial"/>
              <a:cs typeface="Arial"/>
              <a:sym typeface="Arial"/>
            </a:endParaRPr>
          </a:p>
        </p:txBody>
      </p:sp>
      <p:pic>
        <p:nvPicPr>
          <p:cNvPr id="168" name="Google Shape;168;p29"/>
          <p:cNvPicPr preferRelativeResize="0"/>
          <p:nvPr/>
        </p:nvPicPr>
        <p:blipFill>
          <a:blip r:embed="rId3">
            <a:alphaModFix/>
          </a:blip>
          <a:stretch>
            <a:fillRect/>
          </a:stretch>
        </p:blipFill>
        <p:spPr>
          <a:xfrm>
            <a:off x="5872199" y="292850"/>
            <a:ext cx="2960098" cy="46806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Crashes and Memory Issues</a:t>
            </a:r>
            <a:endParaRPr/>
          </a:p>
        </p:txBody>
      </p:sp>
      <p:sp>
        <p:nvSpPr>
          <p:cNvPr id="174" name="Google Shape;174;p3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900">
                <a:solidFill>
                  <a:srgbClr val="000000"/>
                </a:solidFill>
                <a:latin typeface="Arial"/>
                <a:ea typeface="Arial"/>
                <a:cs typeface="Arial"/>
                <a:sym typeface="Arial"/>
              </a:rPr>
              <a:t>Memory Access Violation</a:t>
            </a:r>
            <a:r>
              <a:rPr lang="en" sz="1900">
                <a:solidFill>
                  <a:srgbClr val="000000"/>
                </a:solidFill>
                <a:latin typeface="Arial"/>
                <a:ea typeface="Arial"/>
                <a:cs typeface="Arial"/>
                <a:sym typeface="Arial"/>
              </a:rPr>
              <a:t>:</a:t>
            </a:r>
            <a:endParaRPr sz="1900">
              <a:solidFill>
                <a:srgbClr val="000000"/>
              </a:solidFill>
              <a:latin typeface="Arial"/>
              <a:ea typeface="Arial"/>
              <a:cs typeface="Arial"/>
              <a:sym typeface="Arial"/>
            </a:endParaRPr>
          </a:p>
          <a:p>
            <a:pPr indent="-349250" lvl="0" marL="457200" rtl="0" algn="l">
              <a:spcBef>
                <a:spcPts val="1200"/>
              </a:spcBef>
              <a:spcAft>
                <a:spcPts val="0"/>
              </a:spcAft>
              <a:buClr>
                <a:srgbClr val="000000"/>
              </a:buClr>
              <a:buSzPts val="1900"/>
              <a:buFont typeface="Arial"/>
              <a:buChar char="●"/>
            </a:pPr>
            <a:r>
              <a:rPr lang="en" sz="1900">
                <a:solidFill>
                  <a:srgbClr val="000000"/>
                </a:solidFill>
                <a:latin typeface="Arial"/>
                <a:ea typeface="Arial"/>
                <a:cs typeface="Arial"/>
                <a:sym typeface="Arial"/>
              </a:rPr>
              <a:t>One of the primary causes of system crashes is a memory access violation, which occurs when a program attempts to access a region of memory that it's not authorized to access, or when it tries to read/write an area of memory that doesn't exist (such as a null pointer dereference).</a:t>
            </a:r>
            <a:endParaRPr sz="1900">
              <a:solidFill>
                <a:srgbClr val="000000"/>
              </a:solidFill>
              <a:latin typeface="Arial"/>
              <a:ea typeface="Arial"/>
              <a:cs typeface="Arial"/>
              <a:sym typeface="Arial"/>
            </a:endParaRPr>
          </a:p>
          <a:p>
            <a:pPr indent="-349250" lvl="0" marL="457200" rtl="0" algn="l">
              <a:spcBef>
                <a:spcPts val="0"/>
              </a:spcBef>
              <a:spcAft>
                <a:spcPts val="0"/>
              </a:spcAft>
              <a:buClr>
                <a:srgbClr val="000000"/>
              </a:buClr>
              <a:buSzPts val="1900"/>
              <a:buFont typeface="Arial"/>
              <a:buChar char="●"/>
            </a:pPr>
            <a:r>
              <a:rPr lang="en" sz="1900">
                <a:solidFill>
                  <a:srgbClr val="000000"/>
                </a:solidFill>
                <a:latin typeface="Arial"/>
                <a:ea typeface="Arial"/>
                <a:cs typeface="Arial"/>
                <a:sym typeface="Arial"/>
              </a:rPr>
              <a:t>Protection faults happen when a program makes an illegal access that violates the protection rules set by the operating system for that memory area. The hardware, with the help of the OS, enforces these rules using memory protection mechanisms like paging.</a:t>
            </a:r>
            <a:endParaRPr sz="2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Crashes and Memory Issues</a:t>
            </a:r>
            <a:endParaRPr/>
          </a:p>
        </p:txBody>
      </p:sp>
      <p:sp>
        <p:nvSpPr>
          <p:cNvPr id="180" name="Google Shape;180;p3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600">
                <a:solidFill>
                  <a:srgbClr val="000000"/>
                </a:solidFill>
                <a:latin typeface="Arial"/>
                <a:ea typeface="Arial"/>
                <a:cs typeface="Arial"/>
                <a:sym typeface="Arial"/>
              </a:rPr>
              <a:t>Buffer Overflows</a:t>
            </a:r>
            <a:r>
              <a:rPr lang="en" sz="1600">
                <a:solidFill>
                  <a:srgbClr val="000000"/>
                </a:solidFill>
                <a:latin typeface="Arial"/>
                <a:ea typeface="Arial"/>
                <a:cs typeface="Arial"/>
                <a:sym typeface="Arial"/>
              </a:rPr>
              <a:t>:</a:t>
            </a:r>
            <a:endParaRPr sz="1600">
              <a:solidFill>
                <a:srgbClr val="000000"/>
              </a:solidFill>
              <a:latin typeface="Arial"/>
              <a:ea typeface="Arial"/>
              <a:cs typeface="Arial"/>
              <a:sym typeface="Arial"/>
            </a:endParaRPr>
          </a:p>
          <a:p>
            <a:pPr indent="-330200" lvl="0" marL="457200" rtl="0" algn="l">
              <a:spcBef>
                <a:spcPts val="1200"/>
              </a:spcBef>
              <a:spcAft>
                <a:spcPts val="0"/>
              </a:spcAft>
              <a:buClr>
                <a:srgbClr val="000000"/>
              </a:buClr>
              <a:buSzPts val="1600"/>
              <a:buFont typeface="Arial"/>
              <a:buChar char="●"/>
            </a:pPr>
            <a:r>
              <a:rPr lang="en" sz="1600">
                <a:solidFill>
                  <a:srgbClr val="000000"/>
                </a:solidFill>
                <a:latin typeface="Arial"/>
                <a:ea typeface="Arial"/>
                <a:cs typeface="Arial"/>
                <a:sym typeface="Arial"/>
              </a:rPr>
              <a:t>Another common memory-related issue is a buffer overflow, where a program writes more data to a block of memory, or buffer, than it is allocated to hold. This can corrupt data, crash the program, or lead to the execution of malicious code if exploited.</a:t>
            </a:r>
            <a:endParaRPr sz="23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Crashes and Memory Issues</a:t>
            </a:r>
            <a:endParaRPr/>
          </a:p>
        </p:txBody>
      </p:sp>
      <p:sp>
        <p:nvSpPr>
          <p:cNvPr id="186" name="Google Shape;186;p3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900">
                <a:solidFill>
                  <a:srgbClr val="000000"/>
                </a:solidFill>
                <a:latin typeface="Arial"/>
                <a:ea typeface="Arial"/>
                <a:cs typeface="Arial"/>
                <a:sym typeface="Arial"/>
              </a:rPr>
              <a:t>Deadlocks</a:t>
            </a:r>
            <a:r>
              <a:rPr lang="en" sz="1900">
                <a:solidFill>
                  <a:srgbClr val="000000"/>
                </a:solidFill>
                <a:latin typeface="Arial"/>
                <a:ea typeface="Arial"/>
                <a:cs typeface="Arial"/>
                <a:sym typeface="Arial"/>
              </a:rPr>
              <a:t>:</a:t>
            </a:r>
            <a:endParaRPr sz="1900">
              <a:solidFill>
                <a:srgbClr val="000000"/>
              </a:solidFill>
              <a:latin typeface="Arial"/>
              <a:ea typeface="Arial"/>
              <a:cs typeface="Arial"/>
              <a:sym typeface="Arial"/>
            </a:endParaRPr>
          </a:p>
          <a:p>
            <a:pPr indent="-349250" lvl="0" marL="457200" rtl="0" algn="l">
              <a:spcBef>
                <a:spcPts val="1200"/>
              </a:spcBef>
              <a:spcAft>
                <a:spcPts val="0"/>
              </a:spcAft>
              <a:buClr>
                <a:srgbClr val="000000"/>
              </a:buClr>
              <a:buSzPts val="1900"/>
              <a:buFont typeface="Arial"/>
              <a:buChar char="●"/>
            </a:pPr>
            <a:r>
              <a:rPr lang="en" sz="1900">
                <a:solidFill>
                  <a:srgbClr val="000000"/>
                </a:solidFill>
                <a:latin typeface="Arial"/>
                <a:ea typeface="Arial"/>
                <a:cs typeface="Arial"/>
                <a:sym typeface="Arial"/>
              </a:rPr>
              <a:t>Systems can hang due to deadlocks, which occur when two or more processes prevent each other from progressing by each having a hold on resources the other processes need. If not managed properly by the OS, this can lead to an 'infinite wait', causing the system to become unresponsive.</a:t>
            </a:r>
            <a:endParaRPr sz="2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Crashes and Memory Issues</a:t>
            </a:r>
            <a:endParaRPr/>
          </a:p>
        </p:txBody>
      </p:sp>
      <p:sp>
        <p:nvSpPr>
          <p:cNvPr id="192" name="Google Shape;192;p3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000000"/>
                </a:solidFill>
                <a:latin typeface="Arial"/>
                <a:ea typeface="Arial"/>
                <a:cs typeface="Arial"/>
                <a:sym typeface="Arial"/>
              </a:rPr>
              <a:t>Hardware Malfunctions</a:t>
            </a:r>
            <a:r>
              <a:rPr lang="en" sz="2000">
                <a:solidFill>
                  <a:srgbClr val="000000"/>
                </a:solidFill>
                <a:latin typeface="Arial"/>
                <a:ea typeface="Arial"/>
                <a:cs typeface="Arial"/>
                <a:sym typeface="Arial"/>
              </a:rPr>
              <a:t>:</a:t>
            </a:r>
            <a:endParaRPr sz="2000">
              <a:solidFill>
                <a:srgbClr val="000000"/>
              </a:solidFill>
              <a:latin typeface="Arial"/>
              <a:ea typeface="Arial"/>
              <a:cs typeface="Arial"/>
              <a:sym typeface="Arial"/>
            </a:endParaRPr>
          </a:p>
          <a:p>
            <a:pPr indent="-355600" lvl="0" marL="457200" rtl="0" algn="l">
              <a:spcBef>
                <a:spcPts val="1200"/>
              </a:spcBef>
              <a:spcAft>
                <a:spcPts val="0"/>
              </a:spcAft>
              <a:buClr>
                <a:srgbClr val="000000"/>
              </a:buClr>
              <a:buSzPts val="2000"/>
              <a:buFont typeface="Arial"/>
              <a:buChar char="●"/>
            </a:pPr>
            <a:r>
              <a:rPr lang="en" sz="2000">
                <a:solidFill>
                  <a:srgbClr val="000000"/>
                </a:solidFill>
                <a:latin typeface="Arial"/>
                <a:ea typeface="Arial"/>
                <a:cs typeface="Arial"/>
                <a:sym typeface="Arial"/>
              </a:rPr>
              <a:t>Crashes can also be caused by hardware malfunctions, such as a failing hard drive, bad memory, overheating processors, or other critical hardware failures that the OS cannot recover from.</a:t>
            </a:r>
            <a:endParaRPr sz="27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Crashes and Memory Issues</a:t>
            </a:r>
            <a:endParaRPr/>
          </a:p>
        </p:txBody>
      </p:sp>
      <p:sp>
        <p:nvSpPr>
          <p:cNvPr id="198" name="Google Shape;198;p3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28600" lvl="0" marL="457200" rtl="0" algn="l">
              <a:spcBef>
                <a:spcPts val="1200"/>
              </a:spcBef>
              <a:spcAft>
                <a:spcPts val="0"/>
              </a:spcAft>
              <a:buNone/>
            </a:pPr>
            <a:r>
              <a:rPr b="1" lang="en" sz="1700">
                <a:solidFill>
                  <a:srgbClr val="000000"/>
                </a:solidFill>
                <a:latin typeface="Arial"/>
                <a:ea typeface="Arial"/>
                <a:cs typeface="Arial"/>
                <a:sym typeface="Arial"/>
              </a:rPr>
              <a:t>Driver Issues</a:t>
            </a:r>
            <a:r>
              <a:rPr lang="en" sz="1700">
                <a:solidFill>
                  <a:srgbClr val="000000"/>
                </a:solidFill>
                <a:latin typeface="Arial"/>
                <a:ea typeface="Arial"/>
                <a:cs typeface="Arial"/>
                <a:sym typeface="Arial"/>
              </a:rPr>
              <a:t>:</a:t>
            </a:r>
            <a:endParaRPr sz="1700">
              <a:solidFill>
                <a:srgbClr val="000000"/>
              </a:solidFill>
              <a:latin typeface="Arial"/>
              <a:ea typeface="Arial"/>
              <a:cs typeface="Arial"/>
              <a:sym typeface="Arial"/>
            </a:endParaRPr>
          </a:p>
          <a:p>
            <a:pPr indent="-336550" lvl="0" marL="457200" rtl="0" algn="l">
              <a:spcBef>
                <a:spcPts val="1200"/>
              </a:spcBef>
              <a:spcAft>
                <a:spcPts val="0"/>
              </a:spcAft>
              <a:buClr>
                <a:srgbClr val="000000"/>
              </a:buClr>
              <a:buSzPts val="1700"/>
              <a:buFont typeface="Arial"/>
              <a:buChar char="●"/>
            </a:pPr>
            <a:r>
              <a:rPr lang="en" sz="1700">
                <a:solidFill>
                  <a:srgbClr val="000000"/>
                </a:solidFill>
                <a:latin typeface="Arial"/>
                <a:ea typeface="Arial"/>
                <a:cs typeface="Arial"/>
                <a:sym typeface="Arial"/>
              </a:rPr>
              <a:t>Faulty or incompatible device drivers can cause crashes as well. Drivers operate in a privileged mode and have direct access to hardware; thus, a bug in a driver can lead to a system crash.</a:t>
            </a:r>
            <a:endParaRPr b="1" sz="2600">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System Crashes and Memory Issues</a:t>
            </a:r>
            <a:endParaRPr/>
          </a:p>
        </p:txBody>
      </p:sp>
      <p:sp>
        <p:nvSpPr>
          <p:cNvPr id="204" name="Google Shape;204;p3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a:solidFill>
                  <a:srgbClr val="000000"/>
                </a:solidFill>
                <a:latin typeface="Arial"/>
                <a:ea typeface="Arial"/>
                <a:cs typeface="Arial"/>
                <a:sym typeface="Arial"/>
              </a:rPr>
              <a:t>Kernel Panic</a:t>
            </a:r>
            <a:r>
              <a:rPr lang="en">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42900" lvl="0" marL="457200" rtl="0" algn="l">
              <a:spcBef>
                <a:spcPts val="1200"/>
              </a:spcBef>
              <a:spcAft>
                <a:spcPts val="0"/>
              </a:spcAft>
              <a:buClr>
                <a:srgbClr val="000000"/>
              </a:buClr>
              <a:buSzPts val="1800"/>
              <a:buFont typeface="Arial"/>
              <a:buChar char="●"/>
            </a:pPr>
            <a:r>
              <a:rPr lang="en">
                <a:solidFill>
                  <a:srgbClr val="000000"/>
                </a:solidFill>
                <a:latin typeface="Arial"/>
                <a:ea typeface="Arial"/>
                <a:cs typeface="Arial"/>
                <a:sym typeface="Arial"/>
              </a:rPr>
              <a:t>A kernel panic is a safety measure taken by an operating system's kernel upon detecting an internal fatal error from which it cannot safely recover. The system halts to prevent damage to the system or data.</a:t>
            </a:r>
            <a:endParaRPr>
              <a:solidFill>
                <a:srgbClr val="000000"/>
              </a:solidFill>
              <a:latin typeface="Arial"/>
              <a:ea typeface="Arial"/>
              <a:cs typeface="Arial"/>
              <a:sym typeface="Arial"/>
            </a:endParaRPr>
          </a:p>
          <a:p>
            <a:pPr indent="0" lvl="0" marL="0" rtl="0" algn="l">
              <a:spcBef>
                <a:spcPts val="1200"/>
              </a:spcBef>
              <a:spcAft>
                <a:spcPts val="0"/>
              </a:spcAft>
              <a:buNone/>
            </a:pPr>
            <a:r>
              <a:rPr b="1" lang="en">
                <a:solidFill>
                  <a:srgbClr val="000000"/>
                </a:solidFill>
                <a:latin typeface="Arial"/>
                <a:ea typeface="Arial"/>
                <a:cs typeface="Arial"/>
                <a:sym typeface="Arial"/>
              </a:rPr>
              <a:t>Resource Exhaustion</a:t>
            </a:r>
            <a:r>
              <a:rPr lang="en">
                <a:solidFill>
                  <a:srgbClr val="000000"/>
                </a:solidFill>
                <a:latin typeface="Arial"/>
                <a:ea typeface="Arial"/>
                <a:cs typeface="Arial"/>
                <a:sym typeface="Arial"/>
              </a:rPr>
              <a:t>:</a:t>
            </a:r>
            <a:endParaRPr>
              <a:solidFill>
                <a:srgbClr val="000000"/>
              </a:solidFill>
              <a:latin typeface="Arial"/>
              <a:ea typeface="Arial"/>
              <a:cs typeface="Arial"/>
              <a:sym typeface="Arial"/>
            </a:endParaRPr>
          </a:p>
          <a:p>
            <a:pPr indent="-342900" lvl="0" marL="457200" rtl="0" algn="l">
              <a:spcBef>
                <a:spcPts val="1200"/>
              </a:spcBef>
              <a:spcAft>
                <a:spcPts val="0"/>
              </a:spcAft>
              <a:buClr>
                <a:srgbClr val="000000"/>
              </a:buClr>
              <a:buSzPts val="1800"/>
              <a:buFont typeface="Arial"/>
              <a:buChar char="●"/>
            </a:pPr>
            <a:r>
              <a:rPr lang="en">
                <a:solidFill>
                  <a:srgbClr val="000000"/>
                </a:solidFill>
                <a:latin typeface="Arial"/>
                <a:ea typeface="Arial"/>
                <a:cs typeface="Arial"/>
                <a:sym typeface="Arial"/>
              </a:rPr>
              <a:t>If a system runs out of critical resources, like available RAM or CPU bandwidth due to resource leaks or poorly designed software, it can become unresponsive or crash.</a:t>
            </a:r>
            <a:endParaRPr b="1" sz="2400">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OSI Model</a:t>
            </a:r>
            <a:endParaRPr/>
          </a:p>
        </p:txBody>
      </p:sp>
      <p:sp>
        <p:nvSpPr>
          <p:cNvPr id="210" name="Google Shape;210;p36"/>
          <p:cNvSpPr txBox="1"/>
          <p:nvPr>
            <p:ph idx="1" type="body"/>
          </p:nvPr>
        </p:nvSpPr>
        <p:spPr>
          <a:xfrm>
            <a:off x="311700" y="1228675"/>
            <a:ext cx="3075000" cy="334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500">
                <a:solidFill>
                  <a:srgbClr val="000000"/>
                </a:solidFill>
                <a:latin typeface="Arial"/>
                <a:ea typeface="Arial"/>
                <a:cs typeface="Arial"/>
                <a:sym typeface="Arial"/>
              </a:rPr>
              <a:t>Layer 1 - Physical</a:t>
            </a:r>
            <a:r>
              <a:rPr lang="en" sz="1500">
                <a:solidFill>
                  <a:srgbClr val="000000"/>
                </a:solidFill>
                <a:latin typeface="Arial"/>
                <a:ea typeface="Arial"/>
                <a:cs typeface="Arial"/>
                <a:sym typeface="Arial"/>
              </a:rPr>
              <a:t>:</a:t>
            </a:r>
            <a:endParaRPr sz="1500">
              <a:solidFill>
                <a:srgbClr val="000000"/>
              </a:solidFill>
              <a:latin typeface="Arial"/>
              <a:ea typeface="Arial"/>
              <a:cs typeface="Arial"/>
              <a:sym typeface="Arial"/>
            </a:endParaRPr>
          </a:p>
          <a:p>
            <a:pPr indent="-323850" lvl="0" marL="457200" rtl="0" algn="l">
              <a:spcBef>
                <a:spcPts val="1200"/>
              </a:spcBef>
              <a:spcAft>
                <a:spcPts val="0"/>
              </a:spcAft>
              <a:buClr>
                <a:srgbClr val="000000"/>
              </a:buClr>
              <a:buSzPts val="1500"/>
              <a:buFont typeface="Arial"/>
              <a:buChar char="●"/>
            </a:pPr>
            <a:r>
              <a:rPr lang="en" sz="1500">
                <a:solidFill>
                  <a:srgbClr val="000000"/>
                </a:solidFill>
                <a:latin typeface="Arial"/>
                <a:ea typeface="Arial"/>
                <a:cs typeface="Arial"/>
                <a:sym typeface="Arial"/>
              </a:rPr>
              <a:t>Concerns the transmission and reception of unstructured raw data between a device and a physical transmission medium.</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Arial"/>
                <a:ea typeface="Arial"/>
                <a:cs typeface="Arial"/>
                <a:sym typeface="Arial"/>
              </a:rPr>
              <a:t>It defines the hardware equipment, cabling, wiring, frequencies, and pulses used to represent binary data on the network.</a:t>
            </a:r>
            <a:endParaRPr sz="1700"/>
          </a:p>
        </p:txBody>
      </p:sp>
      <p:pic>
        <p:nvPicPr>
          <p:cNvPr id="211" name="Google Shape;211;p36"/>
          <p:cNvPicPr preferRelativeResize="0"/>
          <p:nvPr/>
        </p:nvPicPr>
        <p:blipFill>
          <a:blip r:embed="rId3">
            <a:alphaModFix/>
          </a:blip>
          <a:stretch>
            <a:fillRect/>
          </a:stretch>
        </p:blipFill>
        <p:spPr>
          <a:xfrm>
            <a:off x="3662825" y="1228675"/>
            <a:ext cx="5169475" cy="31261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OSI Model</a:t>
            </a:r>
            <a:endParaRPr/>
          </a:p>
        </p:txBody>
      </p:sp>
      <p:sp>
        <p:nvSpPr>
          <p:cNvPr id="217" name="Google Shape;217;p37"/>
          <p:cNvSpPr txBox="1"/>
          <p:nvPr>
            <p:ph idx="1" type="body"/>
          </p:nvPr>
        </p:nvSpPr>
        <p:spPr>
          <a:xfrm>
            <a:off x="311700" y="1228675"/>
            <a:ext cx="3075000" cy="334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100">
                <a:solidFill>
                  <a:srgbClr val="000000"/>
                </a:solidFill>
                <a:latin typeface="Arial"/>
                <a:ea typeface="Arial"/>
                <a:cs typeface="Arial"/>
                <a:sym typeface="Arial"/>
              </a:rPr>
              <a:t>Layer 2 - The Data Link Layer</a:t>
            </a:r>
            <a:endParaRPr b="1" sz="11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 sz="1100">
                <a:solidFill>
                  <a:srgbClr val="000000"/>
                </a:solidFill>
                <a:latin typeface="Arial"/>
                <a:ea typeface="Arial"/>
                <a:cs typeface="Arial"/>
                <a:sym typeface="Arial"/>
              </a:rPr>
              <a:t>Data Link Layer Function</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Structures and manages direct, point-to-point data transfer between devices on the same network or between networks.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 sz="1100">
                <a:solidFill>
                  <a:srgbClr val="000000"/>
                </a:solidFill>
                <a:latin typeface="Arial"/>
                <a:ea typeface="Arial"/>
                <a:cs typeface="Arial"/>
                <a:sym typeface="Arial"/>
              </a:rPr>
              <a:t>Components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Consists of the Logical Link Control (LLC) sublayer that controls frame synchronization, flow control, and error checking.</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The </a:t>
            </a:r>
            <a:r>
              <a:rPr lang="en" sz="1100">
                <a:solidFill>
                  <a:srgbClr val="000000"/>
                </a:solidFill>
                <a:highlight>
                  <a:srgbClr val="FFFF00"/>
                </a:highlight>
                <a:latin typeface="Arial"/>
                <a:ea typeface="Arial"/>
                <a:cs typeface="Arial"/>
                <a:sym typeface="Arial"/>
              </a:rPr>
              <a:t>Media Access Control (MAC)</a:t>
            </a:r>
            <a:r>
              <a:rPr lang="en" sz="1100">
                <a:solidFill>
                  <a:srgbClr val="000000"/>
                </a:solidFill>
                <a:latin typeface="Arial"/>
                <a:ea typeface="Arial"/>
                <a:cs typeface="Arial"/>
                <a:sym typeface="Arial"/>
              </a:rPr>
              <a:t> sublayer controls how devices on the network uniquely identify themselves and interact with the data communication medium.</a:t>
            </a:r>
            <a:endParaRPr b="1" sz="1500">
              <a:solidFill>
                <a:srgbClr val="000000"/>
              </a:solidFill>
              <a:latin typeface="Arial"/>
              <a:ea typeface="Arial"/>
              <a:cs typeface="Arial"/>
              <a:sym typeface="Arial"/>
            </a:endParaRPr>
          </a:p>
        </p:txBody>
      </p:sp>
      <p:pic>
        <p:nvPicPr>
          <p:cNvPr id="218" name="Google Shape;218;p37"/>
          <p:cNvPicPr preferRelativeResize="0"/>
          <p:nvPr/>
        </p:nvPicPr>
        <p:blipFill>
          <a:blip r:embed="rId3">
            <a:alphaModFix/>
          </a:blip>
          <a:stretch>
            <a:fillRect/>
          </a:stretch>
        </p:blipFill>
        <p:spPr>
          <a:xfrm>
            <a:off x="3662825" y="1228675"/>
            <a:ext cx="5169475" cy="31261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OSI Model</a:t>
            </a:r>
            <a:endParaRPr/>
          </a:p>
        </p:txBody>
      </p:sp>
      <p:sp>
        <p:nvSpPr>
          <p:cNvPr id="224" name="Google Shape;224;p38"/>
          <p:cNvSpPr txBox="1"/>
          <p:nvPr>
            <p:ph idx="1" type="body"/>
          </p:nvPr>
        </p:nvSpPr>
        <p:spPr>
          <a:xfrm>
            <a:off x="311700" y="1228675"/>
            <a:ext cx="3075000" cy="33402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200">
                <a:solidFill>
                  <a:srgbClr val="000000"/>
                </a:solidFill>
                <a:latin typeface="Arial"/>
                <a:ea typeface="Arial"/>
                <a:cs typeface="Arial"/>
                <a:sym typeface="Arial"/>
              </a:rPr>
              <a:t> Layer 3 - The Network Layer</a:t>
            </a:r>
            <a:endParaRPr b="1" sz="1200">
              <a:solidFill>
                <a:srgbClr val="000000"/>
              </a:solidFill>
              <a:latin typeface="Arial"/>
              <a:ea typeface="Arial"/>
              <a:cs typeface="Arial"/>
              <a:sym typeface="Arial"/>
            </a:endParaRPr>
          </a:p>
          <a:p>
            <a:pPr indent="-304800" lvl="0" marL="457200" rtl="0" algn="l">
              <a:spcBef>
                <a:spcPts val="1200"/>
              </a:spcBef>
              <a:spcAft>
                <a:spcPts val="0"/>
              </a:spcAft>
              <a:buClr>
                <a:srgbClr val="000000"/>
              </a:buClr>
              <a:buSzPts val="1200"/>
              <a:buFont typeface="Arial"/>
              <a:buChar char="●"/>
            </a:pPr>
            <a:r>
              <a:rPr b="1" lang="en" sz="1200">
                <a:solidFill>
                  <a:srgbClr val="000000"/>
                </a:solidFill>
                <a:latin typeface="Arial"/>
                <a:ea typeface="Arial"/>
                <a:cs typeface="Arial"/>
                <a:sym typeface="Arial"/>
              </a:rPr>
              <a:t>Network Layer Core Functions</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304800" lvl="1" marL="9144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Facilitates the transfer of data in the form of packets across different networks, following logical addressing.</a:t>
            </a:r>
            <a:endParaRPr sz="1200">
              <a:solidFill>
                <a:srgbClr val="000000"/>
              </a:solidFill>
              <a:latin typeface="Arial"/>
              <a:ea typeface="Arial"/>
              <a:cs typeface="Arial"/>
              <a:sym typeface="Arial"/>
            </a:endParaRPr>
          </a:p>
          <a:p>
            <a:pPr indent="-304800" lvl="0" marL="457200" rtl="0" algn="l">
              <a:spcBef>
                <a:spcPts val="0"/>
              </a:spcBef>
              <a:spcAft>
                <a:spcPts val="0"/>
              </a:spcAft>
              <a:buClr>
                <a:srgbClr val="000000"/>
              </a:buClr>
              <a:buSzPts val="1200"/>
              <a:buFont typeface="Arial"/>
              <a:buChar char="●"/>
            </a:pPr>
            <a:r>
              <a:rPr b="1" lang="en" sz="1200">
                <a:solidFill>
                  <a:srgbClr val="000000"/>
                </a:solidFill>
                <a:latin typeface="Arial"/>
                <a:ea typeface="Arial"/>
                <a:cs typeface="Arial"/>
                <a:sym typeface="Arial"/>
              </a:rPr>
              <a:t>Routing and Addressing</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304800" lvl="1" marL="914400" rtl="0" algn="l">
              <a:spcBef>
                <a:spcPts val="0"/>
              </a:spcBef>
              <a:spcAft>
                <a:spcPts val="0"/>
              </a:spcAft>
              <a:buClr>
                <a:srgbClr val="000000"/>
              </a:buClr>
              <a:buSzPts val="1200"/>
              <a:buFont typeface="Arial"/>
              <a:buChar char="○"/>
            </a:pPr>
            <a:r>
              <a:rPr lang="en" sz="1200">
                <a:solidFill>
                  <a:srgbClr val="000000"/>
                </a:solidFill>
                <a:latin typeface="Arial"/>
                <a:ea typeface="Arial"/>
                <a:cs typeface="Arial"/>
                <a:sym typeface="Arial"/>
              </a:rPr>
              <a:t>Implements routing of packets through the most expedient route and manages logical addresses, such as</a:t>
            </a:r>
            <a:r>
              <a:rPr lang="en" sz="1200">
                <a:solidFill>
                  <a:srgbClr val="000000"/>
                </a:solidFill>
                <a:highlight>
                  <a:srgbClr val="FFFF00"/>
                </a:highlight>
                <a:latin typeface="Arial"/>
                <a:ea typeface="Arial"/>
                <a:cs typeface="Arial"/>
                <a:sym typeface="Arial"/>
              </a:rPr>
              <a:t> IP addresses</a:t>
            </a:r>
            <a:r>
              <a:rPr lang="en" sz="1200">
                <a:solidFill>
                  <a:srgbClr val="000000"/>
                </a:solidFill>
                <a:latin typeface="Arial"/>
                <a:ea typeface="Arial"/>
                <a:cs typeface="Arial"/>
                <a:sym typeface="Arial"/>
              </a:rPr>
              <a:t>, which are used to uniquely define a network device.</a:t>
            </a:r>
            <a:endParaRPr b="1" sz="1600">
              <a:solidFill>
                <a:srgbClr val="000000"/>
              </a:solidFill>
              <a:latin typeface="Arial"/>
              <a:ea typeface="Arial"/>
              <a:cs typeface="Arial"/>
              <a:sym typeface="Arial"/>
            </a:endParaRPr>
          </a:p>
        </p:txBody>
      </p:sp>
      <p:pic>
        <p:nvPicPr>
          <p:cNvPr id="225" name="Google Shape;225;p38"/>
          <p:cNvPicPr preferRelativeResize="0"/>
          <p:nvPr/>
        </p:nvPicPr>
        <p:blipFill>
          <a:blip r:embed="rId3">
            <a:alphaModFix/>
          </a:blip>
          <a:stretch>
            <a:fillRect/>
          </a:stretch>
        </p:blipFill>
        <p:spPr>
          <a:xfrm>
            <a:off x="3662825" y="1228675"/>
            <a:ext cx="5169475" cy="31261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highlight>
                  <a:srgbClr val="FFFF00"/>
                </a:highlight>
              </a:rPr>
              <a:t>Hubs</a:t>
            </a:r>
            <a:r>
              <a:rPr lang="en"/>
              <a:t>, bridges and switches</a:t>
            </a:r>
            <a:endParaRPr/>
          </a:p>
        </p:txBody>
      </p:sp>
      <p:sp>
        <p:nvSpPr>
          <p:cNvPr id="231" name="Google Shape;231;p3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Hubs</a:t>
            </a:r>
            <a:endParaRPr sz="2200"/>
          </a:p>
          <a:p>
            <a:pPr indent="-304800" lvl="0" marL="457200" rtl="0" algn="l">
              <a:spcBef>
                <a:spcPts val="1200"/>
              </a:spcBef>
              <a:spcAft>
                <a:spcPts val="0"/>
              </a:spcAft>
              <a:buClr>
                <a:srgbClr val="1F1F1F"/>
              </a:buClr>
              <a:buSzPts val="1200"/>
              <a:buFont typeface="Arial"/>
              <a:buChar char="●"/>
            </a:pPr>
            <a:r>
              <a:rPr b="1" lang="en" sz="1200">
                <a:solidFill>
                  <a:srgbClr val="1F1F1F"/>
                </a:solidFill>
                <a:highlight>
                  <a:srgbClr val="FFFFFF"/>
                </a:highlight>
                <a:latin typeface="Arial"/>
                <a:ea typeface="Arial"/>
                <a:cs typeface="Arial"/>
                <a:sym typeface="Arial"/>
              </a:rPr>
              <a:t>How it Works:</a:t>
            </a:r>
            <a:endParaRPr b="1" sz="1200">
              <a:solidFill>
                <a:srgbClr val="1F1F1F"/>
              </a:solidFill>
              <a:highlight>
                <a:srgbClr val="FFFFFF"/>
              </a:highlight>
              <a:latin typeface="Arial"/>
              <a:ea typeface="Arial"/>
              <a:cs typeface="Arial"/>
              <a:sym typeface="Arial"/>
            </a:endParaRPr>
          </a:p>
          <a:p>
            <a:pPr indent="-304800" lvl="1" marL="914400" rtl="0" algn="l">
              <a:spcBef>
                <a:spcPts val="0"/>
              </a:spcBef>
              <a:spcAft>
                <a:spcPts val="0"/>
              </a:spcAft>
              <a:buClr>
                <a:srgbClr val="1F1F1F"/>
              </a:buClr>
              <a:buSzPts val="1200"/>
              <a:buFont typeface="Arial"/>
              <a:buChar char="○"/>
            </a:pPr>
            <a:r>
              <a:rPr lang="en" sz="1200">
                <a:solidFill>
                  <a:srgbClr val="1F1F1F"/>
                </a:solidFill>
                <a:highlight>
                  <a:srgbClr val="FFFFFF"/>
                </a:highlight>
                <a:latin typeface="Arial"/>
                <a:ea typeface="Arial"/>
                <a:cs typeface="Arial"/>
                <a:sym typeface="Arial"/>
              </a:rPr>
              <a:t>Hubs receive data on one port and broadcast it to all other ports.</a:t>
            </a:r>
            <a:endParaRPr sz="1200">
              <a:solidFill>
                <a:srgbClr val="1F1F1F"/>
              </a:solidFill>
              <a:highlight>
                <a:srgbClr val="FFFFFF"/>
              </a:highlight>
              <a:latin typeface="Arial"/>
              <a:ea typeface="Arial"/>
              <a:cs typeface="Arial"/>
              <a:sym typeface="Arial"/>
            </a:endParaRPr>
          </a:p>
          <a:p>
            <a:pPr indent="-304800" lvl="1" marL="914400" rtl="0" algn="l">
              <a:spcBef>
                <a:spcPts val="0"/>
              </a:spcBef>
              <a:spcAft>
                <a:spcPts val="0"/>
              </a:spcAft>
              <a:buClr>
                <a:srgbClr val="1F1F1F"/>
              </a:buClr>
              <a:buSzPts val="1200"/>
              <a:buFont typeface="Arial"/>
              <a:buChar char="○"/>
            </a:pPr>
            <a:r>
              <a:rPr lang="en" sz="1200">
                <a:solidFill>
                  <a:srgbClr val="1F1F1F"/>
                </a:solidFill>
                <a:highlight>
                  <a:srgbClr val="FFFFFF"/>
                </a:highlight>
                <a:latin typeface="Arial"/>
                <a:ea typeface="Arial"/>
                <a:cs typeface="Arial"/>
                <a:sym typeface="Arial"/>
              </a:rPr>
              <a:t>They operate at the Physical Layer (Layer 1) of the OSI model.</a:t>
            </a:r>
            <a:endParaRPr sz="1200">
              <a:solidFill>
                <a:srgbClr val="1F1F1F"/>
              </a:solidFill>
              <a:highlight>
                <a:srgbClr val="FFFFFF"/>
              </a:highlight>
              <a:latin typeface="Arial"/>
              <a:ea typeface="Arial"/>
              <a:cs typeface="Arial"/>
              <a:sym typeface="Arial"/>
            </a:endParaRPr>
          </a:p>
          <a:p>
            <a:pPr indent="-304800" lvl="0" marL="457200" rtl="0" algn="l">
              <a:spcBef>
                <a:spcPts val="0"/>
              </a:spcBef>
              <a:spcAft>
                <a:spcPts val="0"/>
              </a:spcAft>
              <a:buClr>
                <a:srgbClr val="1F1F1F"/>
              </a:buClr>
              <a:buSzPts val="1200"/>
              <a:buFont typeface="Arial"/>
              <a:buChar char="●"/>
            </a:pPr>
            <a:r>
              <a:rPr b="1" lang="en" sz="1200">
                <a:solidFill>
                  <a:srgbClr val="1F1F1F"/>
                </a:solidFill>
                <a:highlight>
                  <a:srgbClr val="FFFFFF"/>
                </a:highlight>
                <a:latin typeface="Arial"/>
                <a:ea typeface="Arial"/>
                <a:cs typeface="Arial"/>
                <a:sym typeface="Arial"/>
              </a:rPr>
              <a:t>Limitations:</a:t>
            </a:r>
            <a:endParaRPr b="1" sz="1200">
              <a:solidFill>
                <a:srgbClr val="1F1F1F"/>
              </a:solidFill>
              <a:highlight>
                <a:srgbClr val="FFFFFF"/>
              </a:highlight>
              <a:latin typeface="Arial"/>
              <a:ea typeface="Arial"/>
              <a:cs typeface="Arial"/>
              <a:sym typeface="Arial"/>
            </a:endParaRPr>
          </a:p>
          <a:p>
            <a:pPr indent="-304800" lvl="1" marL="914400" rtl="0" algn="l">
              <a:spcBef>
                <a:spcPts val="0"/>
              </a:spcBef>
              <a:spcAft>
                <a:spcPts val="0"/>
              </a:spcAft>
              <a:buClr>
                <a:srgbClr val="1F1F1F"/>
              </a:buClr>
              <a:buSzPts val="1200"/>
              <a:buFont typeface="Arial"/>
              <a:buChar char="○"/>
            </a:pPr>
            <a:r>
              <a:rPr lang="en" sz="1200">
                <a:solidFill>
                  <a:srgbClr val="1F1F1F"/>
                </a:solidFill>
                <a:highlight>
                  <a:srgbClr val="FFFFFF"/>
                </a:highlight>
                <a:latin typeface="Arial"/>
                <a:ea typeface="Arial"/>
                <a:cs typeface="Arial"/>
                <a:sym typeface="Arial"/>
              </a:rPr>
              <a:t>Inefficient: Creates a lot of network traffic, collisions.</a:t>
            </a:r>
            <a:endParaRPr sz="1200">
              <a:solidFill>
                <a:srgbClr val="1F1F1F"/>
              </a:solidFill>
              <a:highlight>
                <a:srgbClr val="FFFFFF"/>
              </a:highlight>
              <a:latin typeface="Arial"/>
              <a:ea typeface="Arial"/>
              <a:cs typeface="Arial"/>
              <a:sym typeface="Arial"/>
            </a:endParaRPr>
          </a:p>
          <a:p>
            <a:pPr indent="-304800" lvl="1" marL="914400" rtl="0" algn="l">
              <a:spcBef>
                <a:spcPts val="0"/>
              </a:spcBef>
              <a:spcAft>
                <a:spcPts val="0"/>
              </a:spcAft>
              <a:buClr>
                <a:srgbClr val="1F1F1F"/>
              </a:buClr>
              <a:buSzPts val="1200"/>
              <a:buFont typeface="Arial"/>
              <a:buChar char="○"/>
            </a:pPr>
            <a:r>
              <a:rPr lang="en" sz="1200">
                <a:solidFill>
                  <a:srgbClr val="1F1F1F"/>
                </a:solidFill>
                <a:highlight>
                  <a:srgbClr val="FFFFFF"/>
                </a:highlight>
                <a:latin typeface="Arial"/>
                <a:ea typeface="Arial"/>
                <a:cs typeface="Arial"/>
                <a:sym typeface="Arial"/>
              </a:rPr>
              <a:t>Not scalable for large networks.</a:t>
            </a:r>
            <a:endParaRPr sz="1200">
              <a:solidFill>
                <a:srgbClr val="1F1F1F"/>
              </a:solidFill>
              <a:highlight>
                <a:srgbClr val="FFFFFF"/>
              </a:highlight>
              <a:latin typeface="Arial"/>
              <a:ea typeface="Arial"/>
              <a:cs typeface="Arial"/>
              <a:sym typeface="Arial"/>
            </a:endParaRPr>
          </a:p>
          <a:p>
            <a:pPr indent="0" lvl="0" marL="0" rtl="0" algn="l">
              <a:spcBef>
                <a:spcPts val="600"/>
              </a:spcBef>
              <a:spcAft>
                <a:spcPts val="1200"/>
              </a:spcAft>
              <a:buNone/>
            </a:pPr>
            <a:r>
              <a:rPr lang="en"/>
              <a:t>Hubs were common in early networks.  They are a "dumb" device - they don't track which device is connected to which port. They simply blast incoming data out everywhere, which can lead to performance issues on larger networks.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Hubs, </a:t>
            </a:r>
            <a:r>
              <a:rPr lang="en">
                <a:highlight>
                  <a:srgbClr val="FFFF00"/>
                </a:highlight>
              </a:rPr>
              <a:t>bridges</a:t>
            </a:r>
            <a:r>
              <a:rPr lang="en"/>
              <a:t> and switches</a:t>
            </a:r>
            <a:endParaRPr/>
          </a:p>
        </p:txBody>
      </p:sp>
      <p:sp>
        <p:nvSpPr>
          <p:cNvPr id="237" name="Google Shape;237;p4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Bridges</a:t>
            </a:r>
            <a:endParaRPr/>
          </a:p>
          <a:p>
            <a:pPr indent="-304800" lvl="0" marL="457200" rtl="0" algn="l">
              <a:spcBef>
                <a:spcPts val="1200"/>
              </a:spcBef>
              <a:spcAft>
                <a:spcPts val="0"/>
              </a:spcAft>
              <a:buClr>
                <a:srgbClr val="1F1F1F"/>
              </a:buClr>
              <a:buSzPts val="1200"/>
              <a:buFont typeface="Arial"/>
              <a:buChar char="●"/>
            </a:pPr>
            <a:r>
              <a:rPr b="1" lang="en" sz="1200">
                <a:solidFill>
                  <a:srgbClr val="1F1F1F"/>
                </a:solidFill>
                <a:highlight>
                  <a:srgbClr val="FFFFFF"/>
                </a:highlight>
                <a:latin typeface="Arial"/>
                <a:ea typeface="Arial"/>
                <a:cs typeface="Arial"/>
                <a:sym typeface="Arial"/>
              </a:rPr>
              <a:t>How it Works:</a:t>
            </a:r>
            <a:endParaRPr b="1" sz="1200">
              <a:solidFill>
                <a:srgbClr val="1F1F1F"/>
              </a:solidFill>
              <a:highlight>
                <a:srgbClr val="FFFFFF"/>
              </a:highlight>
              <a:latin typeface="Arial"/>
              <a:ea typeface="Arial"/>
              <a:cs typeface="Arial"/>
              <a:sym typeface="Arial"/>
            </a:endParaRPr>
          </a:p>
          <a:p>
            <a:pPr indent="-304800" lvl="1" marL="914400" rtl="0" algn="l">
              <a:spcBef>
                <a:spcPts val="0"/>
              </a:spcBef>
              <a:spcAft>
                <a:spcPts val="0"/>
              </a:spcAft>
              <a:buClr>
                <a:srgbClr val="1F1F1F"/>
              </a:buClr>
              <a:buSzPts val="1200"/>
              <a:buFont typeface="Arial"/>
              <a:buChar char="○"/>
            </a:pPr>
            <a:r>
              <a:rPr lang="en" sz="1200">
                <a:solidFill>
                  <a:srgbClr val="1F1F1F"/>
                </a:solidFill>
                <a:highlight>
                  <a:srgbClr val="FFFFFF"/>
                </a:highlight>
                <a:latin typeface="Arial"/>
                <a:ea typeface="Arial"/>
                <a:cs typeface="Arial"/>
                <a:sym typeface="Arial"/>
              </a:rPr>
              <a:t>Bridges learn which devices are on each segment by analyzing MAC addresses.</a:t>
            </a:r>
            <a:endParaRPr sz="1200">
              <a:solidFill>
                <a:srgbClr val="1F1F1F"/>
              </a:solidFill>
              <a:highlight>
                <a:srgbClr val="FFFFFF"/>
              </a:highlight>
              <a:latin typeface="Arial"/>
              <a:ea typeface="Arial"/>
              <a:cs typeface="Arial"/>
              <a:sym typeface="Arial"/>
            </a:endParaRPr>
          </a:p>
          <a:p>
            <a:pPr indent="-304800" lvl="1" marL="914400" rtl="0" algn="l">
              <a:spcBef>
                <a:spcPts val="0"/>
              </a:spcBef>
              <a:spcAft>
                <a:spcPts val="0"/>
              </a:spcAft>
              <a:buClr>
                <a:srgbClr val="1F1F1F"/>
              </a:buClr>
              <a:buSzPts val="1200"/>
              <a:buFont typeface="Arial"/>
              <a:buChar char="○"/>
            </a:pPr>
            <a:r>
              <a:rPr lang="en" sz="1200">
                <a:solidFill>
                  <a:srgbClr val="1F1F1F"/>
                </a:solidFill>
                <a:highlight>
                  <a:srgbClr val="FFFFFF"/>
                </a:highlight>
                <a:latin typeface="Arial"/>
                <a:ea typeface="Arial"/>
                <a:cs typeface="Arial"/>
                <a:sym typeface="Arial"/>
              </a:rPr>
              <a:t>Traffic is forwarded only to the necessary segment, reducing broadcast traffic.</a:t>
            </a:r>
            <a:endParaRPr sz="1200">
              <a:solidFill>
                <a:srgbClr val="1F1F1F"/>
              </a:solidFill>
              <a:highlight>
                <a:srgbClr val="FFFFFF"/>
              </a:highlight>
              <a:latin typeface="Arial"/>
              <a:ea typeface="Arial"/>
              <a:cs typeface="Arial"/>
              <a:sym typeface="Arial"/>
            </a:endParaRPr>
          </a:p>
          <a:p>
            <a:pPr indent="-304800" lvl="1" marL="914400" rtl="0" algn="l">
              <a:spcBef>
                <a:spcPts val="0"/>
              </a:spcBef>
              <a:spcAft>
                <a:spcPts val="0"/>
              </a:spcAft>
              <a:buClr>
                <a:srgbClr val="1F1F1F"/>
              </a:buClr>
              <a:buSzPts val="1200"/>
              <a:buFont typeface="Arial"/>
              <a:buChar char="○"/>
            </a:pPr>
            <a:r>
              <a:rPr lang="en" sz="1200">
                <a:solidFill>
                  <a:srgbClr val="1F1F1F"/>
                </a:solidFill>
                <a:highlight>
                  <a:srgbClr val="FFFFFF"/>
                </a:highlight>
                <a:latin typeface="Arial"/>
                <a:ea typeface="Arial"/>
                <a:cs typeface="Arial"/>
                <a:sym typeface="Arial"/>
              </a:rPr>
              <a:t>Operates at the Data Link Layer (Layer 2) of the OSI model.</a:t>
            </a:r>
            <a:endParaRPr sz="1200">
              <a:solidFill>
                <a:srgbClr val="1F1F1F"/>
              </a:solidFill>
              <a:highlight>
                <a:srgbClr val="FFFFFF"/>
              </a:highlight>
              <a:latin typeface="Arial"/>
              <a:ea typeface="Arial"/>
              <a:cs typeface="Arial"/>
              <a:sym typeface="Arial"/>
            </a:endParaRPr>
          </a:p>
          <a:p>
            <a:pPr indent="0" lvl="0" marL="0" rtl="0" algn="l">
              <a:spcBef>
                <a:spcPts val="600"/>
              </a:spcBef>
              <a:spcAft>
                <a:spcPts val="1200"/>
              </a:spcAft>
              <a:buNone/>
            </a:pPr>
            <a:r>
              <a:rPr lang="en"/>
              <a:t>Bridges were an improvement over hubs, introducing basic traffic intelligence. They can make a simple network more efficient but still have limitations for large-scale networks.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Hubs, bridges and </a:t>
            </a:r>
            <a:r>
              <a:rPr lang="en">
                <a:highlight>
                  <a:srgbClr val="FFFF00"/>
                </a:highlight>
              </a:rPr>
              <a:t>switches</a:t>
            </a:r>
            <a:endParaRPr>
              <a:highlight>
                <a:srgbClr val="FFFF00"/>
              </a:highlight>
            </a:endParaRPr>
          </a:p>
        </p:txBody>
      </p:sp>
      <p:sp>
        <p:nvSpPr>
          <p:cNvPr id="243" name="Google Shape;243;p4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Switches</a:t>
            </a:r>
            <a:endParaRPr/>
          </a:p>
          <a:p>
            <a:pPr indent="-304800" lvl="0" marL="457200" rtl="0" algn="l">
              <a:spcBef>
                <a:spcPts val="1200"/>
              </a:spcBef>
              <a:spcAft>
                <a:spcPts val="0"/>
              </a:spcAft>
              <a:buClr>
                <a:srgbClr val="1F1F1F"/>
              </a:buClr>
              <a:buSzPts val="1200"/>
              <a:buFont typeface="Arial"/>
              <a:buChar char="●"/>
            </a:pPr>
            <a:r>
              <a:rPr lang="en" sz="1200">
                <a:solidFill>
                  <a:srgbClr val="1F1F1F"/>
                </a:solidFill>
                <a:highlight>
                  <a:srgbClr val="FFFFFF"/>
                </a:highlight>
                <a:latin typeface="Arial"/>
                <a:ea typeface="Arial"/>
                <a:cs typeface="Arial"/>
                <a:sym typeface="Arial"/>
              </a:rPr>
              <a:t>Multi-port bridge that intelligently forwards data to specific devices.</a:t>
            </a:r>
            <a:endParaRPr sz="1200">
              <a:solidFill>
                <a:srgbClr val="1F1F1F"/>
              </a:solidFill>
              <a:highlight>
                <a:srgbClr val="FFFFFF"/>
              </a:highlight>
              <a:latin typeface="Arial"/>
              <a:ea typeface="Arial"/>
              <a:cs typeface="Arial"/>
              <a:sym typeface="Arial"/>
            </a:endParaRPr>
          </a:p>
          <a:p>
            <a:pPr indent="-304800" lvl="0" marL="457200" rtl="0" algn="l">
              <a:spcBef>
                <a:spcPts val="0"/>
              </a:spcBef>
              <a:spcAft>
                <a:spcPts val="0"/>
              </a:spcAft>
              <a:buClr>
                <a:srgbClr val="1F1F1F"/>
              </a:buClr>
              <a:buSzPts val="1200"/>
              <a:buFont typeface="Arial"/>
              <a:buChar char="●"/>
            </a:pPr>
            <a:r>
              <a:rPr b="1" lang="en" sz="1200">
                <a:solidFill>
                  <a:srgbClr val="1F1F1F"/>
                </a:solidFill>
                <a:highlight>
                  <a:srgbClr val="FFFFFF"/>
                </a:highlight>
                <a:latin typeface="Arial"/>
                <a:ea typeface="Arial"/>
                <a:cs typeface="Arial"/>
                <a:sym typeface="Arial"/>
              </a:rPr>
              <a:t>How it Works:</a:t>
            </a:r>
            <a:endParaRPr b="1" sz="1200">
              <a:solidFill>
                <a:srgbClr val="1F1F1F"/>
              </a:solidFill>
              <a:highlight>
                <a:srgbClr val="FFFFFF"/>
              </a:highlight>
              <a:latin typeface="Arial"/>
              <a:ea typeface="Arial"/>
              <a:cs typeface="Arial"/>
              <a:sym typeface="Arial"/>
            </a:endParaRPr>
          </a:p>
          <a:p>
            <a:pPr indent="-304800" lvl="1" marL="914400" rtl="0" algn="l">
              <a:spcBef>
                <a:spcPts val="0"/>
              </a:spcBef>
              <a:spcAft>
                <a:spcPts val="0"/>
              </a:spcAft>
              <a:buClr>
                <a:srgbClr val="1F1F1F"/>
              </a:buClr>
              <a:buSzPts val="1200"/>
              <a:buFont typeface="Arial"/>
              <a:buChar char="○"/>
            </a:pPr>
            <a:r>
              <a:rPr lang="en" sz="1200">
                <a:solidFill>
                  <a:srgbClr val="1F1F1F"/>
                </a:solidFill>
                <a:highlight>
                  <a:srgbClr val="FFFFFF"/>
                </a:highlight>
                <a:latin typeface="Arial"/>
                <a:ea typeface="Arial"/>
                <a:cs typeface="Arial"/>
                <a:sym typeface="Arial"/>
              </a:rPr>
              <a:t>Switches build a table mapping MAC addresses to specific ports.</a:t>
            </a:r>
            <a:endParaRPr sz="1200">
              <a:solidFill>
                <a:srgbClr val="1F1F1F"/>
              </a:solidFill>
              <a:highlight>
                <a:srgbClr val="FFFFFF"/>
              </a:highlight>
              <a:latin typeface="Arial"/>
              <a:ea typeface="Arial"/>
              <a:cs typeface="Arial"/>
              <a:sym typeface="Arial"/>
            </a:endParaRPr>
          </a:p>
          <a:p>
            <a:pPr indent="-304800" lvl="1" marL="914400" rtl="0" algn="l">
              <a:spcBef>
                <a:spcPts val="0"/>
              </a:spcBef>
              <a:spcAft>
                <a:spcPts val="0"/>
              </a:spcAft>
              <a:buClr>
                <a:srgbClr val="1F1F1F"/>
              </a:buClr>
              <a:buSzPts val="1200"/>
              <a:buFont typeface="Arial"/>
              <a:buChar char="○"/>
            </a:pPr>
            <a:r>
              <a:rPr lang="en" sz="1200">
                <a:solidFill>
                  <a:srgbClr val="1F1F1F"/>
                </a:solidFill>
                <a:highlight>
                  <a:srgbClr val="FFFFFF"/>
                </a:highlight>
                <a:latin typeface="Arial"/>
                <a:ea typeface="Arial"/>
                <a:cs typeface="Arial"/>
                <a:sym typeface="Arial"/>
              </a:rPr>
              <a:t>Incoming data is forwarded only to the intended destination port.</a:t>
            </a:r>
            <a:endParaRPr sz="1200">
              <a:solidFill>
                <a:srgbClr val="1F1F1F"/>
              </a:solidFill>
              <a:highlight>
                <a:srgbClr val="FFFFFF"/>
              </a:highlight>
              <a:latin typeface="Arial"/>
              <a:ea typeface="Arial"/>
              <a:cs typeface="Arial"/>
              <a:sym typeface="Arial"/>
            </a:endParaRPr>
          </a:p>
          <a:p>
            <a:pPr indent="-304800" lvl="1" marL="914400" rtl="0" algn="l">
              <a:spcBef>
                <a:spcPts val="0"/>
              </a:spcBef>
              <a:spcAft>
                <a:spcPts val="0"/>
              </a:spcAft>
              <a:buClr>
                <a:srgbClr val="1F1F1F"/>
              </a:buClr>
              <a:buSzPts val="1200"/>
              <a:buFont typeface="Arial"/>
              <a:buChar char="○"/>
            </a:pPr>
            <a:r>
              <a:rPr lang="en" sz="1200">
                <a:solidFill>
                  <a:srgbClr val="1F1F1F"/>
                </a:solidFill>
                <a:highlight>
                  <a:srgbClr val="FFFFFF"/>
                </a:highlight>
                <a:latin typeface="Arial"/>
                <a:ea typeface="Arial"/>
                <a:cs typeface="Arial"/>
                <a:sym typeface="Arial"/>
              </a:rPr>
              <a:t>Operates at the Data Link Layer (Layer 2) of the OSI model.</a:t>
            </a:r>
            <a:endParaRPr sz="1200">
              <a:solidFill>
                <a:srgbClr val="1F1F1F"/>
              </a:solidFill>
              <a:highlight>
                <a:srgbClr val="FFFFFF"/>
              </a:highlight>
              <a:latin typeface="Arial"/>
              <a:ea typeface="Arial"/>
              <a:cs typeface="Arial"/>
              <a:sym typeface="Arial"/>
            </a:endParaRPr>
          </a:p>
          <a:p>
            <a:pPr indent="0" lvl="0" marL="0" rtl="0" algn="l">
              <a:spcBef>
                <a:spcPts val="600"/>
              </a:spcBef>
              <a:spcAft>
                <a:spcPts val="600"/>
              </a:spcAft>
              <a:buNone/>
            </a:pPr>
            <a:r>
              <a:rPr lang="en" sz="1600">
                <a:solidFill>
                  <a:srgbClr val="1F1F1F"/>
                </a:solidFill>
                <a:highlight>
                  <a:srgbClr val="FFFFFF"/>
                </a:highlight>
                <a:latin typeface="Arial"/>
                <a:ea typeface="Arial"/>
                <a:cs typeface="Arial"/>
                <a:sym typeface="Arial"/>
              </a:rPr>
              <a:t>Switches are the core of modern networks.  Their ability to intelligently target traffic greatly improves efficiency and scalability.  They are like advanced bridges with many more ports.</a:t>
            </a:r>
            <a:endParaRPr sz="1600">
              <a:solidFill>
                <a:srgbClr val="1F1F1F"/>
              </a:solidFill>
              <a:highlight>
                <a:srgbClr val="FFFFFF"/>
              </a:highlight>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Homework - Wikipedia!</a:t>
            </a:r>
            <a:endParaRPr/>
          </a:p>
        </p:txBody>
      </p:sp>
      <p:sp>
        <p:nvSpPr>
          <p:cNvPr id="249" name="Google Shape;249;p4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Operating Systems</a:t>
            </a:r>
            <a:endParaRPr/>
          </a:p>
          <a:p>
            <a:pPr indent="0" lvl="0" marL="0" rtl="0" algn="l">
              <a:spcBef>
                <a:spcPts val="1200"/>
              </a:spcBef>
              <a:spcAft>
                <a:spcPts val="0"/>
              </a:spcAft>
              <a:buNone/>
            </a:pPr>
            <a:r>
              <a:rPr lang="en" u="sng">
                <a:solidFill>
                  <a:schemeClr val="hlink"/>
                </a:solidFill>
                <a:hlinkClick r:id="rId3"/>
              </a:rPr>
              <a:t>https://en.wikipedia.org/wiki/Operating_system</a:t>
            </a:r>
            <a:endParaRPr/>
          </a:p>
          <a:p>
            <a:pPr indent="0" lvl="0" marL="0" rtl="0" algn="l">
              <a:spcBef>
                <a:spcPts val="1200"/>
              </a:spcBef>
              <a:spcAft>
                <a:spcPts val="0"/>
              </a:spcAft>
              <a:buNone/>
            </a:pPr>
            <a:r>
              <a:rPr lang="en"/>
              <a:t>OSI Model</a:t>
            </a:r>
            <a:endParaRPr/>
          </a:p>
          <a:p>
            <a:pPr indent="0" lvl="0" marL="0" rtl="0" algn="l">
              <a:spcBef>
                <a:spcPts val="1200"/>
              </a:spcBef>
              <a:spcAft>
                <a:spcPts val="0"/>
              </a:spcAft>
              <a:buNone/>
            </a:pPr>
            <a:r>
              <a:rPr lang="en" u="sng">
                <a:solidFill>
                  <a:schemeClr val="hlink"/>
                </a:solidFill>
                <a:hlinkClick r:id="rId4"/>
              </a:rPr>
              <a:t>https://en.wikipedia.org/wiki/OSI_model</a:t>
            </a:r>
            <a:endParaRPr/>
          </a:p>
          <a:p>
            <a:pPr indent="0" lvl="0" marL="0" rtl="0" algn="l">
              <a:spcBef>
                <a:spcPts val="1200"/>
              </a:spcBef>
              <a:spcAft>
                <a:spcPts val="0"/>
              </a:spcAft>
              <a:buNone/>
            </a:pPr>
            <a:r>
              <a:rPr lang="en"/>
              <a:t>TCP/IP Model comparison to OSI Model</a:t>
            </a:r>
            <a:endParaRPr/>
          </a:p>
          <a:p>
            <a:pPr indent="0" lvl="0" marL="0" rtl="0" algn="l">
              <a:spcBef>
                <a:spcPts val="1200"/>
              </a:spcBef>
              <a:spcAft>
                <a:spcPts val="1200"/>
              </a:spcAft>
              <a:buNone/>
            </a:pPr>
            <a:r>
              <a:rPr lang="en" u="sng">
                <a:solidFill>
                  <a:schemeClr val="hlink"/>
                </a:solidFill>
                <a:hlinkClick r:id="rId5"/>
              </a:rPr>
              <a:t>https://en.wikipedia.org/wiki/OSI_model#Comparison_with_TCP/IP_model</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LAB</a:t>
            </a:r>
            <a:endParaRPr/>
          </a:p>
        </p:txBody>
      </p:sp>
      <p:sp>
        <p:nvSpPr>
          <p:cNvPr id="255" name="Google Shape;255;p4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Network Discovery</a:t>
            </a:r>
            <a:endParaRPr/>
          </a:p>
          <a:p>
            <a:pPr indent="0" lvl="0" marL="0" rtl="0" algn="l">
              <a:spcBef>
                <a:spcPts val="1200"/>
              </a:spcBef>
              <a:spcAft>
                <a:spcPts val="0"/>
              </a:spcAft>
              <a:buNone/>
            </a:pPr>
            <a:r>
              <a:rPr lang="en"/>
              <a:t>Discover layer 2 addresses and their OU</a:t>
            </a:r>
            <a:endParaRPr/>
          </a:p>
          <a:p>
            <a:pPr indent="0" lvl="0" marL="0" rtl="0" algn="l">
              <a:spcBef>
                <a:spcPts val="1200"/>
              </a:spcBef>
              <a:spcAft>
                <a:spcPts val="0"/>
              </a:spcAft>
              <a:buNone/>
            </a:pPr>
            <a:br>
              <a:rPr lang="en"/>
            </a:br>
            <a:r>
              <a:rPr lang="en"/>
              <a:t>Connect to another groups web server</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Discover the OU for the default gateway on the local network.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61" name="Google Shape;261;p4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