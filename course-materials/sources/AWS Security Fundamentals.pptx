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Lst>
  <p:sldSz cy="5143500" cx="9144000"/>
  <p:notesSz cx="6858000" cy="9144000"/>
  <p:embeddedFontLst>
    <p:embeddedFont>
      <p:font typeface="Amatic SC"/>
      <p:regular r:id="rId132"/>
      <p:bold r:id="rId133"/>
    </p:embeddedFont>
    <p:embeddedFont>
      <p:font typeface="Source Code Pro"/>
      <p:regular r:id="rId134"/>
      <p:bold r:id="rId135"/>
      <p:italic r:id="rId136"/>
      <p:boldItalic r:id="rId1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7" Type="http://schemas.openxmlformats.org/officeDocument/2006/relationships/font" Target="fonts/SourceCodePro-boldItalic.fntdata"/><Relationship Id="rId132" Type="http://schemas.openxmlformats.org/officeDocument/2006/relationships/font" Target="fonts/AmaticSC-regular.fntdata"/><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font" Target="fonts/SourceCodePro-italic.fntdata"/><Relationship Id="rId135" Type="http://schemas.openxmlformats.org/officeDocument/2006/relationships/font" Target="fonts/SourceCodePro-bold.fntdata"/><Relationship Id="rId134" Type="http://schemas.openxmlformats.org/officeDocument/2006/relationships/font" Target="fonts/SourceCodePro-regular.fntdata"/><Relationship Id="rId133" Type="http://schemas.openxmlformats.org/officeDocument/2006/relationships/font" Target="fonts/AmaticSC-bold.fntdata"/><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SLIDES_API144191645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SLIDES_API144191645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0a3eb6a7bb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0a3eb6a7bb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0a398293b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0a398293b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0a398293b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0a398293b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0a398293b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0a398293b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0a398293b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0a398293b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0a398293b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0a398293b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0a398293b7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0a398293b7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0a398293b7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0a398293b7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0a398293b7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0a398293b7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0a398293b7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0a398293b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0a398293b7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0a398293b7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0a398293b7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0a398293b7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0a398293b7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0a398293b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0a398293b7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0a398293b7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0a398293b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0a398293b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0a398293b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0a398293b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0a398293b7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0a398293b7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0a398293b7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0a398293b7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0a398293b7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0a398293b7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0a398293b7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0a398293b7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SLIDES_API104278335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SLIDES_API104278335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0a398293b7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0a398293b7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0a398293b7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0a398293b7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0a398293b7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0a398293b7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0a398293b7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0a398293b7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0a398293b7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0a398293b7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0a398293b7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0a398293b7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0a398293b7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0a398293b7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0a398293b7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0a398293b7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0a398293b7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0a398293b7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0a398293b7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0a398293b7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0a398293b7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0a398293b7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0a398293b7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0a398293b7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0a398293b7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0a398293b7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0a398293b7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0a398293b7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0a398293b7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0a398293b7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0a398293b7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0a398293b7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0a398293b7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0a398293b7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0a398293b7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0a398293b7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0a398293b7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0a398293b7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0a398293b7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0a398293b7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0a398293b7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0a398293b7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0a398293b7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0a398293b7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0a398293b7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0a398293b7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0a398293b7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0a398293b7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0a398293b7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0a398293b7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0a398293b7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0a398293b7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0a398293b7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0a398293b7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0a398293b7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0a398293b7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0a398293b7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0a398293b7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0a398293b7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0a398293b7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0a398293b7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0a398293b7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0a398293b7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0a398293b7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0a398293b7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0a398293b7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0a398293b7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0a398293b7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0a398293b7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0a398293b7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0a398293b7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0a398293b7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0a398293b7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0a398293b7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0a398293b7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0a398293b7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0a3eb6a7bb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0a3eb6a7bb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0a398293b7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0a398293b7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0a398293b7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0a398293b7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0a398293b7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0a398293b7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0a398293b7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20a398293b7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0a398293b7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0a398293b7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0a398293b7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0a398293b7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0a398293b7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0a398293b7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0a398293b7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20a398293b7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0a398293b7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20a398293b7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0a398293b7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0a398293b7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0a398293b7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0a398293b7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0a398293b7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0a398293b7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0a398293b7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0a398293b7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0a398293b7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0a398293b7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0a398293b7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0a398293b7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0a398293b7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0a398293b7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0a398293b7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0a398293b7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0a398293b7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20a398293b7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0a398293b7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0a398293b7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0a398293b7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0a398293b7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0a398293b7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0a398293b7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0a398293b7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0a398293b7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0a398293b7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0a398293b7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0a398293b7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20a398293b7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0a398293b7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20a398293b7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0a398293b7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0a398293b7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20a398293b7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20a398293b7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0a398293b7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0a398293b7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0a398293b7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20a398293b7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0a398293b7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0a398293b7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0a398293b7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20a398293b7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0a398293b7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0a398293b7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0a398293b7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0a398293b7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20a398293b7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20a398293b7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20a398293b7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20a398293b7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20a3eb6a7b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20a3eb6a7b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0a3eb6a7b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20a3eb6a7b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0a3eb6a7b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20a3eb6a7b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0a3eb6a7b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20a3eb6a7b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0a3eb6a7b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20a3eb6a7b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0a3eb6a7b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20a3eb6a7b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0a3eb6a7b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0a3eb6a7b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0a3eb6a7b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0a3eb6a7b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20a3eb6a7b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20a3eb6a7b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20a3eb6a7bb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20a3eb6a7bb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20a3eb6a7b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20a3eb6a7b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0a3eb6a7b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20a3eb6a7b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20a3eb6a7b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20a3eb6a7b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20a3eb6a7b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20a3eb6a7b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20a3eb6a7bb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20a3eb6a7b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20a3eb6a7bb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20a3eb6a7bb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20a3eb6a7bb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20a3eb6a7bb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20a3eb6a7bb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20a3eb6a7bb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0a3eb6a7bb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0a3eb6a7bb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20a3eb6a7bb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20a3eb6a7bb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20a3eb6a7bb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20a3eb6a7bb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0a3eb6a7bb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0a3eb6a7bb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0a3eb6a7bb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20a3eb6a7bb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20a3eb6a7bb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20a3eb6a7bb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20a3eb6a7b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20a3eb6a7b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0a3eb6a7bb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0a3eb6a7bb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20a3eb6a7bb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20a3eb6a7bb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20a3eb6a7bb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20a3eb6a7bb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0a398293b7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20a398293b7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8.jp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1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1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9.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hyperlink" Target="https://docs.aws.amazon.com/waf/latest/developerguide/ddos-overview.html"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hyperlink" Target="https://docs.aws.amazon.com/waf/latest/developerguide/ddos-overview.html"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AWS Foundations</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AWS Security Fundamentals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63" name="Google Shape;63;p14"/>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a:t>Slide 4: Security OF the Cloud</a:t>
            </a:r>
            <a:endParaRPr/>
          </a:p>
          <a:p>
            <a:pPr indent="0" lvl="0" marL="0" rtl="0" algn="l">
              <a:spcBef>
                <a:spcPts val="1200"/>
              </a:spcBef>
              <a:spcAft>
                <a:spcPts val="0"/>
              </a:spcAft>
              <a:buNone/>
            </a:pPr>
            <a:r>
              <a:rPr lang="en"/>
              <a:t>Slide 48: Security IN the cloud</a:t>
            </a:r>
            <a:endParaRPr/>
          </a:p>
          <a:p>
            <a:pPr indent="0" lvl="0" marL="0" rtl="0" algn="l">
              <a:spcBef>
                <a:spcPts val="1200"/>
              </a:spcBef>
              <a:spcAft>
                <a:spcPts val="0"/>
              </a:spcAft>
              <a:buNone/>
            </a:pPr>
            <a:r>
              <a:rPr lang="en"/>
              <a:t>Slide 62: break for 10 min</a:t>
            </a:r>
            <a:endParaRPr/>
          </a:p>
          <a:p>
            <a:pPr indent="0" lvl="0" marL="0" rtl="0" algn="l">
              <a:spcBef>
                <a:spcPts val="1200"/>
              </a:spcBef>
              <a:spcAft>
                <a:spcPts val="0"/>
              </a:spcAft>
              <a:buNone/>
            </a:pPr>
            <a:r>
              <a:rPr lang="en"/>
              <a:t>Slide 83: Detective Controls</a:t>
            </a:r>
            <a:endParaRPr/>
          </a:p>
          <a:p>
            <a:pPr indent="0" lvl="0" marL="0" rtl="0" algn="l">
              <a:spcBef>
                <a:spcPts val="1200"/>
              </a:spcBef>
              <a:spcAft>
                <a:spcPts val="0"/>
              </a:spcAft>
              <a:buNone/>
            </a:pPr>
            <a:r>
              <a:rPr lang="en"/>
              <a:t>Slide 95: Infrastructure Protection</a:t>
            </a:r>
            <a:endParaRPr/>
          </a:p>
          <a:p>
            <a:pPr indent="0" lvl="0" marL="0" rtl="0" algn="l">
              <a:spcBef>
                <a:spcPts val="1200"/>
              </a:spcBef>
              <a:spcAft>
                <a:spcPts val="0"/>
              </a:spcAft>
              <a:buNone/>
            </a:pPr>
            <a:r>
              <a:rPr lang="en"/>
              <a:t>Slide 101: Data Protection</a:t>
            </a:r>
            <a:endParaRPr/>
          </a:p>
          <a:p>
            <a:pPr indent="0" lvl="0" marL="0" rtl="0" algn="l">
              <a:spcBef>
                <a:spcPts val="1200"/>
              </a:spcBef>
              <a:spcAft>
                <a:spcPts val="0"/>
              </a:spcAft>
              <a:buNone/>
            </a:pPr>
            <a:r>
              <a:rPr lang="en"/>
              <a:t>Slide 104: Incident Response</a:t>
            </a:r>
            <a:endParaRPr/>
          </a:p>
          <a:p>
            <a:pPr indent="0" lvl="0" marL="0" rtl="0" algn="l">
              <a:spcBef>
                <a:spcPts val="1200"/>
              </a:spcBef>
              <a:spcAft>
                <a:spcPts val="0"/>
              </a:spcAft>
              <a:buNone/>
            </a:pPr>
            <a:r>
              <a:rPr lang="en"/>
              <a:t>Slide 115: DDos Mitigation</a:t>
            </a:r>
            <a:endParaRPr/>
          </a:p>
          <a:p>
            <a:pPr indent="0" lvl="0" marL="0" rtl="0" algn="l">
              <a:spcBef>
                <a:spcPts val="1200"/>
              </a:spcBef>
              <a:spcAft>
                <a:spcPts val="0"/>
              </a:spcAft>
              <a:buNone/>
            </a:pPr>
            <a:r>
              <a:rPr lang="en"/>
              <a:t>Slide 124: AWS Well-Architected Tool</a:t>
            </a:r>
            <a:endParaRPr/>
          </a:p>
          <a:p>
            <a:pPr indent="0" lvl="0" marL="0" rtl="0" algn="l">
              <a:spcBef>
                <a:spcPts val="1200"/>
              </a:spcBef>
              <a:spcAft>
                <a:spcPts val="0"/>
              </a:spcAft>
              <a:buNone/>
            </a:pPr>
            <a:r>
              <a:rPr lang="en"/>
              <a:t>Slide 126: </a:t>
            </a:r>
            <a:r>
              <a:rPr lang="en"/>
              <a:t>Lab 4 submission</a:t>
            </a:r>
            <a:endParaRPr/>
          </a:p>
          <a:p>
            <a:pPr indent="0" lvl="0" marL="0" rtl="0" algn="l">
              <a:spcBef>
                <a:spcPts val="1200"/>
              </a:spcBef>
              <a:spcAft>
                <a:spcPts val="1200"/>
              </a:spcAft>
              <a:buClr>
                <a:schemeClr val="dk1"/>
              </a:buClr>
              <a:buSzPct val="61111"/>
              <a:buFont typeface="Arial"/>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Introduction to AWS Shared Responsibility Model</a:t>
            </a:r>
            <a:endParaRPr sz="3000"/>
          </a:p>
        </p:txBody>
      </p:sp>
      <p:sp>
        <p:nvSpPr>
          <p:cNvPr id="75" name="Google Shape;75;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The Shared Responsibility Model is a key aspect of cloud security in AWS.</a:t>
            </a:r>
            <a:endParaRPr/>
          </a:p>
          <a:p>
            <a:pPr indent="0" lvl="0" marL="0" rtl="0" algn="l">
              <a:spcBef>
                <a:spcPts val="1200"/>
              </a:spcBef>
              <a:spcAft>
                <a:spcPts val="0"/>
              </a:spcAft>
              <a:buClr>
                <a:schemeClr val="dk1"/>
              </a:buClr>
              <a:buSzPts val="1100"/>
              <a:buFont typeface="Arial"/>
              <a:buNone/>
            </a:pPr>
            <a:r>
              <a:rPr lang="en"/>
              <a:t>AWS and the customer share responsibilities to achieve total security and compliance.</a:t>
            </a:r>
            <a:endParaRPr/>
          </a:p>
          <a:p>
            <a:pPr indent="0" lvl="0" marL="0" rtl="0" algn="l">
              <a:spcBef>
                <a:spcPts val="1200"/>
              </a:spcBef>
              <a:spcAft>
                <a:spcPts val="1200"/>
              </a:spcAft>
              <a:buNone/>
            </a:pPr>
            <a:r>
              <a:rPr lang="en"/>
              <a:t>The division of responsibilities provides a flexible and efficient means to secure the cloud environment.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Security </a:t>
            </a:r>
            <a:r>
              <a:rPr b="1" lang="en"/>
              <a:t>OF</a:t>
            </a:r>
            <a:r>
              <a:rPr lang="en"/>
              <a:t> the Cloud </a:t>
            </a:r>
            <a:endParaRPr sz="3500"/>
          </a:p>
        </p:txBody>
      </p:sp>
      <p:sp>
        <p:nvSpPr>
          <p:cNvPr id="81" name="Google Shape;81;p17"/>
          <p:cNvSpPr txBox="1"/>
          <p:nvPr>
            <p:ph idx="1" type="body"/>
          </p:nvPr>
        </p:nvSpPr>
        <p:spPr>
          <a:xfrm>
            <a:off x="311700" y="11667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Responsibilities of the Cloud Service Provider</a:t>
            </a:r>
            <a:endParaRPr/>
          </a:p>
        </p:txBody>
      </p:sp>
      <p:sp>
        <p:nvSpPr>
          <p:cNvPr id="82" name="Google Shape;82;p17"/>
          <p:cNvSpPr/>
          <p:nvPr/>
        </p:nvSpPr>
        <p:spPr>
          <a:xfrm>
            <a:off x="3119900" y="1898925"/>
            <a:ext cx="3098100" cy="20535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Can we see</a:t>
            </a:r>
            <a:endParaRPr/>
          </a:p>
          <a:p>
            <a:pPr indent="0" lvl="0" marL="0" rtl="0" algn="l">
              <a:spcBef>
                <a:spcPts val="0"/>
              </a:spcBef>
              <a:spcAft>
                <a:spcPts val="0"/>
              </a:spcAft>
              <a:buNone/>
            </a:pPr>
            <a:r>
              <a:rPr lang="en"/>
              <a:t>Your </a:t>
            </a:r>
            <a:r>
              <a:rPr lang="en"/>
              <a:t>Data Centres</a:t>
            </a:r>
            <a:r>
              <a:rPr lang="en"/>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Security OF the Cloud </a:t>
            </a:r>
            <a:endParaRPr sz="3500"/>
          </a:p>
        </p:txBody>
      </p:sp>
      <p:sp>
        <p:nvSpPr>
          <p:cNvPr id="88" name="Google Shape;88;p18"/>
          <p:cNvSpPr txBox="1"/>
          <p:nvPr>
            <p:ph idx="1" type="body"/>
          </p:nvPr>
        </p:nvSpPr>
        <p:spPr>
          <a:xfrm>
            <a:off x="311700" y="11667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NO!</a:t>
            </a:r>
            <a:endParaRPr/>
          </a:p>
        </p:txBody>
      </p:sp>
      <p:sp>
        <p:nvSpPr>
          <p:cNvPr id="89" name="Google Shape;89;p18"/>
          <p:cNvSpPr/>
          <p:nvPr/>
        </p:nvSpPr>
        <p:spPr>
          <a:xfrm>
            <a:off x="3119900" y="1898925"/>
            <a:ext cx="3098100" cy="20535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Can we see</a:t>
            </a:r>
            <a:endParaRPr/>
          </a:p>
          <a:p>
            <a:pPr indent="0" lvl="0" marL="0" rtl="0" algn="l">
              <a:spcBef>
                <a:spcPts val="0"/>
              </a:spcBef>
              <a:spcAft>
                <a:spcPts val="0"/>
              </a:spcAft>
              <a:buNone/>
            </a:pPr>
            <a:r>
              <a:rPr lang="en"/>
              <a:t>Your Data Centres?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Locations - </a:t>
            </a:r>
            <a:r>
              <a:rPr b="1" lang="en"/>
              <a:t>Transparency</a:t>
            </a:r>
            <a:endParaRPr b="1"/>
          </a:p>
        </p:txBody>
      </p:sp>
      <p:sp>
        <p:nvSpPr>
          <p:cNvPr id="95" name="Google Shape;95;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Azure and Google Cloud's approach provides a </a:t>
            </a:r>
            <a:r>
              <a:rPr b="1" lang="en">
                <a:highlight>
                  <a:srgbClr val="FFFF00"/>
                </a:highlight>
              </a:rPr>
              <a:t>greater level of transparency about the physical location of data centers</a:t>
            </a:r>
            <a:r>
              <a:rPr lang="en"/>
              <a:t>. Customers and potential customers can use this information when planning their own data management strategies, such as considering data sovereignty and compliance requirements, latency, and redundancy.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t>Locations - </a:t>
            </a:r>
            <a:r>
              <a:rPr b="1" lang="en" sz="3500"/>
              <a:t>Security through Obscurity</a:t>
            </a:r>
            <a:endParaRPr b="1" sz="3500"/>
          </a:p>
        </p:txBody>
      </p:sp>
      <p:sp>
        <p:nvSpPr>
          <p:cNvPr id="101" name="Google Shape;101;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On the other hand, </a:t>
            </a:r>
            <a:r>
              <a:rPr b="1" lang="en">
                <a:highlight>
                  <a:srgbClr val="FFFF00"/>
                </a:highlight>
              </a:rPr>
              <a:t>AWS does not publicly disclose the exact locations of its data centers</a:t>
            </a:r>
            <a:r>
              <a:rPr lang="en"/>
              <a:t>. This could be viewed as a security measure, a practice known as "</a:t>
            </a:r>
            <a:r>
              <a:rPr b="1" lang="en">
                <a:highlight>
                  <a:srgbClr val="FFFF00"/>
                </a:highlight>
              </a:rPr>
              <a:t>security through obscurity</a:t>
            </a:r>
            <a:r>
              <a:rPr lang="en"/>
              <a:t>". By keeping the exact locations undisclosed, AWS may be attempting to reduce the potential for physical attacks on their infrastructure.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Locations - </a:t>
            </a:r>
            <a:r>
              <a:rPr b="1" lang="en"/>
              <a:t>Regional Availability</a:t>
            </a:r>
            <a:endParaRPr b="1"/>
          </a:p>
        </p:txBody>
      </p:sp>
      <p:sp>
        <p:nvSpPr>
          <p:cNvPr id="107" name="Google Shape;107;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While AWS does not provide exact locations, they </a:t>
            </a:r>
            <a:r>
              <a:rPr b="1" lang="en">
                <a:highlight>
                  <a:srgbClr val="FFFF00"/>
                </a:highlight>
              </a:rPr>
              <a:t>do disclose the regions and availability zones</a:t>
            </a:r>
            <a:r>
              <a:rPr lang="en"/>
              <a:t> where their services are available. This information can still be useful for customers when planning for </a:t>
            </a:r>
            <a:r>
              <a:rPr b="1" lang="en">
                <a:highlight>
                  <a:srgbClr val="FFFF00"/>
                </a:highlight>
              </a:rPr>
              <a:t>latency, redundancy, and data sovereignty</a:t>
            </a:r>
            <a:r>
              <a:rPr lang="en"/>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500"/>
              <a:t>Locations - </a:t>
            </a:r>
            <a:r>
              <a:rPr b="1" lang="en" sz="3500"/>
              <a:t>Impact on Decision Making</a:t>
            </a:r>
            <a:endParaRPr b="1" sz="3500"/>
          </a:p>
        </p:txBody>
      </p:sp>
      <p:sp>
        <p:nvSpPr>
          <p:cNvPr id="113" name="Google Shape;113;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While the transparency of data center locations can be interesting and potentially useful, it's worth noting that for many customers, </a:t>
            </a:r>
            <a:r>
              <a:rPr b="1" lang="en">
                <a:highlight>
                  <a:srgbClr val="FFFF00"/>
                </a:highlight>
              </a:rPr>
              <a:t>other factors may be more significant in their choice of cloud provider.</a:t>
            </a:r>
            <a:r>
              <a:rPr lang="en"/>
              <a:t> These can include the range of services offered, cost, performance, compliance capabilities, and the quality of customer support.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Locations - Audits</a:t>
            </a:r>
            <a:endParaRPr/>
          </a:p>
        </p:txBody>
      </p:sp>
      <p:sp>
        <p:nvSpPr>
          <p:cNvPr id="119" name="Google Shape;119;p2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Think you need to audit a data center yourself for compliance? Think again. Let's dive into why AWS's security, compliance, and global infrastructure make this a non-issue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Security and Compliance</a:t>
            </a:r>
            <a:endParaRPr/>
          </a:p>
        </p:txBody>
      </p:sp>
      <p:sp>
        <p:nvSpPr>
          <p:cNvPr id="125" name="Google Shape;125;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AWS, along with other major cloud providers, undergoes numerous </a:t>
            </a:r>
            <a:r>
              <a:rPr b="1" lang="en">
                <a:highlight>
                  <a:srgbClr val="FFFF00"/>
                </a:highlight>
              </a:rPr>
              <a:t>independent third-party audits regularly</a:t>
            </a:r>
            <a:r>
              <a:rPr lang="en"/>
              <a:t>. Compliance certifications such as SOC 1, SOC 2, SOC 3, PCI DSS Level 1, and ISO 27001 ensure that data centers meet strict security standards, regardless of their exact location.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Sovereignty</a:t>
            </a:r>
            <a:endParaRPr/>
          </a:p>
        </p:txBody>
      </p:sp>
      <p:sp>
        <p:nvSpPr>
          <p:cNvPr id="131" name="Google Shape;131;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Cloud providers like AWS offer customers the option to select geographical regions for their data and services. This helps customers address </a:t>
            </a:r>
            <a:r>
              <a:rPr b="1" lang="en">
                <a:highlight>
                  <a:srgbClr val="FFFF00"/>
                </a:highlight>
              </a:rPr>
              <a:t>data residency requirements</a:t>
            </a:r>
            <a:r>
              <a:rPr lang="en"/>
              <a:t> and keep data within specific legal jurisdictions.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Resiliency and Redundancy</a:t>
            </a:r>
            <a:endParaRPr/>
          </a:p>
        </p:txBody>
      </p:sp>
      <p:sp>
        <p:nvSpPr>
          <p:cNvPr id="137" name="Google Shape;137;p2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Resiliency</a:t>
            </a:r>
            <a:r>
              <a:rPr lang="en"/>
              <a:t> in cloud computing is primarily about </a:t>
            </a:r>
            <a:r>
              <a:rPr b="1" lang="en">
                <a:highlight>
                  <a:srgbClr val="FFFF00"/>
                </a:highlight>
              </a:rPr>
              <a:t>system design</a:t>
            </a:r>
            <a:r>
              <a:rPr lang="en"/>
              <a:t> and not about the physical location of data centers. </a:t>
            </a:r>
            <a:endParaRPr/>
          </a:p>
          <a:p>
            <a:pPr indent="0" lvl="0" marL="0" rtl="0" algn="l">
              <a:spcBef>
                <a:spcPts val="1200"/>
              </a:spcBef>
              <a:spcAft>
                <a:spcPts val="1200"/>
              </a:spcAft>
              <a:buNone/>
            </a:pPr>
            <a:r>
              <a:rPr b="1" lang="en"/>
              <a:t>Redundancy</a:t>
            </a:r>
            <a:r>
              <a:rPr lang="en"/>
              <a:t> in cloud services is about having them spread out in various geographical regions. This is to ensure that if a catastrophic event were to occur at one location, the services can continue to run uninterrupted using data centers in other regions. </a:t>
            </a:r>
            <a:r>
              <a:rPr b="1" lang="en">
                <a:highlight>
                  <a:srgbClr val="FFFF00"/>
                </a:highlight>
              </a:rPr>
              <a:t>The exact physical location of each data center is less important than the overall distribution and the ability to reroute traffic and operations as needed.</a:t>
            </a:r>
            <a:endParaRPr b="1">
              <a:highlight>
                <a:srgbClr val="FFFF00"/>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a:t>
            </a:r>
            <a:endParaRPr/>
          </a:p>
        </p:txBody>
      </p:sp>
      <p:sp>
        <p:nvSpPr>
          <p:cNvPr id="143" name="Google Shape;143;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When it comes to </a:t>
            </a:r>
            <a:r>
              <a:rPr b="1" lang="en"/>
              <a:t>performance</a:t>
            </a:r>
            <a:r>
              <a:rPr lang="en"/>
              <a:t>, proximity to the user is usually more important than the specific location of a data center. This is why cloud providers offer multiple regions and edge locations. The idea is to reduce latency by serving requests from the nearest operational point. </a:t>
            </a:r>
            <a:r>
              <a:rPr b="1" lang="en">
                <a:highlight>
                  <a:srgbClr val="FFFF00"/>
                </a:highlight>
              </a:rPr>
              <a:t>The exact address of a data center doesn't really matter as long as it's close enough to provide low-latency service to the end-users.</a:t>
            </a:r>
            <a:endParaRPr b="1">
              <a:highlight>
                <a:srgbClr val="FFFF00"/>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Why some customers need the exact address? </a:t>
            </a:r>
            <a:endParaRPr sz="3000"/>
          </a:p>
        </p:txBody>
      </p:sp>
      <p:sp>
        <p:nvSpPr>
          <p:cNvPr id="149" name="Google Shape;149;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a:t>
            </a:r>
            <a:r>
              <a:rPr b="1" lang="en"/>
              <a:t>High-Security Government Contracts</a:t>
            </a:r>
            <a:endParaRPr b="1"/>
          </a:p>
          <a:p>
            <a:pPr indent="0" lvl="0" marL="0" rtl="0" algn="l">
              <a:spcBef>
                <a:spcPts val="1200"/>
              </a:spcBef>
              <a:spcAft>
                <a:spcPts val="1200"/>
              </a:spcAft>
              <a:buNone/>
            </a:pPr>
            <a:r>
              <a:rPr lang="en"/>
              <a:t>2. </a:t>
            </a:r>
            <a:r>
              <a:rPr b="1" lang="en"/>
              <a:t>Insurance Purposes</a:t>
            </a:r>
            <a:r>
              <a:rPr lang="en"/>
              <a:t>: Sometimes, for insurance reasons, a company may need to provide the exact location where their data is stored. This could be relevant if the company needs to take out a policy to cover potential data loss or business interruption.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Security </a:t>
            </a:r>
            <a:r>
              <a:rPr b="1" lang="en"/>
              <a:t>OF</a:t>
            </a:r>
            <a:r>
              <a:rPr lang="en"/>
              <a:t> the Cloud </a:t>
            </a:r>
            <a:endParaRPr/>
          </a:p>
        </p:txBody>
      </p:sp>
      <p:sp>
        <p:nvSpPr>
          <p:cNvPr id="155" name="Google Shape;155;p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Managing accessing (IAM)</a:t>
            </a:r>
            <a:endParaRPr/>
          </a:p>
          <a:p>
            <a:pPr indent="0" lvl="0" marL="0" rtl="0" algn="l">
              <a:spcBef>
                <a:spcPts val="1200"/>
              </a:spcBef>
              <a:spcAft>
                <a:spcPts val="0"/>
              </a:spcAft>
              <a:buNone/>
            </a:pPr>
            <a:r>
              <a:rPr lang="en"/>
              <a:t>Detective Controls</a:t>
            </a:r>
            <a:endParaRPr/>
          </a:p>
          <a:p>
            <a:pPr indent="0" lvl="0" marL="0" rtl="0" algn="l">
              <a:spcBef>
                <a:spcPts val="1200"/>
              </a:spcBef>
              <a:spcAft>
                <a:spcPts val="0"/>
              </a:spcAft>
              <a:buNone/>
            </a:pPr>
            <a:r>
              <a:rPr lang="en"/>
              <a:t>Infrastructure Protection</a:t>
            </a:r>
            <a:endParaRPr/>
          </a:p>
          <a:p>
            <a:pPr indent="0" lvl="0" marL="0" rtl="0" algn="l">
              <a:spcBef>
                <a:spcPts val="1200"/>
              </a:spcBef>
              <a:spcAft>
                <a:spcPts val="0"/>
              </a:spcAft>
              <a:buNone/>
            </a:pPr>
            <a:r>
              <a:rPr lang="en"/>
              <a:t>Data Protection</a:t>
            </a:r>
            <a:endParaRPr/>
          </a:p>
          <a:p>
            <a:pPr indent="0" lvl="0" marL="0" rtl="0" algn="l">
              <a:spcBef>
                <a:spcPts val="1200"/>
              </a:spcBef>
              <a:spcAft>
                <a:spcPts val="0"/>
              </a:spcAft>
              <a:buNone/>
            </a:pPr>
            <a:r>
              <a:rPr lang="en"/>
              <a:t>Incident Response</a:t>
            </a:r>
            <a:endParaRPr/>
          </a:p>
          <a:p>
            <a:pPr indent="0" lvl="0" marL="0" rtl="0" algn="l">
              <a:spcBef>
                <a:spcPts val="1200"/>
              </a:spcBef>
              <a:spcAft>
                <a:spcPts val="1200"/>
              </a:spcAft>
              <a:buNone/>
            </a:pPr>
            <a:r>
              <a:rPr lang="en"/>
              <a:t>DDoS Mitigation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Infrastructure Layer</a:t>
            </a:r>
            <a:endParaRPr/>
          </a:p>
        </p:txBody>
      </p:sp>
      <p:sp>
        <p:nvSpPr>
          <p:cNvPr id="161" name="Google Shape;161;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t>
            </a:r>
            <a:r>
              <a:rPr lang="en"/>
              <a:t>ackup power equipment</a:t>
            </a:r>
            <a:endParaRPr/>
          </a:p>
          <a:p>
            <a:pPr indent="0" lvl="0" marL="0" rtl="0" algn="l">
              <a:spcBef>
                <a:spcPts val="1200"/>
              </a:spcBef>
              <a:spcAft>
                <a:spcPts val="0"/>
              </a:spcAft>
              <a:buNone/>
            </a:pPr>
            <a:r>
              <a:rPr lang="en"/>
              <a:t>HVAC system</a:t>
            </a:r>
            <a:endParaRPr/>
          </a:p>
          <a:p>
            <a:pPr indent="0" lvl="0" marL="0" rtl="0" algn="l">
              <a:spcBef>
                <a:spcPts val="1200"/>
              </a:spcBef>
              <a:spcAft>
                <a:spcPts val="0"/>
              </a:spcAft>
              <a:buNone/>
            </a:pPr>
            <a:r>
              <a:rPr lang="en"/>
              <a:t>Fire suppression equipment </a:t>
            </a:r>
            <a:endParaRPr/>
          </a:p>
          <a:p>
            <a:pPr indent="0" lvl="0" marL="0" rtl="0" algn="l">
              <a:spcBef>
                <a:spcPts val="1200"/>
              </a:spcBef>
              <a:spcAft>
                <a:spcPts val="1200"/>
              </a:spcAft>
              <a:buNone/>
            </a:pPr>
            <a:r>
              <a:rPr lang="en"/>
              <a:t>Telecommunications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Environmental Layer</a:t>
            </a:r>
            <a:endParaRPr/>
          </a:p>
        </p:txBody>
      </p:sp>
      <p:sp>
        <p:nvSpPr>
          <p:cNvPr id="167" name="Google Shape;167;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a:t>
            </a:r>
            <a:r>
              <a:rPr lang="en"/>
              <a:t>looding</a:t>
            </a:r>
            <a:endParaRPr/>
          </a:p>
          <a:p>
            <a:pPr indent="0" lvl="0" marL="0" rtl="0" algn="l">
              <a:spcBef>
                <a:spcPts val="1200"/>
              </a:spcBef>
              <a:spcAft>
                <a:spcPts val="0"/>
              </a:spcAft>
              <a:buNone/>
            </a:pPr>
            <a:r>
              <a:rPr lang="en"/>
              <a:t>Extreme weather</a:t>
            </a:r>
            <a:endParaRPr/>
          </a:p>
          <a:p>
            <a:pPr indent="0" lvl="0" marL="0" rtl="0" algn="l">
              <a:spcBef>
                <a:spcPts val="1200"/>
              </a:spcBef>
              <a:spcAft>
                <a:spcPts val="0"/>
              </a:spcAft>
              <a:buNone/>
            </a:pPr>
            <a:r>
              <a:rPr lang="en"/>
              <a:t>Seismic activity</a:t>
            </a:r>
            <a:endParaRPr/>
          </a:p>
          <a:p>
            <a:pPr indent="0" lvl="0" marL="0" rtl="0" algn="l">
              <a:spcBef>
                <a:spcPts val="1200"/>
              </a:spcBef>
              <a:spcAft>
                <a:spcPts val="1200"/>
              </a:spcAft>
              <a:buNone/>
            </a:pPr>
            <a:r>
              <a:rPr lang="en"/>
              <a:t>To mitigate and prepare for the unexpected, AWS tests their Business Continuity Plan regularly with drills that simulate different scenarios.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Layer - customer data</a:t>
            </a:r>
            <a:endParaRPr/>
          </a:p>
        </p:txBody>
      </p:sp>
      <p:sp>
        <p:nvSpPr>
          <p:cNvPr id="173" name="Google Shape;173;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NIST Special Publication 800-88, titled "</a:t>
            </a:r>
            <a:r>
              <a:rPr b="1" lang="en"/>
              <a:t>Guidelines for Media Sanitization</a:t>
            </a:r>
            <a:r>
              <a:rPr lang="en"/>
              <a:t>"</a:t>
            </a:r>
            <a:endParaRPr/>
          </a:p>
          <a:p>
            <a:pPr indent="0" lvl="0" marL="0" rtl="0" algn="l">
              <a:spcBef>
                <a:spcPts val="1200"/>
              </a:spcBef>
              <a:spcAft>
                <a:spcPts val="1200"/>
              </a:spcAft>
              <a:buNone/>
            </a:pPr>
            <a:r>
              <a:rPr b="1" lang="en"/>
              <a:t>Clear</a:t>
            </a:r>
            <a:r>
              <a:rPr lang="en"/>
              <a:t>: This is a software-based method of </a:t>
            </a:r>
            <a:r>
              <a:rPr b="1" lang="en"/>
              <a:t>overwriting the information on the storage media with </a:t>
            </a:r>
            <a:r>
              <a:rPr b="1" lang="en">
                <a:highlight>
                  <a:srgbClr val="FFFF00"/>
                </a:highlight>
              </a:rPr>
              <a:t>non-sensitive data</a:t>
            </a:r>
            <a:r>
              <a:rPr lang="en"/>
              <a:t>. This method should prevent data from being recovered through disk inspection.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Layer - </a:t>
            </a:r>
            <a:r>
              <a:rPr lang="en"/>
              <a:t>customer data</a:t>
            </a:r>
            <a:endParaRPr/>
          </a:p>
        </p:txBody>
      </p:sp>
      <p:sp>
        <p:nvSpPr>
          <p:cNvPr id="179" name="Google Shape;179;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NIST Special Publication 800-88, titled "</a:t>
            </a:r>
            <a:r>
              <a:rPr b="1" lang="en"/>
              <a:t>Guidelines for Media Sanitization</a:t>
            </a:r>
            <a:r>
              <a:rPr lang="en"/>
              <a:t>"</a:t>
            </a:r>
            <a:endParaRPr/>
          </a:p>
          <a:p>
            <a:pPr indent="0" lvl="0" marL="0" rtl="0" algn="l">
              <a:spcBef>
                <a:spcPts val="1200"/>
              </a:spcBef>
              <a:spcAft>
                <a:spcPts val="1200"/>
              </a:spcAft>
              <a:buNone/>
            </a:pPr>
            <a:r>
              <a:rPr b="1" lang="en"/>
              <a:t>Purge</a:t>
            </a:r>
            <a:r>
              <a:rPr lang="en"/>
              <a:t>: This is a method that often involves physical manipulation of the storage media and makes the data inaccessible even through laboratory techniques. Purging might involve </a:t>
            </a:r>
            <a:r>
              <a:rPr b="1" lang="en">
                <a:highlight>
                  <a:srgbClr val="FFFF00"/>
                </a:highlight>
              </a:rPr>
              <a:t>degaussing magnetic media</a:t>
            </a:r>
            <a:r>
              <a:rPr lang="en"/>
              <a:t> or performing a </a:t>
            </a:r>
            <a:r>
              <a:rPr b="1" lang="en">
                <a:highlight>
                  <a:srgbClr val="FFFF00"/>
                </a:highlight>
              </a:rPr>
              <a:t>secure erase on solid-state drives</a:t>
            </a:r>
            <a:r>
              <a:rPr lang="en"/>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Layer - </a:t>
            </a:r>
            <a:r>
              <a:rPr lang="en"/>
              <a:t>customer data</a:t>
            </a:r>
            <a:endParaRPr/>
          </a:p>
        </p:txBody>
      </p:sp>
      <p:sp>
        <p:nvSpPr>
          <p:cNvPr id="185" name="Google Shape;185;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NIST Special Publication 800-88, titled "</a:t>
            </a:r>
            <a:r>
              <a:rPr b="1" lang="en"/>
              <a:t>Guidelines for Media Sanitization</a:t>
            </a:r>
            <a:r>
              <a:rPr lang="en"/>
              <a:t>"</a:t>
            </a:r>
            <a:endParaRPr/>
          </a:p>
          <a:p>
            <a:pPr indent="0" lvl="0" marL="0" rtl="0" algn="l">
              <a:spcBef>
                <a:spcPts val="1200"/>
              </a:spcBef>
              <a:spcAft>
                <a:spcPts val="1200"/>
              </a:spcAft>
              <a:buNone/>
            </a:pPr>
            <a:r>
              <a:rPr b="1" lang="en"/>
              <a:t>Destroy</a:t>
            </a:r>
            <a:r>
              <a:rPr lang="en"/>
              <a:t>: This is the most extreme method and involves the physical destruction of the storage media. Destruction techniques can involve </a:t>
            </a:r>
            <a:r>
              <a:rPr b="1" lang="en">
                <a:highlight>
                  <a:srgbClr val="FFFF00"/>
                </a:highlight>
              </a:rPr>
              <a:t>disintegration, incineration, pulverization, shredding, or melting</a:t>
            </a:r>
            <a:r>
              <a:rPr lang="en"/>
              <a:t>. The goal is to render the storage media unusable in the future.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5"/>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91" name="Google Shape;191;p35"/>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Guidelines for Media Sanitization</a:t>
            </a:r>
            <a:endParaRPr/>
          </a:p>
        </p:txBody>
      </p:sp>
      <p:sp>
        <p:nvSpPr>
          <p:cNvPr id="197" name="Google Shape;197;p3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a:t>
            </a:r>
            <a:r>
              <a:rPr lang="en"/>
              <a:t>pecific method used (clear, purge, or destroy) often </a:t>
            </a:r>
            <a:r>
              <a:rPr b="1" lang="en">
                <a:highlight>
                  <a:srgbClr val="FFFF00"/>
                </a:highlight>
              </a:rPr>
              <a:t>depends on the sensitivity of the data</a:t>
            </a:r>
            <a:r>
              <a:rPr lang="en"/>
              <a:t>, the nature of the media, and the possible </a:t>
            </a:r>
            <a:r>
              <a:rPr b="1" lang="en">
                <a:highlight>
                  <a:srgbClr val="FFFF00"/>
                </a:highlight>
              </a:rPr>
              <a:t>risk of exposure</a:t>
            </a:r>
            <a:r>
              <a:rPr lang="en"/>
              <a:t>.</a:t>
            </a:r>
            <a:endParaRPr/>
          </a:p>
          <a:p>
            <a:pPr indent="0" lvl="0" marL="0" rtl="0" algn="l">
              <a:spcBef>
                <a:spcPts val="1200"/>
              </a:spcBef>
              <a:spcAft>
                <a:spcPts val="1200"/>
              </a:spcAft>
              <a:buNone/>
            </a:pPr>
            <a:r>
              <a:rPr lang="en"/>
              <a:t>Note: AWS servers can notify employees of any attempts to remove data. In the unlikely event of a breach, the server is automatically disabled.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Compliance on AWS</a:t>
            </a:r>
            <a:endParaRPr/>
          </a:p>
        </p:txBody>
      </p:sp>
      <p:sp>
        <p:nvSpPr>
          <p:cNvPr id="203" name="Google Shape;203;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Cloud Compliance Definition</a:t>
            </a:r>
            <a:r>
              <a:rPr lang="en"/>
              <a:t>: Compliance in a cloud context refers to the </a:t>
            </a:r>
            <a:r>
              <a:rPr b="1" lang="en">
                <a:highlight>
                  <a:srgbClr val="FFFF00"/>
                </a:highlight>
              </a:rPr>
              <a:t>adherence to legal and regulatory requirements in the design and operation of a cloud infrastructure, services, and workloads</a:t>
            </a:r>
            <a:r>
              <a:rPr lang="en"/>
              <a:t>. This can encompass a variety of areas including data protection, privacy, and cybersecurity.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Compliance on AWS</a:t>
            </a:r>
            <a:endParaRPr/>
          </a:p>
        </p:txBody>
      </p:sp>
      <p:sp>
        <p:nvSpPr>
          <p:cNvPr id="209" name="Google Shape;209;p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Importance of Compliance for Businesses on AWS</a:t>
            </a:r>
            <a:r>
              <a:rPr lang="en"/>
              <a:t>: Achieving compliance is critical for businesses operating on AWS for several reasons:</a:t>
            </a:r>
            <a:endParaRPr/>
          </a:p>
          <a:p>
            <a:pPr indent="0" lvl="0" marL="0" rtl="0" algn="l">
              <a:spcBef>
                <a:spcPts val="1200"/>
              </a:spcBef>
              <a:spcAft>
                <a:spcPts val="1200"/>
              </a:spcAft>
              <a:buNone/>
            </a:pPr>
            <a:r>
              <a:rPr lang="en"/>
              <a:t>1. </a:t>
            </a:r>
            <a:r>
              <a:rPr b="1" lang="en"/>
              <a:t>Trust &amp; Reputation</a:t>
            </a:r>
            <a:r>
              <a:rPr lang="en"/>
              <a:t>: Demonstrating compliance with recognized standards can build trust with customers and stakeholders, reinforcing your business's reputation.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Compliance on AWS</a:t>
            </a:r>
            <a:endParaRPr/>
          </a:p>
        </p:txBody>
      </p:sp>
      <p:sp>
        <p:nvSpPr>
          <p:cNvPr id="215" name="Google Shape;215;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Importance of Compliance for Businesses on AWS</a:t>
            </a:r>
            <a:r>
              <a:rPr lang="en"/>
              <a:t>: Achieving compliance is critical for businesses operating on AWS for several reasons:</a:t>
            </a:r>
            <a:endParaRPr/>
          </a:p>
          <a:p>
            <a:pPr indent="0" lvl="0" marL="0" rtl="0" algn="l">
              <a:spcBef>
                <a:spcPts val="1200"/>
              </a:spcBef>
              <a:spcAft>
                <a:spcPts val="1200"/>
              </a:spcAft>
              <a:buNone/>
            </a:pPr>
            <a:r>
              <a:rPr lang="en"/>
              <a:t>2.</a:t>
            </a:r>
            <a:r>
              <a:rPr b="1" lang="en"/>
              <a:t> </a:t>
            </a:r>
            <a:r>
              <a:rPr b="1" lang="en"/>
              <a:t>Legal &amp; Regulatory Requirements</a:t>
            </a:r>
            <a:r>
              <a:rPr lang="en"/>
              <a:t>: Businesses may be legally required to comply with certain standards, especially when handling sensitive information like health records or financial data. </a:t>
            </a:r>
            <a:r>
              <a:rPr b="1" lang="en">
                <a:highlight>
                  <a:srgbClr val="FFFF00"/>
                </a:highlight>
              </a:rPr>
              <a:t>Failure to comply can lead to penalties</a:t>
            </a:r>
            <a:r>
              <a:rPr lang="en"/>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Compliance on AWS</a:t>
            </a:r>
            <a:endParaRPr/>
          </a:p>
        </p:txBody>
      </p:sp>
      <p:sp>
        <p:nvSpPr>
          <p:cNvPr id="221" name="Google Shape;221;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Importance of Compliance for Businesses on AWS</a:t>
            </a:r>
            <a:r>
              <a:rPr lang="en"/>
              <a:t>: Achieving compliance is critical for businesses operating on AWS for several reasons:</a:t>
            </a:r>
            <a:endParaRPr/>
          </a:p>
          <a:p>
            <a:pPr indent="0" lvl="0" marL="0" rtl="0" algn="l">
              <a:spcBef>
                <a:spcPts val="1200"/>
              </a:spcBef>
              <a:spcAft>
                <a:spcPts val="1200"/>
              </a:spcAft>
              <a:buNone/>
            </a:pPr>
            <a:r>
              <a:rPr lang="en"/>
              <a:t>3. </a:t>
            </a:r>
            <a:r>
              <a:rPr b="1" lang="en"/>
              <a:t>Risk Mitigation</a:t>
            </a:r>
            <a:r>
              <a:rPr lang="en"/>
              <a:t>: Compliance frameworks provide guidelines for best practices in IT security, helping businesses protect their data and mitigate the risk of cyber threats.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Transparency through Whitepapers</a:t>
            </a:r>
            <a:endParaRPr sz="4000"/>
          </a:p>
        </p:txBody>
      </p:sp>
      <p:sp>
        <p:nvSpPr>
          <p:cNvPr id="227" name="Google Shape;227;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Informative Reports</a:t>
            </a:r>
            <a:r>
              <a:rPr lang="en"/>
              <a:t>: Whitepapers are authoritative, in-depth reports on a specific topic, providing a detailed guide or explanation.</a:t>
            </a:r>
            <a:endParaRPr/>
          </a:p>
          <a:p>
            <a:pPr indent="0" lvl="0" marL="0" rtl="0" algn="l">
              <a:spcBef>
                <a:spcPts val="1200"/>
              </a:spcBef>
              <a:spcAft>
                <a:spcPts val="0"/>
              </a:spcAft>
              <a:buClr>
                <a:schemeClr val="dk1"/>
              </a:buClr>
              <a:buSzPts val="1100"/>
              <a:buFont typeface="Arial"/>
              <a:buNone/>
            </a:pPr>
            <a:r>
              <a:rPr b="1" lang="en"/>
              <a:t>Problem Solving</a:t>
            </a:r>
            <a:r>
              <a:rPr lang="en"/>
              <a:t>: They often address complex issues, helping readers understand an issue, solve a problem, or make a decision.</a:t>
            </a:r>
            <a:endParaRPr/>
          </a:p>
          <a:p>
            <a:pPr indent="0" lvl="0" marL="0" rtl="0" algn="l">
              <a:spcBef>
                <a:spcPts val="1200"/>
              </a:spcBef>
              <a:spcAft>
                <a:spcPts val="1200"/>
              </a:spcAft>
              <a:buNone/>
            </a:pPr>
            <a:r>
              <a:rPr b="1" lang="en"/>
              <a:t>Expert Knowledge</a:t>
            </a:r>
            <a:r>
              <a:rPr lang="en"/>
              <a:t>: Whitepapers are typically produced by experts in the field and draw on comprehensive research and knowledge. They often present a company's stance on an issue or provide detailed information about a product or service.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Transparency through Whitepapers</a:t>
            </a:r>
            <a:endParaRPr sz="4000"/>
          </a:p>
        </p:txBody>
      </p:sp>
      <p:sp>
        <p:nvSpPr>
          <p:cNvPr id="233" name="Google Shape;233;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AWS Overview of Security Processes is a whitepaper that largely focuses on the "security OF the cloud".</a:t>
            </a:r>
            <a:endParaRPr/>
          </a:p>
          <a:p>
            <a:pPr indent="0" lvl="0" marL="0" rtl="0" algn="l">
              <a:spcBef>
                <a:spcPts val="1200"/>
              </a:spcBef>
              <a:spcAft>
                <a:spcPts val="1200"/>
              </a:spcAft>
              <a:buNone/>
            </a:pPr>
            <a:r>
              <a:rPr b="1" lang="en"/>
              <a:t>AWS Infrastructure</a:t>
            </a:r>
            <a:r>
              <a:rPr lang="en"/>
              <a:t>: This whitepaper explains how the AWS global infrastructure is built and managed for maximum availability, reliability, and security. This includes the design and maintenance of AWS data centers, server infrastructure, and network architecture.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Transparency through Whitepapers</a:t>
            </a:r>
            <a:endParaRPr sz="4000"/>
          </a:p>
        </p:txBody>
      </p:sp>
      <p:sp>
        <p:nvSpPr>
          <p:cNvPr id="239" name="Google Shape;239;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AWS Overview of Security Processes is a whitepaper that largely focuses on the "security OF the cloud".</a:t>
            </a:r>
            <a:endParaRPr/>
          </a:p>
          <a:p>
            <a:pPr indent="0" lvl="0" marL="0" rtl="0" algn="l">
              <a:spcBef>
                <a:spcPts val="1200"/>
              </a:spcBef>
              <a:spcAft>
                <a:spcPts val="1200"/>
              </a:spcAft>
              <a:buNone/>
            </a:pPr>
            <a:r>
              <a:rPr b="1" lang="en"/>
              <a:t>Data Center Security</a:t>
            </a:r>
            <a:r>
              <a:rPr lang="en"/>
              <a:t>: AWS discusses the stringent physical security controls in their data centers, including access control, surveillance, and intrusion detection. They also discuss environmental controls like fire suppression and climate control.</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Transparency through Whitepapers</a:t>
            </a:r>
            <a:endParaRPr sz="4000"/>
          </a:p>
        </p:txBody>
      </p:sp>
      <p:sp>
        <p:nvSpPr>
          <p:cNvPr id="245" name="Google Shape;245;p4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AWS Overview of Security Processes is a whitepaper that largely focuses on the "security OF the cloud".</a:t>
            </a:r>
            <a:endParaRPr/>
          </a:p>
          <a:p>
            <a:pPr indent="0" lvl="0" marL="0" rtl="0" algn="l">
              <a:spcBef>
                <a:spcPts val="1200"/>
              </a:spcBef>
              <a:spcAft>
                <a:spcPts val="1200"/>
              </a:spcAft>
              <a:buNone/>
            </a:pPr>
            <a:r>
              <a:rPr b="1" lang="en"/>
              <a:t>Data Protection</a:t>
            </a:r>
            <a:r>
              <a:rPr lang="en"/>
              <a:t>: AWS describes their encryption and storage mechanisms for data at rest and in transit. This includes details about the physical security of hardware where customer data is stored.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Transparency through Whitepapers</a:t>
            </a:r>
            <a:endParaRPr sz="4000"/>
          </a:p>
        </p:txBody>
      </p:sp>
      <p:sp>
        <p:nvSpPr>
          <p:cNvPr id="251" name="Google Shape;251;p4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AWS Overview of Security Processes is a whitepaper that largely focuses on the "security OF the cloud".</a:t>
            </a:r>
            <a:endParaRPr/>
          </a:p>
          <a:p>
            <a:pPr indent="0" lvl="0" marL="0" rtl="0" algn="l">
              <a:spcBef>
                <a:spcPts val="1200"/>
              </a:spcBef>
              <a:spcAft>
                <a:spcPts val="1200"/>
              </a:spcAft>
              <a:buNone/>
            </a:pPr>
            <a:r>
              <a:rPr b="1" lang="en"/>
              <a:t>Network Security</a:t>
            </a:r>
            <a:r>
              <a:rPr lang="en"/>
              <a:t>: AWS provides insights into their network architecture, including how they segregate customer data, the use of secure network devices, and DDoS mitigation techniques.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Transparency through Whitepapers</a:t>
            </a:r>
            <a:endParaRPr sz="4000"/>
          </a:p>
        </p:txBody>
      </p:sp>
      <p:sp>
        <p:nvSpPr>
          <p:cNvPr id="257" name="Google Shape;257;p4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AWS Overview of Security Processes is a whitepaper that largely focuses on the "security OF the cloud".</a:t>
            </a:r>
            <a:endParaRPr/>
          </a:p>
          <a:p>
            <a:pPr indent="0" lvl="0" marL="0" rtl="0" algn="l">
              <a:spcBef>
                <a:spcPts val="1200"/>
              </a:spcBef>
              <a:spcAft>
                <a:spcPts val="1200"/>
              </a:spcAft>
              <a:buNone/>
            </a:pPr>
            <a:r>
              <a:rPr b="1" lang="en"/>
              <a:t>Incident Response</a:t>
            </a:r>
            <a:r>
              <a:rPr lang="en"/>
              <a:t>: AWS talks about their incident response team's capability to operate under a formal, well-practiced procedure for managing security events.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AWS Artifact (from FAQ)</a:t>
            </a:r>
            <a:endParaRPr/>
          </a:p>
        </p:txBody>
      </p:sp>
      <p:sp>
        <p:nvSpPr>
          <p:cNvPr id="263" name="Google Shape;263;p4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AWS Artifact</a:t>
            </a:r>
            <a:r>
              <a:rPr lang="en"/>
              <a:t>, available in the console, is a self-service audit artifact retrieval portal that provides our customers with </a:t>
            </a:r>
            <a:r>
              <a:rPr b="1" lang="en"/>
              <a:t>on-demand access to AWS’ compliance documentation</a:t>
            </a:r>
            <a:r>
              <a:rPr lang="en"/>
              <a:t> and </a:t>
            </a:r>
            <a:r>
              <a:rPr b="1" lang="en"/>
              <a:t>AWS agreements</a:t>
            </a:r>
            <a:r>
              <a:rPr lang="en"/>
              <a:t>.</a:t>
            </a:r>
            <a:endParaRPr/>
          </a:p>
          <a:p>
            <a:pPr indent="0" lvl="0" marL="0" rtl="0" algn="l">
              <a:spcBef>
                <a:spcPts val="1200"/>
              </a:spcBef>
              <a:spcAft>
                <a:spcPts val="0"/>
              </a:spcAft>
              <a:buClr>
                <a:schemeClr val="dk1"/>
              </a:buClr>
              <a:buSzPts val="1100"/>
              <a:buFont typeface="Arial"/>
              <a:buNone/>
            </a:pPr>
            <a:r>
              <a:rPr lang="en"/>
              <a:t>You can use AWS Artifact Reports to download </a:t>
            </a:r>
            <a:r>
              <a:rPr b="1" lang="en"/>
              <a:t>AWS security and compliance documents</a:t>
            </a:r>
            <a:r>
              <a:rPr lang="en"/>
              <a:t>, such as AWS ISO certifications, Payment Card Industry (PCI), and System and Organization Control (SOC) reports.</a:t>
            </a:r>
            <a:endParaRPr/>
          </a:p>
          <a:p>
            <a:pPr indent="0" lvl="0" marL="0" rtl="0" algn="l">
              <a:spcBef>
                <a:spcPts val="1200"/>
              </a:spcBef>
              <a:spcAft>
                <a:spcPts val="1200"/>
              </a:spcAft>
              <a:buNone/>
            </a:pPr>
            <a:r>
              <a:rPr lang="en"/>
              <a:t>You can use AWS Artifact Agreements to </a:t>
            </a:r>
            <a:r>
              <a:rPr b="1" lang="en"/>
              <a:t>review</a:t>
            </a:r>
            <a:r>
              <a:rPr lang="en"/>
              <a:t>, </a:t>
            </a:r>
            <a:r>
              <a:rPr b="1" lang="en"/>
              <a:t>accept</a:t>
            </a:r>
            <a:r>
              <a:rPr lang="en"/>
              <a:t>, and </a:t>
            </a:r>
            <a:r>
              <a:rPr b="1" lang="en"/>
              <a:t>track the status of AWS agreements</a:t>
            </a:r>
            <a:r>
              <a:rPr lang="en"/>
              <a:t> such as the Business Associate Addendum (BAA).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Agreement states (from FAQ)</a:t>
            </a:r>
            <a:endParaRPr/>
          </a:p>
        </p:txBody>
      </p:sp>
      <p:sp>
        <p:nvSpPr>
          <p:cNvPr id="269" name="Google Shape;269;p4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An Agreement can have two states:</a:t>
            </a:r>
            <a:endParaRPr/>
          </a:p>
          <a:p>
            <a:pPr indent="0" lvl="0" marL="0" rtl="0" algn="l">
              <a:spcBef>
                <a:spcPts val="1200"/>
              </a:spcBef>
              <a:spcAft>
                <a:spcPts val="0"/>
              </a:spcAft>
              <a:buClr>
                <a:schemeClr val="dk1"/>
              </a:buClr>
              <a:buSzPts val="1100"/>
              <a:buFont typeface="Arial"/>
              <a:buNone/>
            </a:pPr>
            <a:r>
              <a:rPr lang="en"/>
              <a:t>    </a:t>
            </a:r>
            <a:r>
              <a:rPr b="1" lang="en"/>
              <a:t>Inactive</a:t>
            </a:r>
            <a:r>
              <a:rPr lang="en"/>
              <a:t>: An Agreement is in Inactive state if the Agreement has not been accepted by the user or a previously accepted Agreement has been terminated by the user </a:t>
            </a:r>
            <a:endParaRPr/>
          </a:p>
          <a:p>
            <a:pPr indent="0" lvl="0" marL="0" rtl="0" algn="l">
              <a:spcBef>
                <a:spcPts val="1200"/>
              </a:spcBef>
              <a:spcAft>
                <a:spcPts val="1200"/>
              </a:spcAft>
              <a:buNone/>
            </a:pPr>
            <a:r>
              <a:rPr lang="en"/>
              <a:t>    </a:t>
            </a:r>
            <a:r>
              <a:rPr b="1" lang="en"/>
              <a:t>Active</a:t>
            </a:r>
            <a:r>
              <a:rPr lang="en"/>
              <a:t>: An Agreement is in Active state if the Agreement has been accepted by the user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900"/>
              <a:t>What is an audit artifact? (from FAQ)</a:t>
            </a:r>
            <a:endParaRPr sz="3900"/>
          </a:p>
        </p:txBody>
      </p:sp>
      <p:sp>
        <p:nvSpPr>
          <p:cNvPr id="275" name="Google Shape;275;p4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An </a:t>
            </a:r>
            <a:r>
              <a:rPr b="1" lang="en"/>
              <a:t>audit artifact</a:t>
            </a:r>
            <a:r>
              <a:rPr lang="en"/>
              <a:t> is a piece of evidence that demonstrates that an organization is </a:t>
            </a:r>
            <a:r>
              <a:rPr b="1" lang="en">
                <a:highlight>
                  <a:srgbClr val="FFFF00"/>
                </a:highlight>
              </a:rPr>
              <a:t>following a documented process or meeting a specific requirement. </a:t>
            </a:r>
            <a:r>
              <a:rPr lang="en"/>
              <a:t>Audit artifacts are gathered and archived throughout the system development life cycle and are to be used as evidence in internal and/or external audits and assessments.</a:t>
            </a:r>
            <a:endParaRPr/>
          </a:p>
          <a:p>
            <a:pPr indent="0" lvl="0" marL="0" rtl="0" algn="l">
              <a:spcBef>
                <a:spcPts val="1200"/>
              </a:spcBef>
              <a:spcAft>
                <a:spcPts val="1200"/>
              </a:spcAft>
              <a:buNone/>
            </a:pPr>
            <a:r>
              <a:rPr lang="en"/>
              <a:t>AWS Artifact currently provides customers with reports and agreements that may be used as audit artifacts.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Hypothetical agreements</a:t>
            </a:r>
            <a:endParaRPr/>
          </a:p>
        </p:txBody>
      </p:sp>
      <p:sp>
        <p:nvSpPr>
          <p:cNvPr id="281" name="Google Shape;281;p5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Business Associate Addendum</a:t>
            </a:r>
            <a:r>
              <a:rPr lang="en"/>
              <a:t> (BAA): This agreement would apply to customers who are subject to HIPAA regulations. It outlines the responsibilities of both AWS and the customer in handling </a:t>
            </a:r>
            <a:r>
              <a:rPr b="1" lang="en"/>
              <a:t>protected health information (PHI)</a:t>
            </a:r>
            <a:r>
              <a:rPr lang="en"/>
              <a:t>. This might include provisions for </a:t>
            </a:r>
            <a:r>
              <a:rPr b="1" lang="en">
                <a:highlight>
                  <a:srgbClr val="F6B26B"/>
                </a:highlight>
              </a:rPr>
              <a:t>how AWS will secure PHI, how it will respond to security incidents</a:t>
            </a:r>
            <a:r>
              <a:rPr lang="en"/>
              <a:t>, and </a:t>
            </a:r>
            <a:r>
              <a:rPr b="1" lang="en">
                <a:highlight>
                  <a:srgbClr val="C27BA0"/>
                </a:highlight>
              </a:rPr>
              <a:t>the customer's responsibilities for using AWS services in a way that complies with HIPAA</a:t>
            </a:r>
            <a:r>
              <a:rPr lang="en"/>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Hypothetical agreements</a:t>
            </a:r>
            <a:endParaRPr/>
          </a:p>
        </p:txBody>
      </p:sp>
      <p:sp>
        <p:nvSpPr>
          <p:cNvPr id="287" name="Google Shape;287;p5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Online Service Terms</a:t>
            </a:r>
            <a:r>
              <a:rPr lang="en"/>
              <a:t>: This agreement outlines the terms and conditions of using AWS services. It might include sections on service levels, data privacy, intellectual property rights, termination of services, limitation of liability, and other legal considerations.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Hypothetical agreements</a:t>
            </a:r>
            <a:endParaRPr/>
          </a:p>
        </p:txBody>
      </p:sp>
      <p:sp>
        <p:nvSpPr>
          <p:cNvPr id="293" name="Google Shape;293;p5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Service Level Agreements (SLAs)</a:t>
            </a:r>
            <a:r>
              <a:rPr lang="en"/>
              <a:t>: This agreement outlines the </a:t>
            </a:r>
            <a:r>
              <a:rPr b="1" lang="en">
                <a:highlight>
                  <a:srgbClr val="FFFF00"/>
                </a:highlight>
              </a:rPr>
              <a:t>expected uptime</a:t>
            </a:r>
            <a:r>
              <a:rPr lang="en"/>
              <a:t> and </a:t>
            </a:r>
            <a:r>
              <a:rPr b="1" lang="en">
                <a:highlight>
                  <a:srgbClr val="FFFF00"/>
                </a:highlight>
              </a:rPr>
              <a:t>performance</a:t>
            </a:r>
            <a:r>
              <a:rPr lang="en"/>
              <a:t> of an AWS service, and what </a:t>
            </a:r>
            <a:r>
              <a:rPr b="1" lang="en">
                <a:highlight>
                  <a:srgbClr val="C9DAF8"/>
                </a:highlight>
              </a:rPr>
              <a:t>compensation customers can expect if AWS fails to meet these standard</a:t>
            </a:r>
            <a:r>
              <a:rPr lang="en">
                <a:highlight>
                  <a:srgbClr val="C9DAF8"/>
                </a:highlight>
              </a:rPr>
              <a:t>.</a:t>
            </a:r>
            <a:endParaRPr>
              <a:highlight>
                <a:srgbClr val="C9DAF8"/>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use AWS artifact! </a:t>
            </a:r>
            <a:endParaRPr/>
          </a:p>
        </p:txBody>
      </p:sp>
      <p:sp>
        <p:nvSpPr>
          <p:cNvPr id="299" name="Google Shape;299;p5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We’re going to walk through a </a:t>
            </a:r>
            <a:r>
              <a:rPr b="1" lang="en"/>
              <a:t>purely hypothetical business</a:t>
            </a:r>
            <a:r>
              <a:rPr lang="en"/>
              <a:t> that needs to comply with HIPAA (Health Insurance Portability and Accountability Act)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Identify Compliance Requirements</a:t>
            </a:r>
            <a:endParaRPr sz="4000"/>
          </a:p>
        </p:txBody>
      </p:sp>
      <p:sp>
        <p:nvSpPr>
          <p:cNvPr id="305" name="Google Shape;305;p5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Let's say a healthcare company using AWS needs to demonstrate HIPAA (Health Insurance Portability and Accountability Act) compliance to its stakeholders. The first step would be to </a:t>
            </a:r>
            <a:r>
              <a:rPr b="1" lang="en">
                <a:highlight>
                  <a:srgbClr val="FFFF00"/>
                </a:highlight>
              </a:rPr>
              <a:t>identify all the compliance requirements associated with HIPAA</a:t>
            </a:r>
            <a:r>
              <a:rPr lang="en"/>
              <a:t>, including those that are relevant to the cloud services used.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Access AWS Artifact</a:t>
            </a:r>
            <a:endParaRPr/>
          </a:p>
        </p:txBody>
      </p:sp>
      <p:sp>
        <p:nvSpPr>
          <p:cNvPr id="311" name="Google Shape;311;p5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company's </a:t>
            </a:r>
            <a:r>
              <a:rPr b="1" lang="en">
                <a:highlight>
                  <a:srgbClr val="FFFF00"/>
                </a:highlight>
              </a:rPr>
              <a:t>compliance officer</a:t>
            </a:r>
            <a:r>
              <a:rPr lang="en"/>
              <a:t> or </a:t>
            </a:r>
            <a:r>
              <a:rPr b="1" lang="en">
                <a:highlight>
                  <a:srgbClr val="FFFF00"/>
                </a:highlight>
              </a:rPr>
              <a:t>IT manager</a:t>
            </a:r>
            <a:r>
              <a:rPr lang="en"/>
              <a:t> would log into the AWS Management Console and navigate to </a:t>
            </a:r>
            <a:r>
              <a:rPr b="1" lang="en"/>
              <a:t>AWS Artifact</a:t>
            </a:r>
            <a:r>
              <a:rPr lang="en"/>
              <a: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Request Reports</a:t>
            </a:r>
            <a:endParaRPr/>
          </a:p>
        </p:txBody>
      </p:sp>
      <p:sp>
        <p:nvSpPr>
          <p:cNvPr id="317" name="Google Shape;317;p5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Within AWS Artifact, they could then request access to the </a:t>
            </a:r>
            <a:r>
              <a:rPr b="1" lang="en">
                <a:highlight>
                  <a:srgbClr val="FFFF00"/>
                </a:highlight>
              </a:rPr>
              <a:t>AWS HIPAA compliance report</a:t>
            </a:r>
            <a:r>
              <a:rPr lang="en"/>
              <a:t>. This report provides detailed information on the </a:t>
            </a:r>
            <a:r>
              <a:rPr b="1" lang="en">
                <a:highlight>
                  <a:srgbClr val="FFFF00"/>
                </a:highlight>
              </a:rPr>
              <a:t>controls in place at AWS that are relevant to HIPAA</a:t>
            </a:r>
            <a:r>
              <a:rPr lang="en"/>
              <a: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 and Implement Controls</a:t>
            </a:r>
            <a:endParaRPr/>
          </a:p>
        </p:txBody>
      </p:sp>
      <p:sp>
        <p:nvSpPr>
          <p:cNvPr id="323" name="Google Shape;323;p5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report would be reviewed and the </a:t>
            </a:r>
            <a:r>
              <a:rPr b="1" lang="en">
                <a:highlight>
                  <a:srgbClr val="FFFF00"/>
                </a:highlight>
              </a:rPr>
              <a:t>necessary controls and processes</a:t>
            </a:r>
            <a:r>
              <a:rPr lang="en"/>
              <a:t> would be implemented within the company's applications and environments, as per the shared responsibility model.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Provide Documentation to Auditors</a:t>
            </a:r>
            <a:endParaRPr sz="4000"/>
          </a:p>
        </p:txBody>
      </p:sp>
      <p:sp>
        <p:nvSpPr>
          <p:cNvPr id="329" name="Google Shape;329;p5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During an </a:t>
            </a:r>
            <a:r>
              <a:rPr b="1" lang="en">
                <a:highlight>
                  <a:srgbClr val="FFFF00"/>
                </a:highlight>
              </a:rPr>
              <a:t>audit</a:t>
            </a:r>
            <a:r>
              <a:rPr lang="en"/>
              <a:t> or when requested by stakeholders, the company could use the </a:t>
            </a:r>
            <a:r>
              <a:rPr b="1" lang="en">
                <a:highlight>
                  <a:srgbClr val="FFFF00"/>
                </a:highlight>
              </a:rPr>
              <a:t>compliance report from AWS Artifact as proof of the controls in place at AWS</a:t>
            </a:r>
            <a:r>
              <a:rPr lang="en"/>
              <a: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Continuous Compliance</a:t>
            </a:r>
            <a:endParaRPr/>
          </a:p>
        </p:txBody>
      </p:sp>
      <p:sp>
        <p:nvSpPr>
          <p:cNvPr id="335" name="Google Shape;335;p5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As the company continues to use AWS services, they would periodically </a:t>
            </a:r>
            <a:r>
              <a:rPr b="1" lang="en">
                <a:highlight>
                  <a:srgbClr val="FFFF00"/>
                </a:highlight>
              </a:rPr>
              <a:t>review and request updated reports</a:t>
            </a:r>
            <a:r>
              <a:rPr lang="en"/>
              <a:t> via AWS Artifact to ensure </a:t>
            </a:r>
            <a:r>
              <a:rPr b="1" lang="en">
                <a:highlight>
                  <a:srgbClr val="FFFF00"/>
                </a:highlight>
              </a:rPr>
              <a:t>ongoing compliance with HIPAA</a:t>
            </a:r>
            <a:r>
              <a:rPr lang="en"/>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6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Security </a:t>
            </a:r>
            <a:r>
              <a:rPr b="1" lang="en"/>
              <a:t>IN</a:t>
            </a:r>
            <a:r>
              <a:rPr lang="en"/>
              <a:t> the cloud</a:t>
            </a:r>
            <a:endParaRPr/>
          </a:p>
        </p:txBody>
      </p:sp>
      <p:sp>
        <p:nvSpPr>
          <p:cNvPr id="341" name="Google Shape;341;p6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Customer Responsibility</a:t>
            </a:r>
            <a:r>
              <a:rPr lang="en"/>
              <a:t>: This aspect deals with security measures that AWS customers must implement and manage, tied directly to customer data and business requirements.</a:t>
            </a:r>
            <a:endParaRPr/>
          </a:p>
          <a:p>
            <a:pPr indent="0" lvl="0" marL="0" rtl="0" algn="l">
              <a:spcBef>
                <a:spcPts val="1200"/>
              </a:spcBef>
              <a:spcAft>
                <a:spcPts val="0"/>
              </a:spcAft>
              <a:buClr>
                <a:schemeClr val="dk1"/>
              </a:buClr>
              <a:buSzPts val="1100"/>
              <a:buFont typeface="Arial"/>
              <a:buNone/>
            </a:pPr>
            <a:r>
              <a:rPr b="1" lang="en"/>
              <a:t>Customer Data Protection</a:t>
            </a:r>
            <a:r>
              <a:rPr lang="en"/>
              <a:t>: Includes encryption, network security controls, access control, and managing and securing AWS service configurations.</a:t>
            </a:r>
            <a:endParaRPr/>
          </a:p>
          <a:p>
            <a:pPr indent="0" lvl="0" marL="0" rtl="0" algn="l">
              <a:spcBef>
                <a:spcPts val="1200"/>
              </a:spcBef>
              <a:spcAft>
                <a:spcPts val="1200"/>
              </a:spcAft>
              <a:buNone/>
            </a:pPr>
            <a:r>
              <a:rPr b="1" lang="en"/>
              <a:t>Security Tools and Services</a:t>
            </a:r>
            <a:r>
              <a:rPr lang="en"/>
              <a:t>: AWS provides various tools and services like AWS Identity and Access Management (IAM), Amazon Cognito, AWS Key Management Service (KMS), and AWS Shield to help customers maintain security and comply with regulations.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an endpoint?</a:t>
            </a:r>
            <a:endParaRPr/>
          </a:p>
        </p:txBody>
      </p:sp>
      <p:sp>
        <p:nvSpPr>
          <p:cNvPr id="347" name="Google Shape;347;p6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An </a:t>
            </a:r>
            <a:r>
              <a:rPr b="1" lang="en"/>
              <a:t>endpoint</a:t>
            </a:r>
            <a:r>
              <a:rPr lang="en"/>
              <a:t> is essentially the </a:t>
            </a:r>
            <a:r>
              <a:rPr b="1" lang="en">
                <a:highlight>
                  <a:srgbClr val="FFFF00"/>
                </a:highlight>
              </a:rPr>
              <a:t>URL you use to access a service in AWS</a:t>
            </a:r>
            <a:r>
              <a:rPr lang="en"/>
              <a:t>. For instance, if you have an Amazon </a:t>
            </a:r>
            <a:r>
              <a:rPr b="1" lang="en">
                <a:highlight>
                  <a:srgbClr val="00FFFF"/>
                </a:highlight>
              </a:rPr>
              <a:t>S3</a:t>
            </a:r>
            <a:r>
              <a:rPr lang="en"/>
              <a:t> bucket named "</a:t>
            </a:r>
            <a:r>
              <a:rPr b="1" lang="en">
                <a:highlight>
                  <a:srgbClr val="D9EAD3"/>
                </a:highlight>
              </a:rPr>
              <a:t>my-example-bucket</a:t>
            </a:r>
            <a:r>
              <a:rPr lang="en"/>
              <a:t>" and it's in the </a:t>
            </a:r>
            <a:r>
              <a:rPr b="1" lang="en">
                <a:highlight>
                  <a:srgbClr val="A4C2F4"/>
                </a:highlight>
              </a:rPr>
              <a:t>US West (Oregon) region</a:t>
            </a:r>
            <a:r>
              <a:rPr lang="en"/>
              <a:t>, the endpoint to access this bucket would be "</a:t>
            </a:r>
            <a:r>
              <a:rPr b="1" lang="en">
                <a:highlight>
                  <a:srgbClr val="D9EAD3"/>
                </a:highlight>
              </a:rPr>
              <a:t>my-example-bucket</a:t>
            </a:r>
            <a:r>
              <a:rPr lang="en"/>
              <a:t>.</a:t>
            </a:r>
            <a:r>
              <a:rPr b="1" lang="en">
                <a:highlight>
                  <a:srgbClr val="00FFFF"/>
                </a:highlight>
              </a:rPr>
              <a:t>s3</a:t>
            </a:r>
            <a:r>
              <a:rPr lang="en"/>
              <a:t>.</a:t>
            </a:r>
            <a:r>
              <a:rPr b="1" lang="en">
                <a:highlight>
                  <a:srgbClr val="A4C2F4"/>
                </a:highlight>
              </a:rPr>
              <a:t>us-west-2</a:t>
            </a:r>
            <a:r>
              <a:rPr lang="en"/>
              <a:t>.amazonaws.com". Here, 's3.us-west-2.amazonaws.com' is the default endpoint for S3 in the US West (Oregon) region.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6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Endpoint: Standard TLS vs FIPS</a:t>
            </a:r>
            <a:endParaRPr/>
          </a:p>
        </p:txBody>
      </p:sp>
      <p:sp>
        <p:nvSpPr>
          <p:cNvPr id="353" name="Google Shape;353;p6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Some AWS services offer endpoints that support Federal Information Processing Standard (FIPS) 140-2 in some Regions. Unlike standard AWS endpoints, FIPS endpoints use a TLS software library that complies with </a:t>
            </a:r>
            <a:r>
              <a:rPr b="1" lang="en">
                <a:highlight>
                  <a:srgbClr val="FFFF00"/>
                </a:highlight>
              </a:rPr>
              <a:t>FIPS 140-2</a:t>
            </a:r>
            <a:r>
              <a:rPr lang="en"/>
              <a:t>. These endpoints might be required by enterprises that interact with the United States government.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The 11 security requirement areas of FIPS 140-2</a:t>
            </a:r>
            <a:endParaRPr sz="3000"/>
          </a:p>
        </p:txBody>
      </p:sp>
      <p:sp>
        <p:nvSpPr>
          <p:cNvPr id="359" name="Google Shape;359;p6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Let’s take a peek at what is FIPS 140-2</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3000"/>
              <a:t>The 11 security requirement areas of FIPS 140-2</a:t>
            </a:r>
            <a:endParaRPr/>
          </a:p>
        </p:txBody>
      </p:sp>
      <p:sp>
        <p:nvSpPr>
          <p:cNvPr id="365" name="Google Shape;365;p6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b="1" lang="en"/>
              <a:t>Cryptographic Module Specification</a:t>
            </a:r>
            <a:r>
              <a:rPr lang="en"/>
              <a:t>: This includes a detailed specification that outlines the cryptographic module, its interfaces, and its operational environment.</a:t>
            </a:r>
            <a:endParaRPr/>
          </a:p>
          <a:p>
            <a:pPr indent="0" lvl="0" marL="0" rtl="0" algn="l">
              <a:spcBef>
                <a:spcPts val="1200"/>
              </a:spcBef>
              <a:spcAft>
                <a:spcPts val="0"/>
              </a:spcAft>
              <a:buClr>
                <a:schemeClr val="dk1"/>
              </a:buClr>
              <a:buSzPct val="61111"/>
              <a:buFont typeface="Arial"/>
              <a:buNone/>
            </a:pPr>
            <a:r>
              <a:rPr b="1" lang="en"/>
              <a:t>Cryptographic Module Ports and Interfaces</a:t>
            </a:r>
            <a:r>
              <a:rPr lang="en"/>
              <a:t>: The module must clearly define all the physical and logical interfaces and the input, output, control and status information communicated via these interfaces.</a:t>
            </a:r>
            <a:endParaRPr/>
          </a:p>
          <a:p>
            <a:pPr indent="0" lvl="0" marL="0" rtl="0" algn="l">
              <a:spcBef>
                <a:spcPts val="1200"/>
              </a:spcBef>
              <a:spcAft>
                <a:spcPts val="0"/>
              </a:spcAft>
              <a:buNone/>
            </a:pPr>
            <a:r>
              <a:rPr b="1" lang="en"/>
              <a:t>Roles, Services, and Authentication</a:t>
            </a:r>
            <a:r>
              <a:rPr lang="en"/>
              <a:t>: The cryptographic module must support the role of a Crypto Officer (responsible for tasks like installation, configuration, and administration) and User (regular usage). Each role must be authenticated using either role-based or identity-based authentication mechanisms.</a:t>
            </a:r>
            <a:endParaRPr/>
          </a:p>
          <a:p>
            <a:pPr indent="0" lvl="0" marL="0" rtl="0" algn="l">
              <a:spcBef>
                <a:spcPts val="1200"/>
              </a:spcBef>
              <a:spcAft>
                <a:spcPts val="1200"/>
              </a:spcAft>
              <a:buNone/>
            </a:pPr>
            <a:r>
              <a:rPr b="1" lang="en" sz="1745"/>
              <a:t>Cryptographic officer</a:t>
            </a:r>
            <a:r>
              <a:rPr lang="en" sz="1745"/>
              <a:t>: An FCKMS role that is responsible for and authorized to initialize and manage all cryptographic services, functions, and keys of the FCKMS. Source: NIST SP 800-152. FCKMS is  "Federal Cryptographic Key Management System"</a:t>
            </a:r>
            <a:endParaRPr sz="1745"/>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3000"/>
              <a:t>The 11 security requirement areas of FIPS 140-2</a:t>
            </a:r>
            <a:endParaRPr/>
          </a:p>
        </p:txBody>
      </p:sp>
      <p:sp>
        <p:nvSpPr>
          <p:cNvPr id="371" name="Google Shape;371;p6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Physical Security</a:t>
            </a:r>
            <a:r>
              <a:rPr lang="en"/>
              <a:t>: For higher levels of FIPS 140-2 (levels 2, 3, and 4), the cryptographic module must have physical security mechanisms to protect it from tampering and unauthorized access.</a:t>
            </a:r>
            <a:endParaRPr/>
          </a:p>
          <a:p>
            <a:pPr indent="0" lvl="0" marL="0" rtl="0" algn="l">
              <a:spcBef>
                <a:spcPts val="1200"/>
              </a:spcBef>
              <a:spcAft>
                <a:spcPts val="0"/>
              </a:spcAft>
              <a:buNone/>
            </a:pPr>
            <a:r>
              <a:rPr b="1" lang="en"/>
              <a:t>Operational Environment</a:t>
            </a:r>
            <a:r>
              <a:rPr lang="en"/>
              <a:t>: The operational environment of the module must be specified and secure. For levels 3 and 4, the module's software and firmware components must be designed to protect against tampering.</a:t>
            </a:r>
            <a:endParaRPr/>
          </a:p>
          <a:p>
            <a:pPr indent="0" lvl="0" marL="0" rtl="0" algn="l">
              <a:spcBef>
                <a:spcPts val="1200"/>
              </a:spcBef>
              <a:spcAft>
                <a:spcPts val="0"/>
              </a:spcAft>
              <a:buNone/>
            </a:pPr>
            <a:r>
              <a:rPr b="1" lang="en"/>
              <a:t>Cryptographic Key Management</a:t>
            </a:r>
            <a:r>
              <a:rPr lang="en"/>
              <a:t>: The module must have secure mechanisms for the management of cryptographic keys, including key generation, entry/output, storage, and zeroization (the act of deleting the key securely when it's no longer required).</a:t>
            </a:r>
            <a:endParaRPr/>
          </a:p>
          <a:p>
            <a:pPr indent="0" lvl="0" marL="0" rtl="0" algn="l">
              <a:spcBef>
                <a:spcPts val="1200"/>
              </a:spcBef>
              <a:spcAft>
                <a:spcPts val="1200"/>
              </a:spcAft>
              <a:buNone/>
            </a:pPr>
            <a:r>
              <a:rPr b="1" lang="en"/>
              <a:t>Self-Tests</a:t>
            </a:r>
            <a:r>
              <a:rPr lang="en"/>
              <a:t>: The cryptographic module must perform a series of self-tests to ensure it's working correctly when it's initialized (on power-up) and during its operation.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Hypothetical levels to FIPS 140-2</a:t>
            </a:r>
            <a:endParaRPr/>
          </a:p>
        </p:txBody>
      </p:sp>
      <p:sp>
        <p:nvSpPr>
          <p:cNvPr id="377" name="Google Shape;377;p6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Level 1</a:t>
            </a:r>
            <a:r>
              <a:rPr lang="en"/>
              <a:t>: A basic web server uses a FIPS 140-2 Level 1 compliant software library for TLS. It provides secure connections, but does </a:t>
            </a:r>
            <a:r>
              <a:rPr b="1" lang="en">
                <a:highlight>
                  <a:srgbClr val="FFFF00"/>
                </a:highlight>
              </a:rPr>
              <a:t>not have any specific physical security measures.</a:t>
            </a:r>
            <a:endParaRPr b="1">
              <a:highlight>
                <a:srgbClr val="FFFF00"/>
              </a:highlight>
            </a:endParaRPr>
          </a:p>
          <a:p>
            <a:pPr indent="0" lvl="0" marL="0" rtl="0" algn="l">
              <a:spcBef>
                <a:spcPts val="1200"/>
              </a:spcBef>
              <a:spcAft>
                <a:spcPts val="1200"/>
              </a:spcAft>
              <a:buNone/>
            </a:pPr>
            <a:r>
              <a:rPr b="1" lang="en"/>
              <a:t>Level 2</a:t>
            </a:r>
            <a:r>
              <a:rPr lang="en"/>
              <a:t>: A VPN server may use a FIPS 140-2 Level 2 compliant software library for TLS. This level includes role-based authentication, ensuring that </a:t>
            </a:r>
            <a:r>
              <a:rPr b="1" lang="en">
                <a:highlight>
                  <a:srgbClr val="FFFF00"/>
                </a:highlight>
              </a:rPr>
              <a:t>only authorized administrators can configure the security settings.</a:t>
            </a:r>
            <a:endParaRPr b="1">
              <a:highlight>
                <a:srgbClr val="FFFF00"/>
              </a:high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Hypothetical levels to FIPS 140-2</a:t>
            </a:r>
            <a:endParaRPr/>
          </a:p>
        </p:txBody>
      </p:sp>
      <p:sp>
        <p:nvSpPr>
          <p:cNvPr id="383" name="Google Shape;383;p6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Level 3</a:t>
            </a:r>
            <a:r>
              <a:rPr lang="en"/>
              <a:t>: A financial institution's servers might use a FIPS 140-2 Level 3 compliant software library for TLS. It includes </a:t>
            </a:r>
            <a:r>
              <a:rPr b="1" lang="en">
                <a:highlight>
                  <a:srgbClr val="FFFF00"/>
                </a:highlight>
              </a:rPr>
              <a:t>measures to protect cryptographic keys</a:t>
            </a:r>
            <a:r>
              <a:rPr lang="en"/>
              <a:t> and other sensitive data. </a:t>
            </a:r>
            <a:r>
              <a:rPr b="1" lang="en">
                <a:highlight>
                  <a:srgbClr val="FFFF00"/>
                </a:highlight>
              </a:rPr>
              <a:t>If an unauthorized attempt is made to access this data, the system is designed to delete it</a:t>
            </a:r>
            <a:r>
              <a:rPr lang="en"/>
              <a:t>.</a:t>
            </a:r>
            <a:endParaRPr/>
          </a:p>
          <a:p>
            <a:pPr indent="0" lvl="0" marL="0" rtl="0" algn="l">
              <a:spcBef>
                <a:spcPts val="1200"/>
              </a:spcBef>
              <a:spcAft>
                <a:spcPts val="1200"/>
              </a:spcAft>
              <a:buNone/>
            </a:pPr>
            <a:r>
              <a:rPr b="1" lang="en"/>
              <a:t>Level 4</a:t>
            </a:r>
            <a:r>
              <a:rPr lang="en"/>
              <a:t>: A military system could use a FIPS 140-2 Level 4 compliant software library for TLS. It includes mechanisms to </a:t>
            </a:r>
            <a:r>
              <a:rPr b="1" lang="en">
                <a:highlight>
                  <a:srgbClr val="FFFF00"/>
                </a:highlight>
              </a:rPr>
              <a:t>protect against physical attacks</a:t>
            </a:r>
            <a:r>
              <a:rPr lang="en"/>
              <a:t> and environmental conditions, such as high radiation or extreme temperatures.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100"/>
              <a:t>AWS CloudHSM and FIPS 140-2 Compliance</a:t>
            </a:r>
            <a:endParaRPr sz="3100"/>
          </a:p>
        </p:txBody>
      </p:sp>
      <p:sp>
        <p:nvSpPr>
          <p:cNvPr id="389" name="Google Shape;389;p6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b="1" lang="en"/>
              <a:t>AWS CloudHSM</a:t>
            </a:r>
            <a:r>
              <a:rPr lang="en"/>
              <a:t>: This is a cloud-based </a:t>
            </a:r>
            <a:r>
              <a:rPr b="1" lang="en">
                <a:highlight>
                  <a:srgbClr val="FFFF00"/>
                </a:highlight>
              </a:rPr>
              <a:t>h</a:t>
            </a:r>
            <a:r>
              <a:rPr lang="en">
                <a:highlight>
                  <a:srgbClr val="FFFF00"/>
                </a:highlight>
              </a:rPr>
              <a:t>ardware </a:t>
            </a:r>
            <a:r>
              <a:rPr b="1" lang="en">
                <a:highlight>
                  <a:srgbClr val="FFFF00"/>
                </a:highlight>
              </a:rPr>
              <a:t>s</a:t>
            </a:r>
            <a:r>
              <a:rPr lang="en">
                <a:highlight>
                  <a:srgbClr val="FFFF00"/>
                </a:highlight>
              </a:rPr>
              <a:t>ecurity </a:t>
            </a:r>
            <a:r>
              <a:rPr b="1" lang="en">
                <a:highlight>
                  <a:srgbClr val="FFFF00"/>
                </a:highlight>
              </a:rPr>
              <a:t>m</a:t>
            </a:r>
            <a:r>
              <a:rPr lang="en">
                <a:highlight>
                  <a:srgbClr val="FFFF00"/>
                </a:highlight>
              </a:rPr>
              <a:t>odule (HSM) </a:t>
            </a:r>
            <a:r>
              <a:rPr lang="en"/>
              <a:t>that allows users to generate and manage their own encryption keys in the AWS Cloud. The hardware security modules used by CloudHSM meet the FIPS 140-2 Level 3 requirements.</a:t>
            </a:r>
            <a:endParaRPr/>
          </a:p>
          <a:p>
            <a:pPr indent="0" lvl="0" marL="0" rtl="0" algn="l">
              <a:spcBef>
                <a:spcPts val="1200"/>
              </a:spcBef>
              <a:spcAft>
                <a:spcPts val="0"/>
              </a:spcAft>
              <a:buClr>
                <a:schemeClr val="dk1"/>
              </a:buClr>
              <a:buSzPct val="61111"/>
              <a:buFont typeface="Arial"/>
              <a:buNone/>
            </a:pPr>
            <a:r>
              <a:rPr b="1" lang="en"/>
              <a:t>Key Management and Cryptographic Operations</a:t>
            </a:r>
            <a:r>
              <a:rPr lang="en"/>
              <a:t>: When users operate services like AWS CloudHSM or AWS Key Management Service (KMS), they can be confident that their cryptographic operations and key management are handled in a manner that aligns with FIPS 140-2 standards.</a:t>
            </a:r>
            <a:endParaRPr/>
          </a:p>
          <a:p>
            <a:pPr indent="0" lvl="0" marL="0" rtl="0" algn="l">
              <a:spcBef>
                <a:spcPts val="1200"/>
              </a:spcBef>
              <a:spcAft>
                <a:spcPts val="1200"/>
              </a:spcAft>
              <a:buNone/>
            </a:pPr>
            <a:r>
              <a:rPr lang="en"/>
              <a:t>Secure Transmission with FIPS Endpoints: AWS ensures that the software TLS implementation protecting data transmitted to and from FIPS endpoints is FIPS 140-2 compliant, thus adding another layer of security to data in transit.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Hardware Security Module</a:t>
            </a:r>
            <a:endParaRPr/>
          </a:p>
        </p:txBody>
      </p:sp>
      <p:sp>
        <p:nvSpPr>
          <p:cNvPr id="395" name="Google Shape;395;p6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H</a:t>
            </a:r>
            <a:r>
              <a:rPr lang="en"/>
              <a:t>andles cryptographic operations (including those used by TLS). The HSM itself could be designed to meet FIPS 140-2 Level 4, which means it would have physical </a:t>
            </a:r>
            <a:r>
              <a:rPr b="1" lang="en">
                <a:highlight>
                  <a:srgbClr val="FFFF00"/>
                </a:highlight>
              </a:rPr>
              <a:t>tamper-resistance and even tamper-evidence features</a:t>
            </a:r>
            <a:r>
              <a:rPr lang="en"/>
              <a:t>.</a:t>
            </a:r>
            <a:endParaRPr/>
          </a:p>
          <a:p>
            <a:pPr indent="0" lvl="0" marL="0" rtl="0" algn="l">
              <a:spcBef>
                <a:spcPts val="1200"/>
              </a:spcBef>
              <a:spcAft>
                <a:spcPts val="1200"/>
              </a:spcAft>
              <a:buNone/>
            </a:pPr>
            <a:r>
              <a:rPr lang="en"/>
              <a:t>This could involve </a:t>
            </a:r>
            <a:r>
              <a:rPr b="1" lang="en">
                <a:highlight>
                  <a:srgbClr val="FFFF00"/>
                </a:highlight>
              </a:rPr>
              <a:t>seals or locks that reveal when tampering has occurred</a:t>
            </a:r>
            <a:r>
              <a:rPr lang="en"/>
              <a:t>, or even extreme measures such as </a:t>
            </a:r>
            <a:r>
              <a:rPr b="1" lang="en">
                <a:highlight>
                  <a:srgbClr val="FFFF00"/>
                </a:highlight>
              </a:rPr>
              <a:t>zeroizing (automatically erasing) cryptographic keys stored within the HSM if it detects a tamper event</a:t>
            </a:r>
            <a:r>
              <a:rPr lang="en"/>
              <a: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7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Azure and AWS: Everything is an API and Uses IAM</a:t>
            </a:r>
            <a:endParaRPr/>
          </a:p>
        </p:txBody>
      </p:sp>
      <p:sp>
        <p:nvSpPr>
          <p:cNvPr id="401" name="Google Shape;401;p70"/>
          <p:cNvSpPr txBox="1"/>
          <p:nvPr>
            <p:ph idx="1" type="body"/>
          </p:nvPr>
        </p:nvSpPr>
        <p:spPr>
          <a:xfrm>
            <a:off x="311700" y="1301000"/>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ts val="853"/>
              <a:buFont typeface="Arial"/>
              <a:buNone/>
            </a:pPr>
            <a:r>
              <a:rPr lang="en" sz="4400">
                <a:solidFill>
                  <a:srgbClr val="6F6F6F"/>
                </a:solidFill>
              </a:rPr>
              <a:t>In both </a:t>
            </a:r>
            <a:r>
              <a:rPr lang="en" sz="4400">
                <a:solidFill>
                  <a:srgbClr val="6F6F6F"/>
                </a:solidFill>
                <a:highlight>
                  <a:srgbClr val="00FFFF"/>
                </a:highlight>
              </a:rPr>
              <a:t>Azure</a:t>
            </a:r>
            <a:r>
              <a:rPr lang="en" sz="4400">
                <a:solidFill>
                  <a:srgbClr val="6F6F6F"/>
                </a:solidFill>
              </a:rPr>
              <a:t> and </a:t>
            </a:r>
            <a:r>
              <a:rPr lang="en" sz="4400">
                <a:solidFill>
                  <a:srgbClr val="6F6F6F"/>
                </a:solidFill>
                <a:highlight>
                  <a:srgbClr val="FF9900"/>
                </a:highlight>
              </a:rPr>
              <a:t>AWS</a:t>
            </a:r>
            <a:r>
              <a:rPr lang="en" sz="4400">
                <a:solidFill>
                  <a:srgbClr val="6F6F6F"/>
                </a:solidFill>
              </a:rPr>
              <a:t>, every service can be interacted with via an API, and access to these API calls is managed through IAM.</a:t>
            </a:r>
            <a:endParaRPr sz="4400">
              <a:solidFill>
                <a:srgbClr val="6F6F6F"/>
              </a:solidFill>
            </a:endParaRPr>
          </a:p>
          <a:p>
            <a:pPr indent="0" lvl="0" marL="0" rtl="0" algn="l">
              <a:spcBef>
                <a:spcPts val="1200"/>
              </a:spcBef>
              <a:spcAft>
                <a:spcPts val="1200"/>
              </a:spcAft>
              <a:buNone/>
            </a:pPr>
            <a:r>
              <a:rPr lang="en" sz="4400">
                <a:solidFill>
                  <a:srgbClr val="6F6F6F"/>
                </a:solidFill>
              </a:rPr>
              <a:t>Operations such as creating a virtual machine, configuring a database, or setting up a network, are </a:t>
            </a:r>
            <a:r>
              <a:rPr b="1" lang="en" sz="4400">
                <a:solidFill>
                  <a:srgbClr val="6F6F6F"/>
                </a:solidFill>
                <a:highlight>
                  <a:srgbClr val="FFFF00"/>
                </a:highlight>
              </a:rPr>
              <a:t>essentially API calls</a:t>
            </a:r>
            <a:r>
              <a:rPr lang="en" sz="4400">
                <a:solidFill>
                  <a:srgbClr val="6F6F6F"/>
                </a:solidFill>
              </a:rPr>
              <a:t>.</a:t>
            </a:r>
            <a:endParaRPr sz="4400">
              <a:solidFill>
                <a:srgbClr val="6F6F6F"/>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7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Role-Based Access Control in Azure and AWS</a:t>
            </a:r>
            <a:endParaRPr/>
          </a:p>
        </p:txBody>
      </p:sp>
      <p:sp>
        <p:nvSpPr>
          <p:cNvPr id="407" name="Google Shape;407;p71"/>
          <p:cNvSpPr txBox="1"/>
          <p:nvPr>
            <p:ph idx="1" type="body"/>
          </p:nvPr>
        </p:nvSpPr>
        <p:spPr>
          <a:xfrm>
            <a:off x="311700" y="1301000"/>
            <a:ext cx="8520600" cy="34164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0"/>
              </a:spcAft>
              <a:buNone/>
            </a:pPr>
            <a:r>
              <a:rPr lang="en" sz="4400">
                <a:solidFill>
                  <a:srgbClr val="6F6F6F"/>
                </a:solidFill>
              </a:rPr>
              <a:t>Azure organizes access control around the concept of Role-Based Access Control (RBAC) with three elements: </a:t>
            </a:r>
            <a:r>
              <a:rPr b="1" lang="en" sz="4400">
                <a:solidFill>
                  <a:srgbClr val="6F6F6F"/>
                </a:solidFill>
                <a:highlight>
                  <a:srgbClr val="00FFFF"/>
                </a:highlight>
              </a:rPr>
              <a:t>security principal (user or group), role assignment, and scope.</a:t>
            </a:r>
            <a:endParaRPr b="1" sz="4400">
              <a:solidFill>
                <a:srgbClr val="6F6F6F"/>
              </a:solidFill>
              <a:highlight>
                <a:srgbClr val="00FFFF"/>
              </a:highlight>
            </a:endParaRPr>
          </a:p>
          <a:p>
            <a:pPr indent="0" lvl="0" marL="0" rtl="0" algn="l">
              <a:spcBef>
                <a:spcPts val="1200"/>
              </a:spcBef>
              <a:spcAft>
                <a:spcPts val="0"/>
              </a:spcAft>
              <a:buNone/>
            </a:pPr>
            <a:r>
              <a:rPr lang="en" sz="4400">
                <a:solidFill>
                  <a:srgbClr val="6F6F6F"/>
                </a:solidFill>
              </a:rPr>
              <a:t>AWS uses IAM </a:t>
            </a:r>
            <a:r>
              <a:rPr b="1" lang="en" sz="4400">
                <a:solidFill>
                  <a:srgbClr val="6F6F6F"/>
                </a:solidFill>
                <a:highlight>
                  <a:srgbClr val="FF9900"/>
                </a:highlight>
              </a:rPr>
              <a:t>roles and policies</a:t>
            </a:r>
            <a:r>
              <a:rPr lang="en" sz="4400">
                <a:solidFill>
                  <a:srgbClr val="6F6F6F"/>
                </a:solidFill>
              </a:rPr>
              <a:t> for granting access, similarly organized around </a:t>
            </a:r>
            <a:r>
              <a:rPr b="1" lang="en" sz="4400">
                <a:solidFill>
                  <a:srgbClr val="6F6F6F"/>
                </a:solidFill>
                <a:highlight>
                  <a:srgbClr val="FF9900"/>
                </a:highlight>
              </a:rPr>
              <a:t>users, permissions, and resources.</a:t>
            </a:r>
            <a:endParaRPr b="1" sz="4400">
              <a:solidFill>
                <a:srgbClr val="6F6F6F"/>
              </a:solidFill>
              <a:highlight>
                <a:srgbClr val="FF9900"/>
              </a:highlight>
            </a:endParaRPr>
          </a:p>
          <a:p>
            <a:pPr indent="0" lvl="0" marL="0" rtl="0" algn="l">
              <a:spcBef>
                <a:spcPts val="1200"/>
              </a:spcBef>
              <a:spcAft>
                <a:spcPts val="1200"/>
              </a:spcAft>
              <a:buNone/>
            </a:pPr>
            <a:r>
              <a:rPr lang="en" sz="4400">
                <a:solidFill>
                  <a:srgbClr val="6F6F6F"/>
                </a:solidFill>
              </a:rPr>
              <a:t>Despite specific implementation details and terminology differences, </a:t>
            </a:r>
            <a:r>
              <a:rPr b="1" lang="en" sz="4400">
                <a:solidFill>
                  <a:srgbClr val="6F6F6F"/>
                </a:solidFill>
                <a:highlight>
                  <a:srgbClr val="FFFF00"/>
                </a:highlight>
              </a:rPr>
              <a:t>both platforms share a similar approach to access management</a:t>
            </a:r>
            <a:r>
              <a:rPr lang="en" sz="4400">
                <a:solidFill>
                  <a:srgbClr val="6F6F6F"/>
                </a:solidFill>
              </a:rPr>
              <a:t>.</a:t>
            </a:r>
            <a:endParaRPr sz="4400">
              <a:solidFill>
                <a:srgbClr val="6F6F6F"/>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7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IAM Superheroes</a:t>
            </a:r>
            <a:endParaRPr/>
          </a:p>
        </p:txBody>
      </p:sp>
      <p:sp>
        <p:nvSpPr>
          <p:cNvPr id="413" name="Google Shape;413;p7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n"/>
              <a:t>Captain Admin</a:t>
            </a:r>
            <a:r>
              <a:rPr lang="en"/>
              <a:t>: As the AWS account root user, Captain Admin has complete access to all AWS services and resources in the account. They are </a:t>
            </a:r>
            <a:r>
              <a:rPr b="1" lang="en">
                <a:highlight>
                  <a:srgbClr val="FFFF00"/>
                </a:highlight>
              </a:rPr>
              <a:t>responsible for managing users, granting necessary permissions, and ensuring overall security of the account</a:t>
            </a:r>
            <a:r>
              <a:rPr lang="en"/>
              <a:t>. However, in practice, Captain Admin's </a:t>
            </a:r>
            <a:r>
              <a:rPr b="1" lang="en">
                <a:highlight>
                  <a:srgbClr val="00FF00"/>
                </a:highlight>
              </a:rPr>
              <a:t>power is wielded sparingly, and most tasks are carried out by IAM users with more limited permissions</a:t>
            </a:r>
            <a:r>
              <a:rPr lang="en"/>
              <a:t>.</a:t>
            </a:r>
            <a:endParaRPr/>
          </a:p>
          <a:p>
            <a:pPr indent="0" lvl="0" marL="0" rtl="0" algn="l">
              <a:spcBef>
                <a:spcPts val="1200"/>
              </a:spcBef>
              <a:spcAft>
                <a:spcPts val="1200"/>
              </a:spcAft>
              <a:buNone/>
            </a:pPr>
            <a:r>
              <a:rPr b="1" lang="en"/>
              <a:t>Elastic Enforcer</a:t>
            </a:r>
            <a:r>
              <a:rPr lang="en"/>
              <a:t>: They manage the team's Amazon EC2 instances. With IAM policies that grant them </a:t>
            </a:r>
            <a:r>
              <a:rPr b="1" lang="en">
                <a:highlight>
                  <a:srgbClr val="FFFF00"/>
                </a:highlight>
              </a:rPr>
              <a:t>full access to EC2</a:t>
            </a:r>
            <a:r>
              <a:rPr lang="en"/>
              <a:t>, they can launch, </a:t>
            </a:r>
            <a:r>
              <a:rPr b="1" lang="en"/>
              <a:t>terminate, and configure instances</a:t>
            </a:r>
            <a:r>
              <a:rPr lang="en"/>
              <a:t>, set up Auto Scaling and load balancing, and secure instances using Security Groups and Network ACLs. However, </a:t>
            </a:r>
            <a:r>
              <a:rPr b="1" lang="en">
                <a:highlight>
                  <a:srgbClr val="FFFF00"/>
                </a:highlight>
              </a:rPr>
              <a:t>they can't read S3 buckets or manage DynamoDB tables</a:t>
            </a:r>
            <a:r>
              <a:rPr lang="en"/>
              <a:t>, keeping the principle of least privilege intact.</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7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IAM Superheroes</a:t>
            </a:r>
            <a:endParaRPr/>
          </a:p>
        </p:txBody>
      </p:sp>
      <p:sp>
        <p:nvSpPr>
          <p:cNvPr id="419" name="Google Shape;419;p7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Storage Saver</a:t>
            </a:r>
            <a:r>
              <a:rPr lang="en"/>
              <a:t>: With full access to Amazon S3 via IAM, Storage Saver manages the team's data storage. They create and configure buckets, manage object lifecycle, ensure data backup, and secure data with bucket policies and ACLs. </a:t>
            </a:r>
            <a:r>
              <a:rPr b="1" lang="en">
                <a:highlight>
                  <a:srgbClr val="FFFF00"/>
                </a:highlight>
              </a:rPr>
              <a:t>Their power is confined to S3 service only</a:t>
            </a:r>
            <a:r>
              <a:rPr lang="en"/>
              <a:t>, maintaining segregation of duties.</a:t>
            </a:r>
            <a:endParaRPr/>
          </a:p>
          <a:p>
            <a:pPr indent="0" lvl="0" marL="0" rtl="0" algn="l">
              <a:spcBef>
                <a:spcPts val="1200"/>
              </a:spcBef>
              <a:spcAft>
                <a:spcPts val="1200"/>
              </a:spcAft>
              <a:buNone/>
            </a:pPr>
            <a:r>
              <a:rPr b="1" lang="en"/>
              <a:t>Dynamo Defender</a:t>
            </a:r>
            <a:r>
              <a:rPr lang="en"/>
              <a:t>: As a specialist in Amazon DynamoDB, Dynamo Defender creates and manages NoSQL databases for the team. They are responsible for data modeling, capacity planning, and ensuring data security with encryption and fine-grained access control. </a:t>
            </a:r>
            <a:r>
              <a:rPr b="1" lang="en">
                <a:highlight>
                  <a:srgbClr val="FFFF00"/>
                </a:highlight>
              </a:rPr>
              <a:t>Dynamo Defender doesn't have access to EC2 or S3</a:t>
            </a:r>
            <a:r>
              <a:rPr lang="en"/>
              <a:t>, limiting their scope of influence to DynamoDB.</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7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 a break!</a:t>
            </a:r>
            <a:endParaRPr/>
          </a:p>
        </p:txBody>
      </p:sp>
      <p:sp>
        <p:nvSpPr>
          <p:cNvPr id="425" name="Google Shape;425;p7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Go take 10 min.  Fresh air, brain food, or a coffee. </a:t>
            </a:r>
            <a:endParaRPr/>
          </a:p>
        </p:txBody>
      </p:sp>
      <p:pic>
        <p:nvPicPr>
          <p:cNvPr id="426" name="Google Shape;426;p74"/>
          <p:cNvPicPr preferRelativeResize="0"/>
          <p:nvPr/>
        </p:nvPicPr>
        <p:blipFill>
          <a:blip r:embed="rId3">
            <a:alphaModFix/>
          </a:blip>
          <a:stretch>
            <a:fillRect/>
          </a:stretch>
        </p:blipFill>
        <p:spPr>
          <a:xfrm>
            <a:off x="3379772" y="1382375"/>
            <a:ext cx="3392050" cy="33801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7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AWS Credentials</a:t>
            </a:r>
            <a:endParaRPr/>
          </a:p>
        </p:txBody>
      </p:sp>
      <p:sp>
        <p:nvSpPr>
          <p:cNvPr id="432" name="Google Shape;432;p7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Username &amp; Password</a:t>
            </a:r>
            <a:endParaRPr/>
          </a:p>
          <a:p>
            <a:pPr indent="0" lvl="0" marL="0" rtl="0" algn="l">
              <a:spcBef>
                <a:spcPts val="1200"/>
              </a:spcBef>
              <a:spcAft>
                <a:spcPts val="0"/>
              </a:spcAft>
              <a:buNone/>
            </a:pPr>
            <a:r>
              <a:rPr lang="en"/>
              <a:t>MFA device using a single-use code</a:t>
            </a:r>
            <a:endParaRPr/>
          </a:p>
          <a:p>
            <a:pPr indent="0" lvl="0" marL="0" rtl="0" algn="l">
              <a:spcBef>
                <a:spcPts val="1200"/>
              </a:spcBef>
              <a:spcAft>
                <a:spcPts val="0"/>
              </a:spcAft>
              <a:buNone/>
            </a:pPr>
            <a:r>
              <a:rPr lang="en"/>
              <a:t>User Access Keys</a:t>
            </a:r>
            <a:endParaRPr/>
          </a:p>
          <a:p>
            <a:pPr indent="0" lvl="0" marL="0" rtl="0" algn="l">
              <a:spcBef>
                <a:spcPts val="1200"/>
              </a:spcBef>
              <a:spcAft>
                <a:spcPts val="1200"/>
              </a:spcAft>
              <a:buNone/>
            </a:pPr>
            <a:r>
              <a:rPr lang="en"/>
              <a:t>Amazon EC2 Key pairs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AWS Credentials</a:t>
            </a:r>
            <a:endParaRPr/>
          </a:p>
        </p:txBody>
      </p:sp>
      <p:sp>
        <p:nvSpPr>
          <p:cNvPr id="438" name="Google Shape;438;p7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highlight>
                  <a:srgbClr val="FFFF00"/>
                </a:highlight>
              </a:rPr>
              <a:t>User Access Keys</a:t>
            </a:r>
            <a:r>
              <a:rPr b="1" lang="en"/>
              <a:t> for Programmatic Calls</a:t>
            </a:r>
            <a:r>
              <a:rPr lang="en"/>
              <a:t>: AWS users require user access keys to make programmatic calls to AWS services, whether using the AWS CLI, AWS SDKs, or direct HTTPS API calls. These access keys, used to digitally sign API requests, ensure the secure transmission of data.</a:t>
            </a:r>
            <a:endParaRPr/>
          </a:p>
          <a:p>
            <a:pPr indent="0" lvl="0" marL="0" rtl="0" algn="l">
              <a:spcBef>
                <a:spcPts val="1200"/>
              </a:spcBef>
              <a:spcAft>
                <a:spcPts val="1200"/>
              </a:spcAft>
              <a:buNone/>
            </a:pPr>
            <a:r>
              <a:rPr lang="en"/>
              <a:t>Structure and Usage of User Access Keys: Each user access key credential consists of an access key ID and a secret key. Users can have up to two active access keys, providing flexibility for key rotation or permission revocation, thus enhancing overall security.</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AWS Credentials</a:t>
            </a:r>
            <a:endParaRPr/>
          </a:p>
        </p:txBody>
      </p:sp>
      <p:sp>
        <p:nvSpPr>
          <p:cNvPr id="444" name="Google Shape;444;p7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a:t>Key Pair for EC2 Connections</a:t>
            </a:r>
            <a:r>
              <a:rPr lang="en"/>
              <a:t>: AWS utilizes a public-key infrastructure to authenticate SSH or RDP connections to EC2 instances. This requires the creation or usage of a key pair, with the private key being used to establish the connection.</a:t>
            </a:r>
            <a:endParaRPr/>
          </a:p>
          <a:p>
            <a:pPr indent="0" lvl="0" marL="0" rtl="0" algn="l">
              <a:spcBef>
                <a:spcPts val="1200"/>
              </a:spcBef>
              <a:spcAft>
                <a:spcPts val="0"/>
              </a:spcAft>
              <a:buNone/>
            </a:pPr>
            <a:r>
              <a:rPr b="1" lang="en"/>
              <a:t>Key Pair Generation and Import Options</a:t>
            </a:r>
            <a:r>
              <a:rPr lang="en"/>
              <a:t>: AWS allows users to either generate a new key pair within the EC2 service or import their own set of keys, providing flexibility in security management.</a:t>
            </a:r>
            <a:endParaRPr/>
          </a:p>
          <a:p>
            <a:pPr indent="0" lvl="0" marL="0" rtl="0" algn="l">
              <a:spcBef>
                <a:spcPts val="1200"/>
              </a:spcBef>
              <a:spcAft>
                <a:spcPts val="1200"/>
              </a:spcAft>
              <a:buNone/>
            </a:pPr>
            <a:r>
              <a:rPr b="1" lang="en"/>
              <a:t>Limitations and Recommendations</a:t>
            </a:r>
            <a:r>
              <a:rPr lang="en"/>
              <a:t>: EC2 key pairs do not offer user accountability, making them less suitable for regular use. For daily access to instances, AWS suggests integration with a directory domain (Active Directory or LDAP) to facilitate federated access and track user-instance interactions.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7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Secrets Manager</a:t>
            </a:r>
            <a:endParaRPr/>
          </a:p>
        </p:txBody>
      </p:sp>
      <p:sp>
        <p:nvSpPr>
          <p:cNvPr id="450" name="Google Shape;450;p7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Manage Secrets</a:t>
            </a:r>
            <a:r>
              <a:rPr lang="en"/>
              <a:t>: AWS Secrets Manager helps protect access to applications, services, and IT resources without upfront investment or ongoing maintenance costs. This enables you to easily rotate, manage, and retrieve database credentials, API keys, and other secrets throughout their lifecycle.</a:t>
            </a:r>
            <a:endParaRPr/>
          </a:p>
          <a:p>
            <a:pPr indent="0" lvl="0" marL="0" rtl="0" algn="l">
              <a:spcBef>
                <a:spcPts val="1200"/>
              </a:spcBef>
              <a:spcAft>
                <a:spcPts val="0"/>
              </a:spcAft>
              <a:buClr>
                <a:schemeClr val="dk1"/>
              </a:buClr>
              <a:buSzPts val="1100"/>
              <a:buFont typeface="Arial"/>
              <a:buNone/>
            </a:pPr>
            <a:r>
              <a:rPr b="1" lang="en"/>
              <a:t>Automated Protection</a:t>
            </a:r>
            <a:r>
              <a:rPr lang="en"/>
              <a:t>: Secrets Manager can automate the process of rotating secrets for Amazon RDS, Amazon DocumentDB, and Amazon Redshift, helping enhance your applications' resilience against potential database compromises.</a:t>
            </a:r>
            <a:endParaRPr/>
          </a:p>
          <a:p>
            <a:pPr indent="0" lvl="0" marL="0" rtl="0" algn="l">
              <a:spcBef>
                <a:spcPts val="1200"/>
              </a:spcBef>
              <a:spcAft>
                <a:spcPts val="120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Secrets Manager</a:t>
            </a:r>
            <a:endParaRPr/>
          </a:p>
        </p:txBody>
      </p:sp>
      <p:sp>
        <p:nvSpPr>
          <p:cNvPr id="456" name="Google Shape;456;p7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Let's consider an example where you have an application running on an </a:t>
            </a:r>
            <a:r>
              <a:rPr b="1" lang="en"/>
              <a:t>Amazon EC2 instance</a:t>
            </a:r>
            <a:r>
              <a:rPr lang="en"/>
              <a:t>, which needs to access a </a:t>
            </a:r>
            <a:r>
              <a:rPr b="1" lang="en"/>
              <a:t>MySQL database hosted on Amazon RDS</a:t>
            </a:r>
            <a:r>
              <a:rPr lang="en"/>
              <a:t>. The database requires a </a:t>
            </a:r>
            <a:r>
              <a:rPr b="1" lang="en"/>
              <a:t>username and password</a:t>
            </a:r>
            <a:r>
              <a:rPr lang="en"/>
              <a:t> for access.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Normally, you might </a:t>
            </a:r>
            <a:r>
              <a:rPr b="1" lang="en">
                <a:highlight>
                  <a:srgbClr val="FFFF00"/>
                </a:highlight>
              </a:rPr>
              <a:t>hard code these credentials into your application</a:t>
            </a:r>
            <a:r>
              <a:rPr lang="en"/>
              <a:t> or store them in a configuration file, both of which can pose security risks. If the credentials were exposed in any way, an attacker could potentially gain access to your sensitive data.</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8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Secrets Manager</a:t>
            </a:r>
            <a:endParaRPr/>
          </a:p>
        </p:txBody>
      </p:sp>
      <p:sp>
        <p:nvSpPr>
          <p:cNvPr id="462" name="Google Shape;462;p8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With AWS Secrets Manager, you can avoid these risks by safely storing your database credentials (the 'secret'). Here's how it works:</a:t>
            </a:r>
            <a:endParaRPr/>
          </a:p>
          <a:p>
            <a:pPr indent="0" lvl="0" marL="0" rtl="0" algn="l">
              <a:spcBef>
                <a:spcPts val="1200"/>
              </a:spcBef>
              <a:spcAft>
                <a:spcPts val="0"/>
              </a:spcAft>
              <a:buNone/>
            </a:pPr>
            <a:r>
              <a:rPr b="1" lang="en"/>
              <a:t>Creating the Secret</a:t>
            </a:r>
            <a:r>
              <a:rPr lang="en"/>
              <a:t>: Instead of embedding the database credentials in your application, you store them in Secrets Manager. During the creation of the secret, you specify the database connection details including the username and password.</a:t>
            </a:r>
            <a:endParaRPr/>
          </a:p>
          <a:p>
            <a:pPr indent="0" lvl="0" marL="0" rtl="0" algn="l">
              <a:spcBef>
                <a:spcPts val="1200"/>
              </a:spcBef>
              <a:spcAft>
                <a:spcPts val="1200"/>
              </a:spcAft>
              <a:buNone/>
            </a:pPr>
            <a:r>
              <a:rPr b="1" lang="en"/>
              <a:t>Accessing the Secret</a:t>
            </a:r>
            <a:r>
              <a:rPr lang="en"/>
              <a:t>: Your application is then modified to retrieve these credentials from Secrets Manager using an SDK or CLI, which would make an API call to Secrets Manager. </a:t>
            </a:r>
            <a:r>
              <a:rPr b="1" lang="en">
                <a:highlight>
                  <a:srgbClr val="FFFF00"/>
                </a:highlight>
              </a:rPr>
              <a:t>The application would authenticate to Secrets Manager using its own IAM role that you've set up</a:t>
            </a:r>
            <a:r>
              <a:rPr lang="en"/>
              <a:t>, which gives it permission to access the secret.</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8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Secrets Manager</a:t>
            </a:r>
            <a:endParaRPr/>
          </a:p>
        </p:txBody>
      </p:sp>
      <p:sp>
        <p:nvSpPr>
          <p:cNvPr id="468" name="Google Shape;468;p8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Rotating the Secret</a:t>
            </a:r>
            <a:r>
              <a:rPr lang="en"/>
              <a:t>: One of the key features of Secrets Manager is its ability to automatically rotate secrets without disrupting your applications. You can configure Secrets Manager to </a:t>
            </a:r>
            <a:r>
              <a:rPr b="1" lang="en">
                <a:highlight>
                  <a:srgbClr val="FFFF00"/>
                </a:highlight>
              </a:rPr>
              <a:t>rotate the secret (i.e., change the password) for the database automatically every N days.</a:t>
            </a:r>
            <a:r>
              <a:rPr lang="en"/>
              <a:t> When the rotation happens, Secrets Manager updates the secret in its storage with the new password. Since your application retrieves the database credentials from Secrets Manager every time it establishes a connection, it always gets the most recent password.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This way, your sensitive data (like database passwords) are not embedded in the application. They are safely stored and automatically managed, reducing the risk of accidental exposure.</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8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IAM Access Analyzer</a:t>
            </a:r>
            <a:endParaRPr/>
          </a:p>
        </p:txBody>
      </p:sp>
      <p:sp>
        <p:nvSpPr>
          <p:cNvPr id="474" name="Google Shape;474;p8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Analyze Resource Policies</a:t>
            </a:r>
            <a:r>
              <a:rPr lang="en"/>
              <a:t>: AWS IAM Access Analyzer helps you identify resources in your organization and accounts, such as Amazon S3 buckets or IAM roles, that are shared with an external entity.</a:t>
            </a:r>
            <a:endParaRPr/>
          </a:p>
          <a:p>
            <a:pPr indent="0" lvl="0" marL="0" rtl="0" algn="l">
              <a:spcBef>
                <a:spcPts val="1200"/>
              </a:spcBef>
              <a:spcAft>
                <a:spcPts val="1200"/>
              </a:spcAft>
              <a:buNone/>
            </a:pPr>
            <a:r>
              <a:rPr b="1" lang="en"/>
              <a:t>Identify Public and Cross-Account Access</a:t>
            </a:r>
            <a:r>
              <a:rPr lang="en"/>
              <a:t>: It continuously monitors public and cross-account sharing policies to provide detailed auditing and governance of access to your AWS environment.</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8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100"/>
              <a:t>AWS Security Token Service (STS)</a:t>
            </a:r>
            <a:endParaRPr sz="4100"/>
          </a:p>
        </p:txBody>
      </p:sp>
      <p:sp>
        <p:nvSpPr>
          <p:cNvPr id="480" name="Google Shape;480;p8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Temporary, Limited-Privilege Credentials</a:t>
            </a:r>
            <a:r>
              <a:rPr lang="en"/>
              <a:t>: AWS STS is a service that enables you to request temporary, limited-privilege credentials for AWS Identity and Access Management (IAM) users or for users that you authenticate (federated users).</a:t>
            </a:r>
            <a:endParaRPr/>
          </a:p>
          <a:p>
            <a:pPr indent="0" lvl="0" marL="0" rtl="0" algn="l">
              <a:spcBef>
                <a:spcPts val="1200"/>
              </a:spcBef>
              <a:spcAft>
                <a:spcPts val="1200"/>
              </a:spcAft>
              <a:buNone/>
            </a:pPr>
            <a:r>
              <a:rPr b="1" lang="en"/>
              <a:t>Flexible Identity Federation</a:t>
            </a:r>
            <a:r>
              <a:rPr lang="en"/>
              <a:t>: STS supports identity federation, allowing users who already have passwords elsewhere (in a corporate directory, for instance) to get temporary access to AWS services.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8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Directory Service</a:t>
            </a:r>
            <a:endParaRPr/>
          </a:p>
        </p:txBody>
      </p:sp>
      <p:sp>
        <p:nvSpPr>
          <p:cNvPr id="486" name="Google Shape;486;p8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Directory Provision and Setup</a:t>
            </a:r>
            <a:r>
              <a:rPr lang="en"/>
              <a:t>: AWS Directory Service allows you to set up and run Microsoft Active Directory (AD) on AWS, or connect your AWS resources with an existing on-premises Microsoft Active Directory.</a:t>
            </a:r>
            <a:endParaRPr/>
          </a:p>
          <a:p>
            <a:pPr indent="0" lvl="0" marL="0" rtl="0" algn="l">
              <a:spcBef>
                <a:spcPts val="1200"/>
              </a:spcBef>
              <a:spcAft>
                <a:spcPts val="1200"/>
              </a:spcAft>
              <a:buNone/>
            </a:pPr>
            <a:r>
              <a:rPr b="1" lang="en"/>
              <a:t>Supports AWS Applications and Services</a:t>
            </a:r>
            <a:r>
              <a:rPr lang="en"/>
              <a:t>: AWS Directory Service enables your directory-aware workloads and AWS resources to use managed Active Directory in the AWS Cloud.</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8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Organizations</a:t>
            </a:r>
            <a:endParaRPr/>
          </a:p>
        </p:txBody>
      </p:sp>
      <p:sp>
        <p:nvSpPr>
          <p:cNvPr id="492" name="Google Shape;492;p8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Centralized Control</a:t>
            </a:r>
            <a:r>
              <a:rPr lang="en"/>
              <a:t>: AWS Organizations enables you to centrally manage and govern your AWS environment as you grow and scale your AWS resources.</a:t>
            </a:r>
            <a:endParaRPr/>
          </a:p>
          <a:p>
            <a:pPr indent="0" lvl="0" marL="0" rtl="0" algn="l">
              <a:spcBef>
                <a:spcPts val="1200"/>
              </a:spcBef>
              <a:spcAft>
                <a:spcPts val="1200"/>
              </a:spcAft>
              <a:buNone/>
            </a:pPr>
            <a:r>
              <a:rPr b="1" lang="en"/>
              <a:t>Policy-Based Management</a:t>
            </a:r>
            <a:r>
              <a:rPr lang="en"/>
              <a:t>: You can use service control policies (SCPs) to set fine-grained permissions and control access to services across multiple AWS accounts.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8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AWS Organizations and Azure Subscriptions</a:t>
            </a:r>
            <a:endParaRPr sz="3300"/>
          </a:p>
        </p:txBody>
      </p:sp>
      <p:sp>
        <p:nvSpPr>
          <p:cNvPr id="498" name="Google Shape;498;p8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b="1" lang="en"/>
              <a:t>Account Structure</a:t>
            </a:r>
            <a:r>
              <a:rPr lang="en"/>
              <a:t>: </a:t>
            </a:r>
            <a:r>
              <a:rPr lang="en">
                <a:highlight>
                  <a:srgbClr val="FF9900"/>
                </a:highlight>
              </a:rPr>
              <a:t>AWS Organizations allows for creating multiple accounts under one master account for extra layers of resource isolation</a:t>
            </a:r>
            <a:r>
              <a:rPr lang="en"/>
              <a:t>. Azure Subscriptions, which are similar to individual AWS accounts, </a:t>
            </a:r>
            <a:r>
              <a:rPr lang="en">
                <a:highlight>
                  <a:srgbClr val="00FFFF"/>
                </a:highlight>
              </a:rPr>
              <a:t>act as a boundary for managing resources tied to a single Azure account</a:t>
            </a:r>
            <a:r>
              <a:rPr lang="en"/>
              <a:t>.</a:t>
            </a:r>
            <a:endParaRPr/>
          </a:p>
          <a:p>
            <a:pPr indent="0" lvl="0" marL="0" rtl="0" algn="l">
              <a:spcBef>
                <a:spcPts val="1200"/>
              </a:spcBef>
              <a:spcAft>
                <a:spcPts val="0"/>
              </a:spcAft>
              <a:buClr>
                <a:schemeClr val="dk1"/>
              </a:buClr>
              <a:buSzPct val="61111"/>
              <a:buFont typeface="Arial"/>
              <a:buNone/>
            </a:pPr>
            <a:r>
              <a:rPr b="1" lang="en"/>
              <a:t>Centralized Control</a:t>
            </a:r>
            <a:r>
              <a:rPr lang="en"/>
              <a:t>: AWS Organizations offers </a:t>
            </a:r>
            <a:r>
              <a:rPr lang="en">
                <a:highlight>
                  <a:srgbClr val="FF9900"/>
                </a:highlight>
              </a:rPr>
              <a:t>Service Control Policies</a:t>
            </a:r>
            <a:r>
              <a:rPr lang="en"/>
              <a:t> (SCPs) that provide central control over maximum available permissions for all accounts in your organization. In Azure, this level of governance across multiple subscriptions is achieved using </a:t>
            </a:r>
            <a:r>
              <a:rPr lang="en">
                <a:highlight>
                  <a:srgbClr val="00FFFF"/>
                </a:highlight>
              </a:rPr>
              <a:t>Management Groups</a:t>
            </a:r>
            <a:r>
              <a:rPr lang="en"/>
              <a:t>.</a:t>
            </a:r>
            <a:endParaRPr/>
          </a:p>
          <a:p>
            <a:pPr indent="0" lvl="0" marL="0" rtl="0" algn="l">
              <a:spcBef>
                <a:spcPts val="1200"/>
              </a:spcBef>
              <a:spcAft>
                <a:spcPts val="1200"/>
              </a:spcAft>
              <a:buNone/>
            </a:pPr>
            <a:r>
              <a:rPr b="1" lang="en"/>
              <a:t>Use Cases</a:t>
            </a:r>
            <a:r>
              <a:rPr lang="en"/>
              <a:t>: </a:t>
            </a:r>
            <a:r>
              <a:rPr lang="en">
                <a:highlight>
                  <a:srgbClr val="FFFF00"/>
                </a:highlight>
              </a:rPr>
              <a:t>Both AWS Organizations and Azure Subscriptions</a:t>
            </a:r>
            <a:r>
              <a:rPr lang="en"/>
              <a:t> (in conjunction with Management Groups) provide mechanisms for </a:t>
            </a:r>
            <a:r>
              <a:rPr lang="en">
                <a:highlight>
                  <a:srgbClr val="FFFF00"/>
                </a:highlight>
              </a:rPr>
              <a:t>segregating, organizing, and governing resources based on business needs, while offering centralized control and management</a:t>
            </a:r>
            <a:r>
              <a:rPr lang="en"/>
              <a:t>.</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Cognito</a:t>
            </a:r>
            <a:endParaRPr/>
          </a:p>
        </p:txBody>
      </p:sp>
      <p:sp>
        <p:nvSpPr>
          <p:cNvPr id="504" name="Google Shape;504;p8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505" name="Google Shape;505;p87"/>
          <p:cNvPicPr preferRelativeResize="0"/>
          <p:nvPr/>
        </p:nvPicPr>
        <p:blipFill>
          <a:blip r:embed="rId3">
            <a:alphaModFix/>
          </a:blip>
          <a:stretch>
            <a:fillRect/>
          </a:stretch>
        </p:blipFill>
        <p:spPr>
          <a:xfrm>
            <a:off x="250025" y="1129175"/>
            <a:ext cx="8665375" cy="33764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Amazon Cognito</a:t>
            </a:r>
            <a:endParaRPr/>
          </a:p>
        </p:txBody>
      </p:sp>
      <p:sp>
        <p:nvSpPr>
          <p:cNvPr id="511" name="Google Shape;511;p8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User Identity</a:t>
            </a:r>
            <a:r>
              <a:rPr lang="en"/>
              <a:t>: Amazon Cognito manages user identities in your web and mobile apps. It helps </a:t>
            </a:r>
            <a:r>
              <a:rPr b="1" lang="en">
                <a:highlight>
                  <a:srgbClr val="FFFF00"/>
                </a:highlight>
              </a:rPr>
              <a:t>handle user registration, login, and access control</a:t>
            </a:r>
            <a:r>
              <a:rPr lang="en"/>
              <a:t>, reducing the necessity to manage backend infrastructure for these functionalities.</a:t>
            </a:r>
            <a:endParaRPr/>
          </a:p>
          <a:p>
            <a:pPr indent="0" lvl="0" marL="0" rtl="0" algn="l">
              <a:spcBef>
                <a:spcPts val="1200"/>
              </a:spcBef>
              <a:spcAft>
                <a:spcPts val="0"/>
              </a:spcAft>
              <a:buClr>
                <a:schemeClr val="dk1"/>
              </a:buClr>
              <a:buSzPts val="1100"/>
              <a:buFont typeface="Arial"/>
              <a:buNone/>
            </a:pPr>
            <a:r>
              <a:rPr b="1" lang="en"/>
              <a:t>Social and Enterprise Identity Providers</a:t>
            </a:r>
            <a:r>
              <a:rPr lang="en"/>
              <a:t>: Amazon Cognito supports </a:t>
            </a:r>
            <a:r>
              <a:rPr b="1" lang="en">
                <a:highlight>
                  <a:srgbClr val="FFFF00"/>
                </a:highlight>
              </a:rPr>
              <a:t>sign-in with social identity providers</a:t>
            </a:r>
            <a:r>
              <a:rPr lang="en"/>
              <a:t> like Google, Facebook, and Amazon, as well as </a:t>
            </a:r>
            <a:r>
              <a:rPr b="1" lang="en">
                <a:highlight>
                  <a:srgbClr val="FFFF00"/>
                </a:highlight>
              </a:rPr>
              <a:t>enterprise identity providers via SAML 2.0</a:t>
            </a:r>
            <a:r>
              <a:rPr lang="en"/>
              <a:t>.</a:t>
            </a:r>
            <a:endParaRPr/>
          </a:p>
          <a:p>
            <a:pPr indent="0" lvl="0" marL="0" rtl="0" algn="l">
              <a:spcBef>
                <a:spcPts val="1200"/>
              </a:spcBef>
              <a:spcAft>
                <a:spcPts val="1200"/>
              </a:spcAft>
              <a:buClr>
                <a:schemeClr val="dk1"/>
              </a:buClr>
              <a:buSzPts val="1100"/>
              <a:buFont typeface="Arial"/>
              <a:buNone/>
            </a:pPr>
            <a:r>
              <a:rPr b="1" lang="en"/>
              <a:t>Security</a:t>
            </a:r>
            <a:r>
              <a:rPr lang="en"/>
              <a:t>: Cognito provides robust security features, such as </a:t>
            </a:r>
            <a:r>
              <a:rPr b="1" lang="en">
                <a:highlight>
                  <a:srgbClr val="FFFF00"/>
                </a:highlight>
              </a:rPr>
              <a:t>multi-factor authentication</a:t>
            </a:r>
            <a:r>
              <a:rPr lang="en"/>
              <a:t> (MFA) and </a:t>
            </a:r>
            <a:r>
              <a:rPr b="1" lang="en">
                <a:highlight>
                  <a:srgbClr val="FFFF00"/>
                </a:highlight>
              </a:rPr>
              <a:t>encryption of user data</a:t>
            </a:r>
            <a:r>
              <a:rPr lang="en"/>
              <a:t>, for safeguarding user credentials and data.</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Features of Amazon Cognito</a:t>
            </a:r>
            <a:endParaRPr/>
          </a:p>
        </p:txBody>
      </p:sp>
      <p:sp>
        <p:nvSpPr>
          <p:cNvPr id="517" name="Google Shape;517;p8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User Pools</a:t>
            </a:r>
            <a:r>
              <a:rPr lang="en"/>
              <a:t>: Cognito User Pools provide a secure </a:t>
            </a:r>
            <a:r>
              <a:rPr b="1" lang="en">
                <a:highlight>
                  <a:srgbClr val="FFFF00"/>
                </a:highlight>
              </a:rPr>
              <a:t>user directory</a:t>
            </a:r>
            <a:r>
              <a:rPr lang="en"/>
              <a:t> that scales to hundreds of millions of users. They are an easy way to add </a:t>
            </a:r>
            <a:r>
              <a:rPr b="1" lang="en">
                <a:highlight>
                  <a:srgbClr val="FFFF00"/>
                </a:highlight>
              </a:rPr>
              <a:t>s</a:t>
            </a:r>
            <a:r>
              <a:rPr b="1" lang="en">
                <a:highlight>
                  <a:srgbClr val="FFFF00"/>
                </a:highlight>
              </a:rPr>
              <a:t>ign-up and sign-in functionality to your app</a:t>
            </a:r>
            <a:r>
              <a:rPr lang="en"/>
              <a:t>.</a:t>
            </a:r>
            <a:endParaRPr/>
          </a:p>
          <a:p>
            <a:pPr indent="0" lvl="0" marL="0" rtl="0" algn="l">
              <a:spcBef>
                <a:spcPts val="1200"/>
              </a:spcBef>
              <a:spcAft>
                <a:spcPts val="0"/>
              </a:spcAft>
              <a:buClr>
                <a:schemeClr val="dk1"/>
              </a:buClr>
              <a:buSzPts val="1100"/>
              <a:buFont typeface="Arial"/>
              <a:buNone/>
            </a:pPr>
            <a:r>
              <a:rPr b="1" lang="en"/>
              <a:t>Federation</a:t>
            </a:r>
            <a:r>
              <a:rPr lang="en"/>
              <a:t>: Cognito Identity Pools (</a:t>
            </a:r>
            <a:r>
              <a:rPr b="1" lang="en">
                <a:highlight>
                  <a:srgbClr val="FFFF00"/>
                </a:highlight>
              </a:rPr>
              <a:t>federated identities</a:t>
            </a:r>
            <a:r>
              <a:rPr lang="en"/>
              <a:t>) enable you to create unique identities for your users and federate them with identity providers, allowing you to maintain a consistent user identity across different applications.</a:t>
            </a:r>
            <a:endParaRPr/>
          </a:p>
          <a:p>
            <a:pPr indent="0" lvl="0" marL="0" rtl="0" algn="l">
              <a:spcBef>
                <a:spcPts val="1200"/>
              </a:spcBef>
              <a:spcAft>
                <a:spcPts val="1200"/>
              </a:spcAft>
              <a:buNone/>
            </a:pPr>
            <a:r>
              <a:rPr b="1" lang="en"/>
              <a:t>Synchronization</a:t>
            </a:r>
            <a:r>
              <a:rPr lang="en"/>
              <a:t>: Cognito </a:t>
            </a:r>
            <a:r>
              <a:rPr b="1" lang="en">
                <a:highlight>
                  <a:srgbClr val="FFFF00"/>
                </a:highlight>
              </a:rPr>
              <a:t>syncs user profile data across mobile devices and web applications</a:t>
            </a:r>
            <a:r>
              <a:rPr lang="en"/>
              <a:t>, ensuring that a user's app experience remains consistent, irrespective of the device they are using.</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9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Cognito example</a:t>
            </a:r>
            <a:endParaRPr/>
          </a:p>
        </p:txBody>
      </p:sp>
      <p:sp>
        <p:nvSpPr>
          <p:cNvPr id="523" name="Google Shape;523;p9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Let's say you're developing a mobile fitness application that provides personalized workout routines and nutrition plans for users. The app needs to </a:t>
            </a:r>
            <a:r>
              <a:rPr b="1" lang="en">
                <a:highlight>
                  <a:srgbClr val="00FF00"/>
                </a:highlight>
              </a:rPr>
              <a:t>allow users to create accounts</a:t>
            </a:r>
            <a:r>
              <a:rPr lang="en">
                <a:highlight>
                  <a:srgbClr val="00FF00"/>
                </a:highlight>
              </a:rPr>
              <a:t>, </a:t>
            </a:r>
            <a:r>
              <a:rPr b="1" lang="en">
                <a:highlight>
                  <a:srgbClr val="00FF00"/>
                </a:highlight>
              </a:rPr>
              <a:t>log in, and maintain personalized settings and data across multiple devices</a:t>
            </a:r>
            <a:r>
              <a:rPr lang="en"/>
              <a:t>. Furthermore, you want users to be able to </a:t>
            </a:r>
            <a:r>
              <a:rPr b="1" lang="en">
                <a:highlight>
                  <a:srgbClr val="FFFF00"/>
                </a:highlight>
              </a:rPr>
              <a:t>log in using their existing Google or Facebook accounts for a seamless experience</a:t>
            </a:r>
            <a:r>
              <a:rPr lang="en"/>
              <a:t>.</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rPr lang="en"/>
              <a:t>With Amazon Cognito, you can implement all of this efficiently: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Cognito example</a:t>
            </a:r>
            <a:endParaRPr/>
          </a:p>
        </p:txBody>
      </p:sp>
      <p:sp>
        <p:nvSpPr>
          <p:cNvPr id="529" name="Google Shape;529;p9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User Registration &amp; Sign-In</a:t>
            </a:r>
            <a:r>
              <a:rPr lang="en"/>
              <a:t>: Using Amazon Cognito User Pools, you can quickly set up a secure user directory to </a:t>
            </a:r>
            <a:r>
              <a:rPr b="1" lang="en">
                <a:highlight>
                  <a:srgbClr val="FFFF00"/>
                </a:highlight>
              </a:rPr>
              <a:t>manage the sign-up and sign-in processes</a:t>
            </a:r>
            <a:r>
              <a:rPr lang="en"/>
              <a:t>. This would include email/phone number verification and an adaptive authentication system to protect against unauthorised access.</a:t>
            </a:r>
            <a:endParaRPr/>
          </a:p>
          <a:p>
            <a:pPr indent="0" lvl="0" marL="0" rtl="0" algn="l">
              <a:spcBef>
                <a:spcPts val="1200"/>
              </a:spcBef>
              <a:spcAft>
                <a:spcPts val="1200"/>
              </a:spcAft>
              <a:buNone/>
            </a:pPr>
            <a:r>
              <a:rPr b="1" lang="en"/>
              <a:t>Social Sign-In</a:t>
            </a:r>
            <a:r>
              <a:rPr lang="en"/>
              <a:t>: Amazon Cognito's federated identities feature allows you to </a:t>
            </a:r>
            <a:r>
              <a:rPr b="1" lang="en">
                <a:highlight>
                  <a:srgbClr val="FFFF00"/>
                </a:highlight>
              </a:rPr>
              <a:t>integrate the app with identity providers like Google and Facebook</a:t>
            </a:r>
            <a:r>
              <a:rPr lang="en"/>
              <a:t>. This way, users can easily sign in using their existing accounts from these platforms.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9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Cognito example</a:t>
            </a:r>
            <a:endParaRPr/>
          </a:p>
        </p:txBody>
      </p:sp>
      <p:sp>
        <p:nvSpPr>
          <p:cNvPr id="535" name="Google Shape;535;p9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Data Synchronization</a:t>
            </a:r>
            <a:r>
              <a:rPr lang="en"/>
              <a:t>: Amazon Cognito Sync </a:t>
            </a:r>
            <a:r>
              <a:rPr b="1" lang="en">
                <a:highlight>
                  <a:srgbClr val="FFFF00"/>
                </a:highlight>
              </a:rPr>
              <a:t>would handle the synchronization of the user's data</a:t>
            </a:r>
            <a:r>
              <a:rPr lang="en"/>
              <a:t> - such as workout progress or custom settings - across their devices. This ensures that users have a consistent app experience, whether they're accessing it from their smartphone, tablet, or the web application.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So, instead of managing the complex infrastructure and coding required for these functionalities, Amazon Cognito lets you focus on developing the actual fitness program and user interface of your application.</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S3 Server-Side Encryption (SSE)</a:t>
            </a:r>
            <a:endParaRPr/>
          </a:p>
        </p:txBody>
      </p:sp>
      <p:sp>
        <p:nvSpPr>
          <p:cNvPr id="541" name="Google Shape;541;p93"/>
          <p:cNvSpPr txBox="1"/>
          <p:nvPr>
            <p:ph idx="1" type="body"/>
          </p:nvPr>
        </p:nvSpPr>
        <p:spPr>
          <a:xfrm>
            <a:off x="311700" y="1388050"/>
            <a:ext cx="8520600" cy="3180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a:t>Unique Key per Object</a:t>
            </a:r>
            <a:r>
              <a:rPr lang="en"/>
              <a:t>: Every file (object) stored in S3 is </a:t>
            </a:r>
            <a:r>
              <a:rPr b="1" lang="en">
                <a:highlight>
                  <a:srgbClr val="FFFF00"/>
                </a:highlight>
              </a:rPr>
              <a:t>encrypted with a unique key</a:t>
            </a:r>
            <a:r>
              <a:rPr lang="en"/>
              <a:t>. This means even if one object's key was somehow compromised, it wouldn't affect other objects.</a:t>
            </a:r>
            <a:endParaRPr/>
          </a:p>
          <a:p>
            <a:pPr indent="0" lvl="0" marL="0" rtl="0" algn="l">
              <a:spcBef>
                <a:spcPts val="1200"/>
              </a:spcBef>
              <a:spcAft>
                <a:spcPts val="0"/>
              </a:spcAft>
              <a:buClr>
                <a:schemeClr val="dk1"/>
              </a:buClr>
              <a:buSzPts val="1100"/>
              <a:buFont typeface="Arial"/>
              <a:buNone/>
            </a:pPr>
            <a:r>
              <a:rPr b="1" lang="en"/>
              <a:t>Master Key</a:t>
            </a:r>
            <a:r>
              <a:rPr lang="en"/>
              <a:t>: To add another layer of security, the </a:t>
            </a:r>
            <a:r>
              <a:rPr b="1" lang="en">
                <a:highlight>
                  <a:srgbClr val="FFFF00"/>
                </a:highlight>
              </a:rPr>
              <a:t>unique key used to encrypt the object is itself encrypted with a master key</a:t>
            </a:r>
            <a:r>
              <a:rPr lang="en"/>
              <a:t>. The master key is managed by AWS and is </a:t>
            </a:r>
            <a:r>
              <a:rPr b="1" lang="en">
                <a:highlight>
                  <a:srgbClr val="00FF00"/>
                </a:highlight>
              </a:rPr>
              <a:t>rotated regularly</a:t>
            </a:r>
            <a:r>
              <a:rPr lang="en"/>
              <a:t>.</a:t>
            </a:r>
            <a:endParaRPr/>
          </a:p>
          <a:p>
            <a:pPr indent="0" lvl="0" marL="0" rtl="0" algn="l">
              <a:spcBef>
                <a:spcPts val="1200"/>
              </a:spcBef>
              <a:spcAft>
                <a:spcPts val="1200"/>
              </a:spcAft>
              <a:buNone/>
            </a:pPr>
            <a:r>
              <a:rPr b="1" lang="en"/>
              <a:t>Double-Envelope Encryption</a:t>
            </a:r>
            <a:r>
              <a:rPr lang="en"/>
              <a:t>: This method of using a unique key for the object, which is then encrypted with a master key, is known as </a:t>
            </a:r>
            <a:r>
              <a:rPr b="1" lang="en">
                <a:highlight>
                  <a:srgbClr val="FFFF00"/>
                </a:highlight>
              </a:rPr>
              <a:t>double-envelope encryption</a:t>
            </a:r>
            <a:endParaRPr b="1">
              <a:highlight>
                <a:srgbClr val="FFFF00"/>
              </a:highlight>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9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Accessing Encrypted Objects and Data in Transit</a:t>
            </a:r>
            <a:endParaRPr/>
          </a:p>
        </p:txBody>
      </p:sp>
      <p:sp>
        <p:nvSpPr>
          <p:cNvPr id="547" name="Google Shape;547;p94"/>
          <p:cNvSpPr txBox="1"/>
          <p:nvPr>
            <p:ph idx="1" type="body"/>
          </p:nvPr>
        </p:nvSpPr>
        <p:spPr>
          <a:xfrm>
            <a:off x="311700" y="1388050"/>
            <a:ext cx="8520600" cy="318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Simple Access</a:t>
            </a:r>
            <a:r>
              <a:rPr lang="en"/>
              <a:t>: When you need to access your data, a </a:t>
            </a:r>
            <a:r>
              <a:rPr b="1" lang="en">
                <a:highlight>
                  <a:srgbClr val="FFFF00"/>
                </a:highlight>
              </a:rPr>
              <a:t>simple GET request is all that's needed</a:t>
            </a:r>
            <a:r>
              <a:rPr lang="en"/>
              <a:t>. AWS S3 handles the decryption process for you.</a:t>
            </a:r>
            <a:endParaRPr/>
          </a:p>
          <a:p>
            <a:pPr indent="0" lvl="0" marL="0" rtl="0" algn="l">
              <a:spcBef>
                <a:spcPts val="1200"/>
              </a:spcBef>
              <a:spcAft>
                <a:spcPts val="0"/>
              </a:spcAft>
              <a:buNone/>
            </a:pPr>
            <a:r>
              <a:rPr b="1" lang="en"/>
              <a:t>Decryption</a:t>
            </a:r>
            <a:r>
              <a:rPr lang="en"/>
              <a:t>: S3 decrypts the master key and then uses the decrypted unique key to decrypt the object, making the data available for you.</a:t>
            </a:r>
            <a:endParaRPr/>
          </a:p>
          <a:p>
            <a:pPr indent="0" lvl="0" marL="0" rtl="0" algn="l">
              <a:spcBef>
                <a:spcPts val="1200"/>
              </a:spcBef>
              <a:spcAft>
                <a:spcPts val="1200"/>
              </a:spcAft>
              <a:buNone/>
            </a:pPr>
            <a:r>
              <a:rPr b="1" lang="en"/>
              <a:t>Data in Transit</a:t>
            </a:r>
            <a:r>
              <a:rPr lang="en"/>
              <a:t>: Data in transit is </a:t>
            </a:r>
            <a:r>
              <a:rPr b="1" lang="en">
                <a:highlight>
                  <a:srgbClr val="FFFF00"/>
                </a:highlight>
              </a:rPr>
              <a:t>secured using HTTPS (TLS)</a:t>
            </a:r>
            <a:r>
              <a:rPr lang="en"/>
              <a:t>, which is the same secure method used across the internet for secure communications. This means your data is protected when it's sent over the network to or from Amazon S3.</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9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CloudTrail – Event History</a:t>
            </a:r>
            <a:endParaRPr/>
          </a:p>
        </p:txBody>
      </p:sp>
      <p:sp>
        <p:nvSpPr>
          <p:cNvPr id="553" name="Google Shape;553;p9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a:t>API Activity Recording</a:t>
            </a:r>
            <a:r>
              <a:rPr lang="en"/>
              <a:t>: CloudTrail keeps track of </a:t>
            </a:r>
            <a:r>
              <a:rPr b="1" lang="en">
                <a:highlight>
                  <a:srgbClr val="FFFF00"/>
                </a:highlight>
              </a:rPr>
              <a:t>every API call made in your AWS environment</a:t>
            </a:r>
            <a:r>
              <a:rPr lang="en"/>
              <a:t>. This includes identity of the caller, the time of the call, the source IP address of the caller, the request parameters, and the response elements returned by the AWS service.</a:t>
            </a:r>
            <a:endParaRPr/>
          </a:p>
          <a:p>
            <a:pPr indent="0" lvl="0" marL="0" rtl="0" algn="l">
              <a:spcBef>
                <a:spcPts val="1200"/>
              </a:spcBef>
              <a:spcAft>
                <a:spcPts val="0"/>
              </a:spcAft>
              <a:buClr>
                <a:schemeClr val="dk1"/>
              </a:buClr>
              <a:buSzPts val="1100"/>
              <a:buFont typeface="Arial"/>
              <a:buNone/>
            </a:pPr>
            <a:r>
              <a:rPr b="1" lang="en"/>
              <a:t>Access Insights</a:t>
            </a:r>
            <a:r>
              <a:rPr lang="en"/>
              <a:t>: The event history allows you to view, filter, and download recent AWS account activity. This helps in identifying patterns and spotting unusual activity.</a:t>
            </a:r>
            <a:endParaRPr/>
          </a:p>
          <a:p>
            <a:pPr indent="0" lvl="0" marL="0" rtl="0" algn="l">
              <a:spcBef>
                <a:spcPts val="1200"/>
              </a:spcBef>
              <a:spcAft>
                <a:spcPts val="1200"/>
              </a:spcAft>
              <a:buNone/>
            </a:pPr>
            <a:r>
              <a:rPr b="1" lang="en"/>
              <a:t>Resource Lifecycles</a:t>
            </a:r>
            <a:r>
              <a:rPr lang="en"/>
              <a:t>: CloudTrail records creation, modification, and deletion of AWS resources. It's helpful for </a:t>
            </a:r>
            <a:r>
              <a:rPr b="1" lang="en">
                <a:highlight>
                  <a:srgbClr val="FFFF00"/>
                </a:highlight>
              </a:rPr>
              <a:t>audits, security analysis, and operational troubleshooting</a:t>
            </a:r>
            <a:r>
              <a:rPr lang="en"/>
              <a:t>.</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CloudTrail – Log File Integrity Validation</a:t>
            </a:r>
            <a:endParaRPr/>
          </a:p>
        </p:txBody>
      </p:sp>
      <p:sp>
        <p:nvSpPr>
          <p:cNvPr id="559" name="Google Shape;559;p96"/>
          <p:cNvSpPr txBox="1"/>
          <p:nvPr>
            <p:ph idx="1" type="body"/>
          </p:nvPr>
        </p:nvSpPr>
        <p:spPr>
          <a:xfrm>
            <a:off x="311700" y="1438150"/>
            <a:ext cx="8520600" cy="3130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a:t>Integrity Checking</a:t>
            </a:r>
            <a:r>
              <a:rPr lang="en"/>
              <a:t>: AWS CloudTrail provides a mechanism to </a:t>
            </a:r>
            <a:r>
              <a:rPr b="1" lang="en">
                <a:highlight>
                  <a:srgbClr val="FFFF00"/>
                </a:highlight>
              </a:rPr>
              <a:t>verify the integrity of the log files</a:t>
            </a:r>
            <a:r>
              <a:rPr lang="en"/>
              <a:t>. This ensures the data has not been tampered with, providing a reliable source of information for security audits.</a:t>
            </a:r>
            <a:endParaRPr/>
          </a:p>
          <a:p>
            <a:pPr indent="0" lvl="0" marL="0" rtl="0" algn="l">
              <a:spcBef>
                <a:spcPts val="1200"/>
              </a:spcBef>
              <a:spcAft>
                <a:spcPts val="0"/>
              </a:spcAft>
              <a:buClr>
                <a:schemeClr val="dk1"/>
              </a:buClr>
              <a:buSzPts val="1100"/>
              <a:buFont typeface="Arial"/>
              <a:buNone/>
            </a:pPr>
            <a:r>
              <a:rPr b="1" lang="en"/>
              <a:t>Log File Encryption</a:t>
            </a:r>
            <a:r>
              <a:rPr lang="en"/>
              <a:t>: All CloudTrail log files stored in your S3 bucket are encrypted by Amazon S3 server-side encryption (SSE) for protection in transit and at rest.</a:t>
            </a:r>
            <a:endParaRPr/>
          </a:p>
          <a:p>
            <a:pPr indent="0" lvl="0" marL="0" rtl="0" algn="l">
              <a:spcBef>
                <a:spcPts val="1200"/>
              </a:spcBef>
              <a:spcAft>
                <a:spcPts val="1200"/>
              </a:spcAft>
              <a:buNone/>
            </a:pPr>
            <a:r>
              <a:rPr b="1" lang="en"/>
              <a:t>Digest Files</a:t>
            </a:r>
            <a:r>
              <a:rPr lang="en"/>
              <a:t>: For every log file written to your S3 bucket, CloudTrail writes a </a:t>
            </a:r>
            <a:r>
              <a:rPr b="1" lang="en">
                <a:highlight>
                  <a:srgbClr val="FFFF00"/>
                </a:highlight>
              </a:rPr>
              <a:t>corresponding digest file to a different S3 bucket</a:t>
            </a:r>
            <a:r>
              <a:rPr lang="en"/>
              <a:t>. These digest files can be used to demonstrate log file integrity, ensuring that the data has not been modified, deleted, or lost since CloudTrail delivered it.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9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 pretty charts or graphs</a:t>
            </a:r>
            <a:endParaRPr/>
          </a:p>
        </p:txBody>
      </p:sp>
      <p:sp>
        <p:nvSpPr>
          <p:cNvPr id="565" name="Google Shape;565;p9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AWS CloudTrail</a:t>
            </a:r>
            <a:r>
              <a:rPr lang="en"/>
              <a:t> itself does not provide a graphical user interface (GUI) with charts and graphs for visualizing log data. Its </a:t>
            </a:r>
            <a:r>
              <a:rPr b="1" lang="en">
                <a:highlight>
                  <a:srgbClr val="FFFF00"/>
                </a:highlight>
              </a:rPr>
              <a:t>main function is to record API calls and deliver log files for your AWS account activity.</a:t>
            </a:r>
            <a:endParaRPr b="1">
              <a:highlight>
                <a:srgbClr val="FFFF00"/>
              </a:highlight>
            </a:endParaRPr>
          </a:p>
          <a:p>
            <a:pPr indent="0" lvl="0" marL="0" rtl="0" algn="l">
              <a:spcBef>
                <a:spcPts val="1200"/>
              </a:spcBef>
              <a:spcAft>
                <a:spcPts val="0"/>
              </a:spcAft>
              <a:buClr>
                <a:schemeClr val="dk1"/>
              </a:buClr>
              <a:buSzPts val="1100"/>
              <a:buFont typeface="Arial"/>
              <a:buNone/>
            </a:pPr>
            <a:r>
              <a:rPr lang="en"/>
              <a:t>However, CloudTrail logs can be integrated with other AWS services that do provide visualization tools:</a:t>
            </a:r>
            <a:endParaRPr/>
          </a:p>
          <a:p>
            <a:pPr indent="0" lvl="0" marL="0" rtl="0" algn="l">
              <a:spcBef>
                <a:spcPts val="1200"/>
              </a:spcBef>
              <a:spcAft>
                <a:spcPts val="1200"/>
              </a:spcAft>
              <a:buNone/>
            </a:pPr>
            <a:r>
              <a:rPr b="1" lang="en"/>
              <a:t>Amazon CloudWatch</a:t>
            </a:r>
            <a:r>
              <a:rPr lang="en"/>
              <a:t>: This service can be used to aggregate, monitor, and visualize CloudTrail logs. You can create CloudWatch dashboards that include various widgets, like graphs and charts, to display CloudTrail log data.</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9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 pretty charts or graphs</a:t>
            </a:r>
            <a:endParaRPr/>
          </a:p>
        </p:txBody>
      </p:sp>
      <p:sp>
        <p:nvSpPr>
          <p:cNvPr id="571" name="Google Shape;571;p9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AWS Management Console</a:t>
            </a:r>
            <a:r>
              <a:rPr lang="en"/>
              <a:t>: While not specifically a visualization tool, the Management Console does allow you to view, search, and download recent events in your CloudTrail event history.</a:t>
            </a:r>
            <a:endParaRPr/>
          </a:p>
          <a:p>
            <a:pPr indent="0" lvl="0" marL="0" rtl="0" algn="l">
              <a:spcBef>
                <a:spcPts val="1200"/>
              </a:spcBef>
              <a:spcAft>
                <a:spcPts val="0"/>
              </a:spcAft>
              <a:buNone/>
            </a:pPr>
            <a:r>
              <a:rPr b="1" lang="en"/>
              <a:t>Amazon QuickSight</a:t>
            </a:r>
            <a:r>
              <a:rPr lang="en"/>
              <a:t>: This is a business intelligence tool from AWS that can be used to visualize data from various sources, including CloudTrail logs. It allows you to create and publish interactive dashboards that include Machine Learning insights.</a:t>
            </a:r>
            <a:endParaRPr/>
          </a:p>
          <a:p>
            <a:pPr indent="0" lvl="0" marL="0" rtl="0" algn="l">
              <a:spcBef>
                <a:spcPts val="1200"/>
              </a:spcBef>
              <a:spcAft>
                <a:spcPts val="1200"/>
              </a:spcAft>
              <a:buNone/>
            </a:pPr>
            <a:r>
              <a:rPr b="1" lang="en"/>
              <a:t>Third-Party Tools</a:t>
            </a:r>
            <a:r>
              <a:rPr lang="en"/>
              <a:t>: There are also many third-party log analysis and visualization tools (like </a:t>
            </a:r>
            <a:r>
              <a:rPr b="1" lang="en">
                <a:highlight>
                  <a:srgbClr val="FFFF00"/>
                </a:highlight>
              </a:rPr>
              <a:t>Loggly, Splunk</a:t>
            </a:r>
            <a:r>
              <a:rPr lang="en"/>
              <a:t>, etc.) that can ingest and visualize CloudTrail logs.</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9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a:t>
            </a:r>
            <a:r>
              <a:rPr lang="en"/>
              <a:t>mazon CloudWatch</a:t>
            </a:r>
            <a:endParaRPr/>
          </a:p>
        </p:txBody>
      </p:sp>
      <p:sp>
        <p:nvSpPr>
          <p:cNvPr id="577" name="Google Shape;577;p9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Monitoring Service</a:t>
            </a:r>
            <a:r>
              <a:rPr lang="en"/>
              <a:t>: Amazon CloudWatch is a monitoring and observability service that </a:t>
            </a:r>
            <a:r>
              <a:rPr b="1" lang="en">
                <a:highlight>
                  <a:srgbClr val="FFFF00"/>
                </a:highlight>
              </a:rPr>
              <a:t>provides data and actionable insights</a:t>
            </a:r>
            <a:r>
              <a:rPr lang="en"/>
              <a:t> for AWS, hybrid, and on-premises applications and infrastructure.</a:t>
            </a:r>
            <a:endParaRPr/>
          </a:p>
          <a:p>
            <a:pPr indent="0" lvl="0" marL="0" rtl="0" algn="l">
              <a:spcBef>
                <a:spcPts val="1200"/>
              </a:spcBef>
              <a:spcAft>
                <a:spcPts val="0"/>
              </a:spcAft>
              <a:buClr>
                <a:schemeClr val="dk1"/>
              </a:buClr>
              <a:buSzPts val="1100"/>
              <a:buFont typeface="Arial"/>
              <a:buNone/>
            </a:pPr>
            <a:r>
              <a:rPr b="1" lang="en"/>
              <a:t>Data Collection</a:t>
            </a:r>
            <a:r>
              <a:rPr lang="en"/>
              <a:t>: It collects raw data from AWS resources such as EC2 instances, DynamoDB tables, and RDS DB instances in real-time.</a:t>
            </a:r>
            <a:endParaRPr/>
          </a:p>
          <a:p>
            <a:pPr indent="0" lvl="0" marL="0" rtl="0" algn="l">
              <a:spcBef>
                <a:spcPts val="1200"/>
              </a:spcBef>
              <a:spcAft>
                <a:spcPts val="1200"/>
              </a:spcAft>
              <a:buNone/>
            </a:pPr>
            <a:r>
              <a:rPr b="1" lang="en"/>
              <a:t>Alerts and Alarms</a:t>
            </a:r>
            <a:r>
              <a:rPr lang="en"/>
              <a:t>: With CloudWatch, you can </a:t>
            </a:r>
            <a:r>
              <a:rPr b="1" lang="en">
                <a:highlight>
                  <a:srgbClr val="FFFF00"/>
                </a:highlight>
              </a:rPr>
              <a:t>create alarms and notifications for specific triggers</a:t>
            </a:r>
            <a:r>
              <a:rPr lang="en"/>
              <a:t>, letting you proactively respond to any changes in your AWS environment.</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10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Advanced Features of Amazon CloudWatch</a:t>
            </a:r>
            <a:endParaRPr/>
          </a:p>
        </p:txBody>
      </p:sp>
      <p:sp>
        <p:nvSpPr>
          <p:cNvPr id="583" name="Google Shape;583;p100"/>
          <p:cNvSpPr txBox="1"/>
          <p:nvPr>
            <p:ph idx="1" type="body"/>
          </p:nvPr>
        </p:nvSpPr>
        <p:spPr>
          <a:xfrm>
            <a:off x="311700" y="1316500"/>
            <a:ext cx="8520600" cy="325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Logs and Metrics</a:t>
            </a:r>
            <a:r>
              <a:rPr lang="en"/>
              <a:t>: It enables deep, searchable, and actionable insights from logs and metrics using automated machine learning algorithms.</a:t>
            </a:r>
            <a:endParaRPr/>
          </a:p>
          <a:p>
            <a:pPr indent="0" lvl="0" marL="0" rtl="0" algn="l">
              <a:spcBef>
                <a:spcPts val="1200"/>
              </a:spcBef>
              <a:spcAft>
                <a:spcPts val="0"/>
              </a:spcAft>
              <a:buNone/>
            </a:pPr>
            <a:r>
              <a:rPr b="1" lang="en"/>
              <a:t>Dashboards</a:t>
            </a:r>
            <a:r>
              <a:rPr lang="en"/>
              <a:t>: CloudWatch provides unified, customizable dashboards to manage and troubleshoot applications and infrastructure.</a:t>
            </a:r>
            <a:endParaRPr/>
          </a:p>
          <a:p>
            <a:pPr indent="0" lvl="0" marL="0" rtl="0" algn="l">
              <a:spcBef>
                <a:spcPts val="1200"/>
              </a:spcBef>
              <a:spcAft>
                <a:spcPts val="1200"/>
              </a:spcAft>
              <a:buNone/>
            </a:pPr>
            <a:r>
              <a:rPr b="1" lang="en"/>
              <a:t>Event Driven Automation</a:t>
            </a:r>
            <a:r>
              <a:rPr lang="en"/>
              <a:t>: It can respond to system-wide performance changes and </a:t>
            </a:r>
            <a:r>
              <a:rPr b="1" lang="en">
                <a:highlight>
                  <a:srgbClr val="FFFF00"/>
                </a:highlight>
              </a:rPr>
              <a:t>automate operational tasks by triggering AWS Lambda functions based on pre-set rules or schedules.</a:t>
            </a:r>
            <a:endParaRPr b="1">
              <a:highlight>
                <a:srgbClr val="FFFF00"/>
              </a:highlight>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 function in CloudWatch</a:t>
            </a:r>
            <a:endParaRPr/>
          </a:p>
        </p:txBody>
      </p:sp>
      <p:sp>
        <p:nvSpPr>
          <p:cNvPr id="589" name="Google Shape;589;p10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Auto-Scaling</a:t>
            </a:r>
            <a:r>
              <a:rPr lang="en"/>
              <a:t>: You could use a Lambda function to automatically adjust the number of EC2 instances in your application based on the load. For instance, if a CloudWatch alarm is </a:t>
            </a:r>
            <a:r>
              <a:rPr b="1" lang="en">
                <a:highlight>
                  <a:srgbClr val="FFFF00"/>
                </a:highlight>
              </a:rPr>
              <a:t>triggered due to high CPU utilization</a:t>
            </a:r>
            <a:r>
              <a:rPr lang="en"/>
              <a:t> across your EC2 instances, a Lambda function could be invoked to </a:t>
            </a:r>
            <a:r>
              <a:rPr b="1" lang="en">
                <a:highlight>
                  <a:srgbClr val="FFFF00"/>
                </a:highlight>
              </a:rPr>
              <a:t>increase the number of instances and distribute the load.</a:t>
            </a:r>
            <a:endParaRPr b="1">
              <a:highlight>
                <a:srgbClr val="FFFF00"/>
              </a:highlight>
            </a:endParaRPr>
          </a:p>
          <a:p>
            <a:pPr indent="0" lvl="0" marL="0" rtl="0" algn="l">
              <a:spcBef>
                <a:spcPts val="1200"/>
              </a:spcBef>
              <a:spcAft>
                <a:spcPts val="1200"/>
              </a:spcAft>
              <a:buNone/>
            </a:pPr>
            <a:r>
              <a:rPr b="1" lang="en"/>
              <a:t>Automated Backups</a:t>
            </a:r>
            <a:r>
              <a:rPr lang="en"/>
              <a:t>: Lambda functions can be used to create </a:t>
            </a:r>
            <a:r>
              <a:rPr b="1" lang="en">
                <a:highlight>
                  <a:srgbClr val="FFFF00"/>
                </a:highlight>
              </a:rPr>
              <a:t>automated backups of your databases</a:t>
            </a:r>
            <a:r>
              <a:rPr lang="en"/>
              <a:t> in response to a CloudWatch event. For example, you can schedule a CloudWatch event to trigger a Lambda function that creates a snapshot of your Amazon RDS databases every night.</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10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 function in CloudWatch</a:t>
            </a:r>
            <a:endParaRPr/>
          </a:p>
        </p:txBody>
      </p:sp>
      <p:sp>
        <p:nvSpPr>
          <p:cNvPr id="595" name="Google Shape;595;p10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Error Notifications</a:t>
            </a:r>
            <a:r>
              <a:rPr lang="en"/>
              <a:t>: If your application</a:t>
            </a:r>
            <a:r>
              <a:rPr lang="en">
                <a:highlight>
                  <a:srgbClr val="FFFF00"/>
                </a:highlight>
              </a:rPr>
              <a:t> </a:t>
            </a:r>
            <a:r>
              <a:rPr b="1" lang="en">
                <a:highlight>
                  <a:srgbClr val="FFFF00"/>
                </a:highlight>
              </a:rPr>
              <a:t>throws an error</a:t>
            </a:r>
            <a:r>
              <a:rPr lang="en">
                <a:highlight>
                  <a:srgbClr val="FFFF00"/>
                </a:highlight>
              </a:rPr>
              <a:t> </a:t>
            </a:r>
            <a:r>
              <a:rPr lang="en"/>
              <a:t>and that error is logged to CloudWatch, you could have a Lambda function that is triggered on the appearance of that error in the log. This </a:t>
            </a:r>
            <a:r>
              <a:rPr b="1" lang="en">
                <a:highlight>
                  <a:srgbClr val="FFFF00"/>
                </a:highlight>
              </a:rPr>
              <a:t>function could then send a notification to your development team</a:t>
            </a:r>
            <a:r>
              <a:rPr lang="en"/>
              <a:t> or even create a ticket in your incident management system.</a:t>
            </a:r>
            <a:endParaRPr/>
          </a:p>
          <a:p>
            <a:pPr indent="0" lvl="0" marL="0" rtl="0" algn="l">
              <a:spcBef>
                <a:spcPts val="1200"/>
              </a:spcBef>
              <a:spcAft>
                <a:spcPts val="1200"/>
              </a:spcAft>
              <a:buNone/>
            </a:pPr>
            <a:r>
              <a:rPr b="1" lang="en"/>
              <a:t>Resource Cleanup</a:t>
            </a:r>
            <a:r>
              <a:rPr lang="en"/>
              <a:t>: If you have EC2 instances or other resources that are </a:t>
            </a:r>
            <a:r>
              <a:rPr b="1" lang="en">
                <a:highlight>
                  <a:srgbClr val="FFFF00"/>
                </a:highlight>
              </a:rPr>
              <a:t>underutilized</a:t>
            </a:r>
            <a:r>
              <a:rPr lang="en"/>
              <a:t>, you can set CloudWatch alarms for low usage. When these alarms are triggered, a Lambda function can be invoked to </a:t>
            </a:r>
            <a:r>
              <a:rPr b="1" lang="en">
                <a:highlight>
                  <a:srgbClr val="FFFF00"/>
                </a:highlight>
              </a:rPr>
              <a:t>stop or terminate </a:t>
            </a:r>
            <a:r>
              <a:rPr lang="en"/>
              <a:t>these instances, helping you save costs.</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0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Even more Detective Controls</a:t>
            </a:r>
            <a:endParaRPr/>
          </a:p>
        </p:txBody>
      </p:sp>
      <p:sp>
        <p:nvSpPr>
          <p:cNvPr id="601" name="Google Shape;601;p10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your lab 4 there is also: GuardDuty, Trusted Advisor, VPC Flow Logs, Security Hub.</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10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 of AWS Config</a:t>
            </a:r>
            <a:endParaRPr/>
          </a:p>
        </p:txBody>
      </p:sp>
      <p:sp>
        <p:nvSpPr>
          <p:cNvPr id="607" name="Google Shape;607;p10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Assessment and Audit Tool</a:t>
            </a:r>
            <a:r>
              <a:rPr lang="en"/>
              <a:t>: AWS Config enables assessment, audit, and evaluation of AWS resource configurations.</a:t>
            </a:r>
            <a:endParaRPr/>
          </a:p>
          <a:p>
            <a:pPr indent="0" lvl="0" marL="0" rtl="0" algn="l">
              <a:spcBef>
                <a:spcPts val="1200"/>
              </a:spcBef>
              <a:spcAft>
                <a:spcPts val="0"/>
              </a:spcAft>
              <a:buClr>
                <a:schemeClr val="dk1"/>
              </a:buClr>
              <a:buSzPts val="1100"/>
              <a:buFont typeface="Arial"/>
              <a:buNone/>
            </a:pPr>
            <a:r>
              <a:rPr b="1" lang="en"/>
              <a:t>Continuous Monitoring</a:t>
            </a:r>
            <a:r>
              <a:rPr lang="en"/>
              <a:t>: It continuously monitors and records AWS resource configurations, and allows automated evaluation of these configurations.</a:t>
            </a:r>
            <a:endParaRPr/>
          </a:p>
          <a:p>
            <a:pPr indent="0" lvl="0" marL="0" rtl="0" algn="l">
              <a:spcBef>
                <a:spcPts val="1200"/>
              </a:spcBef>
              <a:spcAft>
                <a:spcPts val="1200"/>
              </a:spcAft>
              <a:buNone/>
            </a:pPr>
            <a:r>
              <a:rPr b="1" lang="en"/>
              <a:t>Configuration and Compliance Review</a:t>
            </a:r>
            <a:r>
              <a:rPr lang="en"/>
              <a:t>: AWS Config lets you review changes, understand detailed resource configuration histories, and evaluate compliance against internal guidelines.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0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Features of AWS Config</a:t>
            </a:r>
            <a:endParaRPr/>
          </a:p>
        </p:txBody>
      </p:sp>
      <p:sp>
        <p:nvSpPr>
          <p:cNvPr id="613" name="Google Shape;613;p10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Resource Inventory</a:t>
            </a:r>
            <a:r>
              <a:rPr lang="en"/>
              <a:t>: AWS Config discovers and records the current configurations of resources within your account and </a:t>
            </a:r>
            <a:r>
              <a:rPr b="1" lang="en">
                <a:highlight>
                  <a:srgbClr val="FFFF00"/>
                </a:highlight>
              </a:rPr>
              <a:t>tracks changes to these configurations</a:t>
            </a:r>
            <a:r>
              <a:rPr lang="en"/>
              <a:t>.</a:t>
            </a:r>
            <a:endParaRPr/>
          </a:p>
          <a:p>
            <a:pPr indent="0" lvl="0" marL="0" rtl="0" algn="l">
              <a:spcBef>
                <a:spcPts val="1200"/>
              </a:spcBef>
              <a:spcAft>
                <a:spcPts val="0"/>
              </a:spcAft>
              <a:buClr>
                <a:schemeClr val="dk1"/>
              </a:buClr>
              <a:buSzPts val="1100"/>
              <a:buFont typeface="Arial"/>
              <a:buNone/>
            </a:pPr>
            <a:r>
              <a:rPr b="1" lang="en"/>
              <a:t>Change Management</a:t>
            </a:r>
            <a:r>
              <a:rPr lang="en"/>
              <a:t>: AWS Config streams real-time change events to Amazon CloudWatch Events. This data can be used to update CMDBs, ITSM tools, SIEM tools, or </a:t>
            </a:r>
            <a:r>
              <a:rPr b="1" lang="en">
                <a:highlight>
                  <a:srgbClr val="FFFF00"/>
                </a:highlight>
              </a:rPr>
              <a:t>initiate action through AWS Step Functions or AWS Lambda</a:t>
            </a:r>
            <a:r>
              <a:rPr lang="en"/>
              <a:t>.</a:t>
            </a:r>
            <a:endParaRPr/>
          </a:p>
          <a:p>
            <a:pPr indent="0" lvl="0" marL="0" rtl="0" algn="l">
              <a:spcBef>
                <a:spcPts val="1200"/>
              </a:spcBef>
              <a:spcAft>
                <a:spcPts val="1200"/>
              </a:spcAft>
              <a:buNone/>
            </a:pPr>
            <a:r>
              <a:rPr b="1" lang="en"/>
              <a:t>Compliance Tracking</a:t>
            </a:r>
            <a:r>
              <a:rPr lang="en"/>
              <a:t>: AWS Config provides a detailed view of AWS resource configuration, how resources relate to each other, and their past configurations, aiding in tracking compliance over time.</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Config example</a:t>
            </a:r>
            <a:endParaRPr/>
          </a:p>
        </p:txBody>
      </p:sp>
      <p:sp>
        <p:nvSpPr>
          <p:cNvPr id="619" name="Google Shape;619;p10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a:t>Monitoring Security Groups</a:t>
            </a:r>
            <a:r>
              <a:rPr lang="en"/>
              <a:t>: AWS Config allows for continuous monitoring of changes made to your security groups, which serve as virtual firewalls for your EC2 instances.</a:t>
            </a:r>
            <a:endParaRPr/>
          </a:p>
          <a:p>
            <a:pPr indent="0" lvl="0" marL="0" rtl="0" algn="l">
              <a:spcBef>
                <a:spcPts val="1200"/>
              </a:spcBef>
              <a:spcAft>
                <a:spcPts val="0"/>
              </a:spcAft>
              <a:buClr>
                <a:schemeClr val="dk1"/>
              </a:buClr>
              <a:buSzPts val="1100"/>
              <a:buFont typeface="Arial"/>
              <a:buNone/>
            </a:pPr>
            <a:r>
              <a:rPr b="1" lang="en"/>
              <a:t>Change Detection and Recording</a:t>
            </a:r>
            <a:r>
              <a:rPr lang="en"/>
              <a:t>: If a change is detected, AWS Config records the detailed information of the change, including the</a:t>
            </a:r>
            <a:r>
              <a:rPr b="1" lang="en">
                <a:highlight>
                  <a:srgbClr val="FFFF00"/>
                </a:highlight>
              </a:rPr>
              <a:t> identity of the individual who made the change, the time of the change, and the specific alterations made</a:t>
            </a:r>
            <a:r>
              <a:rPr lang="en"/>
              <a:t>.</a:t>
            </a:r>
            <a:endParaRPr/>
          </a:p>
          <a:p>
            <a:pPr indent="0" lvl="0" marL="0" rtl="0" algn="l">
              <a:spcBef>
                <a:spcPts val="1200"/>
              </a:spcBef>
              <a:spcAft>
                <a:spcPts val="1200"/>
              </a:spcAft>
              <a:buNone/>
            </a:pPr>
            <a:r>
              <a:rPr b="1" lang="en"/>
              <a:t>Importance for Security and Compliance</a:t>
            </a:r>
            <a:r>
              <a:rPr lang="en"/>
              <a:t>: This capability is crucial for maintaining security, enabling compliance auditing, and providing valuable information for troubleshooting purposes.</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10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Private Cloud (VPC)</a:t>
            </a:r>
            <a:endParaRPr/>
          </a:p>
        </p:txBody>
      </p:sp>
      <p:sp>
        <p:nvSpPr>
          <p:cNvPr id="625" name="Google Shape;625;p10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VPC is a customizable, isolated virtual network in the AWS Cloud consisting of: </a:t>
            </a:r>
            <a:endParaRPr/>
          </a:p>
          <a:p>
            <a:pPr indent="0" lvl="0" marL="0" rtl="0" algn="l">
              <a:spcBef>
                <a:spcPts val="1200"/>
              </a:spcBef>
              <a:spcAft>
                <a:spcPts val="0"/>
              </a:spcAft>
              <a:buClr>
                <a:schemeClr val="dk1"/>
              </a:buClr>
              <a:buSzPct val="61111"/>
              <a:buFont typeface="Arial"/>
              <a:buNone/>
            </a:pPr>
            <a:r>
              <a:rPr b="1" lang="en"/>
              <a:t>Subnets</a:t>
            </a:r>
            <a:r>
              <a:rPr lang="en"/>
              <a:t>: A subnet is a </a:t>
            </a:r>
            <a:r>
              <a:rPr b="1" lang="en">
                <a:highlight>
                  <a:srgbClr val="FFFF00"/>
                </a:highlight>
              </a:rPr>
              <a:t>range of IP addresses</a:t>
            </a:r>
            <a:r>
              <a:rPr lang="en"/>
              <a:t> in your VPC. You can launch AWS resources into a subnet that you select. You can have </a:t>
            </a:r>
            <a:r>
              <a:rPr b="1" lang="en">
                <a:highlight>
                  <a:srgbClr val="FFFF00"/>
                </a:highlight>
              </a:rPr>
              <a:t>public subnets</a:t>
            </a:r>
            <a:r>
              <a:rPr lang="en"/>
              <a:t> (which have route to the internet) and </a:t>
            </a:r>
            <a:r>
              <a:rPr b="1" lang="en">
                <a:highlight>
                  <a:srgbClr val="FFFF00"/>
                </a:highlight>
              </a:rPr>
              <a:t>private subnets</a:t>
            </a:r>
            <a:r>
              <a:rPr lang="en"/>
              <a:t> (which do not have route to the internet).</a:t>
            </a:r>
            <a:endParaRPr/>
          </a:p>
          <a:p>
            <a:pPr indent="0" lvl="0" marL="0" rtl="0" algn="l">
              <a:spcBef>
                <a:spcPts val="1200"/>
              </a:spcBef>
              <a:spcAft>
                <a:spcPts val="0"/>
              </a:spcAft>
              <a:buClr>
                <a:schemeClr val="dk1"/>
              </a:buClr>
              <a:buSzPct val="61111"/>
              <a:buFont typeface="Arial"/>
              <a:buNone/>
            </a:pPr>
            <a:r>
              <a:rPr b="1" lang="en"/>
              <a:t>Route tables</a:t>
            </a:r>
            <a:r>
              <a:rPr lang="en"/>
              <a:t>: A route table contains a set of rules, called routes, that are used to determine where network traffic is directed. Each subnet in your VPC must be associated with a route table; the table controls the traffic for the subnet.</a:t>
            </a:r>
            <a:endParaRPr/>
          </a:p>
          <a:p>
            <a:pPr indent="0" lvl="0" marL="0" rtl="0" algn="l">
              <a:spcBef>
                <a:spcPts val="1200"/>
              </a:spcBef>
              <a:spcAft>
                <a:spcPts val="1200"/>
              </a:spcAft>
              <a:buNone/>
            </a:pPr>
            <a:r>
              <a:rPr b="1" lang="en"/>
              <a:t>Internet Gateways</a:t>
            </a:r>
            <a:r>
              <a:rPr lang="en"/>
              <a:t>: An internet gateway is a horizontally scalable, redundant, and highly available VPC component that allows communication between instances in your VPC and the internet.</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0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Private Cloud (VPC)</a:t>
            </a:r>
            <a:endParaRPr/>
          </a:p>
        </p:txBody>
      </p:sp>
      <p:sp>
        <p:nvSpPr>
          <p:cNvPr id="631" name="Google Shape;631;p10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Network Access Control Lists (NACLs)</a:t>
            </a:r>
            <a:r>
              <a:rPr lang="en"/>
              <a:t>: A </a:t>
            </a:r>
            <a:r>
              <a:rPr b="1" lang="en">
                <a:highlight>
                  <a:srgbClr val="FFFF00"/>
                </a:highlight>
              </a:rPr>
              <a:t>stateless</a:t>
            </a:r>
            <a:r>
              <a:rPr lang="en"/>
              <a:t> network access control list (ACL) is an optional layer of security for your VPC that acts as a firewall for controlling traffic in and out of one or more subnets.</a:t>
            </a:r>
            <a:endParaRPr/>
          </a:p>
          <a:p>
            <a:pPr indent="0" lvl="0" marL="0" rtl="0" algn="l">
              <a:spcBef>
                <a:spcPts val="1200"/>
              </a:spcBef>
              <a:spcAft>
                <a:spcPts val="1200"/>
              </a:spcAft>
              <a:buNone/>
            </a:pPr>
            <a:r>
              <a:rPr b="1" lang="en"/>
              <a:t>Security Groups</a:t>
            </a:r>
            <a:r>
              <a:rPr lang="en"/>
              <a:t>: A </a:t>
            </a:r>
            <a:r>
              <a:rPr b="1" lang="en">
                <a:highlight>
                  <a:srgbClr val="FFFF00"/>
                </a:highlight>
              </a:rPr>
              <a:t>stateful </a:t>
            </a:r>
            <a:r>
              <a:rPr lang="en"/>
              <a:t>security group acts as a virtual firewall for your instance to control inbound and outbound traffic.</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0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Stateful vs Stateless Rules</a:t>
            </a:r>
            <a:endParaRPr/>
          </a:p>
        </p:txBody>
      </p:sp>
      <p:sp>
        <p:nvSpPr>
          <p:cNvPr id="637" name="Google Shape;637;p10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1111"/>
              <a:buFont typeface="Arial"/>
              <a:buNone/>
            </a:pPr>
            <a:r>
              <a:rPr b="1" lang="en"/>
              <a:t>Stateful Rule Example (AWS Security Groups)</a:t>
            </a:r>
            <a:r>
              <a:rPr lang="en"/>
              <a:t>: When you browse a website, your computer (</a:t>
            </a:r>
            <a:r>
              <a:rPr b="1" lang="en">
                <a:highlight>
                  <a:srgbClr val="FFFF00"/>
                </a:highlight>
              </a:rPr>
              <a:t>let's say at port 4444</a:t>
            </a:r>
            <a:r>
              <a:rPr lang="en"/>
              <a:t>) makes an outbound request to the web server (port 80). The stateful firewall rule </a:t>
            </a:r>
            <a:r>
              <a:rPr b="1" lang="en">
                <a:highlight>
                  <a:srgbClr val="FFFF00"/>
                </a:highlight>
              </a:rPr>
              <a:t>remembers this connection</a:t>
            </a:r>
            <a:r>
              <a:rPr lang="en"/>
              <a:t>. When the web server (port 80) sends the requested data </a:t>
            </a:r>
            <a:r>
              <a:rPr b="1" lang="en">
                <a:highlight>
                  <a:srgbClr val="FFFF00"/>
                </a:highlight>
              </a:rPr>
              <a:t>back to your computer (port 4444), the firewall knows that this is a response to an earlier request and allows it in</a:t>
            </a:r>
            <a:r>
              <a:rPr lang="en"/>
              <a:t>.</a:t>
            </a:r>
            <a:endParaRPr/>
          </a:p>
          <a:p>
            <a:pPr indent="0" lvl="0" marL="0" rtl="0" algn="l">
              <a:spcBef>
                <a:spcPts val="1200"/>
              </a:spcBef>
              <a:spcAft>
                <a:spcPts val="0"/>
              </a:spcAft>
              <a:buClr>
                <a:schemeClr val="dk1"/>
              </a:buClr>
              <a:buSzPct val="61111"/>
              <a:buFont typeface="Arial"/>
              <a:buNone/>
            </a:pPr>
            <a:r>
              <a:rPr b="1" lang="en"/>
              <a:t>Stateless Rule Example (AWS NACLs)</a:t>
            </a:r>
            <a:r>
              <a:rPr lang="en"/>
              <a:t>: Using the same web browsing scenario, the stateless firewall sees the outbound request </a:t>
            </a:r>
            <a:r>
              <a:rPr b="1" lang="en">
                <a:highlight>
                  <a:srgbClr val="FFFF00"/>
                </a:highlight>
              </a:rPr>
              <a:t>from your computer (port 4444)</a:t>
            </a:r>
            <a:r>
              <a:rPr lang="en"/>
              <a:t> to the web server (port 80) and allows it. However, when the web server (port 80) tries to </a:t>
            </a:r>
            <a:r>
              <a:rPr b="1" lang="en">
                <a:highlight>
                  <a:srgbClr val="FFFF00"/>
                </a:highlight>
              </a:rPr>
              <a:t>send data back to your computer (port 4444), the firewall doesn't remember the previous request</a:t>
            </a:r>
            <a:r>
              <a:rPr lang="en"/>
              <a:t>. Unless there's an explicit rule to allow inbound traffic from port 80 to port 4444, the firewall will </a:t>
            </a:r>
            <a:r>
              <a:rPr b="1" lang="en">
                <a:highlight>
                  <a:srgbClr val="FFFF00"/>
                </a:highlight>
              </a:rPr>
              <a:t>drop the packet</a:t>
            </a:r>
            <a:r>
              <a:rPr lang="en"/>
              <a:t>.</a:t>
            </a:r>
            <a:endParaRPr/>
          </a:p>
          <a:p>
            <a:pPr indent="0" lvl="0" marL="0" rtl="0" algn="l">
              <a:spcBef>
                <a:spcPts val="1200"/>
              </a:spcBef>
              <a:spcAft>
                <a:spcPts val="1200"/>
              </a:spcAft>
              <a:buNone/>
            </a:pPr>
            <a:r>
              <a:rPr b="1" lang="en"/>
              <a:t>Key Takeaway</a:t>
            </a:r>
            <a:r>
              <a:rPr lang="en"/>
              <a:t>: In a stateful rule (like AWS Security Groups), return traffic from </a:t>
            </a:r>
            <a:r>
              <a:rPr b="1" lang="en">
                <a:highlight>
                  <a:srgbClr val="FFFF00"/>
                </a:highlight>
              </a:rPr>
              <a:t>established connections</a:t>
            </a:r>
            <a:r>
              <a:rPr lang="en"/>
              <a:t> is automatically allowed. In a stateless rule (like AWS NACLs), return traffic must be </a:t>
            </a:r>
            <a:r>
              <a:rPr b="1" lang="en">
                <a:highlight>
                  <a:srgbClr val="FFFF00"/>
                </a:highlight>
              </a:rPr>
              <a:t>explicitly allowed by the rules</a:t>
            </a:r>
            <a:r>
              <a:rPr lang="en"/>
              <a:t>. This affects how you design your security strategy in AWS.</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1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Automation and Inventory</a:t>
            </a:r>
            <a:endParaRPr/>
          </a:p>
        </p:txBody>
      </p:sp>
      <p:sp>
        <p:nvSpPr>
          <p:cNvPr id="643" name="Google Shape;643;p11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en" sz="3563">
                <a:highlight>
                  <a:srgbClr val="EA9999"/>
                </a:highlight>
              </a:rPr>
              <a:t>Review Slide of everything covered so far</a:t>
            </a:r>
            <a:endParaRPr b="1" sz="3563">
              <a:highlight>
                <a:srgbClr val="EA9999"/>
              </a:highlight>
            </a:endParaRPr>
          </a:p>
          <a:p>
            <a:pPr indent="0" lvl="0" marL="0" rtl="0" algn="l">
              <a:spcBef>
                <a:spcPts val="1200"/>
              </a:spcBef>
              <a:spcAft>
                <a:spcPts val="0"/>
              </a:spcAft>
              <a:buClr>
                <a:schemeClr val="dk1"/>
              </a:buClr>
              <a:buSzPct val="31250"/>
              <a:buFont typeface="Arial"/>
              <a:buNone/>
            </a:pPr>
            <a:r>
              <a:rPr b="1" lang="en"/>
              <a:t>Automation</a:t>
            </a:r>
            <a:r>
              <a:rPr lang="en"/>
              <a:t>: AWS provides tools and services to safely automate common and repetitive IT operations and management tasks across AWS resources. This ensures </a:t>
            </a:r>
            <a:r>
              <a:rPr b="1" lang="en">
                <a:highlight>
                  <a:srgbClr val="FFFF00"/>
                </a:highlight>
              </a:rPr>
              <a:t>efficient management</a:t>
            </a:r>
            <a:r>
              <a:rPr lang="en"/>
              <a:t> and </a:t>
            </a:r>
            <a:r>
              <a:rPr b="1" lang="en" sz="3520">
                <a:highlight>
                  <a:srgbClr val="FFFF00"/>
                </a:highlight>
              </a:rPr>
              <a:t>reduces the chances of errors.</a:t>
            </a:r>
            <a:endParaRPr b="1" sz="3520">
              <a:highlight>
                <a:srgbClr val="FFFF00"/>
              </a:highlight>
            </a:endParaRPr>
          </a:p>
          <a:p>
            <a:pPr indent="0" lvl="0" marL="0" rtl="0" algn="l">
              <a:spcBef>
                <a:spcPts val="1200"/>
              </a:spcBef>
              <a:spcAft>
                <a:spcPts val="0"/>
              </a:spcAft>
              <a:buClr>
                <a:schemeClr val="dk1"/>
              </a:buClr>
              <a:buSzPct val="61111"/>
              <a:buFont typeface="Arial"/>
              <a:buNone/>
            </a:pPr>
            <a:r>
              <a:rPr b="1" lang="en"/>
              <a:t>Inventory</a:t>
            </a:r>
            <a:r>
              <a:rPr lang="en"/>
              <a:t>: With AWS, you can collect detailed information about your instances and the software installed on them. This aids in understanding system configurations, installed applications, network configurations, updates, and other system properties. It helps you to maintain a comprehensive inventory of your AWS resources.</a:t>
            </a:r>
            <a:endParaRPr/>
          </a:p>
          <a:p>
            <a:pPr indent="0" lvl="0" marL="0" rtl="0" algn="l">
              <a:spcBef>
                <a:spcPts val="1200"/>
              </a:spcBef>
              <a:spcAft>
                <a:spcPts val="1200"/>
              </a:spcAft>
              <a:buNone/>
            </a:pPr>
            <a:r>
              <a:rPr b="1" lang="en"/>
              <a:t>Efficiency and Compliance</a:t>
            </a:r>
            <a:r>
              <a:rPr lang="en"/>
              <a:t>: By automating tasks and maintaining an up-to-date inventory, you can significantly increase operational efficiency and ensure compliance with policies and regulations.</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300"/>
              <a:t>AWS Patch Manager, Parameter Store, Run Command, and Session Manager</a:t>
            </a:r>
            <a:endParaRPr sz="3300"/>
          </a:p>
        </p:txBody>
      </p:sp>
      <p:sp>
        <p:nvSpPr>
          <p:cNvPr id="649" name="Google Shape;649;p111"/>
          <p:cNvSpPr txBox="1"/>
          <p:nvPr>
            <p:ph idx="1" type="body"/>
          </p:nvPr>
        </p:nvSpPr>
        <p:spPr>
          <a:xfrm>
            <a:off x="311700" y="1271275"/>
            <a:ext cx="8520600" cy="32976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sz="3563">
                <a:highlight>
                  <a:srgbClr val="EA9999"/>
                </a:highlight>
              </a:rPr>
              <a:t>Review Slide of everything covered so far</a:t>
            </a:r>
            <a:endParaRPr b="1"/>
          </a:p>
          <a:p>
            <a:pPr indent="0" lvl="0" marL="0" rtl="0" algn="l">
              <a:spcBef>
                <a:spcPts val="1200"/>
              </a:spcBef>
              <a:spcAft>
                <a:spcPts val="0"/>
              </a:spcAft>
              <a:buClr>
                <a:schemeClr val="dk1"/>
              </a:buClr>
              <a:buSzPct val="61111"/>
              <a:buFont typeface="Arial"/>
              <a:buNone/>
            </a:pPr>
            <a:r>
              <a:rPr b="1" lang="en"/>
              <a:t>Patch Manager</a:t>
            </a:r>
            <a:r>
              <a:rPr lang="en"/>
              <a:t>: AWS Patch Manager lets you deploy software patches automatically across large groups of Amazon EC2 or on-premises instances. This keeps your systems up-to-date and secure.</a:t>
            </a:r>
            <a:endParaRPr/>
          </a:p>
          <a:p>
            <a:pPr indent="0" lvl="0" marL="0" rtl="0" algn="l">
              <a:spcBef>
                <a:spcPts val="1200"/>
              </a:spcBef>
              <a:spcAft>
                <a:spcPts val="0"/>
              </a:spcAft>
              <a:buClr>
                <a:schemeClr val="dk1"/>
              </a:buClr>
              <a:buSzPct val="61111"/>
              <a:buFont typeface="Arial"/>
              <a:buNone/>
            </a:pPr>
            <a:r>
              <a:rPr b="1" lang="en"/>
              <a:t>Parameter Store</a:t>
            </a:r>
            <a:r>
              <a:rPr lang="en"/>
              <a:t>: AWS Parameter Store is a centralized store for managing your configuration data, such as database strings or secrets like passwords. It separates your secrets and configuration data from your code, enhancing security.</a:t>
            </a:r>
            <a:endParaRPr/>
          </a:p>
          <a:p>
            <a:pPr indent="0" lvl="0" marL="0" rtl="0" algn="l">
              <a:spcBef>
                <a:spcPts val="1200"/>
              </a:spcBef>
              <a:spcAft>
                <a:spcPts val="1200"/>
              </a:spcAft>
              <a:buNone/>
            </a:pPr>
            <a:r>
              <a:rPr b="1" lang="en"/>
              <a:t>Run Command &amp; Session Manager</a:t>
            </a:r>
            <a:r>
              <a:rPr lang="en"/>
              <a:t>: AWS Run Command lets you manage instances remotely at scale without logging into your servers. AWS Session Manager allows for management of Windows and Linux EC2 instances via a browser-based interactive shell or CLI, without the need to open inbound ports, manage SSH keys, or use bastion hosts. These tools provide a simple way of automating common administrative tasks across groups of instances.</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1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Inspector</a:t>
            </a:r>
            <a:endParaRPr/>
          </a:p>
        </p:txBody>
      </p:sp>
      <p:sp>
        <p:nvSpPr>
          <p:cNvPr id="655" name="Google Shape;655;p11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b="1" lang="en"/>
              <a:t>Network Assessments</a:t>
            </a:r>
            <a:r>
              <a:rPr lang="en"/>
              <a:t>: Amazon Inspector can perform network reachability assessments to identify potential network accessibility issues in your AWS environment. For example, it can </a:t>
            </a:r>
            <a:r>
              <a:rPr b="1" lang="en">
                <a:highlight>
                  <a:srgbClr val="FFFF00"/>
                </a:highlight>
              </a:rPr>
              <a:t>identify overly permissive security groups</a:t>
            </a:r>
            <a:r>
              <a:rPr lang="en"/>
              <a:t> that might allow unwanted inbound traffic to reach your EC2 instances.</a:t>
            </a:r>
            <a:endParaRPr/>
          </a:p>
          <a:p>
            <a:pPr indent="0" lvl="0" marL="0" rtl="0" algn="l">
              <a:spcBef>
                <a:spcPts val="1200"/>
              </a:spcBef>
              <a:spcAft>
                <a:spcPts val="0"/>
              </a:spcAft>
              <a:buClr>
                <a:schemeClr val="dk1"/>
              </a:buClr>
              <a:buSzPct val="61111"/>
              <a:buFont typeface="Arial"/>
              <a:buNone/>
            </a:pPr>
            <a:r>
              <a:rPr b="1" lang="en"/>
              <a:t>Host Assessments</a:t>
            </a:r>
            <a:r>
              <a:rPr lang="en"/>
              <a:t>: On the host level, Amazon Inspector checks for vulnerabilities or deviations from best practices in the underlying OS and systems. This includes </a:t>
            </a:r>
            <a:r>
              <a:rPr b="1" lang="en">
                <a:highlight>
                  <a:srgbClr val="FFFF00"/>
                </a:highlight>
              </a:rPr>
              <a:t>checking for outdated or vulnerable software packages installed on the EC2 instances</a:t>
            </a:r>
            <a:r>
              <a:rPr lang="en"/>
              <a:t>.</a:t>
            </a:r>
            <a:endParaRPr/>
          </a:p>
          <a:p>
            <a:pPr indent="0" lvl="0" marL="0" rtl="0" algn="l">
              <a:spcBef>
                <a:spcPts val="1200"/>
              </a:spcBef>
              <a:spcAft>
                <a:spcPts val="1200"/>
              </a:spcAft>
              <a:buNone/>
            </a:pPr>
            <a:r>
              <a:rPr b="1" lang="en"/>
              <a:t>Behavioral Analysis</a:t>
            </a:r>
            <a:r>
              <a:rPr lang="en"/>
              <a:t>: Amazon Inspector can also perform </a:t>
            </a:r>
            <a:r>
              <a:rPr b="1" lang="en">
                <a:highlight>
                  <a:srgbClr val="FFFF00"/>
                </a:highlight>
              </a:rPr>
              <a:t>behavioral analysis of the applications</a:t>
            </a:r>
            <a:r>
              <a:rPr lang="en"/>
              <a:t> running on your EC2 instances to identify potential security issues or unusual behavior.</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11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t>AWS Key Management Service (KMS)</a:t>
            </a:r>
            <a:endParaRPr sz="3700"/>
          </a:p>
        </p:txBody>
      </p:sp>
      <p:sp>
        <p:nvSpPr>
          <p:cNvPr id="661" name="Google Shape;661;p11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b="1" lang="en"/>
              <a:t>Ease of Use</a:t>
            </a:r>
            <a:r>
              <a:rPr lang="en"/>
              <a:t>: AWS KMS is </a:t>
            </a:r>
            <a:r>
              <a:rPr b="1" lang="en">
                <a:highlight>
                  <a:srgbClr val="FFFF00"/>
                </a:highlight>
              </a:rPr>
              <a:t>integrated with other AWS services</a:t>
            </a:r>
            <a:r>
              <a:rPr lang="en"/>
              <a:t> making it easier to encrypt data stored in these services and control access to the keys that decrypt it.</a:t>
            </a:r>
            <a:endParaRPr/>
          </a:p>
          <a:p>
            <a:pPr indent="0" lvl="0" marL="0" rtl="0" algn="l">
              <a:spcBef>
                <a:spcPts val="1200"/>
              </a:spcBef>
              <a:spcAft>
                <a:spcPts val="0"/>
              </a:spcAft>
              <a:buClr>
                <a:schemeClr val="dk1"/>
              </a:buClr>
              <a:buSzPct val="61111"/>
              <a:buFont typeface="Arial"/>
              <a:buNone/>
            </a:pPr>
            <a:r>
              <a:rPr b="1" lang="en"/>
              <a:t>Scalability</a:t>
            </a:r>
            <a:r>
              <a:rPr lang="en"/>
              <a:t>: AWS KMS is designed to </a:t>
            </a:r>
            <a:r>
              <a:rPr b="1" lang="en">
                <a:highlight>
                  <a:srgbClr val="FFFF00"/>
                </a:highlight>
              </a:rPr>
              <a:t>scale seamlessly</a:t>
            </a:r>
            <a:r>
              <a:rPr lang="en"/>
              <a:t> and handle demanding workloads of any size.</a:t>
            </a:r>
            <a:endParaRPr/>
          </a:p>
          <a:p>
            <a:pPr indent="0" lvl="0" marL="0" rtl="0" algn="l">
              <a:spcBef>
                <a:spcPts val="1200"/>
              </a:spcBef>
              <a:spcAft>
                <a:spcPts val="0"/>
              </a:spcAft>
              <a:buClr>
                <a:schemeClr val="dk1"/>
              </a:buClr>
              <a:buSzPct val="61111"/>
              <a:buFont typeface="Arial"/>
              <a:buNone/>
            </a:pPr>
            <a:r>
              <a:rPr b="1" lang="en"/>
              <a:t>Access Control</a:t>
            </a:r>
            <a:r>
              <a:rPr lang="en"/>
              <a:t>: It provides fine-grained access control over who can use keys using </a:t>
            </a:r>
            <a:r>
              <a:rPr b="1" lang="en">
                <a:highlight>
                  <a:srgbClr val="FFFF00"/>
                </a:highlight>
              </a:rPr>
              <a:t>AWS Identity and Access Management (IAM) policies</a:t>
            </a:r>
            <a:r>
              <a:rPr lang="en"/>
              <a:t>.</a:t>
            </a:r>
            <a:endParaRPr/>
          </a:p>
          <a:p>
            <a:pPr indent="0" lvl="0" marL="0" rtl="0" algn="l">
              <a:spcBef>
                <a:spcPts val="1200"/>
              </a:spcBef>
              <a:spcAft>
                <a:spcPts val="0"/>
              </a:spcAft>
              <a:buClr>
                <a:schemeClr val="dk1"/>
              </a:buClr>
              <a:buSzPct val="61111"/>
              <a:buFont typeface="Arial"/>
              <a:buNone/>
            </a:pPr>
            <a:r>
              <a:rPr b="1" lang="en"/>
              <a:t>Audit Trail</a:t>
            </a:r>
            <a:r>
              <a:rPr lang="en"/>
              <a:t>: AWS KMS </a:t>
            </a:r>
            <a:r>
              <a:rPr b="1" lang="en">
                <a:highlight>
                  <a:srgbClr val="FFFF00"/>
                </a:highlight>
              </a:rPr>
              <a:t>logs all usage of your keys to AWS CloudTrail</a:t>
            </a:r>
            <a:r>
              <a:rPr lang="en"/>
              <a:t>, allowing you to meet regulatory and compliance needs.</a:t>
            </a:r>
            <a:endParaRPr/>
          </a:p>
          <a:p>
            <a:pPr indent="0" lvl="0" marL="0" rtl="0" algn="l">
              <a:spcBef>
                <a:spcPts val="1200"/>
              </a:spcBef>
              <a:spcAft>
                <a:spcPts val="1200"/>
              </a:spcAft>
              <a:buNone/>
            </a:pPr>
            <a:r>
              <a:rPr b="1" lang="en"/>
              <a:t>Cost</a:t>
            </a:r>
            <a:r>
              <a:rPr lang="en"/>
              <a:t>: AWS KMS is more </a:t>
            </a:r>
            <a:r>
              <a:rPr b="1" lang="en">
                <a:highlight>
                  <a:srgbClr val="FFFF00"/>
                </a:highlight>
              </a:rPr>
              <a:t>cost-effective and requires less management</a:t>
            </a:r>
            <a:r>
              <a:rPr lang="en"/>
              <a:t> overhead compared to AWS CloudHSM.</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CloudHSM</a:t>
            </a:r>
            <a:endParaRPr/>
          </a:p>
        </p:txBody>
      </p:sp>
      <p:sp>
        <p:nvSpPr>
          <p:cNvPr id="667" name="Google Shape;667;p1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1111"/>
              <a:buFont typeface="Arial"/>
              <a:buNone/>
            </a:pPr>
            <a:r>
              <a:rPr b="1" lang="en"/>
              <a:t>Hardware Control</a:t>
            </a:r>
            <a:r>
              <a:rPr lang="en"/>
              <a:t>: AWS CloudHSM provides secure cryptographic key storage by making dedicated, single-tenant Hardware Security Module (HSM) instances available to you within your own Amazon Virtual Private Cloud (VPC).</a:t>
            </a:r>
            <a:endParaRPr/>
          </a:p>
          <a:p>
            <a:pPr indent="0" lvl="0" marL="0" rtl="0" algn="l">
              <a:spcBef>
                <a:spcPts val="1200"/>
              </a:spcBef>
              <a:spcAft>
                <a:spcPts val="0"/>
              </a:spcAft>
              <a:buClr>
                <a:schemeClr val="dk1"/>
              </a:buClr>
              <a:buSzPct val="61111"/>
              <a:buFont typeface="Arial"/>
              <a:buNone/>
            </a:pPr>
            <a:r>
              <a:rPr b="1" lang="en"/>
              <a:t>Regulatory Compliance</a:t>
            </a:r>
            <a:r>
              <a:rPr lang="en"/>
              <a:t>: AWS CloudHSM is designed to meet stringent regulatory requirements for cryptographic operations and key storage by </a:t>
            </a:r>
            <a:r>
              <a:rPr b="1" lang="en">
                <a:highlight>
                  <a:srgbClr val="FFFF00"/>
                </a:highlight>
              </a:rPr>
              <a:t>providing a highly secure, physical tamper-resistant environment</a:t>
            </a:r>
            <a:r>
              <a:rPr lang="en"/>
              <a:t>.</a:t>
            </a:r>
            <a:endParaRPr/>
          </a:p>
          <a:p>
            <a:pPr indent="0" lvl="0" marL="0" rtl="0" algn="l">
              <a:spcBef>
                <a:spcPts val="1200"/>
              </a:spcBef>
              <a:spcAft>
                <a:spcPts val="0"/>
              </a:spcAft>
              <a:buClr>
                <a:schemeClr val="dk1"/>
              </a:buClr>
              <a:buSzPct val="61111"/>
              <a:buFont typeface="Arial"/>
              <a:buNone/>
            </a:pPr>
            <a:r>
              <a:rPr b="1" lang="en"/>
              <a:t>Flexibility</a:t>
            </a:r>
            <a:r>
              <a:rPr lang="en"/>
              <a:t>: AWS CloudHSM allows you to generate, store, import, export, and manage your cryptographic keys, including symmetric keys and asymmetric key pairs.</a:t>
            </a:r>
            <a:endParaRPr/>
          </a:p>
          <a:p>
            <a:pPr indent="0" lvl="0" marL="0" rtl="0" algn="l">
              <a:spcBef>
                <a:spcPts val="1200"/>
              </a:spcBef>
              <a:spcAft>
                <a:spcPts val="0"/>
              </a:spcAft>
              <a:buClr>
                <a:schemeClr val="dk1"/>
              </a:buClr>
              <a:buSzPct val="61111"/>
              <a:buFont typeface="Arial"/>
              <a:buNone/>
            </a:pPr>
            <a:r>
              <a:rPr b="1" lang="en"/>
              <a:t>Access Control</a:t>
            </a:r>
            <a:r>
              <a:rPr lang="en"/>
              <a:t>: In AWS CloudHSM, </a:t>
            </a:r>
            <a:r>
              <a:rPr b="1" lang="en">
                <a:highlight>
                  <a:srgbClr val="FFFF00"/>
                </a:highlight>
              </a:rPr>
              <a:t>access to keys is controlled solely by the customer</a:t>
            </a:r>
            <a:r>
              <a:rPr lang="en"/>
              <a:t>. </a:t>
            </a:r>
            <a:r>
              <a:rPr b="1" lang="en">
                <a:highlight>
                  <a:srgbClr val="FF9900"/>
                </a:highlight>
              </a:rPr>
              <a:t>AWS does not have access to keys stored in a CloudHSM instance</a:t>
            </a:r>
            <a:r>
              <a:rPr lang="en"/>
              <a:t>.</a:t>
            </a:r>
            <a:endParaRPr/>
          </a:p>
          <a:p>
            <a:pPr indent="0" lvl="0" marL="0" rtl="0" algn="l">
              <a:spcBef>
                <a:spcPts val="1200"/>
              </a:spcBef>
              <a:spcAft>
                <a:spcPts val="1200"/>
              </a:spcAft>
              <a:buNone/>
            </a:pPr>
            <a:r>
              <a:rPr b="1" lang="en"/>
              <a:t>Cost</a:t>
            </a:r>
            <a:r>
              <a:rPr lang="en"/>
              <a:t>: AWS CloudHSM is more expensive than AWS KMS due to the dedicated hardware and increased control it offers.</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CloudHSM</a:t>
            </a:r>
            <a:endParaRPr/>
          </a:p>
        </p:txBody>
      </p:sp>
      <p:sp>
        <p:nvSpPr>
          <p:cNvPr id="673" name="Google Shape;673;p115"/>
          <p:cNvSpPr txBox="1"/>
          <p:nvPr>
            <p:ph idx="1" type="body"/>
          </p:nvPr>
        </p:nvSpPr>
        <p:spPr>
          <a:xfrm>
            <a:off x="311700" y="4254900"/>
            <a:ext cx="2775600" cy="3141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1200"/>
              </a:spcAft>
              <a:buNone/>
            </a:pPr>
            <a:r>
              <a:rPr lang="en" sz="1300"/>
              <a:t>https://aws.amazon.com/cloudhsm/</a:t>
            </a:r>
            <a:endParaRPr sz="1300"/>
          </a:p>
        </p:txBody>
      </p:sp>
      <p:pic>
        <p:nvPicPr>
          <p:cNvPr id="674" name="Google Shape;674;p115"/>
          <p:cNvPicPr preferRelativeResize="0"/>
          <p:nvPr/>
        </p:nvPicPr>
        <p:blipFill>
          <a:blip r:embed="rId3">
            <a:alphaModFix/>
          </a:blip>
          <a:stretch>
            <a:fillRect/>
          </a:stretch>
        </p:blipFill>
        <p:spPr>
          <a:xfrm>
            <a:off x="990600" y="1170125"/>
            <a:ext cx="6752087" cy="293237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CloudFormation</a:t>
            </a:r>
            <a:endParaRPr/>
          </a:p>
        </p:txBody>
      </p:sp>
      <p:sp>
        <p:nvSpPr>
          <p:cNvPr id="680" name="Google Shape;680;p1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AWS CloudFormation</a:t>
            </a:r>
            <a:r>
              <a:rPr lang="en"/>
              <a:t> is a service that allows you to manage, configure, and provision your AWS resources.</a:t>
            </a:r>
            <a:endParaRPr/>
          </a:p>
          <a:p>
            <a:pPr indent="0" lvl="0" marL="0" rtl="0" algn="l">
              <a:spcBef>
                <a:spcPts val="1200"/>
              </a:spcBef>
              <a:spcAft>
                <a:spcPts val="0"/>
              </a:spcAft>
              <a:buClr>
                <a:schemeClr val="dk1"/>
              </a:buClr>
              <a:buSzPts val="1100"/>
              <a:buFont typeface="Arial"/>
              <a:buNone/>
            </a:pPr>
            <a:r>
              <a:rPr lang="en"/>
              <a:t>It uses a </a:t>
            </a:r>
            <a:r>
              <a:rPr b="1" lang="en"/>
              <a:t>declarative programming model</a:t>
            </a:r>
            <a:r>
              <a:rPr lang="en"/>
              <a:t>, meaning you specify what resources you need, and CloudFormation handles the 'how'.</a:t>
            </a:r>
            <a:endParaRPr/>
          </a:p>
          <a:p>
            <a:pPr indent="0" lvl="0" marL="0" rtl="0" algn="l">
              <a:spcBef>
                <a:spcPts val="1200"/>
              </a:spcBef>
              <a:spcAft>
                <a:spcPts val="1200"/>
              </a:spcAft>
              <a:buNone/>
            </a:pPr>
            <a:r>
              <a:rPr lang="en"/>
              <a:t>Now, let's explore why using CloudFormation can be a game-changer for managing AWS resources on the next slide.</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1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100"/>
              <a:t>AWS CloudFormation -  infrastructure as code</a:t>
            </a:r>
            <a:endParaRPr sz="3100"/>
          </a:p>
        </p:txBody>
      </p:sp>
      <p:sp>
        <p:nvSpPr>
          <p:cNvPr id="686" name="Google Shape;686;p1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Repeatability</a:t>
            </a:r>
            <a:r>
              <a:rPr lang="en"/>
              <a:t>: CloudFormation templates can be version-controlled and reused, enabling you to create duplicate environments quickly and reliably. This is particularly useful for creating development, test, and production environments that are identical.</a:t>
            </a:r>
            <a:endParaRPr/>
          </a:p>
          <a:p>
            <a:pPr indent="0" lvl="0" marL="0" rtl="0" algn="l">
              <a:spcBef>
                <a:spcPts val="1200"/>
              </a:spcBef>
              <a:spcAft>
                <a:spcPts val="0"/>
              </a:spcAft>
              <a:buNone/>
            </a:pPr>
            <a:r>
              <a:rPr b="1" lang="en"/>
              <a:t>Scalability</a:t>
            </a:r>
            <a:r>
              <a:rPr lang="en"/>
              <a:t>: As your infrastructure grows, managing it manually becomes increasingly difficult. CloudFormation allows you to manage large infrastructures as code, making it easier to understand, version, and modify.</a:t>
            </a:r>
            <a:endParaRPr/>
          </a:p>
          <a:p>
            <a:pPr indent="0" lvl="0" marL="0" rtl="0" algn="l">
              <a:spcBef>
                <a:spcPts val="1200"/>
              </a:spcBef>
              <a:spcAft>
                <a:spcPts val="0"/>
              </a:spcAft>
              <a:buNone/>
            </a:pPr>
            <a:r>
              <a:rPr b="1" lang="en"/>
              <a:t>Consistency and Reduced Errors</a:t>
            </a:r>
            <a:r>
              <a:rPr lang="en"/>
              <a:t>: Manual processes are error-prone. With CloudFormation, you define your infrastructure as code, reducing the likelihood of manual errors. Once a template is tested and confirmed to be working as expected, it can be reused without worrying about manual mistakes.</a:t>
            </a:r>
            <a:endParaRPr/>
          </a:p>
          <a:p>
            <a:pPr indent="0" lvl="0" marL="0" rtl="0" algn="l">
              <a:spcBef>
                <a:spcPts val="1200"/>
              </a:spcBef>
              <a:spcAft>
                <a:spcPts val="1200"/>
              </a:spcAft>
              <a:buNone/>
            </a:pPr>
            <a:r>
              <a:rPr b="1" lang="en">
                <a:highlight>
                  <a:srgbClr val="FF0000"/>
                </a:highlight>
              </a:rPr>
              <a:t>Supplemental information - may skip slide</a:t>
            </a:r>
            <a:endParaRPr b="1">
              <a:highlight>
                <a:srgbClr val="FF0000"/>
              </a:highlight>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1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100"/>
              <a:t>AWS CloudFormation -  infrastructure as code</a:t>
            </a:r>
            <a:endParaRPr sz="3100"/>
          </a:p>
        </p:txBody>
      </p:sp>
      <p:sp>
        <p:nvSpPr>
          <p:cNvPr id="692" name="Google Shape;692;p1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Automation</a:t>
            </a:r>
            <a:r>
              <a:rPr lang="en"/>
              <a:t>: CloudFormation templates can be used in automation pipelines. For example, you could use a continuous integration/continuous deployment (CI/CD) pipeline to automatically launch stacks based on your CloudFormation templates whenever there's a change to your application code.</a:t>
            </a:r>
            <a:endParaRPr/>
          </a:p>
          <a:p>
            <a:pPr indent="0" lvl="0" marL="0" rtl="0" algn="l">
              <a:spcBef>
                <a:spcPts val="1200"/>
              </a:spcBef>
              <a:spcAft>
                <a:spcPts val="0"/>
              </a:spcAft>
              <a:buNone/>
            </a:pPr>
            <a:r>
              <a:rPr b="1" lang="en"/>
              <a:t>Resource Dependencies</a:t>
            </a:r>
            <a:r>
              <a:rPr lang="en"/>
              <a:t>: CloudFormation understands the dependencies between resources and can automatically create or delete resources in the correct order. For example, if an EC2 instance is dependent on a particular security group, CloudFormation ensures that the security group is created before the EC2 instance.</a:t>
            </a:r>
            <a:endParaRPr/>
          </a:p>
          <a:p>
            <a:pPr indent="0" lvl="0" marL="0" rtl="0" algn="l">
              <a:spcBef>
                <a:spcPts val="1200"/>
              </a:spcBef>
              <a:spcAft>
                <a:spcPts val="0"/>
              </a:spcAft>
              <a:buNone/>
            </a:pPr>
            <a:r>
              <a:rPr b="1" lang="en"/>
              <a:t>Integration with other AWS Services</a:t>
            </a:r>
            <a:r>
              <a:rPr lang="en"/>
              <a:t>: CloudFormation works seamlessly with other AWS services. For instance, it integrates with AWS Identity and Access Management (IAM) to control who can create, update, and delete stacks.</a:t>
            </a:r>
            <a:endParaRPr/>
          </a:p>
          <a:p>
            <a:pPr indent="0" lvl="0" marL="0" rtl="0" algn="l">
              <a:spcBef>
                <a:spcPts val="1200"/>
              </a:spcBef>
              <a:spcAft>
                <a:spcPts val="1200"/>
              </a:spcAft>
              <a:buNone/>
            </a:pPr>
            <a:r>
              <a:rPr b="1" lang="en">
                <a:highlight>
                  <a:srgbClr val="FF0000"/>
                </a:highlight>
              </a:rPr>
              <a:t>Supplemental information - may skip slide</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11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400"/>
              <a:t>AWS Step Functions in Incident Response</a:t>
            </a:r>
            <a:endParaRPr sz="3400"/>
          </a:p>
        </p:txBody>
      </p:sp>
      <p:sp>
        <p:nvSpPr>
          <p:cNvPr id="698" name="Google Shape;698;p1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Clr>
                <a:schemeClr val="dk1"/>
              </a:buClr>
              <a:buSzPct val="61111"/>
              <a:buFont typeface="Arial"/>
              <a:buNone/>
            </a:pPr>
            <a:r>
              <a:rPr b="1" lang="en"/>
              <a:t>Orchestration of services</a:t>
            </a:r>
            <a:r>
              <a:rPr lang="en"/>
              <a:t>: AWS Step Functions coordinates the sequence of operations in an incident response scenario, ensuring that each step is executed in the correct order.</a:t>
            </a:r>
            <a:endParaRPr/>
          </a:p>
          <a:p>
            <a:pPr indent="0" lvl="0" marL="0" rtl="0" algn="l">
              <a:spcBef>
                <a:spcPts val="1200"/>
              </a:spcBef>
              <a:spcAft>
                <a:spcPts val="0"/>
              </a:spcAft>
              <a:buClr>
                <a:schemeClr val="dk1"/>
              </a:buClr>
              <a:buSzPct val="61111"/>
              <a:buFont typeface="Arial"/>
              <a:buNone/>
            </a:pPr>
            <a:r>
              <a:rPr b="1" lang="en"/>
              <a:t>Automation of response actions</a:t>
            </a:r>
            <a:r>
              <a:rPr lang="en"/>
              <a:t>: Step Functions initiates workflows that automate crucial response actions, such as removing and isolating compromised instances, creating snapshots of volumes, and notifying the team.</a:t>
            </a:r>
            <a:endParaRPr/>
          </a:p>
          <a:p>
            <a:pPr indent="0" lvl="0" marL="0" rtl="0" algn="l">
              <a:spcBef>
                <a:spcPts val="1200"/>
              </a:spcBef>
              <a:spcAft>
                <a:spcPts val="0"/>
              </a:spcAft>
              <a:buClr>
                <a:schemeClr val="dk1"/>
              </a:buClr>
              <a:buSzPct val="61111"/>
              <a:buFont typeface="Arial"/>
              <a:buNone/>
            </a:pPr>
            <a:r>
              <a:rPr b="1" lang="en"/>
              <a:t>Creation of secure analysis environment</a:t>
            </a:r>
            <a:r>
              <a:rPr lang="en"/>
              <a:t>: Using AWS CloudFormation templates, Step Functions helps create a new, isolated environment for secure, in-depth analysis of the compromised instance.</a:t>
            </a:r>
            <a:endParaRPr/>
          </a:p>
          <a:p>
            <a:pPr indent="0" lvl="0" marL="0" rtl="0" algn="l">
              <a:spcBef>
                <a:spcPts val="1200"/>
              </a:spcBef>
              <a:spcAft>
                <a:spcPts val="0"/>
              </a:spcAft>
              <a:buClr>
                <a:schemeClr val="dk1"/>
              </a:buClr>
              <a:buSzPct val="61111"/>
              <a:buFont typeface="Arial"/>
              <a:buNone/>
            </a:pPr>
            <a:r>
              <a:rPr b="1" lang="en"/>
              <a:t>Directing investigation and reporting</a:t>
            </a:r>
            <a:r>
              <a:rPr lang="en"/>
              <a:t>: The workflow directs the forensics instance to perform investigations and generate reports, which are sent to the team via Amazon SNS.</a:t>
            </a:r>
            <a:endParaRPr/>
          </a:p>
          <a:p>
            <a:pPr indent="0" lvl="0" marL="0" rtl="0" algn="l">
              <a:spcBef>
                <a:spcPts val="1200"/>
              </a:spcBef>
              <a:spcAft>
                <a:spcPts val="1200"/>
              </a:spcAft>
              <a:buNone/>
            </a:pPr>
            <a:r>
              <a:rPr i="1" lang="en" sz="2022"/>
              <a:t>Amazon Simple Notification Service (SNS): send push notifications, SMS, and email messages to multiple subscribers</a:t>
            </a:r>
            <a:endParaRPr i="1" sz="2022"/>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 had an incident! </a:t>
            </a:r>
            <a:endParaRPr/>
          </a:p>
        </p:txBody>
      </p:sp>
      <p:sp>
        <p:nvSpPr>
          <p:cNvPr id="704" name="Google Shape;704;p120"/>
          <p:cNvSpPr txBox="1"/>
          <p:nvPr>
            <p:ph idx="1" type="body"/>
          </p:nvPr>
        </p:nvSpPr>
        <p:spPr>
          <a:xfrm>
            <a:off x="311700" y="4261075"/>
            <a:ext cx="1398900" cy="3078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1200"/>
              </a:spcAft>
              <a:buNone/>
            </a:pPr>
            <a:r>
              <a:rPr lang="en" sz="1200"/>
              <a:t>Source: Amazon</a:t>
            </a:r>
            <a:endParaRPr sz="1200"/>
          </a:p>
        </p:txBody>
      </p:sp>
      <p:pic>
        <p:nvPicPr>
          <p:cNvPr id="705" name="Google Shape;705;p120"/>
          <p:cNvPicPr preferRelativeResize="0"/>
          <p:nvPr/>
        </p:nvPicPr>
        <p:blipFill>
          <a:blip r:embed="rId3">
            <a:alphaModFix/>
          </a:blip>
          <a:stretch>
            <a:fillRect/>
          </a:stretch>
        </p:blipFill>
        <p:spPr>
          <a:xfrm>
            <a:off x="1568625" y="986275"/>
            <a:ext cx="6068725" cy="3547625"/>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0 (before step 1)</a:t>
            </a:r>
            <a:endParaRPr/>
          </a:p>
        </p:txBody>
      </p:sp>
      <p:sp>
        <p:nvSpPr>
          <p:cNvPr id="711" name="Google Shape;711;p121"/>
          <p:cNvSpPr txBox="1"/>
          <p:nvPr>
            <p:ph idx="1" type="body"/>
          </p:nvPr>
        </p:nvSpPr>
        <p:spPr>
          <a:xfrm>
            <a:off x="215000" y="1182700"/>
            <a:ext cx="8520600" cy="10173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200"/>
              </a:spcAft>
              <a:buNone/>
            </a:pPr>
            <a:r>
              <a:rPr b="1" lang="en"/>
              <a:t>Identifying the compromised instance</a:t>
            </a:r>
            <a:r>
              <a:rPr lang="en"/>
              <a:t>: When a script or third-party tool identifies a compromised instance, it pushes the instance ID to an Amazon SNS topic. A Lambda function verifies these IDs and, if the instance is indeed compromised, initiates a Step Functions workflow.</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2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Step 1 </a:t>
            </a:r>
            <a:r>
              <a:rPr lang="en" sz="3300"/>
              <a:t>Initial Response</a:t>
            </a:r>
            <a:endParaRPr sz="3300"/>
          </a:p>
        </p:txBody>
      </p:sp>
      <p:sp>
        <p:nvSpPr>
          <p:cNvPr id="717" name="Google Shape;717;p122"/>
          <p:cNvSpPr txBox="1"/>
          <p:nvPr>
            <p:ph idx="1" type="body"/>
          </p:nvPr>
        </p:nvSpPr>
        <p:spPr>
          <a:xfrm>
            <a:off x="215000" y="1182700"/>
            <a:ext cx="8520600" cy="1017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The compromised instance is removed from its auto scaling group, an EBS volume snapshot is taken, instance metadata is recorded, a quarantine resource tag is applied, and the team is notified.</a:t>
            </a:r>
            <a:endParaRPr/>
          </a:p>
        </p:txBody>
      </p:sp>
      <p:pic>
        <p:nvPicPr>
          <p:cNvPr id="718" name="Google Shape;718;p122"/>
          <p:cNvPicPr preferRelativeResize="0"/>
          <p:nvPr/>
        </p:nvPicPr>
        <p:blipFill>
          <a:blip r:embed="rId3">
            <a:alphaModFix/>
          </a:blip>
          <a:stretch>
            <a:fillRect/>
          </a:stretch>
        </p:blipFill>
        <p:spPr>
          <a:xfrm>
            <a:off x="2057400" y="2099625"/>
            <a:ext cx="6184325" cy="251047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2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Step 2 </a:t>
            </a:r>
            <a:r>
              <a:rPr lang="en" sz="3300"/>
              <a:t>Isolation</a:t>
            </a:r>
            <a:endParaRPr sz="2700"/>
          </a:p>
        </p:txBody>
      </p:sp>
      <p:sp>
        <p:nvSpPr>
          <p:cNvPr id="724" name="Google Shape;724;p123"/>
          <p:cNvSpPr txBox="1"/>
          <p:nvPr>
            <p:ph idx="1" type="body"/>
          </p:nvPr>
        </p:nvSpPr>
        <p:spPr>
          <a:xfrm>
            <a:off x="215000" y="1182700"/>
            <a:ext cx="8520600" cy="1017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instance is isolated by removing all previously associated security groups. A new forensics security group with no ingress or egress permissions is assigned.</a:t>
            </a:r>
            <a:endParaRPr/>
          </a:p>
        </p:txBody>
      </p:sp>
      <p:pic>
        <p:nvPicPr>
          <p:cNvPr id="725" name="Google Shape;725;p123"/>
          <p:cNvPicPr preferRelativeResize="0"/>
          <p:nvPr/>
        </p:nvPicPr>
        <p:blipFill>
          <a:blip r:embed="rId3">
            <a:alphaModFix/>
          </a:blip>
          <a:stretch>
            <a:fillRect/>
          </a:stretch>
        </p:blipFill>
        <p:spPr>
          <a:xfrm>
            <a:off x="1066800" y="2276200"/>
            <a:ext cx="6229350" cy="209550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12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Step 3 </a:t>
            </a:r>
            <a:r>
              <a:rPr lang="en" sz="3000"/>
              <a:t>Environment Creation </a:t>
            </a:r>
            <a:r>
              <a:rPr lang="en" sz="1900"/>
              <a:t>“Operating in a Clean Room”</a:t>
            </a:r>
            <a:endParaRPr sz="1300"/>
          </a:p>
        </p:txBody>
      </p:sp>
      <p:sp>
        <p:nvSpPr>
          <p:cNvPr id="731" name="Google Shape;731;p124"/>
          <p:cNvSpPr txBox="1"/>
          <p:nvPr>
            <p:ph idx="1" type="body"/>
          </p:nvPr>
        </p:nvSpPr>
        <p:spPr>
          <a:xfrm>
            <a:off x="215000" y="1182700"/>
            <a:ext cx="8520600" cy="1017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AWS CloudFormation creates a new environment, including a new VPC with a forensics instance and prebuilt tools attached to a copy of volumes from the snapshots.</a:t>
            </a:r>
            <a:endParaRPr/>
          </a:p>
        </p:txBody>
      </p:sp>
      <p:pic>
        <p:nvPicPr>
          <p:cNvPr id="732" name="Google Shape;732;p124"/>
          <p:cNvPicPr preferRelativeResize="0"/>
          <p:nvPr/>
        </p:nvPicPr>
        <p:blipFill>
          <a:blip r:embed="rId3">
            <a:alphaModFix/>
          </a:blip>
          <a:stretch>
            <a:fillRect/>
          </a:stretch>
        </p:blipFill>
        <p:spPr>
          <a:xfrm>
            <a:off x="762000" y="2352400"/>
            <a:ext cx="4048125" cy="18669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2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Step 4 </a:t>
            </a:r>
            <a:r>
              <a:rPr lang="en" sz="3000"/>
              <a:t>Investigation</a:t>
            </a:r>
            <a:endParaRPr sz="1300"/>
          </a:p>
        </p:txBody>
      </p:sp>
      <p:sp>
        <p:nvSpPr>
          <p:cNvPr id="738" name="Google Shape;738;p125"/>
          <p:cNvSpPr txBox="1"/>
          <p:nvPr>
            <p:ph idx="1" type="body"/>
          </p:nvPr>
        </p:nvSpPr>
        <p:spPr>
          <a:xfrm>
            <a:off x="215000" y="1182700"/>
            <a:ext cx="8520600" cy="1017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basic forensics investigation is performed on the attached volumes.</a:t>
            </a:r>
            <a:endParaRPr/>
          </a:p>
        </p:txBody>
      </p:sp>
      <p:pic>
        <p:nvPicPr>
          <p:cNvPr id="739" name="Google Shape;739;p125"/>
          <p:cNvPicPr preferRelativeResize="0"/>
          <p:nvPr/>
        </p:nvPicPr>
        <p:blipFill>
          <a:blip r:embed="rId3">
            <a:alphaModFix/>
          </a:blip>
          <a:stretch>
            <a:fillRect/>
          </a:stretch>
        </p:blipFill>
        <p:spPr>
          <a:xfrm>
            <a:off x="457200" y="2428600"/>
            <a:ext cx="5353050" cy="146685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2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Step 5 </a:t>
            </a:r>
            <a:r>
              <a:rPr lang="en" sz="3000"/>
              <a:t>Reporting</a:t>
            </a:r>
            <a:endParaRPr sz="1300"/>
          </a:p>
        </p:txBody>
      </p:sp>
      <p:sp>
        <p:nvSpPr>
          <p:cNvPr id="745" name="Google Shape;745;p126"/>
          <p:cNvSpPr txBox="1"/>
          <p:nvPr>
            <p:ph idx="1" type="body"/>
          </p:nvPr>
        </p:nvSpPr>
        <p:spPr>
          <a:xfrm>
            <a:off x="215000" y="1182700"/>
            <a:ext cx="8520600" cy="1017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Reports are generated with the investigation results and sent to the team via Amazon SNS.</a:t>
            </a:r>
            <a:endParaRPr/>
          </a:p>
        </p:txBody>
      </p:sp>
      <p:pic>
        <p:nvPicPr>
          <p:cNvPr id="746" name="Google Shape;746;p126"/>
          <p:cNvPicPr preferRelativeResize="0"/>
          <p:nvPr/>
        </p:nvPicPr>
        <p:blipFill>
          <a:blip r:embed="rId3">
            <a:alphaModFix/>
          </a:blip>
          <a:stretch>
            <a:fillRect/>
          </a:stretch>
        </p:blipFill>
        <p:spPr>
          <a:xfrm>
            <a:off x="838200" y="2352400"/>
            <a:ext cx="5391150" cy="1362075"/>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1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Denial Of Service (DoS) </a:t>
            </a:r>
            <a:endParaRPr/>
          </a:p>
        </p:txBody>
      </p:sp>
      <p:sp>
        <p:nvSpPr>
          <p:cNvPr id="752" name="Google Shape;752;p1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C</a:t>
            </a:r>
            <a:r>
              <a:rPr i="1" lang="en" sz="2100"/>
              <a:t>ould be also distributed to make DDoS</a:t>
            </a:r>
            <a:endParaRPr i="1" sz="2100"/>
          </a:p>
          <a:p>
            <a:pPr indent="0" lvl="0" marL="0" rtl="0" algn="l">
              <a:spcBef>
                <a:spcPts val="1200"/>
              </a:spcBef>
              <a:spcAft>
                <a:spcPts val="0"/>
              </a:spcAft>
              <a:buNone/>
            </a:pPr>
            <a:r>
              <a:rPr lang="en"/>
              <a:t>Application (Layer 7)</a:t>
            </a:r>
            <a:endParaRPr/>
          </a:p>
          <a:p>
            <a:pPr indent="0" lvl="0" marL="0" rtl="0" algn="l">
              <a:spcBef>
                <a:spcPts val="1200"/>
              </a:spcBef>
              <a:spcAft>
                <a:spcPts val="0"/>
              </a:spcAft>
              <a:buNone/>
            </a:pPr>
            <a:r>
              <a:rPr lang="en"/>
              <a:t>Transport (Layer 4)</a:t>
            </a:r>
            <a:endParaRPr/>
          </a:p>
          <a:p>
            <a:pPr indent="0" lvl="0" marL="0" rtl="0" algn="l">
              <a:spcBef>
                <a:spcPts val="1200"/>
              </a:spcBef>
              <a:spcAft>
                <a:spcPts val="0"/>
              </a:spcAft>
              <a:buNone/>
            </a:pPr>
            <a:r>
              <a:rPr lang="en"/>
              <a:t>Network (Layer 3)</a:t>
            </a:r>
            <a:endParaRPr/>
          </a:p>
          <a:p>
            <a:pPr indent="0" lvl="0" marL="0" rtl="0" algn="l">
              <a:spcBef>
                <a:spcPts val="1200"/>
              </a:spcBef>
              <a:spcAft>
                <a:spcPts val="1200"/>
              </a:spcAft>
              <a:buNone/>
            </a:pPr>
            <a:r>
              <a:rPr lang="en"/>
              <a:t>We’ll look at the layers of an onion to protect assets through defence in depth.</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Network &amp; Transport layer</a:t>
            </a:r>
            <a:endParaRPr/>
          </a:p>
        </p:txBody>
      </p:sp>
      <p:sp>
        <p:nvSpPr>
          <p:cNvPr id="758" name="Google Shape;758;p1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Protection against Layer 3 &amp; 4 Attacks</a:t>
            </a:r>
            <a:r>
              <a:rPr lang="en"/>
              <a:t>: </a:t>
            </a:r>
            <a:r>
              <a:rPr b="1" lang="en">
                <a:highlight>
                  <a:srgbClr val="FFFF00"/>
                </a:highlight>
              </a:rPr>
              <a:t>AWS Shield</a:t>
            </a:r>
            <a:r>
              <a:rPr lang="en"/>
              <a:t> Standard and Advanced provide protection against DDoS attacks at the network and transport layers (layer 3 and 4). These layers are susceptible to network volumetric and network protocol attacks. Network </a:t>
            </a:r>
            <a:r>
              <a:rPr b="1" lang="en">
                <a:highlight>
                  <a:srgbClr val="FFFF00"/>
                </a:highlight>
              </a:rPr>
              <a:t>volumetric attacks attempt to saturate the capacity of the targeted network or resource,</a:t>
            </a:r>
            <a:r>
              <a:rPr lang="en"/>
              <a:t> denying service to legitimate users. </a:t>
            </a:r>
            <a:r>
              <a:rPr b="1" lang="en">
                <a:highlight>
                  <a:srgbClr val="FF9900"/>
                </a:highlight>
              </a:rPr>
              <a:t>Network protocol attacks, such as TCP SYN floods, abuse a protocol to deny service to the targeted resource</a:t>
            </a:r>
            <a:r>
              <a:rPr lang="en"/>
              <a:t> and can also be volumetric in nature, intending to saturate the network capacity while exhausting the state of the targeted resource or intermediate resources​</a:t>
            </a:r>
            <a:r>
              <a:rPr baseline="30000" lang="en" sz="1100" u="sng">
                <a:solidFill>
                  <a:schemeClr val="hlink"/>
                </a:solidFill>
                <a:hlinkClick r:id="rId3"/>
              </a:rPr>
              <a:t>1</a:t>
            </a:r>
            <a:r>
              <a:rPr lang="en" sz="1100"/>
              <a:t>​.</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Network &amp; Transport layer</a:t>
            </a:r>
            <a:endParaRPr/>
          </a:p>
        </p:txBody>
      </p:sp>
      <p:sp>
        <p:nvSpPr>
          <p:cNvPr id="764" name="Google Shape;764;p1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Detection and Mitigation</a:t>
            </a:r>
            <a:r>
              <a:rPr lang="en"/>
              <a:t>: </a:t>
            </a:r>
            <a:r>
              <a:rPr b="1" lang="en">
                <a:highlight>
                  <a:srgbClr val="FFFF00"/>
                </a:highlight>
              </a:rPr>
              <a:t>AWS Shield</a:t>
            </a:r>
            <a:r>
              <a:rPr lang="en"/>
              <a:t> is designed to detect a wide range of </a:t>
            </a:r>
            <a:r>
              <a:rPr b="1" lang="en">
                <a:highlight>
                  <a:srgbClr val="FFFF00"/>
                </a:highlight>
              </a:rPr>
              <a:t>known DDoS attack vectors and zero-day attack vectors</a:t>
            </a:r>
            <a:r>
              <a:rPr lang="en"/>
              <a:t>. The mitigation process covers threats even if they are </a:t>
            </a:r>
            <a:r>
              <a:rPr b="1" lang="en">
                <a:highlight>
                  <a:srgbClr val="FFFF00"/>
                </a:highlight>
              </a:rPr>
              <a:t>not explicitly known to the service at the time of detection</a:t>
            </a:r>
            <a:r>
              <a:rPr lang="en"/>
              <a:t>. This means that AWS Shield can provide protection against unforeseen and novel threats, enhancing the overall security of your AWS resources​</a:t>
            </a:r>
            <a:r>
              <a:rPr baseline="30000" lang="en" sz="1100" u="sng">
                <a:solidFill>
                  <a:schemeClr val="hlink"/>
                </a:solidFill>
                <a:hlinkClick r:id="rId3"/>
              </a:rPr>
              <a:t>2</a:t>
            </a:r>
            <a:r>
              <a:rPr lang="en" sz="1100"/>
              <a:t>​.</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Network &amp; Transport layer</a:t>
            </a:r>
            <a:endParaRPr/>
          </a:p>
        </p:txBody>
      </p:sp>
      <p:sp>
        <p:nvSpPr>
          <p:cNvPr id="770" name="Google Shape;770;p1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DNS Routing Policies</a:t>
            </a:r>
            <a:r>
              <a:rPr lang="en"/>
              <a:t>: Amazon </a:t>
            </a:r>
            <a:r>
              <a:rPr b="1" lang="en">
                <a:highlight>
                  <a:srgbClr val="FFFF00"/>
                </a:highlight>
              </a:rPr>
              <a:t>Route 53</a:t>
            </a:r>
            <a:r>
              <a:rPr lang="en"/>
              <a:t> supports a variety of DNS routing policies like Simple Routing, Failover Routing, Geolocation Routing, </a:t>
            </a:r>
            <a:r>
              <a:rPr lang="en"/>
              <a:t>Geo Proximity</a:t>
            </a:r>
            <a:r>
              <a:rPr lang="en"/>
              <a:t> Routing, and Latency-Based Routing. These policies can help distribute traffic across multiple resources, potentially in multiple regions, making the service more resistant to DDoS attacks. By effectively </a:t>
            </a:r>
            <a:r>
              <a:rPr b="1" lang="en">
                <a:highlight>
                  <a:srgbClr val="FFFF00"/>
                </a:highlight>
              </a:rPr>
              <a:t>distributing incoming requests</a:t>
            </a:r>
            <a:r>
              <a:rPr lang="en"/>
              <a:t>, a single resource or region is less likely to become overwhelmed by a sudden influx of traffic typical in a DDoS attack.</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Layer</a:t>
            </a:r>
            <a:endParaRPr/>
          </a:p>
        </p:txBody>
      </p:sp>
      <p:sp>
        <p:nvSpPr>
          <p:cNvPr id="776" name="Google Shape;776;p1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b="1" lang="en">
                <a:highlight>
                  <a:srgbClr val="FFFF00"/>
                </a:highlight>
              </a:rPr>
              <a:t>AWS WAF</a:t>
            </a:r>
            <a:r>
              <a:rPr lang="en"/>
              <a:t> (Web Application Firewall) is designed to protect against a variety of DDoS (Distributed Denial of Service) attacks at the application layer (Layer 7), including:</a:t>
            </a:r>
            <a:endParaRPr/>
          </a:p>
          <a:p>
            <a:pPr indent="0" lvl="0" marL="0" rtl="0" algn="l">
              <a:spcBef>
                <a:spcPts val="1200"/>
              </a:spcBef>
              <a:spcAft>
                <a:spcPts val="0"/>
              </a:spcAft>
              <a:buClr>
                <a:schemeClr val="dk1"/>
              </a:buClr>
              <a:buSzPct val="61111"/>
              <a:buFont typeface="Arial"/>
              <a:buNone/>
            </a:pPr>
            <a:r>
              <a:rPr b="1" lang="en"/>
              <a:t>SQL Injection Attacks</a:t>
            </a:r>
            <a:r>
              <a:rPr lang="en"/>
              <a:t>: AWS WAF can identify and block SQL injection attempts. These attacks involve the insertion of malicious SQL code via user input fields to manipulate or exploit the database behind the application. AWS WAF uses customizable web security rules to identify and block these attacks.</a:t>
            </a:r>
            <a:endParaRPr/>
          </a:p>
          <a:p>
            <a:pPr indent="0" lvl="0" marL="0" rtl="0" algn="l">
              <a:spcBef>
                <a:spcPts val="1200"/>
              </a:spcBef>
              <a:spcAft>
                <a:spcPts val="0"/>
              </a:spcAft>
              <a:buClr>
                <a:schemeClr val="dk1"/>
              </a:buClr>
              <a:buSzPct val="61111"/>
              <a:buFont typeface="Arial"/>
              <a:buNone/>
            </a:pPr>
            <a:r>
              <a:rPr b="1" lang="en"/>
              <a:t>Cross-Site Scripting (XSS) Attacks</a:t>
            </a:r>
            <a:r>
              <a:rPr lang="en"/>
              <a:t>: AWS WAF can also protect against XSS attacks, where attackers inject malicious scripts into web pages viewed by other users. These scripts can lead to user data theft or other malicious activities.</a:t>
            </a:r>
            <a:endParaRPr/>
          </a:p>
          <a:p>
            <a:pPr indent="0" lvl="0" marL="0" rtl="0" algn="l">
              <a:spcBef>
                <a:spcPts val="1200"/>
              </a:spcBef>
              <a:spcAft>
                <a:spcPts val="1200"/>
              </a:spcAft>
              <a:buNone/>
            </a:pPr>
            <a:r>
              <a:rPr b="1" lang="en"/>
              <a:t>HTTP Flood Attacks</a:t>
            </a:r>
            <a:r>
              <a:rPr lang="en"/>
              <a:t>: This is a type of DDoS attack where the attacker floods the server with HTTP requests with the intent to overwhelm the server. AWS WAF can mitigate these attacks by allowing you to write rules to identify patterns of these flood attacks and take action.</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3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t>Understanding WAF Protection in an Encrypted World</a:t>
            </a:r>
            <a:endParaRPr sz="3700"/>
          </a:p>
        </p:txBody>
      </p:sp>
      <p:sp>
        <p:nvSpPr>
          <p:cNvPr id="782" name="Google Shape;782;p132"/>
          <p:cNvSpPr txBox="1"/>
          <p:nvPr>
            <p:ph idx="1" type="body"/>
          </p:nvPr>
        </p:nvSpPr>
        <p:spPr>
          <a:xfrm>
            <a:off x="311700" y="1202775"/>
            <a:ext cx="8520600" cy="336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Scenario</a:t>
            </a:r>
            <a:r>
              <a:rPr lang="en"/>
              <a:t>: We know that AWS WAF (Web Application Firewall) can protect against various Layer 7 (application layer) attacks such as SQL Injection, Cross-Site Scripting (XSS), and HTTP Flood attacks.</a:t>
            </a:r>
            <a:endParaRPr/>
          </a:p>
          <a:p>
            <a:pPr indent="0" lvl="0" marL="0" rtl="0" algn="l">
              <a:spcBef>
                <a:spcPts val="1200"/>
              </a:spcBef>
              <a:spcAft>
                <a:spcPts val="0"/>
              </a:spcAft>
              <a:buClr>
                <a:schemeClr val="dk1"/>
              </a:buClr>
              <a:buSzPts val="1100"/>
              <a:buFont typeface="Arial"/>
              <a:buNone/>
            </a:pPr>
            <a:r>
              <a:rPr b="1" lang="en"/>
              <a:t>Question</a:t>
            </a:r>
            <a:r>
              <a:rPr lang="en"/>
              <a:t>: But, how can a WAF protect against these application level attacks when </a:t>
            </a:r>
            <a:r>
              <a:rPr b="1" lang="en">
                <a:highlight>
                  <a:srgbClr val="FFFF00"/>
                </a:highlight>
              </a:rPr>
              <a:t>all our traffic is encrypted</a:t>
            </a:r>
            <a:r>
              <a:rPr lang="en"/>
              <a:t>?</a:t>
            </a:r>
            <a:endParaRPr/>
          </a:p>
          <a:p>
            <a:pPr indent="0" lvl="0" marL="0" rtl="0" algn="l">
              <a:spcBef>
                <a:spcPts val="1200"/>
              </a:spcBef>
              <a:spcAft>
                <a:spcPts val="1200"/>
              </a:spcAft>
              <a:buNone/>
            </a:pPr>
            <a:r>
              <a:rPr b="1" lang="en"/>
              <a:t>Hint</a:t>
            </a:r>
            <a:r>
              <a:rPr lang="en"/>
              <a:t>: Think about where and when the decryption of the data occurs in the lifecycle of a request-response.</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termination</a:t>
            </a:r>
            <a:endParaRPr/>
          </a:p>
        </p:txBody>
      </p:sp>
      <p:sp>
        <p:nvSpPr>
          <p:cNvPr id="788" name="Google Shape;788;p133"/>
          <p:cNvSpPr txBox="1"/>
          <p:nvPr>
            <p:ph idx="1" type="body"/>
          </p:nvPr>
        </p:nvSpPr>
        <p:spPr>
          <a:xfrm>
            <a:off x="311700" y="2701700"/>
            <a:ext cx="8796600" cy="1867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
              <a:t>TLS termination (also known as SSL offloading) occurs when an incoming client connection that is secured by the Transport Layer Security (TLS) protocol is </a:t>
            </a:r>
            <a:r>
              <a:rPr b="1" lang="en">
                <a:highlight>
                  <a:srgbClr val="FFFF00"/>
                </a:highlight>
              </a:rPr>
              <a:t>decrypted at the load balancer and passed on to the backend servers as plain text</a:t>
            </a:r>
            <a:r>
              <a:rPr lang="en"/>
              <a:t>. The process of encryption and decryption can consume significant processing power, especially with high volumes of traffic. By handling this at the load balancer level, the backend servers are freed up to handle other processing tasks, improving the overall performance of the application. 								Image: Wikipedia</a:t>
            </a:r>
            <a:endParaRPr/>
          </a:p>
        </p:txBody>
      </p:sp>
      <p:pic>
        <p:nvPicPr>
          <p:cNvPr id="789" name="Google Shape;789;p133"/>
          <p:cNvPicPr preferRelativeResize="0"/>
          <p:nvPr/>
        </p:nvPicPr>
        <p:blipFill>
          <a:blip r:embed="rId3">
            <a:alphaModFix/>
          </a:blip>
          <a:stretch>
            <a:fillRect/>
          </a:stretch>
        </p:blipFill>
        <p:spPr>
          <a:xfrm>
            <a:off x="1196725" y="1116198"/>
            <a:ext cx="5710300" cy="16575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termination</a:t>
            </a:r>
            <a:endParaRPr/>
          </a:p>
        </p:txBody>
      </p:sp>
      <p:sp>
        <p:nvSpPr>
          <p:cNvPr id="795" name="Google Shape;795;p1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1) </a:t>
            </a:r>
            <a:r>
              <a:rPr lang="en"/>
              <a:t>The client makes a secure connection to the load balancer, rather than to the server directly.</a:t>
            </a:r>
            <a:endParaRPr/>
          </a:p>
          <a:p>
            <a:pPr indent="0" lvl="0" marL="0" rtl="0" algn="l">
              <a:spcBef>
                <a:spcPts val="1200"/>
              </a:spcBef>
              <a:spcAft>
                <a:spcPts val="0"/>
              </a:spcAft>
              <a:buClr>
                <a:schemeClr val="dk1"/>
              </a:buClr>
              <a:buSzPts val="1100"/>
              <a:buFont typeface="Arial"/>
              <a:buNone/>
            </a:pPr>
            <a:r>
              <a:rPr lang="en"/>
              <a:t>2) The load balancer decrypts the incoming request and determines which server to route the request to based on its load balancing algorithm.</a:t>
            </a:r>
            <a:endParaRPr/>
          </a:p>
          <a:p>
            <a:pPr indent="0" lvl="0" marL="0" rtl="0" algn="l">
              <a:spcBef>
                <a:spcPts val="1200"/>
              </a:spcBef>
              <a:spcAft>
                <a:spcPts val="0"/>
              </a:spcAft>
              <a:buClr>
                <a:schemeClr val="dk1"/>
              </a:buClr>
              <a:buSzPts val="1100"/>
              <a:buFont typeface="Arial"/>
              <a:buNone/>
            </a:pPr>
            <a:r>
              <a:rPr lang="en"/>
              <a:t>3) The load balancer sends the request to the selected server. This can be done over a secure (TLS) connection for end-to-end encryption, or over an unencrypted connection, depending on the specific requirements of the application.</a:t>
            </a:r>
            <a:endParaRPr/>
          </a:p>
          <a:p>
            <a:pPr indent="0" lvl="0" marL="0" rtl="0" algn="l">
              <a:spcBef>
                <a:spcPts val="1200"/>
              </a:spcBef>
              <a:spcAft>
                <a:spcPts val="1200"/>
              </a:spcAft>
              <a:buNone/>
            </a:pPr>
            <a:r>
              <a:rPr lang="en"/>
              <a:t>4) The server processes the request and sends the response back to the load balancer, which then encrypts the response and sends it back to the client.</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100"/>
              <a:t>Web Application Firewall in action</a:t>
            </a:r>
            <a:endParaRPr sz="4100"/>
          </a:p>
        </p:txBody>
      </p:sp>
      <p:sp>
        <p:nvSpPr>
          <p:cNvPr id="801" name="Google Shape;801;p1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a:t>1. </a:t>
            </a:r>
            <a:r>
              <a:rPr lang="en"/>
              <a:t>The client makes a secure connection to the load balancer, rather than to the server directly.</a:t>
            </a:r>
            <a:endParaRPr/>
          </a:p>
          <a:p>
            <a:pPr indent="0" lvl="0" marL="0" rtl="0" algn="l">
              <a:spcBef>
                <a:spcPts val="1200"/>
              </a:spcBef>
              <a:spcAft>
                <a:spcPts val="0"/>
              </a:spcAft>
              <a:buNone/>
            </a:pPr>
            <a:r>
              <a:rPr lang="en"/>
              <a:t>2. The load balancer decrypts the incoming request. If</a:t>
            </a:r>
            <a:r>
              <a:rPr b="1" lang="en" sz="3410">
                <a:highlight>
                  <a:srgbClr val="FFFF00"/>
                </a:highlight>
              </a:rPr>
              <a:t> AWS WAF is integrated with the load balancer, the decrypted request can be inspected by AWS WAF at this stage</a:t>
            </a:r>
            <a:r>
              <a:rPr lang="en"/>
              <a:t>. AWS WAF applies its rulesets to identify and block any suspicious or malicious traffic.</a:t>
            </a:r>
            <a:endParaRPr/>
          </a:p>
          <a:p>
            <a:pPr indent="0" lvl="0" marL="0" rtl="0" algn="l">
              <a:spcBef>
                <a:spcPts val="1200"/>
              </a:spcBef>
              <a:spcAft>
                <a:spcPts val="0"/>
              </a:spcAft>
              <a:buNone/>
            </a:pPr>
            <a:r>
              <a:rPr lang="en"/>
              <a:t>3. If the request is allowed by AWS WAF, the load balancer determines which server to route the request to based on its load balancing algorithm.</a:t>
            </a:r>
            <a:endParaRPr/>
          </a:p>
          <a:p>
            <a:pPr indent="0" lvl="0" marL="0" rtl="0" algn="l">
              <a:spcBef>
                <a:spcPts val="1200"/>
              </a:spcBef>
              <a:spcAft>
                <a:spcPts val="0"/>
              </a:spcAft>
              <a:buNone/>
            </a:pPr>
            <a:r>
              <a:rPr lang="en"/>
              <a:t>4. The load balancer sends the request to the selected server. This can be done over a secure (TLS) connection for end-to-end encryption, or over an unencrypted connection, depending on the specific requirements of the application.</a:t>
            </a:r>
            <a:endParaRPr/>
          </a:p>
          <a:p>
            <a:pPr indent="0" lvl="0" marL="0" rtl="0" algn="l">
              <a:spcBef>
                <a:spcPts val="1200"/>
              </a:spcBef>
              <a:spcAft>
                <a:spcPts val="0"/>
              </a:spcAft>
              <a:buNone/>
            </a:pPr>
            <a:r>
              <a:rPr lang="en"/>
              <a:t>5. The server processes the request and sends the response back to the load balancer.</a:t>
            </a:r>
            <a:endParaRPr/>
          </a:p>
          <a:p>
            <a:pPr indent="0" lvl="0" marL="0" rtl="0" algn="l">
              <a:spcBef>
                <a:spcPts val="1200"/>
              </a:spcBef>
              <a:spcAft>
                <a:spcPts val="1200"/>
              </a:spcAft>
              <a:buNone/>
            </a:pPr>
            <a:r>
              <a:rPr lang="en"/>
              <a:t>6. The load balancer then encrypts the response and sends it back to the client.</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1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Well-Architected Tool</a:t>
            </a:r>
            <a:endParaRPr/>
          </a:p>
        </p:txBody>
      </p:sp>
      <p:sp>
        <p:nvSpPr>
          <p:cNvPr id="807" name="Google Shape;807;p13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1111"/>
              <a:buFont typeface="Arial"/>
              <a:buNone/>
            </a:pPr>
            <a:r>
              <a:rPr b="1" lang="en"/>
              <a:t>Definition</a:t>
            </a:r>
            <a:r>
              <a:rPr lang="en"/>
              <a:t>: The AWS Well-Architected Tool is a self-service tool designed to help customers review the state and efficiency of their AWS workloads at any time, without the need for an AWS Solutions Architect.</a:t>
            </a:r>
            <a:endParaRPr/>
          </a:p>
          <a:p>
            <a:pPr indent="0" lvl="0" marL="0" rtl="0" algn="l">
              <a:spcBef>
                <a:spcPts val="1200"/>
              </a:spcBef>
              <a:spcAft>
                <a:spcPts val="0"/>
              </a:spcAft>
              <a:buClr>
                <a:schemeClr val="dk1"/>
              </a:buClr>
              <a:buSzPct val="61111"/>
              <a:buFont typeface="Arial"/>
              <a:buNone/>
            </a:pPr>
            <a:r>
              <a:rPr b="1" lang="en"/>
              <a:t>Purpose</a:t>
            </a:r>
            <a:r>
              <a:rPr lang="en"/>
              <a:t>: The tool aims to provide a consistent review process to understand potential risks in workload architectures and to identify steps for improvement.</a:t>
            </a:r>
            <a:endParaRPr/>
          </a:p>
          <a:p>
            <a:pPr indent="0" lvl="0" marL="0" rtl="0" algn="l">
              <a:spcBef>
                <a:spcPts val="1200"/>
              </a:spcBef>
              <a:spcAft>
                <a:spcPts val="0"/>
              </a:spcAft>
              <a:buClr>
                <a:schemeClr val="dk1"/>
              </a:buClr>
              <a:buSzPct val="61111"/>
              <a:buFont typeface="Arial"/>
              <a:buNone/>
            </a:pPr>
            <a:r>
              <a:rPr lang="en"/>
              <a:t>Key Features:</a:t>
            </a:r>
            <a:endParaRPr/>
          </a:p>
          <a:p>
            <a:pPr indent="0" lvl="0" marL="0" rtl="0" algn="l">
              <a:spcBef>
                <a:spcPts val="1200"/>
              </a:spcBef>
              <a:spcAft>
                <a:spcPts val="0"/>
              </a:spcAft>
              <a:buClr>
                <a:schemeClr val="dk1"/>
              </a:buClr>
              <a:buSzPct val="61111"/>
              <a:buFont typeface="Arial"/>
              <a:buNone/>
            </a:pPr>
            <a:r>
              <a:rPr lang="en"/>
              <a:t>    </a:t>
            </a:r>
            <a:r>
              <a:rPr b="1" lang="en"/>
              <a:t>Assesses workloads across six pillars of the Well-Architected Framework</a:t>
            </a:r>
            <a:r>
              <a:rPr lang="en"/>
              <a:t>: Operational Excellence, Security, Reliability, Performance Efficiency, and Cost Optimization.</a:t>
            </a:r>
            <a:endParaRPr/>
          </a:p>
          <a:p>
            <a:pPr indent="0" lvl="0" marL="0" rtl="0" algn="l">
              <a:spcBef>
                <a:spcPts val="1200"/>
              </a:spcBef>
              <a:spcAft>
                <a:spcPts val="0"/>
              </a:spcAft>
              <a:buClr>
                <a:schemeClr val="dk1"/>
              </a:buClr>
              <a:buSzPct val="61111"/>
              <a:buFont typeface="Arial"/>
              <a:buNone/>
            </a:pPr>
            <a:r>
              <a:rPr lang="en"/>
              <a:t>Provides </a:t>
            </a:r>
            <a:r>
              <a:rPr b="1" lang="en">
                <a:highlight>
                  <a:srgbClr val="FFFF00"/>
                </a:highlight>
              </a:rPr>
              <a:t>actionable improvement plan</a:t>
            </a:r>
            <a:r>
              <a:rPr lang="en"/>
              <a:t> based on the assessment.</a:t>
            </a:r>
            <a:endParaRPr/>
          </a:p>
          <a:p>
            <a:pPr indent="0" lvl="0" marL="0" rtl="0" algn="l">
              <a:spcBef>
                <a:spcPts val="1200"/>
              </a:spcBef>
              <a:spcAft>
                <a:spcPts val="1200"/>
              </a:spcAft>
              <a:buNone/>
            </a:pPr>
            <a:r>
              <a:rPr i="1" lang="en" sz="2989"/>
              <a:t>Note: The tool is free of charge. Users only pay for AWS resources consumed during the process.</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3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900"/>
              <a:t>AWS Well-Architected Tool example</a:t>
            </a:r>
            <a:endParaRPr sz="3900"/>
          </a:p>
        </p:txBody>
      </p:sp>
      <p:sp>
        <p:nvSpPr>
          <p:cNvPr id="813" name="Google Shape;813;p1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Step 1</a:t>
            </a:r>
            <a:r>
              <a:rPr lang="en"/>
              <a:t>: </a:t>
            </a:r>
            <a:r>
              <a:rPr lang="en">
                <a:highlight>
                  <a:srgbClr val="FFFF00"/>
                </a:highlight>
              </a:rPr>
              <a:t>Define your workload</a:t>
            </a:r>
            <a:r>
              <a:rPr lang="en"/>
              <a:t>: Describe the AWS resources and architecture that make up your application or service.</a:t>
            </a:r>
            <a:endParaRPr/>
          </a:p>
          <a:p>
            <a:pPr indent="0" lvl="0" marL="0" rtl="0" algn="l">
              <a:spcBef>
                <a:spcPts val="1200"/>
              </a:spcBef>
              <a:spcAft>
                <a:spcPts val="0"/>
              </a:spcAft>
              <a:buClr>
                <a:schemeClr val="dk1"/>
              </a:buClr>
              <a:buSzPts val="1100"/>
              <a:buFont typeface="Arial"/>
              <a:buNone/>
            </a:pPr>
            <a:r>
              <a:rPr b="1" lang="en"/>
              <a:t>Step 2</a:t>
            </a:r>
            <a:r>
              <a:rPr lang="en"/>
              <a:t>: </a:t>
            </a:r>
            <a:r>
              <a:rPr lang="en">
                <a:highlight>
                  <a:srgbClr val="FFFF00"/>
                </a:highlight>
              </a:rPr>
              <a:t>Answer the questions</a:t>
            </a:r>
            <a:r>
              <a:rPr lang="en"/>
              <a:t>: The tool provides a set of questions across the six pillars of the Well Architected Framework. Your answers will help the tool understand your workload's current state.</a:t>
            </a:r>
            <a:endParaRPr/>
          </a:p>
          <a:p>
            <a:pPr indent="0" lvl="0" marL="0" rtl="0" algn="l">
              <a:spcBef>
                <a:spcPts val="1200"/>
              </a:spcBef>
              <a:spcAft>
                <a:spcPts val="1200"/>
              </a:spcAft>
              <a:buNone/>
            </a:pPr>
            <a:r>
              <a:rPr b="1" lang="en"/>
              <a:t>Step 3</a:t>
            </a:r>
            <a:r>
              <a:rPr lang="en"/>
              <a:t>: </a:t>
            </a:r>
            <a:r>
              <a:rPr lang="en">
                <a:highlight>
                  <a:srgbClr val="FFFF00"/>
                </a:highlight>
              </a:rPr>
              <a:t>Get your improvement plan</a:t>
            </a:r>
            <a:r>
              <a:rPr lang="en"/>
              <a:t>: Based on your answers, the AWS Well-Architected Tool will provide a plan describing potential improvements that can be applied to your workload.</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Lab 4 submission</a:t>
            </a:r>
            <a:endParaRPr/>
          </a:p>
        </p:txBody>
      </p:sp>
      <p:sp>
        <p:nvSpPr>
          <p:cNvPr id="819" name="Google Shape;819;p1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820" name="Google Shape;820;p138"/>
          <p:cNvPicPr preferRelativeResize="0"/>
          <p:nvPr/>
        </p:nvPicPr>
        <p:blipFill>
          <a:blip r:embed="rId3">
            <a:alphaModFix/>
          </a:blip>
          <a:stretch>
            <a:fillRect/>
          </a:stretch>
        </p:blipFill>
        <p:spPr>
          <a:xfrm>
            <a:off x="624800" y="1078700"/>
            <a:ext cx="7903616" cy="341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