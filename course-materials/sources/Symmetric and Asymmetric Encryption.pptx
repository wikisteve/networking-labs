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y="5143500" cx="9144000"/>
  <p:notesSz cx="6858000" cy="9144000"/>
  <p:embeddedFontLst>
    <p:embeddedFont>
      <p:font typeface="Amatic SC"/>
      <p:regular r:id="rId36"/>
      <p:bold r:id="rId37"/>
    </p:embeddedFont>
    <p:embeddedFont>
      <p:font typeface="Source Code Pro"/>
      <p:regular r:id="rId38"/>
      <p:bold r:id="rId39"/>
      <p:italic r:id="rId40"/>
      <p:boldItalic r:id="rId4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SourceCodePro-italic.fntdata"/><Relationship Id="rId20" Type="http://schemas.openxmlformats.org/officeDocument/2006/relationships/slide" Target="slides/slide15.xml"/><Relationship Id="rId41" Type="http://schemas.openxmlformats.org/officeDocument/2006/relationships/font" Target="fonts/SourceCodePro-boldItalic.fntdata"/><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slide" Target="slides/slide30.xml"/><Relationship Id="rId12" Type="http://schemas.openxmlformats.org/officeDocument/2006/relationships/slide" Target="slides/slide7.xml"/><Relationship Id="rId34" Type="http://schemas.openxmlformats.org/officeDocument/2006/relationships/slide" Target="slides/slide29.xml"/><Relationship Id="rId15" Type="http://schemas.openxmlformats.org/officeDocument/2006/relationships/slide" Target="slides/slide10.xml"/><Relationship Id="rId37" Type="http://schemas.openxmlformats.org/officeDocument/2006/relationships/font" Target="fonts/AmaticSC-bold.fntdata"/><Relationship Id="rId14" Type="http://schemas.openxmlformats.org/officeDocument/2006/relationships/slide" Target="slides/slide9.xml"/><Relationship Id="rId36" Type="http://schemas.openxmlformats.org/officeDocument/2006/relationships/font" Target="fonts/AmaticSC-regular.fntdata"/><Relationship Id="rId17" Type="http://schemas.openxmlformats.org/officeDocument/2006/relationships/slide" Target="slides/slide12.xml"/><Relationship Id="rId39" Type="http://schemas.openxmlformats.org/officeDocument/2006/relationships/font" Target="fonts/SourceCodePro-bold.fntdata"/><Relationship Id="rId16" Type="http://schemas.openxmlformats.org/officeDocument/2006/relationships/slide" Target="slides/slide11.xml"/><Relationship Id="rId38" Type="http://schemas.openxmlformats.org/officeDocument/2006/relationships/font" Target="fonts/SourceCodePro-regular.fntdata"/><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 name="Google Shape;5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g2bb3ec78bdf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 name="Google Shape;60;g2bb3ec78bdf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bb3ec78bd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bb3ec78bd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2bb3ec78bdf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2bb3ec78bdf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g2bb3ec78bdf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 name="Google Shape;78;g2bb3ec78bdf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2bb3ec78bdf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2bb3ec78bdf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2bb3ec78bdf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2bb3ec78bdf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bb3ec78bdf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2bb3ec78bdf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bb3ec78bd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2bb3ec78bd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bb3ec78bdf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8" name="Google Shape;108;g2bb3ec78bdf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bb3ec78bdf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bb3ec78bdf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2bb3ec78bdf_0_16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2bb3ec78bdf_0_16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2bb3ec78bdf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2bb3ec78bdf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SLIDES_API2013765297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SLIDES_API2013765297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2bb3ec78bdf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2bb3ec78bdf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2bb3ec78bdf_0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2bb3ec78bdf_0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g2bb3ec78bdf_0_1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0" name="Google Shape;150;g2bb3ec78bdf_0_1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bb3ec78bdf_0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bb3ec78bdf_0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SLIDES_API1255136148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2" name="Google Shape;162;SLIDES_API1255136148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2bb3ec78bdf_0_1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2bb3ec78bdf_0_1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2bb3ec78bdf_0_1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2bb3ec78bdf_0_1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2bb3ec78bdf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0" name="Google Shape;180;g2bb3ec78bdf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bb3ec78bdf_0_2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2bb3ec78bdf_0_2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2bb3ec78bdf_0_2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2bb3ec78bdf_0_2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2bb3ec78bdf_0_2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2bb3ec78bdf_0_2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2bb3ec78bdf_0_2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4" name="Google Shape;204;g2bb3ec78bdf_0_2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2bb3ec78bdf_0_2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2bb3ec78bdf_0_2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2bb3ec78bdf_0_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2bb3ec78bdf_0_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2bb3ec78bdf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2bb3ec78bdf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bb3ec78bdf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2bb3ec78bdf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0" y="0"/>
            <a:ext cx="9144000" cy="34290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type="ctrTitle"/>
          </p:nvPr>
        </p:nvSpPr>
        <p:spPr>
          <a:xfrm>
            <a:off x="311700" y="392150"/>
            <a:ext cx="8520600" cy="26904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p:txBody>
      </p:sp>
      <p:sp>
        <p:nvSpPr>
          <p:cNvPr id="12" name="Google Shape;12;p2"/>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a:bodyPr>
          <a:lstStyle>
            <a:lvl1pPr lvl="0" algn="ctr">
              <a:lnSpc>
                <a:spcPct val="100000"/>
              </a:lnSpc>
              <a:spcBef>
                <a:spcPts val="0"/>
              </a:spcBef>
              <a:spcAft>
                <a:spcPts val="0"/>
              </a:spcAft>
              <a:buClr>
                <a:schemeClr val="accent1"/>
              </a:buClr>
              <a:buSzPts val="2100"/>
              <a:buNone/>
              <a:defRPr b="1" sz="2100">
                <a:solidFill>
                  <a:schemeClr val="accent1"/>
                </a:solidFill>
              </a:defRPr>
            </a:lvl1pPr>
            <a:lvl2pPr lvl="1" algn="ctr">
              <a:lnSpc>
                <a:spcPct val="100000"/>
              </a:lnSpc>
              <a:spcBef>
                <a:spcPts val="0"/>
              </a:spcBef>
              <a:spcAft>
                <a:spcPts val="0"/>
              </a:spcAft>
              <a:buClr>
                <a:schemeClr val="accent1"/>
              </a:buClr>
              <a:buSzPts val="2100"/>
              <a:buNone/>
              <a:defRPr b="1" sz="2100">
                <a:solidFill>
                  <a:schemeClr val="accent1"/>
                </a:solidFill>
              </a:defRPr>
            </a:lvl2pPr>
            <a:lvl3pPr lvl="2" algn="ctr">
              <a:lnSpc>
                <a:spcPct val="100000"/>
              </a:lnSpc>
              <a:spcBef>
                <a:spcPts val="0"/>
              </a:spcBef>
              <a:spcAft>
                <a:spcPts val="0"/>
              </a:spcAft>
              <a:buClr>
                <a:schemeClr val="accent1"/>
              </a:buClr>
              <a:buSzPts val="2100"/>
              <a:buNone/>
              <a:defRPr b="1" sz="2100">
                <a:solidFill>
                  <a:schemeClr val="accent1"/>
                </a:solidFill>
              </a:defRPr>
            </a:lvl3pPr>
            <a:lvl4pPr lvl="3" algn="ctr">
              <a:lnSpc>
                <a:spcPct val="100000"/>
              </a:lnSpc>
              <a:spcBef>
                <a:spcPts val="0"/>
              </a:spcBef>
              <a:spcAft>
                <a:spcPts val="0"/>
              </a:spcAft>
              <a:buClr>
                <a:schemeClr val="accent1"/>
              </a:buClr>
              <a:buSzPts val="2100"/>
              <a:buNone/>
              <a:defRPr b="1" sz="2100">
                <a:solidFill>
                  <a:schemeClr val="accent1"/>
                </a:solidFill>
              </a:defRPr>
            </a:lvl4pPr>
            <a:lvl5pPr lvl="4" algn="ctr">
              <a:lnSpc>
                <a:spcPct val="100000"/>
              </a:lnSpc>
              <a:spcBef>
                <a:spcPts val="0"/>
              </a:spcBef>
              <a:spcAft>
                <a:spcPts val="0"/>
              </a:spcAft>
              <a:buClr>
                <a:schemeClr val="accent1"/>
              </a:buClr>
              <a:buSzPts val="2100"/>
              <a:buNone/>
              <a:defRPr b="1" sz="2100">
                <a:solidFill>
                  <a:schemeClr val="accent1"/>
                </a:solidFill>
              </a:defRPr>
            </a:lvl5pPr>
            <a:lvl6pPr lvl="5" algn="ctr">
              <a:lnSpc>
                <a:spcPct val="100000"/>
              </a:lnSpc>
              <a:spcBef>
                <a:spcPts val="0"/>
              </a:spcBef>
              <a:spcAft>
                <a:spcPts val="0"/>
              </a:spcAft>
              <a:buClr>
                <a:schemeClr val="accent1"/>
              </a:buClr>
              <a:buSzPts val="2100"/>
              <a:buNone/>
              <a:defRPr b="1" sz="2100">
                <a:solidFill>
                  <a:schemeClr val="accent1"/>
                </a:solidFill>
              </a:defRPr>
            </a:lvl6pPr>
            <a:lvl7pPr lvl="6" algn="ctr">
              <a:lnSpc>
                <a:spcPct val="100000"/>
              </a:lnSpc>
              <a:spcBef>
                <a:spcPts val="0"/>
              </a:spcBef>
              <a:spcAft>
                <a:spcPts val="0"/>
              </a:spcAft>
              <a:buClr>
                <a:schemeClr val="accent1"/>
              </a:buClr>
              <a:buSzPts val="2100"/>
              <a:buNone/>
              <a:defRPr b="1" sz="2100">
                <a:solidFill>
                  <a:schemeClr val="accent1"/>
                </a:solidFill>
              </a:defRPr>
            </a:lvl7pPr>
            <a:lvl8pPr lvl="7" algn="ctr">
              <a:lnSpc>
                <a:spcPct val="100000"/>
              </a:lnSpc>
              <a:spcBef>
                <a:spcPts val="0"/>
              </a:spcBef>
              <a:spcAft>
                <a:spcPts val="0"/>
              </a:spcAft>
              <a:buClr>
                <a:schemeClr val="accent1"/>
              </a:buClr>
              <a:buSzPts val="2100"/>
              <a:buNone/>
              <a:defRPr b="1" sz="2100">
                <a:solidFill>
                  <a:schemeClr val="accent1"/>
                </a:solidFill>
              </a:defRPr>
            </a:lvl8pPr>
            <a:lvl9pPr lvl="8" algn="ctr">
              <a:lnSpc>
                <a:spcPct val="100000"/>
              </a:lnSpc>
              <a:spcBef>
                <a:spcPts val="0"/>
              </a:spcBef>
              <a:spcAft>
                <a:spcPts val="0"/>
              </a:spcAft>
              <a:buClr>
                <a:schemeClr val="accent1"/>
              </a:buClr>
              <a:buSzPts val="2100"/>
              <a:buNone/>
              <a:defRPr b="1" sz="2100">
                <a:solidFill>
                  <a:schemeClr val="accent1"/>
                </a:solidFill>
              </a:defRPr>
            </a:lvl9pPr>
          </a:lstStyle>
          <a:p/>
        </p:txBody>
      </p:sp>
      <p:sp>
        <p:nvSpPr>
          <p:cNvPr id="13" name="Google Shape;13;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4" name="Shape 14"/>
        <p:cNvGrpSpPr/>
        <p:nvPr/>
      </p:nvGrpSpPr>
      <p:grpSpPr>
        <a:xfrm>
          <a:off x="0" y="0"/>
          <a:ext cx="0" cy="0"/>
          <a:chOff x="0" y="0"/>
          <a:chExt cx="0" cy="0"/>
        </a:xfrm>
      </p:grpSpPr>
      <p:sp>
        <p:nvSpPr>
          <p:cNvPr id="15" name="Google Shape;15;p3"/>
          <p:cNvSpPr txBox="1"/>
          <p:nvPr>
            <p:ph type="title"/>
          </p:nvPr>
        </p:nvSpPr>
        <p:spPr>
          <a:xfrm>
            <a:off x="2802750" y="802500"/>
            <a:ext cx="3538500" cy="3538500"/>
          </a:xfrm>
          <a:prstGeom prst="rect">
            <a:avLst/>
          </a:prstGeom>
          <a:solidFill>
            <a:srgbClr val="FFFFFF"/>
          </a:solidFill>
        </p:spPr>
        <p:txBody>
          <a:bodyPr anchorCtr="0" anchor="ctr" bIns="91425" lIns="91425" spcFirstLastPara="1" rIns="91425" wrap="square" tIns="91425">
            <a:norm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
        <p:nvSpPr>
          <p:cNvPr id="16" name="Google Shape;16;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19" name="Google Shape;19;p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0" name="Google Shape;20;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1" name="Shape 21"/>
        <p:cNvGrpSpPr/>
        <p:nvPr/>
      </p:nvGrpSpPr>
      <p:grpSpPr>
        <a:xfrm>
          <a:off x="0" y="0"/>
          <a:ext cx="0" cy="0"/>
          <a:chOff x="0" y="0"/>
          <a:chExt cx="0" cy="0"/>
        </a:xfrm>
      </p:grpSpPr>
      <p:sp>
        <p:nvSpPr>
          <p:cNvPr id="22" name="Google Shape;22;p5"/>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p:txBody>
      </p:sp>
      <p:sp>
        <p:nvSpPr>
          <p:cNvPr id="23" name="Google Shape;23;p5"/>
          <p:cNvSpPr txBox="1"/>
          <p:nvPr>
            <p:ph idx="1" type="body"/>
          </p:nvPr>
        </p:nvSpPr>
        <p:spPr>
          <a:xfrm>
            <a:off x="3117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2" type="body"/>
          </p:nvPr>
        </p:nvSpPr>
        <p:spPr>
          <a:xfrm>
            <a:off x="4832400" y="1228675"/>
            <a:ext cx="3999900" cy="33402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5" name="Google Shape;25;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sp>
        <p:nvSpPr>
          <p:cNvPr id="27" name="Google Shape;27;p6"/>
          <p:cNvSpPr txBox="1"/>
          <p:nvPr>
            <p:ph type="title"/>
          </p:nvPr>
        </p:nvSpPr>
        <p:spPr>
          <a:xfrm>
            <a:off x="304800" y="309350"/>
            <a:ext cx="8537700" cy="7482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28" name="Google Shape;28;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9" name="Shape 29"/>
        <p:cNvGrpSpPr/>
        <p:nvPr/>
      </p:nvGrpSpPr>
      <p:grpSpPr>
        <a:xfrm>
          <a:off x="0" y="0"/>
          <a:ext cx="0" cy="0"/>
          <a:chOff x="0" y="0"/>
          <a:chExt cx="0" cy="0"/>
        </a:xfrm>
      </p:grpSpPr>
      <p:sp>
        <p:nvSpPr>
          <p:cNvPr id="30" name="Google Shape;30;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3000"/>
              <a:buNone/>
              <a:defRPr sz="3000">
                <a:highlight>
                  <a:schemeClr val="dk1"/>
                </a:highlight>
              </a:defRPr>
            </a:lvl1pPr>
            <a:lvl2pPr lvl="1">
              <a:spcBef>
                <a:spcPts val="0"/>
              </a:spcBef>
              <a:spcAft>
                <a:spcPts val="0"/>
              </a:spcAft>
              <a:buSzPts val="3000"/>
              <a:buNone/>
              <a:defRPr sz="3000">
                <a:highlight>
                  <a:schemeClr val="dk1"/>
                </a:highlight>
              </a:defRPr>
            </a:lvl2pPr>
            <a:lvl3pPr lvl="2">
              <a:spcBef>
                <a:spcPts val="0"/>
              </a:spcBef>
              <a:spcAft>
                <a:spcPts val="0"/>
              </a:spcAft>
              <a:buSzPts val="3000"/>
              <a:buNone/>
              <a:defRPr sz="3000">
                <a:highlight>
                  <a:schemeClr val="dk1"/>
                </a:highlight>
              </a:defRPr>
            </a:lvl3pPr>
            <a:lvl4pPr lvl="3">
              <a:spcBef>
                <a:spcPts val="0"/>
              </a:spcBef>
              <a:spcAft>
                <a:spcPts val="0"/>
              </a:spcAft>
              <a:buSzPts val="3000"/>
              <a:buNone/>
              <a:defRPr sz="3000">
                <a:highlight>
                  <a:schemeClr val="dk1"/>
                </a:highlight>
              </a:defRPr>
            </a:lvl4pPr>
            <a:lvl5pPr lvl="4">
              <a:spcBef>
                <a:spcPts val="0"/>
              </a:spcBef>
              <a:spcAft>
                <a:spcPts val="0"/>
              </a:spcAft>
              <a:buSzPts val="3000"/>
              <a:buNone/>
              <a:defRPr sz="3000">
                <a:highlight>
                  <a:schemeClr val="dk1"/>
                </a:highlight>
              </a:defRPr>
            </a:lvl5pPr>
            <a:lvl6pPr lvl="5">
              <a:spcBef>
                <a:spcPts val="0"/>
              </a:spcBef>
              <a:spcAft>
                <a:spcPts val="0"/>
              </a:spcAft>
              <a:buSzPts val="3000"/>
              <a:buNone/>
              <a:defRPr sz="3000">
                <a:highlight>
                  <a:schemeClr val="dk1"/>
                </a:highlight>
              </a:defRPr>
            </a:lvl6pPr>
            <a:lvl7pPr lvl="6">
              <a:spcBef>
                <a:spcPts val="0"/>
              </a:spcBef>
              <a:spcAft>
                <a:spcPts val="0"/>
              </a:spcAft>
              <a:buSzPts val="3000"/>
              <a:buNone/>
              <a:defRPr sz="3000">
                <a:highlight>
                  <a:schemeClr val="dk1"/>
                </a:highlight>
              </a:defRPr>
            </a:lvl7pPr>
            <a:lvl8pPr lvl="7">
              <a:spcBef>
                <a:spcPts val="0"/>
              </a:spcBef>
              <a:spcAft>
                <a:spcPts val="0"/>
              </a:spcAft>
              <a:buSzPts val="3000"/>
              <a:buNone/>
              <a:defRPr sz="3000">
                <a:highlight>
                  <a:schemeClr val="dk1"/>
                </a:highlight>
              </a:defRPr>
            </a:lvl8pPr>
            <a:lvl9pPr lvl="8">
              <a:spcBef>
                <a:spcPts val="0"/>
              </a:spcBef>
              <a:spcAft>
                <a:spcPts val="0"/>
              </a:spcAft>
              <a:buSzPts val="3000"/>
              <a:buNone/>
              <a:defRPr sz="3000">
                <a:highlight>
                  <a:schemeClr val="dk1"/>
                </a:highlight>
              </a:defRPr>
            </a:lvl9pPr>
          </a:lstStyle>
          <a:p/>
        </p:txBody>
      </p:sp>
      <p:sp>
        <p:nvSpPr>
          <p:cNvPr id="31" name="Google Shape;31;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2" name="Google Shape;32;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4"/>
        </a:solidFill>
      </p:bgPr>
    </p:bg>
    <p:spTree>
      <p:nvGrpSpPr>
        <p:cNvPr id="33" name="Shape 33"/>
        <p:cNvGrpSpPr/>
        <p:nvPr/>
      </p:nvGrpSpPr>
      <p:grpSpPr>
        <a:xfrm>
          <a:off x="0" y="0"/>
          <a:ext cx="0" cy="0"/>
          <a:chOff x="0" y="0"/>
          <a:chExt cx="0" cy="0"/>
        </a:xfrm>
      </p:grpSpPr>
      <p:sp>
        <p:nvSpPr>
          <p:cNvPr id="34" name="Google Shape;34;p8"/>
          <p:cNvSpPr txBox="1"/>
          <p:nvPr>
            <p:ph type="title"/>
          </p:nvPr>
        </p:nvSpPr>
        <p:spPr>
          <a:xfrm>
            <a:off x="490250" y="526350"/>
            <a:ext cx="5618700" cy="40908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6000"/>
              <a:buNone/>
              <a:defRPr sz="6000">
                <a:solidFill>
                  <a:schemeClr val="lt1"/>
                </a:solidFill>
              </a:defRPr>
            </a:lvl1pPr>
            <a:lvl2pPr lvl="1">
              <a:spcBef>
                <a:spcPts val="0"/>
              </a:spcBef>
              <a:spcAft>
                <a:spcPts val="0"/>
              </a:spcAft>
              <a:buClr>
                <a:schemeClr val="lt1"/>
              </a:buClr>
              <a:buSzPts val="6000"/>
              <a:buNone/>
              <a:defRPr sz="6000">
                <a:solidFill>
                  <a:schemeClr val="lt1"/>
                </a:solidFill>
              </a:defRPr>
            </a:lvl2pPr>
            <a:lvl3pPr lvl="2">
              <a:spcBef>
                <a:spcPts val="0"/>
              </a:spcBef>
              <a:spcAft>
                <a:spcPts val="0"/>
              </a:spcAft>
              <a:buClr>
                <a:schemeClr val="lt1"/>
              </a:buClr>
              <a:buSzPts val="6000"/>
              <a:buNone/>
              <a:defRPr sz="6000">
                <a:solidFill>
                  <a:schemeClr val="lt1"/>
                </a:solidFill>
              </a:defRPr>
            </a:lvl3pPr>
            <a:lvl4pPr lvl="3">
              <a:spcBef>
                <a:spcPts val="0"/>
              </a:spcBef>
              <a:spcAft>
                <a:spcPts val="0"/>
              </a:spcAft>
              <a:buClr>
                <a:schemeClr val="lt1"/>
              </a:buClr>
              <a:buSzPts val="6000"/>
              <a:buNone/>
              <a:defRPr sz="6000">
                <a:solidFill>
                  <a:schemeClr val="lt1"/>
                </a:solidFill>
              </a:defRPr>
            </a:lvl4pPr>
            <a:lvl5pPr lvl="4">
              <a:spcBef>
                <a:spcPts val="0"/>
              </a:spcBef>
              <a:spcAft>
                <a:spcPts val="0"/>
              </a:spcAft>
              <a:buClr>
                <a:schemeClr val="lt1"/>
              </a:buClr>
              <a:buSzPts val="6000"/>
              <a:buNone/>
              <a:defRPr sz="6000">
                <a:solidFill>
                  <a:schemeClr val="lt1"/>
                </a:solidFill>
              </a:defRPr>
            </a:lvl5pPr>
            <a:lvl6pPr lvl="5">
              <a:spcBef>
                <a:spcPts val="0"/>
              </a:spcBef>
              <a:spcAft>
                <a:spcPts val="0"/>
              </a:spcAft>
              <a:buClr>
                <a:schemeClr val="lt1"/>
              </a:buClr>
              <a:buSzPts val="6000"/>
              <a:buNone/>
              <a:defRPr sz="6000">
                <a:solidFill>
                  <a:schemeClr val="lt1"/>
                </a:solidFill>
              </a:defRPr>
            </a:lvl6pPr>
            <a:lvl7pPr lvl="6">
              <a:spcBef>
                <a:spcPts val="0"/>
              </a:spcBef>
              <a:spcAft>
                <a:spcPts val="0"/>
              </a:spcAft>
              <a:buClr>
                <a:schemeClr val="lt1"/>
              </a:buClr>
              <a:buSzPts val="6000"/>
              <a:buNone/>
              <a:defRPr sz="6000">
                <a:solidFill>
                  <a:schemeClr val="lt1"/>
                </a:solidFill>
              </a:defRPr>
            </a:lvl7pPr>
            <a:lvl8pPr lvl="7">
              <a:spcBef>
                <a:spcPts val="0"/>
              </a:spcBef>
              <a:spcAft>
                <a:spcPts val="0"/>
              </a:spcAft>
              <a:buClr>
                <a:schemeClr val="lt1"/>
              </a:buClr>
              <a:buSzPts val="6000"/>
              <a:buNone/>
              <a:defRPr sz="6000">
                <a:solidFill>
                  <a:schemeClr val="lt1"/>
                </a:solidFill>
              </a:defRPr>
            </a:lvl8pPr>
            <a:lvl9pPr lvl="8">
              <a:spcBef>
                <a:spcPts val="0"/>
              </a:spcBef>
              <a:spcAft>
                <a:spcPts val="0"/>
              </a:spcAft>
              <a:buClr>
                <a:schemeClr val="lt1"/>
              </a:buClr>
              <a:buSzPts val="6000"/>
              <a:buNone/>
              <a:defRPr sz="6000">
                <a:solidFill>
                  <a:schemeClr val="lt1"/>
                </a:solidFill>
              </a:defRPr>
            </a:lvl9pPr>
          </a:lstStyle>
          <a:p/>
        </p:txBody>
      </p:sp>
      <p:sp>
        <p:nvSpPr>
          <p:cNvPr id="35" name="Google Shape;35;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6" name="Shape 36"/>
        <p:cNvGrpSpPr/>
        <p:nvPr/>
      </p:nvGrpSpPr>
      <p:grpSpPr>
        <a:xfrm>
          <a:off x="0" y="0"/>
          <a:ext cx="0" cy="0"/>
          <a:chOff x="0" y="0"/>
          <a:chExt cx="0" cy="0"/>
        </a:xfrm>
      </p:grpSpPr>
      <p:sp>
        <p:nvSpPr>
          <p:cNvPr id="37" name="Google Shape;37;p9"/>
          <p:cNvSpPr/>
          <p:nvPr/>
        </p:nvSpPr>
        <p:spPr>
          <a:xfrm>
            <a:off x="4572000" y="-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8" name="Google Shape;38;p9"/>
          <p:cNvCxnSpPr/>
          <p:nvPr/>
        </p:nvCxnSpPr>
        <p:spPr>
          <a:xfrm>
            <a:off x="5029675" y="4495500"/>
            <a:ext cx="468300" cy="0"/>
          </a:xfrm>
          <a:prstGeom prst="straightConnector1">
            <a:avLst/>
          </a:prstGeom>
          <a:noFill/>
          <a:ln cap="flat" cmpd="sng" w="28575">
            <a:solidFill>
              <a:schemeClr val="lt1"/>
            </a:solidFill>
            <a:prstDash val="solid"/>
            <a:round/>
            <a:headEnd len="sm" w="sm" type="none"/>
            <a:tailEnd len="sm" w="sm" type="none"/>
          </a:ln>
        </p:spPr>
      </p:cxnSp>
      <p:sp>
        <p:nvSpPr>
          <p:cNvPr id="39" name="Google Shape;39;p9"/>
          <p:cNvSpPr txBox="1"/>
          <p:nvPr>
            <p:ph type="title"/>
          </p:nvPr>
        </p:nvSpPr>
        <p:spPr>
          <a:xfrm>
            <a:off x="265500" y="1081400"/>
            <a:ext cx="4045200" cy="1710300"/>
          </a:xfrm>
          <a:prstGeom prst="rect">
            <a:avLst/>
          </a:prstGeom>
        </p:spPr>
        <p:txBody>
          <a:bodyPr anchorCtr="0" anchor="b" bIns="91425" lIns="91425" spcFirstLastPara="1" rIns="91425" wrap="square" tIns="91425">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p:txBody>
      </p:sp>
      <p:sp>
        <p:nvSpPr>
          <p:cNvPr id="40" name="Google Shape;40;p9"/>
          <p:cNvSpPr txBox="1"/>
          <p:nvPr>
            <p:ph idx="1" type="subTitle"/>
          </p:nvPr>
        </p:nvSpPr>
        <p:spPr>
          <a:xfrm>
            <a:off x="265500" y="2845223"/>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1800"/>
              <a:buNone/>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41" name="Google Shape;41;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accent1"/>
              </a:buClr>
              <a:buSzPts val="1800"/>
              <a:buChar char="●"/>
              <a:defRPr>
                <a:solidFill>
                  <a:schemeClr val="accent1"/>
                </a:solidFill>
                <a:highlight>
                  <a:schemeClr val="lt1"/>
                </a:highlight>
              </a:defRPr>
            </a:lvl1pPr>
            <a:lvl2pPr indent="-317500" lvl="1" marL="914400">
              <a:spcBef>
                <a:spcPts val="0"/>
              </a:spcBef>
              <a:spcAft>
                <a:spcPts val="0"/>
              </a:spcAft>
              <a:buClr>
                <a:schemeClr val="accent1"/>
              </a:buClr>
              <a:buSzPts val="1400"/>
              <a:buChar char="○"/>
              <a:defRPr>
                <a:solidFill>
                  <a:schemeClr val="accent1"/>
                </a:solidFill>
                <a:highlight>
                  <a:schemeClr val="lt1"/>
                </a:highlight>
              </a:defRPr>
            </a:lvl2pPr>
            <a:lvl3pPr indent="-317500" lvl="2" marL="1371600">
              <a:spcBef>
                <a:spcPts val="0"/>
              </a:spcBef>
              <a:spcAft>
                <a:spcPts val="0"/>
              </a:spcAft>
              <a:buClr>
                <a:schemeClr val="accent1"/>
              </a:buClr>
              <a:buSzPts val="1400"/>
              <a:buChar char="■"/>
              <a:defRPr>
                <a:solidFill>
                  <a:schemeClr val="accent1"/>
                </a:solidFill>
                <a:highlight>
                  <a:schemeClr val="lt1"/>
                </a:highlight>
              </a:defRPr>
            </a:lvl3pPr>
            <a:lvl4pPr indent="-317500" lvl="3" marL="1828800">
              <a:spcBef>
                <a:spcPts val="0"/>
              </a:spcBef>
              <a:spcAft>
                <a:spcPts val="0"/>
              </a:spcAft>
              <a:buClr>
                <a:schemeClr val="accent1"/>
              </a:buClr>
              <a:buSzPts val="1400"/>
              <a:buChar char="●"/>
              <a:defRPr>
                <a:solidFill>
                  <a:schemeClr val="accent1"/>
                </a:solidFill>
                <a:highlight>
                  <a:schemeClr val="lt1"/>
                </a:highlight>
              </a:defRPr>
            </a:lvl4pPr>
            <a:lvl5pPr indent="-317500" lvl="4" marL="2286000">
              <a:spcBef>
                <a:spcPts val="0"/>
              </a:spcBef>
              <a:spcAft>
                <a:spcPts val="0"/>
              </a:spcAft>
              <a:buClr>
                <a:schemeClr val="accent1"/>
              </a:buClr>
              <a:buSzPts val="1400"/>
              <a:buChar char="○"/>
              <a:defRPr>
                <a:solidFill>
                  <a:schemeClr val="accent1"/>
                </a:solidFill>
                <a:highlight>
                  <a:schemeClr val="lt1"/>
                </a:highlight>
              </a:defRPr>
            </a:lvl5pPr>
            <a:lvl6pPr indent="-317500" lvl="5" marL="2743200">
              <a:spcBef>
                <a:spcPts val="0"/>
              </a:spcBef>
              <a:spcAft>
                <a:spcPts val="0"/>
              </a:spcAft>
              <a:buClr>
                <a:schemeClr val="accent1"/>
              </a:buClr>
              <a:buSzPts val="1400"/>
              <a:buChar char="■"/>
              <a:defRPr>
                <a:solidFill>
                  <a:schemeClr val="accent1"/>
                </a:solidFill>
                <a:highlight>
                  <a:schemeClr val="lt1"/>
                </a:highlight>
              </a:defRPr>
            </a:lvl6pPr>
            <a:lvl7pPr indent="-317500" lvl="6" marL="3200400">
              <a:spcBef>
                <a:spcPts val="0"/>
              </a:spcBef>
              <a:spcAft>
                <a:spcPts val="0"/>
              </a:spcAft>
              <a:buClr>
                <a:schemeClr val="accent1"/>
              </a:buClr>
              <a:buSzPts val="1400"/>
              <a:buChar char="●"/>
              <a:defRPr>
                <a:solidFill>
                  <a:schemeClr val="accent1"/>
                </a:solidFill>
                <a:highlight>
                  <a:schemeClr val="lt1"/>
                </a:highlight>
              </a:defRPr>
            </a:lvl7pPr>
            <a:lvl8pPr indent="-317500" lvl="7" marL="3657600">
              <a:spcBef>
                <a:spcPts val="0"/>
              </a:spcBef>
              <a:spcAft>
                <a:spcPts val="0"/>
              </a:spcAft>
              <a:buClr>
                <a:schemeClr val="accent1"/>
              </a:buClr>
              <a:buSzPts val="1400"/>
              <a:buChar char="○"/>
              <a:defRPr>
                <a:solidFill>
                  <a:schemeClr val="accent1"/>
                </a:solidFill>
                <a:highlight>
                  <a:schemeClr val="lt1"/>
                </a:highlight>
              </a:defRPr>
            </a:lvl8pPr>
            <a:lvl9pPr indent="-317500" lvl="8" marL="4114800">
              <a:spcBef>
                <a:spcPts val="0"/>
              </a:spcBef>
              <a:spcAft>
                <a:spcPts val="0"/>
              </a:spcAft>
              <a:buClr>
                <a:schemeClr val="accent1"/>
              </a:buClr>
              <a:buSzPts val="1400"/>
              <a:buChar char="■"/>
              <a:defRPr>
                <a:solidFill>
                  <a:schemeClr val="accent1"/>
                </a:solidFill>
                <a:highlight>
                  <a:schemeClr val="lt1"/>
                </a:highlight>
              </a:defRPr>
            </a:lvl9pPr>
          </a:lstStyle>
          <a:p/>
        </p:txBody>
      </p:sp>
      <p:sp>
        <p:nvSpPr>
          <p:cNvPr id="42" name="Google Shape;42;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3" name="Shape 43"/>
        <p:cNvGrpSpPr/>
        <p:nvPr/>
      </p:nvGrpSpPr>
      <p:grpSpPr>
        <a:xfrm>
          <a:off x="0" y="0"/>
          <a:ext cx="0" cy="0"/>
          <a:chOff x="0" y="0"/>
          <a:chExt cx="0" cy="0"/>
        </a:xfrm>
      </p:grpSpPr>
      <p:sp>
        <p:nvSpPr>
          <p:cNvPr id="44" name="Google Shape;44;p10"/>
          <p:cNvSpPr txBox="1"/>
          <p:nvPr>
            <p:ph idx="1" type="body"/>
          </p:nvPr>
        </p:nvSpPr>
        <p:spPr>
          <a:xfrm>
            <a:off x="319500" y="4230575"/>
            <a:ext cx="5998800" cy="598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Clr>
                <a:schemeClr val="accent1"/>
              </a:buClr>
              <a:buSzPts val="2400"/>
              <a:buFont typeface="Amatic SC"/>
              <a:buNone/>
              <a:defRPr b="1" sz="2400">
                <a:solidFill>
                  <a:schemeClr val="accent1"/>
                </a:solidFill>
                <a:latin typeface="Amatic SC"/>
                <a:ea typeface="Amatic SC"/>
                <a:cs typeface="Amatic SC"/>
                <a:sym typeface="Amatic SC"/>
              </a:defRPr>
            </a:lvl1pPr>
          </a:lstStyle>
          <a:p/>
        </p:txBody>
      </p:sp>
      <p:sp>
        <p:nvSpPr>
          <p:cNvPr id="45" name="Google Shape;45;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6" name="Shape 46"/>
        <p:cNvGrpSpPr/>
        <p:nvPr/>
      </p:nvGrpSpPr>
      <p:grpSpPr>
        <a:xfrm>
          <a:off x="0" y="0"/>
          <a:ext cx="0" cy="0"/>
          <a:chOff x="0" y="0"/>
          <a:chExt cx="0" cy="0"/>
        </a:xfrm>
      </p:grpSpPr>
      <p:sp>
        <p:nvSpPr>
          <p:cNvPr id="47" name="Google Shape;47;p11"/>
          <p:cNvSpPr txBox="1"/>
          <p:nvPr>
            <p:ph hasCustomPrompt="1" type="title"/>
          </p:nvPr>
        </p:nvSpPr>
        <p:spPr>
          <a:xfrm>
            <a:off x="311700" y="1240275"/>
            <a:ext cx="8520600" cy="19818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lt1"/>
              </a:buClr>
              <a:buSzPts val="12000"/>
              <a:buNone/>
              <a:defRPr sz="12000">
                <a:solidFill>
                  <a:schemeClr val="lt1"/>
                </a:solidFill>
                <a:highlight>
                  <a:schemeClr val="accent1"/>
                </a:highlight>
              </a:defRPr>
            </a:lvl1pPr>
            <a:lvl2pPr lvl="1" algn="ctr">
              <a:spcBef>
                <a:spcPts val="0"/>
              </a:spcBef>
              <a:spcAft>
                <a:spcPts val="0"/>
              </a:spcAft>
              <a:buClr>
                <a:schemeClr val="lt1"/>
              </a:buClr>
              <a:buSzPts val="12000"/>
              <a:buNone/>
              <a:defRPr sz="12000">
                <a:solidFill>
                  <a:schemeClr val="lt1"/>
                </a:solidFill>
                <a:highlight>
                  <a:schemeClr val="accent1"/>
                </a:highlight>
              </a:defRPr>
            </a:lvl2pPr>
            <a:lvl3pPr lvl="2" algn="ctr">
              <a:spcBef>
                <a:spcPts val="0"/>
              </a:spcBef>
              <a:spcAft>
                <a:spcPts val="0"/>
              </a:spcAft>
              <a:buClr>
                <a:schemeClr val="lt1"/>
              </a:buClr>
              <a:buSzPts val="12000"/>
              <a:buNone/>
              <a:defRPr sz="12000">
                <a:solidFill>
                  <a:schemeClr val="lt1"/>
                </a:solidFill>
                <a:highlight>
                  <a:schemeClr val="accent1"/>
                </a:highlight>
              </a:defRPr>
            </a:lvl3pPr>
            <a:lvl4pPr lvl="3" algn="ctr">
              <a:spcBef>
                <a:spcPts val="0"/>
              </a:spcBef>
              <a:spcAft>
                <a:spcPts val="0"/>
              </a:spcAft>
              <a:buClr>
                <a:schemeClr val="lt1"/>
              </a:buClr>
              <a:buSzPts val="12000"/>
              <a:buNone/>
              <a:defRPr sz="12000">
                <a:solidFill>
                  <a:schemeClr val="lt1"/>
                </a:solidFill>
                <a:highlight>
                  <a:schemeClr val="accent1"/>
                </a:highlight>
              </a:defRPr>
            </a:lvl4pPr>
            <a:lvl5pPr lvl="4" algn="ctr">
              <a:spcBef>
                <a:spcPts val="0"/>
              </a:spcBef>
              <a:spcAft>
                <a:spcPts val="0"/>
              </a:spcAft>
              <a:buClr>
                <a:schemeClr val="lt1"/>
              </a:buClr>
              <a:buSzPts val="12000"/>
              <a:buNone/>
              <a:defRPr sz="12000">
                <a:solidFill>
                  <a:schemeClr val="lt1"/>
                </a:solidFill>
                <a:highlight>
                  <a:schemeClr val="accent1"/>
                </a:highlight>
              </a:defRPr>
            </a:lvl5pPr>
            <a:lvl6pPr lvl="5" algn="ctr">
              <a:spcBef>
                <a:spcPts val="0"/>
              </a:spcBef>
              <a:spcAft>
                <a:spcPts val="0"/>
              </a:spcAft>
              <a:buClr>
                <a:schemeClr val="lt1"/>
              </a:buClr>
              <a:buSzPts val="12000"/>
              <a:buNone/>
              <a:defRPr sz="12000">
                <a:solidFill>
                  <a:schemeClr val="lt1"/>
                </a:solidFill>
                <a:highlight>
                  <a:schemeClr val="accent1"/>
                </a:highlight>
              </a:defRPr>
            </a:lvl6pPr>
            <a:lvl7pPr lvl="6" algn="ctr">
              <a:spcBef>
                <a:spcPts val="0"/>
              </a:spcBef>
              <a:spcAft>
                <a:spcPts val="0"/>
              </a:spcAft>
              <a:buClr>
                <a:schemeClr val="lt1"/>
              </a:buClr>
              <a:buSzPts val="12000"/>
              <a:buNone/>
              <a:defRPr sz="12000">
                <a:solidFill>
                  <a:schemeClr val="lt1"/>
                </a:solidFill>
                <a:highlight>
                  <a:schemeClr val="accent1"/>
                </a:highlight>
              </a:defRPr>
            </a:lvl7pPr>
            <a:lvl8pPr lvl="7" algn="ctr">
              <a:spcBef>
                <a:spcPts val="0"/>
              </a:spcBef>
              <a:spcAft>
                <a:spcPts val="0"/>
              </a:spcAft>
              <a:buClr>
                <a:schemeClr val="lt1"/>
              </a:buClr>
              <a:buSzPts val="12000"/>
              <a:buNone/>
              <a:defRPr sz="12000">
                <a:solidFill>
                  <a:schemeClr val="lt1"/>
                </a:solidFill>
                <a:highlight>
                  <a:schemeClr val="accent1"/>
                </a:highlight>
              </a:defRPr>
            </a:lvl8pPr>
            <a:lvl9pPr lvl="8" algn="ctr">
              <a:spcBef>
                <a:spcPts val="0"/>
              </a:spcBef>
              <a:spcAft>
                <a:spcPts val="0"/>
              </a:spcAft>
              <a:buClr>
                <a:schemeClr val="lt1"/>
              </a:buClr>
              <a:buSzPts val="12000"/>
              <a:buNone/>
              <a:defRPr sz="12000">
                <a:solidFill>
                  <a:schemeClr val="lt1"/>
                </a:solidFill>
                <a:highlight>
                  <a:schemeClr val="accent1"/>
                </a:highlight>
              </a:defRPr>
            </a:lvl9pPr>
          </a:lstStyle>
          <a:p>
            <a:r>
              <a:t>xx%</a:t>
            </a:r>
          </a:p>
        </p:txBody>
      </p:sp>
      <p:sp>
        <p:nvSpPr>
          <p:cNvPr id="48" name="Google Shape;48;p11"/>
          <p:cNvSpPr txBox="1"/>
          <p:nvPr>
            <p:ph idx="1" type="body"/>
          </p:nvPr>
        </p:nvSpPr>
        <p:spPr>
          <a:xfrm>
            <a:off x="311700" y="33046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Clr>
                <a:schemeClr val="accent1"/>
              </a:buClr>
              <a:buSzPts val="1800"/>
              <a:buChar char="●"/>
              <a:defRPr>
                <a:solidFill>
                  <a:schemeClr val="accent1"/>
                </a:solidFill>
                <a:highlight>
                  <a:schemeClr val="dk1"/>
                </a:highlight>
              </a:defRPr>
            </a:lvl1pPr>
            <a:lvl2pPr indent="-317500" lvl="1" marL="914400" algn="ctr">
              <a:spcBef>
                <a:spcPts val="0"/>
              </a:spcBef>
              <a:spcAft>
                <a:spcPts val="0"/>
              </a:spcAft>
              <a:buClr>
                <a:schemeClr val="accent1"/>
              </a:buClr>
              <a:buSzPts val="1400"/>
              <a:buChar char="○"/>
              <a:defRPr>
                <a:solidFill>
                  <a:schemeClr val="accent1"/>
                </a:solidFill>
                <a:highlight>
                  <a:schemeClr val="dk1"/>
                </a:highlight>
              </a:defRPr>
            </a:lvl2pPr>
            <a:lvl3pPr indent="-317500" lvl="2" marL="1371600" algn="ctr">
              <a:spcBef>
                <a:spcPts val="0"/>
              </a:spcBef>
              <a:spcAft>
                <a:spcPts val="0"/>
              </a:spcAft>
              <a:buClr>
                <a:schemeClr val="accent1"/>
              </a:buClr>
              <a:buSzPts val="1400"/>
              <a:buChar char="■"/>
              <a:defRPr>
                <a:solidFill>
                  <a:schemeClr val="accent1"/>
                </a:solidFill>
                <a:highlight>
                  <a:schemeClr val="dk1"/>
                </a:highlight>
              </a:defRPr>
            </a:lvl3pPr>
            <a:lvl4pPr indent="-317500" lvl="3" marL="1828800" algn="ctr">
              <a:spcBef>
                <a:spcPts val="0"/>
              </a:spcBef>
              <a:spcAft>
                <a:spcPts val="0"/>
              </a:spcAft>
              <a:buClr>
                <a:schemeClr val="accent1"/>
              </a:buClr>
              <a:buSzPts val="1400"/>
              <a:buChar char="●"/>
              <a:defRPr>
                <a:solidFill>
                  <a:schemeClr val="accent1"/>
                </a:solidFill>
                <a:highlight>
                  <a:schemeClr val="dk1"/>
                </a:highlight>
              </a:defRPr>
            </a:lvl4pPr>
            <a:lvl5pPr indent="-317500" lvl="4" marL="2286000" algn="ctr">
              <a:spcBef>
                <a:spcPts val="0"/>
              </a:spcBef>
              <a:spcAft>
                <a:spcPts val="0"/>
              </a:spcAft>
              <a:buClr>
                <a:schemeClr val="accent1"/>
              </a:buClr>
              <a:buSzPts val="1400"/>
              <a:buChar char="○"/>
              <a:defRPr>
                <a:solidFill>
                  <a:schemeClr val="accent1"/>
                </a:solidFill>
                <a:highlight>
                  <a:schemeClr val="dk1"/>
                </a:highlight>
              </a:defRPr>
            </a:lvl5pPr>
            <a:lvl6pPr indent="-317500" lvl="5" marL="2743200" algn="ctr">
              <a:spcBef>
                <a:spcPts val="0"/>
              </a:spcBef>
              <a:spcAft>
                <a:spcPts val="0"/>
              </a:spcAft>
              <a:buClr>
                <a:schemeClr val="accent1"/>
              </a:buClr>
              <a:buSzPts val="1400"/>
              <a:buChar char="■"/>
              <a:defRPr>
                <a:solidFill>
                  <a:schemeClr val="accent1"/>
                </a:solidFill>
                <a:highlight>
                  <a:schemeClr val="dk1"/>
                </a:highlight>
              </a:defRPr>
            </a:lvl6pPr>
            <a:lvl7pPr indent="-317500" lvl="6" marL="3200400" algn="ctr">
              <a:spcBef>
                <a:spcPts val="0"/>
              </a:spcBef>
              <a:spcAft>
                <a:spcPts val="0"/>
              </a:spcAft>
              <a:buClr>
                <a:schemeClr val="accent1"/>
              </a:buClr>
              <a:buSzPts val="1400"/>
              <a:buChar char="●"/>
              <a:defRPr>
                <a:solidFill>
                  <a:schemeClr val="accent1"/>
                </a:solidFill>
                <a:highlight>
                  <a:schemeClr val="dk1"/>
                </a:highlight>
              </a:defRPr>
            </a:lvl7pPr>
            <a:lvl8pPr indent="-317500" lvl="7" marL="3657600" algn="ctr">
              <a:spcBef>
                <a:spcPts val="0"/>
              </a:spcBef>
              <a:spcAft>
                <a:spcPts val="0"/>
              </a:spcAft>
              <a:buClr>
                <a:schemeClr val="accent1"/>
              </a:buClr>
              <a:buSzPts val="1400"/>
              <a:buChar char="○"/>
              <a:defRPr>
                <a:solidFill>
                  <a:schemeClr val="accent1"/>
                </a:solidFill>
                <a:highlight>
                  <a:schemeClr val="dk1"/>
                </a:highlight>
              </a:defRPr>
            </a:lvl8pPr>
            <a:lvl9pPr indent="-317500" lvl="8" marL="4114800" algn="ctr">
              <a:spcBef>
                <a:spcPts val="0"/>
              </a:spcBef>
              <a:spcAft>
                <a:spcPts val="0"/>
              </a:spcAft>
              <a:buClr>
                <a:schemeClr val="accent1"/>
              </a:buClr>
              <a:buSzPts val="1400"/>
              <a:buChar char="■"/>
              <a:defRPr>
                <a:solidFill>
                  <a:schemeClr val="accent1"/>
                </a:solidFill>
                <a:highlight>
                  <a:schemeClr val="dk1"/>
                </a:highlight>
              </a:defRPr>
            </a:lvl9pPr>
          </a:lstStyle>
          <a:p/>
        </p:txBody>
      </p:sp>
      <p:sp>
        <p:nvSpPr>
          <p:cNvPr id="49" name="Google Shape;49;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beach-day">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292850"/>
            <a:ext cx="8520600" cy="8010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1pPr>
            <a:lvl2pPr lvl="1">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2pPr>
            <a:lvl3pPr lvl="2">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3pPr>
            <a:lvl4pPr lvl="3">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4pPr>
            <a:lvl5pPr lvl="4">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5pPr>
            <a:lvl6pPr lvl="5">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6pPr>
            <a:lvl7pPr lvl="6">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7pPr>
            <a:lvl8pPr lvl="7">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8pPr>
            <a:lvl9pPr lvl="8">
              <a:spcBef>
                <a:spcPts val="0"/>
              </a:spcBef>
              <a:spcAft>
                <a:spcPts val="0"/>
              </a:spcAft>
              <a:buClr>
                <a:schemeClr val="accent1"/>
              </a:buClr>
              <a:buSzPts val="4200"/>
              <a:buFont typeface="Amatic SC"/>
              <a:buNone/>
              <a:defRPr b="1" sz="4200">
                <a:solidFill>
                  <a:schemeClr val="accent1"/>
                </a:solidFill>
                <a:latin typeface="Amatic SC"/>
                <a:ea typeface="Amatic SC"/>
                <a:cs typeface="Amatic SC"/>
                <a:sym typeface="Amatic SC"/>
              </a:defRPr>
            </a:lvl9pPr>
          </a:lstStyle>
          <a:p/>
        </p:txBody>
      </p:sp>
      <p:sp>
        <p:nvSpPr>
          <p:cNvPr id="7" name="Google Shape;7;p1"/>
          <p:cNvSpPr txBox="1"/>
          <p:nvPr>
            <p:ph idx="1" type="body"/>
          </p:nvPr>
        </p:nvSpPr>
        <p:spPr>
          <a:xfrm>
            <a:off x="311700" y="1228675"/>
            <a:ext cx="8520600" cy="33402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Source Code Pro"/>
              <a:buChar char="●"/>
              <a:defRPr sz="1800">
                <a:solidFill>
                  <a:schemeClr val="dk2"/>
                </a:solidFill>
                <a:latin typeface="Source Code Pro"/>
                <a:ea typeface="Source Code Pro"/>
                <a:cs typeface="Source Code Pro"/>
                <a:sym typeface="Source Code Pro"/>
              </a:defRPr>
            </a:lvl1pPr>
            <a:lvl2pPr indent="-317500" lvl="1" marL="914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2pPr>
            <a:lvl3pPr indent="-317500" lvl="2" marL="1371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3pPr>
            <a:lvl4pPr indent="-317500" lvl="3" marL="1828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4pPr>
            <a:lvl5pPr indent="-317500" lvl="4" marL="22860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5pPr>
            <a:lvl6pPr indent="-317500" lvl="5" marL="27432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6pPr>
            <a:lvl7pPr indent="-317500" lvl="6" marL="32004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7pPr>
            <a:lvl8pPr indent="-317500" lvl="7" marL="36576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8pPr>
            <a:lvl9pPr indent="-317500" lvl="8" marL="4114800">
              <a:lnSpc>
                <a:spcPct val="115000"/>
              </a:lnSpc>
              <a:spcBef>
                <a:spcPts val="0"/>
              </a:spcBef>
              <a:spcAft>
                <a:spcPts val="0"/>
              </a:spcAft>
              <a:buClr>
                <a:schemeClr val="dk2"/>
              </a:buClr>
              <a:buSzPts val="1400"/>
              <a:buFont typeface="Source Code Pro"/>
              <a:buChar char="■"/>
              <a:defRPr>
                <a:solidFill>
                  <a:schemeClr val="dk2"/>
                </a:solidFill>
                <a:latin typeface="Source Code Pro"/>
                <a:ea typeface="Source Code Pro"/>
                <a:cs typeface="Source Code Pro"/>
                <a:sym typeface="Source Code Pr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accent1"/>
                </a:solidFill>
                <a:latin typeface="Source Code Pro"/>
                <a:ea typeface="Source Code Pro"/>
                <a:cs typeface="Source Code Pro"/>
                <a:sym typeface="Source Code Pro"/>
              </a:defRPr>
            </a:lvl1pPr>
            <a:lvl2pPr lvl="1" algn="r">
              <a:buNone/>
              <a:defRPr sz="1000">
                <a:solidFill>
                  <a:schemeClr val="accent1"/>
                </a:solidFill>
                <a:latin typeface="Source Code Pro"/>
                <a:ea typeface="Source Code Pro"/>
                <a:cs typeface="Source Code Pro"/>
                <a:sym typeface="Source Code Pro"/>
              </a:defRPr>
            </a:lvl2pPr>
            <a:lvl3pPr lvl="2" algn="r">
              <a:buNone/>
              <a:defRPr sz="1000">
                <a:solidFill>
                  <a:schemeClr val="accent1"/>
                </a:solidFill>
                <a:latin typeface="Source Code Pro"/>
                <a:ea typeface="Source Code Pro"/>
                <a:cs typeface="Source Code Pro"/>
                <a:sym typeface="Source Code Pro"/>
              </a:defRPr>
            </a:lvl3pPr>
            <a:lvl4pPr lvl="3" algn="r">
              <a:buNone/>
              <a:defRPr sz="1000">
                <a:solidFill>
                  <a:schemeClr val="accent1"/>
                </a:solidFill>
                <a:latin typeface="Source Code Pro"/>
                <a:ea typeface="Source Code Pro"/>
                <a:cs typeface="Source Code Pro"/>
                <a:sym typeface="Source Code Pro"/>
              </a:defRPr>
            </a:lvl4pPr>
            <a:lvl5pPr lvl="4" algn="r">
              <a:buNone/>
              <a:defRPr sz="1000">
                <a:solidFill>
                  <a:schemeClr val="accent1"/>
                </a:solidFill>
                <a:latin typeface="Source Code Pro"/>
                <a:ea typeface="Source Code Pro"/>
                <a:cs typeface="Source Code Pro"/>
                <a:sym typeface="Source Code Pro"/>
              </a:defRPr>
            </a:lvl5pPr>
            <a:lvl6pPr lvl="5" algn="r">
              <a:buNone/>
              <a:defRPr sz="1000">
                <a:solidFill>
                  <a:schemeClr val="accent1"/>
                </a:solidFill>
                <a:latin typeface="Source Code Pro"/>
                <a:ea typeface="Source Code Pro"/>
                <a:cs typeface="Source Code Pro"/>
                <a:sym typeface="Source Code Pro"/>
              </a:defRPr>
            </a:lvl6pPr>
            <a:lvl7pPr lvl="6" algn="r">
              <a:buNone/>
              <a:defRPr sz="1000">
                <a:solidFill>
                  <a:schemeClr val="accent1"/>
                </a:solidFill>
                <a:latin typeface="Source Code Pro"/>
                <a:ea typeface="Source Code Pro"/>
                <a:cs typeface="Source Code Pro"/>
                <a:sym typeface="Source Code Pro"/>
              </a:defRPr>
            </a:lvl7pPr>
            <a:lvl8pPr lvl="7" algn="r">
              <a:buNone/>
              <a:defRPr sz="1000">
                <a:solidFill>
                  <a:schemeClr val="accent1"/>
                </a:solidFill>
                <a:latin typeface="Source Code Pro"/>
                <a:ea typeface="Source Code Pro"/>
                <a:cs typeface="Source Code Pro"/>
                <a:sym typeface="Source Code Pro"/>
              </a:defRPr>
            </a:lvl8pPr>
            <a:lvl9pPr lvl="8" algn="r">
              <a:buNone/>
              <a:defRPr sz="1000">
                <a:solidFill>
                  <a:schemeClr val="accent1"/>
                </a:solidFill>
                <a:latin typeface="Source Code Pro"/>
                <a:ea typeface="Source Code Pro"/>
                <a:cs typeface="Source Code Pro"/>
                <a:sym typeface="Source Code Pr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2.jp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sp>
        <p:nvSpPr>
          <p:cNvPr id="56" name="Google Shape;56;p13"/>
          <p:cNvSpPr txBox="1"/>
          <p:nvPr>
            <p:ph type="ctrTitle"/>
          </p:nvPr>
        </p:nvSpPr>
        <p:spPr>
          <a:xfrm>
            <a:off x="311150" y="1827150"/>
            <a:ext cx="4688100" cy="7995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Symmetric and Asymmetric Encryption</a:t>
            </a:r>
            <a:endParaRPr/>
          </a:p>
        </p:txBody>
      </p:sp>
      <p:sp>
        <p:nvSpPr>
          <p:cNvPr id="57" name="Google Shape;57;p13"/>
          <p:cNvSpPr txBox="1"/>
          <p:nvPr>
            <p:ph idx="1" type="subTitle"/>
          </p:nvPr>
        </p:nvSpPr>
        <p:spPr>
          <a:xfrm>
            <a:off x="311700" y="3890400"/>
            <a:ext cx="8520600" cy="706200"/>
          </a:xfrm>
          <a:prstGeom prst="rect">
            <a:avLst/>
          </a:prstGeom>
        </p:spPr>
        <p:txBody>
          <a:bodyPr anchorCtr="0" anchor="ctr" bIns="91425" lIns="91425" spcFirstLastPara="1" rIns="91425" wrap="square" tIns="91425">
            <a:normAutofit lnSpcReduction="20000"/>
          </a:bodyPr>
          <a:lstStyle/>
          <a:p>
            <a:pPr indent="0" lvl="0" marL="0" rtl="0" algn="ctr">
              <a:spcBef>
                <a:spcPts val="0"/>
              </a:spcBef>
              <a:spcAft>
                <a:spcPts val="0"/>
              </a:spcAft>
              <a:buNone/>
            </a:pPr>
            <a:r>
              <a:rPr lang="en"/>
              <a:t>Locks and Keys: The Dual Guardians of Digital Secrets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Cryptography</a:t>
            </a:r>
            <a:endParaRPr/>
          </a:p>
        </p:txBody>
      </p:sp>
      <p:sp>
        <p:nvSpPr>
          <p:cNvPr id="63" name="Google Shape;63;p1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Cryptography: The science of transforming information to protect its confidentiality, integrity, and authenticity.</a:t>
            </a:r>
            <a:endParaRPr/>
          </a:p>
          <a:p>
            <a:pPr indent="0" lvl="0" marL="0" rtl="0" algn="l">
              <a:spcBef>
                <a:spcPts val="1200"/>
              </a:spcBef>
              <a:spcAft>
                <a:spcPts val="0"/>
              </a:spcAft>
              <a:buClr>
                <a:schemeClr val="dk1"/>
              </a:buClr>
              <a:buSzPts val="1100"/>
              <a:buFont typeface="Arial"/>
              <a:buNone/>
            </a:pPr>
            <a:r>
              <a:rPr lang="en"/>
              <a:t>Used throughout history to secure communications and data.</a:t>
            </a:r>
            <a:endParaRPr/>
          </a:p>
          <a:p>
            <a:pPr indent="0" lvl="0" marL="0" rtl="0" algn="l">
              <a:spcBef>
                <a:spcPts val="1200"/>
              </a:spcBef>
              <a:spcAft>
                <a:spcPts val="1200"/>
              </a:spcAft>
              <a:buNone/>
            </a:pPr>
            <a:r>
              <a:rPr lang="en"/>
              <a:t>Plays a vital role in our digital world, protecting everything from online transactions to sensitive personal information.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Cryptography Through the Ages</a:t>
            </a:r>
            <a:endParaRPr/>
          </a:p>
        </p:txBody>
      </p:sp>
      <p:sp>
        <p:nvSpPr>
          <p:cNvPr id="69" name="Google Shape;69;p1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t>Early methods: Simple substitution ciphers (e.g., Caesar cipher)</a:t>
            </a:r>
            <a:endParaRPr/>
          </a:p>
          <a:p>
            <a:pPr indent="0" lvl="0" marL="0" rtl="0" algn="l">
              <a:spcBef>
                <a:spcPts val="1200"/>
              </a:spcBef>
              <a:spcAft>
                <a:spcPts val="0"/>
              </a:spcAft>
              <a:buClr>
                <a:schemeClr val="dk1"/>
              </a:buClr>
              <a:buSzPts val="1100"/>
              <a:buFont typeface="Arial"/>
              <a:buNone/>
            </a:pPr>
            <a:r>
              <a:rPr lang="en"/>
              <a:t>World War II: Enigma machine and the birth of codebreaking.</a:t>
            </a:r>
            <a:endParaRPr/>
          </a:p>
          <a:p>
            <a:pPr indent="0" lvl="0" marL="0" rtl="0" algn="l">
              <a:spcBef>
                <a:spcPts val="1200"/>
              </a:spcBef>
              <a:spcAft>
                <a:spcPts val="0"/>
              </a:spcAft>
              <a:buClr>
                <a:schemeClr val="dk1"/>
              </a:buClr>
              <a:buSzPts val="1100"/>
              <a:buFont typeface="Arial"/>
              <a:buNone/>
            </a:pPr>
            <a:r>
              <a:rPr lang="en"/>
              <a:t>Cold War Era: Advancements in cryptography fueled by information security needs</a:t>
            </a:r>
            <a:endParaRPr/>
          </a:p>
          <a:p>
            <a:pPr indent="0" lvl="0" marL="0" rtl="0" algn="l">
              <a:spcBef>
                <a:spcPts val="1200"/>
              </a:spcBef>
              <a:spcAft>
                <a:spcPts val="1200"/>
              </a:spcAft>
              <a:buNone/>
            </a:pPr>
            <a:r>
              <a:rPr lang="en"/>
              <a:t>The Digital Age: Explosion of cryptographic applications to secure the internet.</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6"/>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Pillars of Digital Security (CIA)</a:t>
            </a:r>
            <a:endParaRPr/>
          </a:p>
        </p:txBody>
      </p:sp>
      <p:sp>
        <p:nvSpPr>
          <p:cNvPr id="75" name="Google Shape;75;p1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336550" lvl="1" marL="914400" rtl="0" algn="l">
              <a:spcBef>
                <a:spcPts val="0"/>
              </a:spcBef>
              <a:spcAft>
                <a:spcPts val="0"/>
              </a:spcAft>
              <a:buSzPts val="1700"/>
              <a:buChar char="○"/>
            </a:pPr>
            <a:r>
              <a:rPr b="1" lang="en" sz="1700"/>
              <a:t>Confidentiality</a:t>
            </a:r>
            <a:r>
              <a:rPr lang="en" sz="1700"/>
              <a:t>: Only authorized people can see the data.</a:t>
            </a:r>
            <a:endParaRPr sz="1700"/>
          </a:p>
          <a:p>
            <a:pPr indent="-336550" lvl="2" marL="1371600" rtl="0" algn="l">
              <a:spcBef>
                <a:spcPts val="0"/>
              </a:spcBef>
              <a:spcAft>
                <a:spcPts val="0"/>
              </a:spcAft>
              <a:buSzPts val="1700"/>
              <a:buChar char="■"/>
            </a:pPr>
            <a:r>
              <a:rPr lang="en" sz="1700"/>
              <a:t>Symmetric encryption </a:t>
            </a:r>
            <a:r>
              <a:rPr lang="en" sz="1700">
                <a:highlight>
                  <a:srgbClr val="FFFF00"/>
                </a:highlight>
              </a:rPr>
              <a:t>scrambles data</a:t>
            </a:r>
            <a:r>
              <a:rPr lang="en" sz="1700"/>
              <a:t>, making it unreadable without the correct key.</a:t>
            </a:r>
            <a:endParaRPr sz="1700"/>
          </a:p>
          <a:p>
            <a:pPr indent="-336550" lvl="2" marL="1371600" rtl="0" algn="l">
              <a:spcBef>
                <a:spcPts val="0"/>
              </a:spcBef>
              <a:spcAft>
                <a:spcPts val="0"/>
              </a:spcAft>
              <a:buSzPts val="1700"/>
              <a:buChar char="■"/>
            </a:pPr>
            <a:r>
              <a:rPr lang="en" sz="1700"/>
              <a:t>Key exchange protocols like Diffie-Hellman help </a:t>
            </a:r>
            <a:r>
              <a:rPr lang="en" sz="1700">
                <a:highlight>
                  <a:srgbClr val="FFFF00"/>
                </a:highlight>
              </a:rPr>
              <a:t>establish shared keys</a:t>
            </a:r>
            <a:r>
              <a:rPr lang="en" sz="1700"/>
              <a:t> securely for use with symmetric encryption.</a:t>
            </a:r>
            <a:endParaRPr sz="1700"/>
          </a:p>
          <a:p>
            <a:pPr indent="-336550" lvl="1" marL="914400" rtl="0" algn="l">
              <a:spcBef>
                <a:spcPts val="0"/>
              </a:spcBef>
              <a:spcAft>
                <a:spcPts val="0"/>
              </a:spcAft>
              <a:buSzPts val="1700"/>
              <a:buChar char="○"/>
            </a:pPr>
            <a:r>
              <a:rPr b="1" lang="en" sz="1700"/>
              <a:t>Integrity</a:t>
            </a:r>
            <a:r>
              <a:rPr lang="en" sz="1700"/>
              <a:t>: Data has not been altered or tampered with.</a:t>
            </a:r>
            <a:endParaRPr sz="1700"/>
          </a:p>
          <a:p>
            <a:pPr indent="-336550" lvl="2" marL="1371600" rtl="0" algn="l">
              <a:spcBef>
                <a:spcPts val="0"/>
              </a:spcBef>
              <a:spcAft>
                <a:spcPts val="0"/>
              </a:spcAft>
              <a:buSzPts val="1700"/>
              <a:buChar char="■"/>
            </a:pPr>
            <a:r>
              <a:rPr lang="en" sz="1700"/>
              <a:t>Hashing creates a </a:t>
            </a:r>
            <a:r>
              <a:rPr lang="en" sz="1700">
                <a:highlight>
                  <a:srgbClr val="FFFF00"/>
                </a:highlight>
              </a:rPr>
              <a:t>unique fingerprint of data</a:t>
            </a:r>
            <a:r>
              <a:rPr lang="en" sz="1700"/>
              <a:t>, allowing detection of even small changes.</a:t>
            </a:r>
            <a:endParaRPr sz="1700"/>
          </a:p>
          <a:p>
            <a:pPr indent="-336550" lvl="1" marL="914400" rtl="0" algn="l">
              <a:spcBef>
                <a:spcPts val="0"/>
              </a:spcBef>
              <a:spcAft>
                <a:spcPts val="0"/>
              </a:spcAft>
              <a:buSzPts val="1700"/>
              <a:buChar char="○"/>
            </a:pPr>
            <a:r>
              <a:rPr b="1" lang="en" sz="1700"/>
              <a:t>Authenticity</a:t>
            </a:r>
            <a:r>
              <a:rPr lang="en" sz="1700"/>
              <a:t>: We can verify the sender's identity and the origin of the data.  </a:t>
            </a:r>
            <a:r>
              <a:rPr lang="en" sz="1700">
                <a:highlight>
                  <a:srgbClr val="FFFF00"/>
                </a:highlight>
              </a:rPr>
              <a:t>Asymmetric encryption uses pairs of keys (public and private) for digital signatures.</a:t>
            </a:r>
            <a:endParaRPr sz="2100">
              <a:highlight>
                <a:srgbClr val="FFFF00"/>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 name="Shape 79"/>
        <p:cNvGrpSpPr/>
        <p:nvPr/>
      </p:nvGrpSpPr>
      <p:grpSpPr>
        <a:xfrm>
          <a:off x="0" y="0"/>
          <a:ext cx="0" cy="0"/>
          <a:chOff x="0" y="0"/>
          <a:chExt cx="0" cy="0"/>
        </a:xfrm>
      </p:grpSpPr>
      <p:sp>
        <p:nvSpPr>
          <p:cNvPr id="80" name="Google Shape;80;p1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a:t>
            </a:r>
            <a:r>
              <a:rPr lang="en"/>
              <a:t>ntroduction to Symmetric Encryption</a:t>
            </a:r>
            <a:endParaRPr/>
          </a:p>
        </p:txBody>
      </p:sp>
      <p:sp>
        <p:nvSpPr>
          <p:cNvPr id="81" name="Google Shape;81;p1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Clr>
                <a:schemeClr val="dk1"/>
              </a:buClr>
              <a:buSzPct val="61111"/>
              <a:buFont typeface="Arial"/>
              <a:buNone/>
            </a:pPr>
            <a:r>
              <a:rPr b="1" lang="en" sz="1800">
                <a:solidFill>
                  <a:srgbClr val="1F1F1F"/>
                </a:solidFill>
                <a:highlight>
                  <a:srgbClr val="FFFFFF"/>
                </a:highlight>
              </a:rPr>
              <a:t>Quick Overview</a:t>
            </a:r>
            <a:endParaRPr b="1" sz="1800">
              <a:solidFill>
                <a:srgbClr val="1F1F1F"/>
              </a:solidFill>
              <a:highlight>
                <a:srgbClr val="FFFFFF"/>
              </a:highlight>
            </a:endParaRPr>
          </a:p>
          <a:p>
            <a:pPr indent="-334327" lvl="0" marL="457200" rtl="0" algn="l">
              <a:lnSpc>
                <a:spcPct val="115000"/>
              </a:lnSpc>
              <a:spcBef>
                <a:spcPts val="1200"/>
              </a:spcBef>
              <a:spcAft>
                <a:spcPts val="0"/>
              </a:spcAft>
              <a:buClr>
                <a:srgbClr val="1F1F1F"/>
              </a:buClr>
              <a:buSzPct val="100000"/>
              <a:buFont typeface="Arial"/>
              <a:buChar char="●"/>
            </a:pPr>
            <a:r>
              <a:rPr b="1" lang="en" sz="1800">
                <a:solidFill>
                  <a:srgbClr val="1F1F1F"/>
                </a:solidFill>
                <a:highlight>
                  <a:srgbClr val="FFFFFF"/>
                </a:highlight>
              </a:rPr>
              <a:t>Symmetric Encryption in Simple Terms:</a:t>
            </a:r>
            <a:r>
              <a:rPr lang="en" sz="1800">
                <a:solidFill>
                  <a:srgbClr val="1F1F1F"/>
                </a:solidFill>
                <a:highlight>
                  <a:srgbClr val="FFFFFF"/>
                </a:highlight>
              </a:rPr>
              <a:t> It's like having a secret codebook where the same code is used to jumble up your message and then unscramble it for reading. Only those with the codebook (the key) can understand the message.</a:t>
            </a:r>
            <a:endParaRPr sz="1800">
              <a:solidFill>
                <a:srgbClr val="1F1F1F"/>
              </a:solidFill>
              <a:highlight>
                <a:srgbClr val="FFFFFF"/>
              </a:highlight>
            </a:endParaRPr>
          </a:p>
          <a:p>
            <a:pPr indent="0" lvl="0" marL="0" rtl="0" algn="l">
              <a:lnSpc>
                <a:spcPct val="115000"/>
              </a:lnSpc>
              <a:spcBef>
                <a:spcPts val="300"/>
              </a:spcBef>
              <a:spcAft>
                <a:spcPts val="0"/>
              </a:spcAft>
              <a:buClr>
                <a:schemeClr val="dk1"/>
              </a:buClr>
              <a:buSzPct val="61111"/>
              <a:buFont typeface="Arial"/>
              <a:buNone/>
            </a:pPr>
            <a:r>
              <a:rPr b="1" lang="en" sz="1800">
                <a:solidFill>
                  <a:srgbClr val="1F1F1F"/>
                </a:solidFill>
                <a:highlight>
                  <a:srgbClr val="FFFFFF"/>
                </a:highlight>
              </a:rPr>
              <a:t>Real-World Analogy</a:t>
            </a:r>
            <a:endParaRPr b="1" sz="1800">
              <a:solidFill>
                <a:srgbClr val="1F1F1F"/>
              </a:solidFill>
              <a:highlight>
                <a:srgbClr val="FFFFFF"/>
              </a:highlight>
            </a:endParaRPr>
          </a:p>
          <a:p>
            <a:pPr indent="-334327" lvl="0" marL="457200" rtl="0" algn="l">
              <a:lnSpc>
                <a:spcPct val="115000"/>
              </a:lnSpc>
              <a:spcBef>
                <a:spcPts val="1200"/>
              </a:spcBef>
              <a:spcAft>
                <a:spcPts val="0"/>
              </a:spcAft>
              <a:buClr>
                <a:srgbClr val="1F1F1F"/>
              </a:buClr>
              <a:buSzPct val="100000"/>
              <a:buFont typeface="Arial"/>
              <a:buChar char="●"/>
            </a:pPr>
            <a:r>
              <a:rPr b="1" lang="en" sz="1800">
                <a:solidFill>
                  <a:srgbClr val="1F1F1F"/>
                </a:solidFill>
                <a:highlight>
                  <a:srgbClr val="FFFFFF"/>
                </a:highlight>
              </a:rPr>
              <a:t>The Single-Key Safe:</a:t>
            </a:r>
            <a:r>
              <a:rPr lang="en" sz="1800">
                <a:solidFill>
                  <a:srgbClr val="1F1F1F"/>
                </a:solidFill>
                <a:highlight>
                  <a:srgbClr val="FFFFFF"/>
                </a:highlight>
              </a:rPr>
              <a:t> Imagine a sturdy safe that requires a specific key to both lock and unlock it. This represents the simplicity of symmetric encryption – one key controls both securing and accessing the information inside.</a:t>
            </a:r>
            <a:endParaRPr sz="30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Symmetric Encryption</a:t>
            </a:r>
            <a:endParaRPr/>
          </a:p>
        </p:txBody>
      </p:sp>
      <p:sp>
        <p:nvSpPr>
          <p:cNvPr id="87" name="Google Shape;87;p1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900">
                <a:solidFill>
                  <a:srgbClr val="1F1F1F"/>
                </a:solidFill>
                <a:highlight>
                  <a:srgbClr val="FFFFFF"/>
                </a:highlight>
              </a:rPr>
              <a:t>Why This Matters</a:t>
            </a:r>
            <a:endParaRPr b="1" sz="1900">
              <a:solidFill>
                <a:srgbClr val="1F1F1F"/>
              </a:solidFill>
              <a:highlight>
                <a:srgbClr val="FFFFFF"/>
              </a:highlight>
            </a:endParaRPr>
          </a:p>
          <a:p>
            <a:pPr indent="-349250" lvl="0" marL="457200" rtl="0" algn="l">
              <a:lnSpc>
                <a:spcPct val="115000"/>
              </a:lnSpc>
              <a:spcBef>
                <a:spcPts val="1200"/>
              </a:spcBef>
              <a:spcAft>
                <a:spcPts val="0"/>
              </a:spcAft>
              <a:buClr>
                <a:srgbClr val="1F1F1F"/>
              </a:buClr>
              <a:buSzPts val="1900"/>
              <a:buFont typeface="Arial"/>
              <a:buChar char="●"/>
            </a:pPr>
            <a:r>
              <a:rPr b="1" lang="en" sz="1900">
                <a:solidFill>
                  <a:srgbClr val="1F1F1F"/>
                </a:solidFill>
                <a:highlight>
                  <a:srgbClr val="FFFFFF"/>
                </a:highlight>
              </a:rPr>
              <a:t>Speed:</a:t>
            </a:r>
            <a:r>
              <a:rPr lang="en" sz="1900">
                <a:solidFill>
                  <a:srgbClr val="1F1F1F"/>
                </a:solidFill>
                <a:highlight>
                  <a:srgbClr val="FFFFFF"/>
                </a:highlight>
              </a:rPr>
              <a:t>  This single-key approach makes symmetric encryption very fast, perfect for situations where you need to protect lots of data quickly.</a:t>
            </a:r>
            <a:endParaRPr sz="1900">
              <a:solidFill>
                <a:srgbClr val="1F1F1F"/>
              </a:solidFill>
              <a:highlight>
                <a:srgbClr val="FFFFFF"/>
              </a:highlight>
            </a:endParaRPr>
          </a:p>
          <a:p>
            <a:pPr indent="-349250" lvl="0" marL="457200" rtl="0" algn="l">
              <a:lnSpc>
                <a:spcPct val="115000"/>
              </a:lnSpc>
              <a:spcBef>
                <a:spcPts val="0"/>
              </a:spcBef>
              <a:spcAft>
                <a:spcPts val="0"/>
              </a:spcAft>
              <a:buClr>
                <a:srgbClr val="1F1F1F"/>
              </a:buClr>
              <a:buSzPts val="1900"/>
              <a:buFont typeface="Arial"/>
              <a:buChar char="●"/>
            </a:pPr>
            <a:r>
              <a:rPr b="1" lang="en" sz="1900">
                <a:solidFill>
                  <a:srgbClr val="1F1F1F"/>
                </a:solidFill>
                <a:highlight>
                  <a:srgbClr val="FFFFFF"/>
                </a:highlight>
              </a:rPr>
              <a:t>Use Cases:</a:t>
            </a:r>
            <a:r>
              <a:rPr lang="en" sz="1900">
                <a:solidFill>
                  <a:srgbClr val="1F1F1F"/>
                </a:solidFill>
                <a:highlight>
                  <a:srgbClr val="FFFFFF"/>
                </a:highlight>
              </a:rPr>
              <a:t> Think of encrypting all the files on your computer's hard drive, or quickly securing messages going back and forth within a trusted network.</a:t>
            </a:r>
            <a:endParaRPr b="1" sz="31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Key Characteristics of Symmetric Encryption</a:t>
            </a:r>
            <a:endParaRPr sz="2800"/>
          </a:p>
        </p:txBody>
      </p:sp>
      <p:sp>
        <p:nvSpPr>
          <p:cNvPr id="93" name="Google Shape;93;p1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a:t>Speed is King</a:t>
            </a:r>
            <a:r>
              <a:rPr lang="en"/>
              <a:t>: Symmetric encryption algorithms are incredibly fast and efficient compared to asymmetric counterparts. This makes them the workhorse for encrypting large amounts of data quickly.</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800"/>
              <a:t>Where Symmetric Encryption Excels</a:t>
            </a:r>
            <a:endParaRPr sz="2800"/>
          </a:p>
        </p:txBody>
      </p:sp>
      <p:sp>
        <p:nvSpPr>
          <p:cNvPr id="99" name="Google Shape;99;p2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85000" lnSpcReduction="20000"/>
          </a:bodyPr>
          <a:lstStyle/>
          <a:p>
            <a:pPr indent="-341947" lvl="0" marL="457200" rtl="0" algn="l">
              <a:lnSpc>
                <a:spcPct val="115000"/>
              </a:lnSpc>
              <a:spcBef>
                <a:spcPts val="300"/>
              </a:spcBef>
              <a:spcAft>
                <a:spcPts val="0"/>
              </a:spcAft>
              <a:buClr>
                <a:srgbClr val="1F1F1F"/>
              </a:buClr>
              <a:buSzPct val="100000"/>
              <a:buFont typeface="Arial"/>
              <a:buChar char="●"/>
            </a:pPr>
            <a:r>
              <a:rPr b="1" lang="en" sz="2100">
                <a:solidFill>
                  <a:srgbClr val="1F1F1F"/>
                </a:solidFill>
                <a:highlight>
                  <a:srgbClr val="FFFFFF"/>
                </a:highlight>
              </a:rPr>
              <a:t>Data at Rest:</a:t>
            </a:r>
            <a:r>
              <a:rPr lang="en" sz="2100">
                <a:solidFill>
                  <a:srgbClr val="1F1F1F"/>
                </a:solidFill>
                <a:highlight>
                  <a:srgbClr val="FFFFFF"/>
                </a:highlight>
              </a:rPr>
              <a:t> Encrypting entire hard drives or databases. Your files remain scrambled until the correct key unlocks them.</a:t>
            </a:r>
            <a:endParaRPr sz="2100">
              <a:solidFill>
                <a:srgbClr val="1F1F1F"/>
              </a:solidFill>
              <a:highlight>
                <a:srgbClr val="FFFFFF"/>
              </a:highlight>
            </a:endParaRPr>
          </a:p>
          <a:p>
            <a:pPr indent="-341947" lvl="0" marL="457200" rtl="0" algn="l">
              <a:lnSpc>
                <a:spcPct val="115000"/>
              </a:lnSpc>
              <a:spcBef>
                <a:spcPts val="0"/>
              </a:spcBef>
              <a:spcAft>
                <a:spcPts val="0"/>
              </a:spcAft>
              <a:buClr>
                <a:srgbClr val="1F1F1F"/>
              </a:buClr>
              <a:buSzPct val="100000"/>
              <a:buFont typeface="Arial"/>
              <a:buChar char="●"/>
            </a:pPr>
            <a:r>
              <a:rPr b="1" lang="en" sz="2100">
                <a:solidFill>
                  <a:srgbClr val="1F1F1F"/>
                </a:solidFill>
                <a:highlight>
                  <a:srgbClr val="FFFFFF"/>
                </a:highlight>
              </a:rPr>
              <a:t>Data in Motion Within Secure Networks:</a:t>
            </a:r>
            <a:r>
              <a:rPr lang="en" sz="2100">
                <a:solidFill>
                  <a:srgbClr val="1F1F1F"/>
                </a:solidFill>
                <a:highlight>
                  <a:srgbClr val="FFFFFF"/>
                </a:highlight>
              </a:rPr>
              <a:t> Protecting data flying between servers inside a company's well-controlled network. This adds a layer of security even if internal traffic is intercepted.</a:t>
            </a:r>
            <a:endParaRPr sz="2100">
              <a:solidFill>
                <a:srgbClr val="1F1F1F"/>
              </a:solidFill>
              <a:highlight>
                <a:srgbClr val="FFFFFF"/>
              </a:highlight>
            </a:endParaRPr>
          </a:p>
          <a:p>
            <a:pPr indent="-341947" lvl="0" marL="457200" rtl="0" algn="l">
              <a:lnSpc>
                <a:spcPct val="115000"/>
              </a:lnSpc>
              <a:spcBef>
                <a:spcPts val="0"/>
              </a:spcBef>
              <a:spcAft>
                <a:spcPts val="0"/>
              </a:spcAft>
              <a:buClr>
                <a:srgbClr val="1F1F1F"/>
              </a:buClr>
              <a:buSzPct val="100000"/>
              <a:buFont typeface="Arial"/>
              <a:buChar char="●"/>
            </a:pPr>
            <a:r>
              <a:rPr b="1" lang="en" sz="2100">
                <a:solidFill>
                  <a:srgbClr val="1F1F1F"/>
                </a:solidFill>
                <a:highlight>
                  <a:srgbClr val="FFFFFF"/>
                </a:highlight>
              </a:rPr>
              <a:t>Building Block for </a:t>
            </a:r>
            <a:r>
              <a:rPr b="1" lang="en" sz="2100">
                <a:solidFill>
                  <a:srgbClr val="1F1F1F"/>
                </a:solidFill>
                <a:highlight>
                  <a:srgbClr val="FFFF00"/>
                </a:highlight>
              </a:rPr>
              <a:t>Hybrid Systems</a:t>
            </a:r>
            <a:r>
              <a:rPr b="1" lang="en" sz="2100">
                <a:solidFill>
                  <a:srgbClr val="1F1F1F"/>
                </a:solidFill>
                <a:highlight>
                  <a:srgbClr val="FFFFFF"/>
                </a:highlight>
              </a:rPr>
              <a:t>:</a:t>
            </a:r>
            <a:r>
              <a:rPr lang="en" sz="2100">
                <a:solidFill>
                  <a:srgbClr val="1F1F1F"/>
                </a:solidFill>
                <a:highlight>
                  <a:srgbClr val="FFFFFF"/>
                </a:highlight>
              </a:rPr>
              <a:t> Smaller pieces of information, especially symmetric keys themselves, are often initially shared using asymmetric encryption, leading to symmetric encryption for the bulk data. (</a:t>
            </a:r>
            <a:r>
              <a:rPr lang="en" sz="2100">
                <a:solidFill>
                  <a:srgbClr val="1F1F1F"/>
                </a:solidFill>
                <a:highlight>
                  <a:srgbClr val="FFFF00"/>
                </a:highlight>
              </a:rPr>
              <a:t>More on this in a few slides</a:t>
            </a:r>
            <a:r>
              <a:rPr lang="en" sz="2100">
                <a:solidFill>
                  <a:srgbClr val="1F1F1F"/>
                </a:solidFill>
                <a:highlight>
                  <a:srgbClr val="FFFFFF"/>
                </a:highlight>
              </a:rPr>
              <a:t>)</a:t>
            </a:r>
            <a:endParaRPr sz="3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Challenges of Key Management</a:t>
            </a:r>
            <a:endParaRPr/>
          </a:p>
        </p:txBody>
      </p:sp>
      <p:sp>
        <p:nvSpPr>
          <p:cNvPr id="105" name="Google Shape;105;p2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20000"/>
          </a:bodyPr>
          <a:lstStyle/>
          <a:p>
            <a:pPr indent="-357822" lvl="0" marL="457200" rtl="0" algn="l">
              <a:lnSpc>
                <a:spcPct val="115000"/>
              </a:lnSpc>
              <a:spcBef>
                <a:spcPts val="300"/>
              </a:spcBef>
              <a:spcAft>
                <a:spcPts val="0"/>
              </a:spcAft>
              <a:buClr>
                <a:srgbClr val="1F1F1F"/>
              </a:buClr>
              <a:buSzPct val="100000"/>
              <a:buFont typeface="Arial"/>
              <a:buChar char="●"/>
            </a:pPr>
            <a:r>
              <a:rPr b="1" lang="en" sz="2200">
                <a:solidFill>
                  <a:srgbClr val="1F1F1F"/>
                </a:solidFill>
                <a:highlight>
                  <a:srgbClr val="FFFFFF"/>
                </a:highlight>
              </a:rPr>
              <a:t>The Key Distribution Conundrum:</a:t>
            </a:r>
            <a:r>
              <a:rPr lang="en" sz="2200">
                <a:solidFill>
                  <a:srgbClr val="1F1F1F"/>
                </a:solidFill>
                <a:highlight>
                  <a:srgbClr val="FFFFFF"/>
                </a:highlight>
              </a:rPr>
              <a:t> In symmetric encryption, everyone who needs to read the data must have the same key. Securely getting this key to all the right people without it falling into the wrong hands is a major challenge.</a:t>
            </a:r>
            <a:endParaRPr sz="2200">
              <a:solidFill>
                <a:srgbClr val="1F1F1F"/>
              </a:solidFill>
              <a:highlight>
                <a:srgbClr val="FFFFFF"/>
              </a:highlight>
            </a:endParaRPr>
          </a:p>
          <a:p>
            <a:pPr indent="-357822" lvl="0" marL="457200" rtl="0" algn="l">
              <a:lnSpc>
                <a:spcPct val="115000"/>
              </a:lnSpc>
              <a:spcBef>
                <a:spcPts val="0"/>
              </a:spcBef>
              <a:spcAft>
                <a:spcPts val="0"/>
              </a:spcAft>
              <a:buClr>
                <a:srgbClr val="1F1F1F"/>
              </a:buClr>
              <a:buSzPct val="100000"/>
              <a:buFont typeface="Arial"/>
              <a:buChar char="●"/>
            </a:pPr>
            <a:r>
              <a:rPr b="1" lang="en" sz="2200">
                <a:solidFill>
                  <a:srgbClr val="1F1F1F"/>
                </a:solidFill>
                <a:highlight>
                  <a:srgbClr val="FFFFFF"/>
                </a:highlight>
              </a:rPr>
              <a:t>Safeguarding Keys:</a:t>
            </a:r>
            <a:r>
              <a:rPr lang="en" sz="2200">
                <a:solidFill>
                  <a:srgbClr val="1F1F1F"/>
                </a:solidFill>
                <a:highlight>
                  <a:srgbClr val="FFFFFF"/>
                </a:highlight>
              </a:rPr>
              <a:t> Keys need to be stored securely. If they're lost or compromised, the encrypted data is as good as gone.  Keys also have a lifespan – they need  to be regularly changed (rotated) to reduce the risk of compromise.</a:t>
            </a:r>
            <a:endParaRPr sz="34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2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Alice &amp; Bob's Secret Message</a:t>
            </a:r>
            <a:endParaRPr/>
          </a:p>
        </p:txBody>
      </p:sp>
      <p:sp>
        <p:nvSpPr>
          <p:cNvPr id="111" name="Google Shape;111;p2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fontScale="92500" lnSpcReduction="10000"/>
          </a:bodyPr>
          <a:lstStyle/>
          <a:p>
            <a:pPr indent="-357822" lvl="0" marL="457200" rtl="0" algn="l">
              <a:lnSpc>
                <a:spcPct val="115000"/>
              </a:lnSpc>
              <a:spcBef>
                <a:spcPts val="300"/>
              </a:spcBef>
              <a:spcAft>
                <a:spcPts val="0"/>
              </a:spcAft>
              <a:buClr>
                <a:srgbClr val="1F1F1F"/>
              </a:buClr>
              <a:buSzPct val="100000"/>
              <a:buFont typeface="Arial"/>
              <a:buChar char="●"/>
            </a:pPr>
            <a:r>
              <a:rPr lang="en" sz="2200">
                <a:solidFill>
                  <a:srgbClr val="1F1F1F"/>
                </a:solidFill>
                <a:highlight>
                  <a:srgbClr val="FFFFFF"/>
                </a:highlight>
              </a:rPr>
              <a:t>Alice wants to send Bob an encrypted message. How do they share the key?</a:t>
            </a:r>
            <a:endParaRPr sz="2200">
              <a:solidFill>
                <a:srgbClr val="1F1F1F"/>
              </a:solidFill>
              <a:highlight>
                <a:srgbClr val="FFFFFF"/>
              </a:highlight>
            </a:endParaRPr>
          </a:p>
          <a:p>
            <a:pPr indent="-357822" lvl="0" marL="457200" rtl="0" algn="l">
              <a:lnSpc>
                <a:spcPct val="115000"/>
              </a:lnSpc>
              <a:spcBef>
                <a:spcPts val="0"/>
              </a:spcBef>
              <a:spcAft>
                <a:spcPts val="0"/>
              </a:spcAft>
              <a:buClr>
                <a:srgbClr val="1F1F1F"/>
              </a:buClr>
              <a:buSzPct val="100000"/>
              <a:buFont typeface="Arial"/>
              <a:buChar char="●"/>
            </a:pPr>
            <a:r>
              <a:rPr lang="en" sz="2200">
                <a:solidFill>
                  <a:srgbClr val="1F1F1F"/>
                </a:solidFill>
                <a:highlight>
                  <a:srgbClr val="FFFFFF"/>
                </a:highlight>
              </a:rPr>
              <a:t>Sending the key in plain text alongside the message defeats the purpose!</a:t>
            </a:r>
            <a:endParaRPr sz="2200">
              <a:solidFill>
                <a:srgbClr val="1F1F1F"/>
              </a:solidFill>
              <a:highlight>
                <a:srgbClr val="FFFFFF"/>
              </a:highlight>
            </a:endParaRPr>
          </a:p>
          <a:p>
            <a:pPr indent="-357822" lvl="0" marL="457200" rtl="0" algn="l">
              <a:lnSpc>
                <a:spcPct val="115000"/>
              </a:lnSpc>
              <a:spcBef>
                <a:spcPts val="0"/>
              </a:spcBef>
              <a:spcAft>
                <a:spcPts val="0"/>
              </a:spcAft>
              <a:buClr>
                <a:srgbClr val="1F1F1F"/>
              </a:buClr>
              <a:buSzPct val="100000"/>
              <a:buFont typeface="Arial"/>
              <a:buChar char="●"/>
            </a:pPr>
            <a:r>
              <a:rPr lang="en" sz="2200">
                <a:solidFill>
                  <a:srgbClr val="1F1F1F"/>
                </a:solidFill>
                <a:highlight>
                  <a:srgbClr val="FFFFFF"/>
                </a:highlight>
              </a:rPr>
              <a:t>Potential Solutions:</a:t>
            </a:r>
            <a:endParaRPr sz="2200">
              <a:solidFill>
                <a:srgbClr val="1F1F1F"/>
              </a:solidFill>
              <a:highlight>
                <a:srgbClr val="FFFFFF"/>
              </a:highlight>
            </a:endParaRPr>
          </a:p>
          <a:p>
            <a:pPr indent="-357822" lvl="1" marL="914400" rtl="0" algn="l">
              <a:lnSpc>
                <a:spcPct val="115000"/>
              </a:lnSpc>
              <a:spcBef>
                <a:spcPts val="0"/>
              </a:spcBef>
              <a:spcAft>
                <a:spcPts val="0"/>
              </a:spcAft>
              <a:buClr>
                <a:srgbClr val="1F1F1F"/>
              </a:buClr>
              <a:buSzPct val="100000"/>
              <a:buFont typeface="Arial"/>
              <a:buChar char="○"/>
            </a:pPr>
            <a:r>
              <a:rPr lang="en" sz="2200">
                <a:solidFill>
                  <a:srgbClr val="1F1F1F"/>
                </a:solidFill>
                <a:highlight>
                  <a:srgbClr val="FFFF00"/>
                </a:highlight>
              </a:rPr>
              <a:t>Pre-shared keys</a:t>
            </a:r>
            <a:r>
              <a:rPr lang="en" sz="2200">
                <a:solidFill>
                  <a:srgbClr val="1F1F1F"/>
                </a:solidFill>
                <a:highlight>
                  <a:srgbClr val="FFFFFF"/>
                </a:highlight>
              </a:rPr>
              <a:t> (they meet beforehand, in secret)</a:t>
            </a:r>
            <a:endParaRPr sz="2200">
              <a:solidFill>
                <a:srgbClr val="1F1F1F"/>
              </a:solidFill>
              <a:highlight>
                <a:srgbClr val="FFFFFF"/>
              </a:highlight>
            </a:endParaRPr>
          </a:p>
          <a:p>
            <a:pPr indent="-357822" lvl="1" marL="914400" rtl="0" algn="l">
              <a:lnSpc>
                <a:spcPct val="115000"/>
              </a:lnSpc>
              <a:spcBef>
                <a:spcPts val="0"/>
              </a:spcBef>
              <a:spcAft>
                <a:spcPts val="0"/>
              </a:spcAft>
              <a:buClr>
                <a:srgbClr val="1F1F1F"/>
              </a:buClr>
              <a:buSzPct val="100000"/>
              <a:buFont typeface="Arial"/>
              <a:buChar char="○"/>
            </a:pPr>
            <a:r>
              <a:rPr lang="en" sz="2200">
                <a:solidFill>
                  <a:srgbClr val="1F1F1F"/>
                </a:solidFill>
                <a:highlight>
                  <a:srgbClr val="FFFFFF"/>
                </a:highlight>
              </a:rPr>
              <a:t>Trusted third party to facilitate distribution</a:t>
            </a:r>
            <a:endParaRPr sz="2200">
              <a:solidFill>
                <a:srgbClr val="1F1F1F"/>
              </a:solidFill>
              <a:highlight>
                <a:srgbClr val="FFFFFF"/>
              </a:highlight>
            </a:endParaRPr>
          </a:p>
          <a:p>
            <a:pPr indent="-357822" lvl="1" marL="914400" rtl="0" algn="l">
              <a:lnSpc>
                <a:spcPct val="115000"/>
              </a:lnSpc>
              <a:spcBef>
                <a:spcPts val="0"/>
              </a:spcBef>
              <a:spcAft>
                <a:spcPts val="0"/>
              </a:spcAft>
              <a:buClr>
                <a:srgbClr val="1F1F1F"/>
              </a:buClr>
              <a:buSzPct val="100000"/>
              <a:buFont typeface="Arial"/>
              <a:buChar char="○"/>
            </a:pPr>
            <a:r>
              <a:rPr lang="en" sz="2200">
                <a:solidFill>
                  <a:srgbClr val="1F1F1F"/>
                </a:solidFill>
                <a:highlight>
                  <a:srgbClr val="FFFFFF"/>
                </a:highlight>
              </a:rPr>
              <a:t>Key exchange protocols like </a:t>
            </a:r>
            <a:r>
              <a:rPr lang="en" sz="2200">
                <a:solidFill>
                  <a:srgbClr val="1F1F1F"/>
                </a:solidFill>
                <a:highlight>
                  <a:srgbClr val="FFFF00"/>
                </a:highlight>
              </a:rPr>
              <a:t>Diffie-Hellman</a:t>
            </a:r>
            <a:r>
              <a:rPr lang="en"/>
              <a:t> (</a:t>
            </a:r>
            <a:r>
              <a:rPr i="1" lang="en"/>
              <a:t>we’ll talk in depth about this soon!</a:t>
            </a:r>
            <a:r>
              <a:rPr lang="en"/>
              <a:t>)</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Practices in Key Management</a:t>
            </a:r>
            <a:endParaRPr/>
          </a:p>
        </p:txBody>
      </p:sp>
      <p:sp>
        <p:nvSpPr>
          <p:cNvPr id="117" name="Google Shape;117;p2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349250" lvl="0" marL="457200" rtl="0" algn="l">
              <a:lnSpc>
                <a:spcPct val="115000"/>
              </a:lnSpc>
              <a:spcBef>
                <a:spcPts val="300"/>
              </a:spcBef>
              <a:spcAft>
                <a:spcPts val="0"/>
              </a:spcAft>
              <a:buClr>
                <a:srgbClr val="1F1F1F"/>
              </a:buClr>
              <a:buSzPts val="1900"/>
              <a:buFont typeface="Arial"/>
              <a:buChar char="●"/>
            </a:pPr>
            <a:r>
              <a:rPr b="1" lang="en" sz="1900">
                <a:solidFill>
                  <a:srgbClr val="1F1F1F"/>
                </a:solidFill>
                <a:highlight>
                  <a:srgbClr val="FFFFFF"/>
                </a:highlight>
              </a:rPr>
              <a:t>Secure Key Exchange: The Foundation</a:t>
            </a:r>
            <a:endParaRPr b="1" sz="1900">
              <a:solidFill>
                <a:srgbClr val="1F1F1F"/>
              </a:solidFill>
              <a:highlight>
                <a:srgbClr val="FFFFFF"/>
              </a:highlight>
            </a:endParaRPr>
          </a:p>
          <a:p>
            <a:pPr indent="-349250" lvl="1" marL="914400" rtl="0" algn="l">
              <a:lnSpc>
                <a:spcPct val="115000"/>
              </a:lnSpc>
              <a:spcBef>
                <a:spcPts val="0"/>
              </a:spcBef>
              <a:spcAft>
                <a:spcPts val="0"/>
              </a:spcAft>
              <a:buClr>
                <a:srgbClr val="1F1F1F"/>
              </a:buClr>
              <a:buSzPts val="1900"/>
              <a:buFont typeface="Arial"/>
              <a:buChar char="○"/>
            </a:pPr>
            <a:r>
              <a:rPr lang="en" sz="1900">
                <a:solidFill>
                  <a:srgbClr val="1F1F1F"/>
                </a:solidFill>
                <a:highlight>
                  <a:srgbClr val="FFFFFF"/>
                </a:highlight>
              </a:rPr>
              <a:t>Methods like </a:t>
            </a:r>
            <a:r>
              <a:rPr lang="en" sz="1900">
                <a:solidFill>
                  <a:srgbClr val="1F1F1F"/>
                </a:solidFill>
                <a:highlight>
                  <a:srgbClr val="FFFF00"/>
                </a:highlight>
              </a:rPr>
              <a:t>Diffie-Hellman</a:t>
            </a:r>
            <a:r>
              <a:rPr lang="en" sz="1900">
                <a:solidFill>
                  <a:srgbClr val="1F1F1F"/>
                </a:solidFill>
                <a:highlight>
                  <a:srgbClr val="FFFFFF"/>
                </a:highlight>
              </a:rPr>
              <a:t> allow parties to agree on a shared secret key over a public channel without ever directly sending the key itself.</a:t>
            </a:r>
            <a:endParaRPr sz="1900">
              <a:solidFill>
                <a:srgbClr val="1F1F1F"/>
              </a:solidFill>
              <a:highlight>
                <a:srgbClr val="FFFFFF"/>
              </a:highlight>
            </a:endParaRPr>
          </a:p>
          <a:p>
            <a:pPr indent="-349250" lvl="0" marL="457200" rtl="0" algn="l">
              <a:lnSpc>
                <a:spcPct val="115000"/>
              </a:lnSpc>
              <a:spcBef>
                <a:spcPts val="0"/>
              </a:spcBef>
              <a:spcAft>
                <a:spcPts val="0"/>
              </a:spcAft>
              <a:buClr>
                <a:srgbClr val="1F1F1F"/>
              </a:buClr>
              <a:buSzPts val="1900"/>
              <a:buFont typeface="Arial"/>
              <a:buChar char="●"/>
            </a:pPr>
            <a:r>
              <a:rPr b="1" lang="en" sz="1900">
                <a:solidFill>
                  <a:srgbClr val="1F1F1F"/>
                </a:solidFill>
                <a:highlight>
                  <a:srgbClr val="FFFFFF"/>
                </a:highlight>
              </a:rPr>
              <a:t>Key Storage: Protection is Paramount</a:t>
            </a:r>
            <a:endParaRPr b="1" sz="1900">
              <a:solidFill>
                <a:srgbClr val="1F1F1F"/>
              </a:solidFill>
              <a:highlight>
                <a:srgbClr val="FFFFFF"/>
              </a:highlight>
            </a:endParaRPr>
          </a:p>
          <a:p>
            <a:pPr indent="-349250" lvl="1" marL="914400" rtl="0" algn="l">
              <a:lnSpc>
                <a:spcPct val="115000"/>
              </a:lnSpc>
              <a:spcBef>
                <a:spcPts val="0"/>
              </a:spcBef>
              <a:spcAft>
                <a:spcPts val="0"/>
              </a:spcAft>
              <a:buClr>
                <a:srgbClr val="1F1F1F"/>
              </a:buClr>
              <a:buSzPts val="1900"/>
              <a:buFont typeface="Arial"/>
              <a:buChar char="○"/>
            </a:pPr>
            <a:r>
              <a:rPr b="1" lang="en" sz="1900">
                <a:solidFill>
                  <a:srgbClr val="1F1F1F"/>
                </a:solidFill>
                <a:highlight>
                  <a:srgbClr val="FFFFFF"/>
                </a:highlight>
              </a:rPr>
              <a:t>Hardware Security Modules (HSMs)</a:t>
            </a:r>
            <a:r>
              <a:rPr lang="en" sz="1900">
                <a:solidFill>
                  <a:srgbClr val="1F1F1F"/>
                </a:solidFill>
                <a:highlight>
                  <a:srgbClr val="FFFFFF"/>
                </a:highlight>
              </a:rPr>
              <a:t>: Specialized, </a:t>
            </a:r>
            <a:r>
              <a:rPr lang="en" sz="1900">
                <a:solidFill>
                  <a:srgbClr val="1F1F1F"/>
                </a:solidFill>
                <a:highlight>
                  <a:srgbClr val="FFFF00"/>
                </a:highlight>
              </a:rPr>
              <a:t>tamper-resistant devices</a:t>
            </a:r>
            <a:r>
              <a:rPr lang="en" sz="1900">
                <a:solidFill>
                  <a:srgbClr val="1F1F1F"/>
                </a:solidFill>
                <a:highlight>
                  <a:srgbClr val="FFFFFF"/>
                </a:highlight>
              </a:rPr>
              <a:t> that store and manage keys, offering a high level of protection.</a:t>
            </a:r>
            <a:endParaRPr sz="1900">
              <a:solidFill>
                <a:srgbClr val="1F1F1F"/>
              </a:solidFill>
              <a:highlight>
                <a:srgbClr val="FFFFFF"/>
              </a:highlight>
            </a:endParaRPr>
          </a:p>
          <a:p>
            <a:pPr indent="-349250" lvl="1" marL="914400" rtl="0" algn="l">
              <a:lnSpc>
                <a:spcPct val="115000"/>
              </a:lnSpc>
              <a:spcBef>
                <a:spcPts val="0"/>
              </a:spcBef>
              <a:spcAft>
                <a:spcPts val="0"/>
              </a:spcAft>
              <a:buClr>
                <a:srgbClr val="1F1F1F"/>
              </a:buClr>
              <a:buSzPts val="1900"/>
              <a:buFont typeface="Arial"/>
              <a:buChar char="○"/>
            </a:pPr>
            <a:r>
              <a:rPr b="1" lang="en" sz="1900">
                <a:solidFill>
                  <a:srgbClr val="1F1F1F"/>
                </a:solidFill>
                <a:highlight>
                  <a:srgbClr val="FFFFFF"/>
                </a:highlight>
              </a:rPr>
              <a:t>Encrypted Key Vaults</a:t>
            </a:r>
            <a:r>
              <a:rPr lang="en" sz="1900">
                <a:solidFill>
                  <a:srgbClr val="1F1F1F"/>
                </a:solidFill>
                <a:highlight>
                  <a:srgbClr val="FFFFFF"/>
                </a:highlight>
              </a:rPr>
              <a:t>: Software-based solutions that securely store keys, protected with strong encryption themselves.</a:t>
            </a:r>
            <a:endParaRPr sz="2700"/>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Best Practices in Key Management</a:t>
            </a:r>
            <a:endParaRPr/>
          </a:p>
        </p:txBody>
      </p:sp>
      <p:sp>
        <p:nvSpPr>
          <p:cNvPr id="123" name="Google Shape;123;p2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61950" lvl="0" marL="457200" rtl="0" algn="l">
              <a:lnSpc>
                <a:spcPct val="115000"/>
              </a:lnSpc>
              <a:spcBef>
                <a:spcPts val="300"/>
              </a:spcBef>
              <a:spcAft>
                <a:spcPts val="0"/>
              </a:spcAft>
              <a:buClr>
                <a:srgbClr val="1F1F1F"/>
              </a:buClr>
              <a:buSzPts val="2100"/>
              <a:buFont typeface="Arial"/>
              <a:buChar char="●"/>
            </a:pPr>
            <a:r>
              <a:rPr b="1" lang="en" sz="2100">
                <a:solidFill>
                  <a:srgbClr val="1F1F1F"/>
                </a:solidFill>
                <a:highlight>
                  <a:srgbClr val="FFFFFF"/>
                </a:highlight>
              </a:rPr>
              <a:t>Key Rotation: A Healthy Habit</a:t>
            </a:r>
            <a:endParaRPr b="1" sz="2100">
              <a:solidFill>
                <a:srgbClr val="1F1F1F"/>
              </a:solidFill>
              <a:highlight>
                <a:srgbClr val="FFFFFF"/>
              </a:highlight>
            </a:endParaRPr>
          </a:p>
          <a:p>
            <a:pPr indent="-361950" lvl="1" marL="914400" rtl="0" algn="l">
              <a:lnSpc>
                <a:spcPct val="115000"/>
              </a:lnSpc>
              <a:spcBef>
                <a:spcPts val="0"/>
              </a:spcBef>
              <a:spcAft>
                <a:spcPts val="0"/>
              </a:spcAft>
              <a:buClr>
                <a:srgbClr val="1F1F1F"/>
              </a:buClr>
              <a:buSzPts val="2100"/>
              <a:buFont typeface="Arial"/>
              <a:buChar char="○"/>
            </a:pPr>
            <a:r>
              <a:rPr lang="en" sz="2100">
                <a:solidFill>
                  <a:srgbClr val="1F1F1F"/>
                </a:solidFill>
                <a:highlight>
                  <a:srgbClr val="FFFFFF"/>
                </a:highlight>
              </a:rPr>
              <a:t>Regularly change keys to minimize the impact if one is compromised. The more sensitive the data, the more frequent the rotation.</a:t>
            </a:r>
            <a:endParaRPr sz="2100">
              <a:solidFill>
                <a:srgbClr val="1F1F1F"/>
              </a:solidFill>
              <a:highlight>
                <a:srgbClr val="FFFFFF"/>
              </a:highlight>
            </a:endParaRPr>
          </a:p>
          <a:p>
            <a:pPr indent="-361950" lvl="0" marL="457200" rtl="0" algn="l">
              <a:lnSpc>
                <a:spcPct val="115000"/>
              </a:lnSpc>
              <a:spcBef>
                <a:spcPts val="0"/>
              </a:spcBef>
              <a:spcAft>
                <a:spcPts val="0"/>
              </a:spcAft>
              <a:buClr>
                <a:srgbClr val="1F1F1F"/>
              </a:buClr>
              <a:buSzPts val="2100"/>
              <a:buFont typeface="Arial"/>
              <a:buChar char="●"/>
            </a:pPr>
            <a:r>
              <a:rPr b="1" lang="en" sz="2100">
                <a:solidFill>
                  <a:srgbClr val="1F1F1F"/>
                </a:solidFill>
                <a:highlight>
                  <a:srgbClr val="FFFFFF"/>
                </a:highlight>
              </a:rPr>
              <a:t>Access Control: Need-to-Know Only</a:t>
            </a:r>
            <a:endParaRPr b="1" sz="2100">
              <a:solidFill>
                <a:srgbClr val="1F1F1F"/>
              </a:solidFill>
              <a:highlight>
                <a:srgbClr val="FFFFFF"/>
              </a:highlight>
            </a:endParaRPr>
          </a:p>
          <a:p>
            <a:pPr indent="-361950" lvl="1" marL="914400" rtl="0" algn="l">
              <a:lnSpc>
                <a:spcPct val="115000"/>
              </a:lnSpc>
              <a:spcBef>
                <a:spcPts val="0"/>
              </a:spcBef>
              <a:spcAft>
                <a:spcPts val="0"/>
              </a:spcAft>
              <a:buClr>
                <a:srgbClr val="1F1F1F"/>
              </a:buClr>
              <a:buSzPts val="2100"/>
              <a:buFont typeface="Arial"/>
              <a:buChar char="○"/>
            </a:pPr>
            <a:r>
              <a:rPr lang="en" sz="2100">
                <a:solidFill>
                  <a:srgbClr val="1F1F1F"/>
                </a:solidFill>
                <a:highlight>
                  <a:srgbClr val="FFFFFF"/>
                </a:highlight>
              </a:rPr>
              <a:t>Strict policies for who can access keys, using principles like least privilege. The fewer people with access, the lower the risk.</a:t>
            </a:r>
            <a:endParaRPr sz="29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Introduction to Asymmetric Encryption</a:t>
            </a:r>
            <a:endParaRPr/>
          </a:p>
        </p:txBody>
      </p:sp>
      <p:sp>
        <p:nvSpPr>
          <p:cNvPr id="129" name="Google Shape;129;p2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a:t>Definition</a:t>
            </a:r>
            <a:r>
              <a:rPr lang="en"/>
              <a:t>: A system where two mathematically linked keys are used:</a:t>
            </a:r>
            <a:endParaRPr/>
          </a:p>
          <a:p>
            <a:pPr indent="0" lvl="0" marL="0" rtl="0" algn="l">
              <a:spcBef>
                <a:spcPts val="1200"/>
              </a:spcBef>
              <a:spcAft>
                <a:spcPts val="0"/>
              </a:spcAft>
              <a:buClr>
                <a:schemeClr val="dk1"/>
              </a:buClr>
              <a:buSzPts val="1100"/>
              <a:buFont typeface="Arial"/>
              <a:buNone/>
            </a:pPr>
            <a:r>
              <a:rPr b="1" lang="en"/>
              <a:t>Public Key</a:t>
            </a:r>
            <a:r>
              <a:rPr lang="en"/>
              <a:t>: Freely shared, used for encryption.</a:t>
            </a:r>
            <a:endParaRPr/>
          </a:p>
          <a:p>
            <a:pPr indent="0" lvl="0" marL="0" rtl="0" algn="l">
              <a:spcBef>
                <a:spcPts val="1200"/>
              </a:spcBef>
              <a:spcAft>
                <a:spcPts val="0"/>
              </a:spcAft>
              <a:buClr>
                <a:schemeClr val="dk1"/>
              </a:buClr>
              <a:buSzPts val="1100"/>
              <a:buFont typeface="Arial"/>
              <a:buNone/>
            </a:pPr>
            <a:r>
              <a:rPr b="1" lang="en"/>
              <a:t>Private Key</a:t>
            </a:r>
            <a:r>
              <a:rPr lang="en"/>
              <a:t>: Kept secret, used only for decryption.</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pic>
        <p:nvPicPr>
          <p:cNvPr id="134" name="Google Shape;134;p26"/>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135" name="Google Shape;135;p26"/>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Management</a:t>
            </a:r>
            <a:endParaRPr/>
          </a:p>
        </p:txBody>
      </p:sp>
      <p:sp>
        <p:nvSpPr>
          <p:cNvPr id="141" name="Google Shape;141;p2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61950" lvl="0" marL="457200" rtl="0" algn="l">
              <a:lnSpc>
                <a:spcPct val="115000"/>
              </a:lnSpc>
              <a:spcBef>
                <a:spcPts val="300"/>
              </a:spcBef>
              <a:spcAft>
                <a:spcPts val="0"/>
              </a:spcAft>
              <a:buClr>
                <a:srgbClr val="1F1F1F"/>
              </a:buClr>
              <a:buSzPts val="2100"/>
              <a:buFont typeface="Arial"/>
              <a:buChar char="●"/>
            </a:pPr>
            <a:r>
              <a:rPr b="1" lang="en" sz="2100">
                <a:solidFill>
                  <a:srgbClr val="1F1F1F"/>
                </a:solidFill>
                <a:highlight>
                  <a:srgbClr val="FFFFFF"/>
                </a:highlight>
              </a:rPr>
              <a:t>Distribution Made Easy:</a:t>
            </a:r>
            <a:r>
              <a:rPr lang="en" sz="2100">
                <a:solidFill>
                  <a:srgbClr val="1F1F1F"/>
                </a:solidFill>
                <a:highlight>
                  <a:srgbClr val="FFFFFF"/>
                </a:highlight>
              </a:rPr>
              <a:t> Public keys are meant to be shared – they can be posted on websites, included in email signatures, etc.</a:t>
            </a:r>
            <a:endParaRPr sz="2100">
              <a:solidFill>
                <a:srgbClr val="1F1F1F"/>
              </a:solidFill>
              <a:highlight>
                <a:srgbClr val="FFFFFF"/>
              </a:highlight>
            </a:endParaRPr>
          </a:p>
          <a:p>
            <a:pPr indent="-361950" lvl="0" marL="457200" rtl="0" algn="l">
              <a:lnSpc>
                <a:spcPct val="115000"/>
              </a:lnSpc>
              <a:spcBef>
                <a:spcPts val="0"/>
              </a:spcBef>
              <a:spcAft>
                <a:spcPts val="0"/>
              </a:spcAft>
              <a:buClr>
                <a:srgbClr val="1F1F1F"/>
              </a:buClr>
              <a:buSzPts val="2100"/>
              <a:buFont typeface="Arial"/>
              <a:buChar char="●"/>
            </a:pPr>
            <a:r>
              <a:rPr b="1" lang="en" sz="2100">
                <a:solidFill>
                  <a:srgbClr val="1F1F1F"/>
                </a:solidFill>
                <a:highlight>
                  <a:srgbClr val="FFFFFF"/>
                </a:highlight>
              </a:rPr>
              <a:t>The Private Key is Sacred:</a:t>
            </a:r>
            <a:r>
              <a:rPr lang="en" sz="2100">
                <a:solidFill>
                  <a:srgbClr val="1F1F1F"/>
                </a:solidFill>
                <a:highlight>
                  <a:srgbClr val="FFFFFF"/>
                </a:highlight>
              </a:rPr>
              <a:t> It MUST be protected. If compromised, </a:t>
            </a:r>
            <a:r>
              <a:rPr lang="en" sz="2100">
                <a:solidFill>
                  <a:srgbClr val="1F1F1F"/>
                </a:solidFill>
                <a:highlight>
                  <a:srgbClr val="FFFF00"/>
                </a:highlight>
              </a:rPr>
              <a:t>all past and future messages encrypted with the corresponding public key are potentially readable</a:t>
            </a:r>
            <a:r>
              <a:rPr lang="en" sz="2100">
                <a:solidFill>
                  <a:srgbClr val="1F1F1F"/>
                </a:solidFill>
                <a:highlight>
                  <a:srgbClr val="FFFFFF"/>
                </a:highlight>
              </a:rPr>
              <a:t>.</a:t>
            </a:r>
            <a:endParaRPr sz="33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Cases: Digital Signatures</a:t>
            </a:r>
            <a:endParaRPr/>
          </a:p>
        </p:txBody>
      </p:sp>
      <p:sp>
        <p:nvSpPr>
          <p:cNvPr id="147" name="Google Shape;147;p2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300"/>
              </a:spcBef>
              <a:spcAft>
                <a:spcPts val="0"/>
              </a:spcAft>
              <a:buClr>
                <a:srgbClr val="1F1F1F"/>
              </a:buClr>
              <a:buSzPts val="1900"/>
              <a:buFont typeface="Arial"/>
              <a:buChar char="●"/>
            </a:pPr>
            <a:r>
              <a:rPr lang="en" sz="1900">
                <a:solidFill>
                  <a:srgbClr val="1F1F1F"/>
                </a:solidFill>
                <a:highlight>
                  <a:srgbClr val="FFFFFF"/>
                </a:highlight>
              </a:rPr>
              <a:t>Alice signs a document with her private key. Anyone can verify with her public key.</a:t>
            </a:r>
            <a:endParaRPr sz="1900">
              <a:solidFill>
                <a:srgbClr val="1F1F1F"/>
              </a:solidFill>
              <a:highlight>
                <a:srgbClr val="FFFFFF"/>
              </a:highlight>
            </a:endParaRPr>
          </a:p>
          <a:p>
            <a:pPr indent="-349250" lvl="0" marL="457200" rtl="0" algn="l">
              <a:lnSpc>
                <a:spcPct val="115000"/>
              </a:lnSpc>
              <a:spcBef>
                <a:spcPts val="0"/>
              </a:spcBef>
              <a:spcAft>
                <a:spcPts val="0"/>
              </a:spcAft>
              <a:buClr>
                <a:srgbClr val="1F1F1F"/>
              </a:buClr>
              <a:buSzPts val="1900"/>
              <a:buFont typeface="Arial"/>
              <a:buChar char="●"/>
            </a:pPr>
            <a:r>
              <a:rPr lang="en" sz="1900">
                <a:solidFill>
                  <a:srgbClr val="1F1F1F"/>
                </a:solidFill>
                <a:highlight>
                  <a:srgbClr val="FFFFFF"/>
                </a:highlight>
              </a:rPr>
              <a:t>Proves authenticity (only Alice could have signed it) and integrity (content hasn't changed).</a:t>
            </a:r>
            <a:endParaRPr sz="1900">
              <a:solidFill>
                <a:srgbClr val="1F1F1F"/>
              </a:solidFill>
              <a:highlight>
                <a:srgbClr val="FFFFFF"/>
              </a:highlight>
            </a:endParaRPr>
          </a:p>
          <a:p>
            <a:pPr indent="0" lvl="0" marL="0" rtl="0" algn="l">
              <a:lnSpc>
                <a:spcPct val="115000"/>
              </a:lnSpc>
              <a:spcBef>
                <a:spcPts val="300"/>
              </a:spcBef>
              <a:spcAft>
                <a:spcPts val="0"/>
              </a:spcAft>
              <a:buNone/>
            </a:pPr>
            <a:r>
              <a:t/>
            </a:r>
            <a:endParaRPr sz="1900">
              <a:solidFill>
                <a:srgbClr val="1F1F1F"/>
              </a:solidFill>
              <a:highlight>
                <a:srgbClr val="FFFFFF"/>
              </a:highlight>
            </a:endParaRPr>
          </a:p>
          <a:p>
            <a:pPr indent="0" lvl="0" marL="0" rtl="0" algn="l">
              <a:lnSpc>
                <a:spcPct val="115000"/>
              </a:lnSpc>
              <a:spcBef>
                <a:spcPts val="300"/>
              </a:spcBef>
              <a:spcAft>
                <a:spcPts val="300"/>
              </a:spcAft>
              <a:buNone/>
            </a:pPr>
            <a:r>
              <a:rPr i="1" lang="en" sz="1900">
                <a:solidFill>
                  <a:srgbClr val="1F1F1F"/>
                </a:solidFill>
                <a:highlight>
                  <a:srgbClr val="FFFFFF"/>
                </a:highlight>
              </a:rPr>
              <a:t>Remember you verified the Mozilla installer last semester with GPG</a:t>
            </a:r>
            <a:endParaRPr i="1" sz="1900">
              <a:solidFill>
                <a:srgbClr val="1F1F1F"/>
              </a:solidFill>
              <a:highlight>
                <a:srgbClr val="FFFFFF"/>
              </a:high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Use Cases: Secure Email (GPG or PGP)</a:t>
            </a:r>
            <a:endParaRPr/>
          </a:p>
        </p:txBody>
      </p:sp>
      <p:sp>
        <p:nvSpPr>
          <p:cNvPr id="153" name="Google Shape;153;p2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68300" lvl="0" marL="457200" rtl="0" algn="l">
              <a:lnSpc>
                <a:spcPct val="115000"/>
              </a:lnSpc>
              <a:spcBef>
                <a:spcPts val="300"/>
              </a:spcBef>
              <a:spcAft>
                <a:spcPts val="0"/>
              </a:spcAft>
              <a:buClr>
                <a:srgbClr val="1F1F1F"/>
              </a:buClr>
              <a:buSzPts val="2200"/>
              <a:buFont typeface="Arial"/>
              <a:buChar char="●"/>
            </a:pPr>
            <a:r>
              <a:rPr lang="en" sz="2200">
                <a:solidFill>
                  <a:srgbClr val="1F1F1F"/>
                </a:solidFill>
                <a:highlight>
                  <a:srgbClr val="FFFFFF"/>
                </a:highlight>
              </a:rPr>
              <a:t>Alice encrypts the email with Bob's public key</a:t>
            </a:r>
            <a:endParaRPr sz="2200">
              <a:solidFill>
                <a:srgbClr val="1F1F1F"/>
              </a:solidFill>
              <a:highlight>
                <a:srgbClr val="FFFFFF"/>
              </a:highlight>
            </a:endParaRPr>
          </a:p>
          <a:p>
            <a:pPr indent="-368300" lvl="0" marL="457200" rtl="0" algn="l">
              <a:lnSpc>
                <a:spcPct val="115000"/>
              </a:lnSpc>
              <a:spcBef>
                <a:spcPts val="0"/>
              </a:spcBef>
              <a:spcAft>
                <a:spcPts val="0"/>
              </a:spcAft>
              <a:buClr>
                <a:srgbClr val="1F1F1F"/>
              </a:buClr>
              <a:buSzPts val="2200"/>
              <a:buFont typeface="Arial"/>
              <a:buChar char="●"/>
            </a:pPr>
            <a:r>
              <a:rPr lang="en" sz="2200">
                <a:solidFill>
                  <a:srgbClr val="1F1F1F"/>
                </a:solidFill>
                <a:highlight>
                  <a:srgbClr val="FFFFFF"/>
                </a:highlight>
              </a:rPr>
              <a:t>Only Bob's private key can decrypt.</a:t>
            </a:r>
            <a:endParaRPr sz="2200">
              <a:solidFill>
                <a:srgbClr val="1F1F1F"/>
              </a:solidFill>
              <a:highlight>
                <a:srgbClr val="FFFFFF"/>
              </a:highlight>
            </a:endParaRPr>
          </a:p>
          <a:p>
            <a:pPr indent="0" lvl="0" marL="0" rtl="0" algn="l">
              <a:lnSpc>
                <a:spcPct val="115000"/>
              </a:lnSpc>
              <a:spcBef>
                <a:spcPts val="300"/>
              </a:spcBef>
              <a:spcAft>
                <a:spcPts val="0"/>
              </a:spcAft>
              <a:buNone/>
            </a:pPr>
            <a:r>
              <a:t/>
            </a:r>
            <a:endParaRPr sz="2200">
              <a:solidFill>
                <a:srgbClr val="1F1F1F"/>
              </a:solidFill>
              <a:highlight>
                <a:srgbClr val="FFFFFF"/>
              </a:highlight>
            </a:endParaRPr>
          </a:p>
          <a:p>
            <a:pPr indent="0" lvl="0" marL="0" rtl="0" algn="l">
              <a:lnSpc>
                <a:spcPct val="115000"/>
              </a:lnSpc>
              <a:spcBef>
                <a:spcPts val="300"/>
              </a:spcBef>
              <a:spcAft>
                <a:spcPts val="300"/>
              </a:spcAft>
              <a:buNone/>
            </a:pPr>
            <a:r>
              <a:rPr i="1" lang="en" sz="2200">
                <a:solidFill>
                  <a:srgbClr val="1F1F1F"/>
                </a:solidFill>
                <a:highlight>
                  <a:srgbClr val="FFFFFF"/>
                </a:highlight>
              </a:rPr>
              <a:t>Last semester you encrypted your partner’s signed key with their public key using GPG.</a:t>
            </a:r>
            <a:endParaRPr i="1" sz="2200">
              <a:solidFill>
                <a:srgbClr val="1F1F1F"/>
              </a:solidFill>
              <a:highlight>
                <a:srgbClr val="FFFFFF"/>
              </a:highlight>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30"/>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SSL/TLS (HTTPS Websites)</a:t>
            </a:r>
            <a:endParaRPr/>
          </a:p>
        </p:txBody>
      </p:sp>
      <p:sp>
        <p:nvSpPr>
          <p:cNvPr id="159" name="Google Shape;159;p3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9250" lvl="0" marL="457200" rtl="0" algn="l">
              <a:lnSpc>
                <a:spcPct val="115000"/>
              </a:lnSpc>
              <a:spcBef>
                <a:spcPts val="300"/>
              </a:spcBef>
              <a:spcAft>
                <a:spcPts val="0"/>
              </a:spcAft>
              <a:buClr>
                <a:srgbClr val="1F1F1F"/>
              </a:buClr>
              <a:buSzPts val="1900"/>
              <a:buFont typeface="Arial"/>
              <a:buChar char="●"/>
            </a:pPr>
            <a:r>
              <a:rPr lang="en" sz="1900">
                <a:solidFill>
                  <a:srgbClr val="1F1F1F"/>
                </a:solidFill>
                <a:highlight>
                  <a:srgbClr val="FFFFFF"/>
                </a:highlight>
              </a:rPr>
              <a:t>Your browser gets the website's public key, </a:t>
            </a:r>
            <a:r>
              <a:rPr lang="en" sz="1900">
                <a:solidFill>
                  <a:srgbClr val="1F1F1F"/>
                </a:solidFill>
                <a:highlight>
                  <a:srgbClr val="FFFF00"/>
                </a:highlight>
              </a:rPr>
              <a:t>verifies its authenticity</a:t>
            </a:r>
            <a:r>
              <a:rPr lang="en" sz="1900">
                <a:solidFill>
                  <a:srgbClr val="1F1F1F"/>
                </a:solidFill>
                <a:highlight>
                  <a:srgbClr val="FFFFFF"/>
                </a:highlight>
              </a:rPr>
              <a:t>, </a:t>
            </a:r>
            <a:endParaRPr sz="1900">
              <a:solidFill>
                <a:srgbClr val="1F1F1F"/>
              </a:solidFill>
              <a:highlight>
                <a:srgbClr val="FFFFFF"/>
              </a:highlight>
            </a:endParaRPr>
          </a:p>
          <a:p>
            <a:pPr indent="0" lvl="0" marL="457200" rtl="0" algn="l">
              <a:lnSpc>
                <a:spcPct val="115000"/>
              </a:lnSpc>
              <a:spcBef>
                <a:spcPts val="300"/>
              </a:spcBef>
              <a:spcAft>
                <a:spcPts val="0"/>
              </a:spcAft>
              <a:buNone/>
            </a:pPr>
            <a:r>
              <a:t/>
            </a:r>
            <a:endParaRPr sz="1900">
              <a:solidFill>
                <a:srgbClr val="1F1F1F"/>
              </a:solidFill>
              <a:highlight>
                <a:srgbClr val="FFFFFF"/>
              </a:highlight>
            </a:endParaRPr>
          </a:p>
          <a:p>
            <a:pPr indent="-349250" lvl="0" marL="457200" rtl="0" algn="l">
              <a:lnSpc>
                <a:spcPct val="115000"/>
              </a:lnSpc>
              <a:spcBef>
                <a:spcPts val="300"/>
              </a:spcBef>
              <a:spcAft>
                <a:spcPts val="0"/>
              </a:spcAft>
              <a:buClr>
                <a:srgbClr val="1F1F1F"/>
              </a:buClr>
              <a:buSzPts val="1900"/>
              <a:buFont typeface="Arial"/>
              <a:buChar char="●"/>
            </a:pPr>
            <a:r>
              <a:rPr lang="en" sz="1900">
                <a:solidFill>
                  <a:srgbClr val="1F1F1F"/>
                </a:solidFill>
                <a:highlight>
                  <a:srgbClr val="FFFF00"/>
                </a:highlight>
              </a:rPr>
              <a:t>Where do they then they agree on a symmetric key for fast communication??</a:t>
            </a:r>
            <a:endParaRPr sz="1900">
              <a:solidFill>
                <a:srgbClr val="1F1F1F"/>
              </a:solidFill>
              <a:highlight>
                <a:srgbClr val="FFFF00"/>
              </a:high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pic>
        <p:nvPicPr>
          <p:cNvPr id="164" name="Google Shape;164;p31"/>
          <p:cNvPicPr preferRelativeResize="0"/>
          <p:nvPr/>
        </p:nvPicPr>
        <p:blipFill>
          <a:blip r:embed="rId3">
            <a:alphaModFix/>
          </a:blip>
          <a:stretch>
            <a:fillRect/>
          </a:stretch>
        </p:blipFill>
        <p:spPr>
          <a:xfrm>
            <a:off x="1143000" y="0"/>
            <a:ext cx="6857999" cy="5143500"/>
          </a:xfrm>
          <a:prstGeom prst="rect">
            <a:avLst/>
          </a:prstGeom>
          <a:noFill/>
          <a:ln>
            <a:noFill/>
          </a:ln>
        </p:spPr>
      </p:pic>
      <p:pic>
        <p:nvPicPr>
          <p:cNvPr id="165" name="Google Shape;165;p31"/>
          <p:cNvPicPr preferRelativeResize="0"/>
          <p:nvPr/>
        </p:nvPicPr>
        <p:blipFill>
          <a:blip r:embed="rId4">
            <a:alphaModFix/>
          </a:blip>
          <a:stretch>
            <a:fillRect/>
          </a:stretch>
        </p:blipFill>
        <p:spPr>
          <a:xfrm>
            <a:off x="1143000" y="0"/>
            <a:ext cx="6857999" cy="51435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Diffie-Hellman Key Exchange</a:t>
            </a:r>
            <a:endParaRPr/>
          </a:p>
        </p:txBody>
      </p:sp>
      <p:sp>
        <p:nvSpPr>
          <p:cNvPr id="171" name="Google Shape;171;p3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800"/>
              <a:t>Key Exchange Protocol</a:t>
            </a:r>
            <a:r>
              <a:rPr lang="en" sz="1800"/>
              <a:t>: Diffie-Hellman (DH) enables two parties to establish a shared secret over an unsecured communication channel. This shared secret can then be used to encrypt subsequent communications using symmetric key cryptography.</a:t>
            </a:r>
            <a:endParaRPr sz="1800"/>
          </a:p>
          <a:p>
            <a:pPr indent="0" lvl="0" marL="0" rtl="0" algn="l">
              <a:spcBef>
                <a:spcPts val="1200"/>
              </a:spcBef>
              <a:spcAft>
                <a:spcPts val="1200"/>
              </a:spcAft>
              <a:buNone/>
            </a:pPr>
            <a:r>
              <a:rPr b="1" lang="en" sz="1800"/>
              <a:t>Asymmetric Principles</a:t>
            </a:r>
            <a:r>
              <a:rPr lang="en" sz="1800"/>
              <a:t>: It utilizes asymmetric principles, where each party generates public and private keys. The magic of DH lies in its ability for two parties to end up with a shared secret that only they know, despite exchanging information over a public channel where interceptors can see their exchanged data.</a:t>
            </a:r>
            <a:endParaRPr sz="3100"/>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33"/>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Diffie-Hellman Key Exchange</a:t>
            </a:r>
            <a:endParaRPr/>
          </a:p>
        </p:txBody>
      </p:sp>
      <p:sp>
        <p:nvSpPr>
          <p:cNvPr id="177" name="Google Shape;177;p33"/>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en" sz="1900"/>
              <a:t>Not Encryption</a:t>
            </a:r>
            <a:r>
              <a:rPr lang="en" sz="1900"/>
              <a:t>: Unlike RSA or ECC, which are used for both key exchange and encryption/decryption, DH is solely for key exchange. The shared secret generated by DH is typically used as the key in a symmetric encryption algorithm to encrypt and decrypt messages.</a:t>
            </a:r>
            <a:endParaRPr sz="1900"/>
          </a:p>
          <a:p>
            <a:pPr indent="0" lvl="0" marL="0" rtl="0" algn="l">
              <a:spcBef>
                <a:spcPts val="1200"/>
              </a:spcBef>
              <a:spcAft>
                <a:spcPts val="1200"/>
              </a:spcAft>
              <a:buNone/>
            </a:pPr>
            <a:r>
              <a:rPr b="1" lang="en" sz="1900"/>
              <a:t>Foundation for Secure Communications</a:t>
            </a:r>
            <a:r>
              <a:rPr lang="en" sz="1900"/>
              <a:t>: DH is fundamental to many protocols that secure communications over the internet, including HTTPS, SSH, and IPSec, providing a secure method of exchanging the keys needed for symmetric encryption.</a:t>
            </a:r>
            <a:endParaRPr sz="3200"/>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4"/>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Asymmetric: </a:t>
            </a:r>
            <a:r>
              <a:rPr lang="en">
                <a:highlight>
                  <a:srgbClr val="FFFF00"/>
                </a:highlight>
              </a:rPr>
              <a:t>RSA</a:t>
            </a:r>
            <a:endParaRPr>
              <a:highlight>
                <a:srgbClr val="FFFF00"/>
              </a:highlight>
            </a:endParaRPr>
          </a:p>
        </p:txBody>
      </p:sp>
      <p:sp>
        <p:nvSpPr>
          <p:cNvPr id="183" name="Google Shape;183;p34"/>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457200" rtl="0" algn="l">
              <a:lnSpc>
                <a:spcPct val="115000"/>
              </a:lnSpc>
              <a:spcBef>
                <a:spcPts val="300"/>
              </a:spcBef>
              <a:spcAft>
                <a:spcPts val="0"/>
              </a:spcAft>
              <a:buNone/>
            </a:pPr>
            <a:r>
              <a:rPr b="1" lang="en" sz="2000">
                <a:solidFill>
                  <a:srgbClr val="1F1F1F"/>
                </a:solidFill>
                <a:highlight>
                  <a:srgbClr val="FFFF00"/>
                </a:highlight>
              </a:rPr>
              <a:t>R</a:t>
            </a:r>
            <a:r>
              <a:rPr b="1" lang="en" sz="2000">
                <a:solidFill>
                  <a:srgbClr val="1F1F1F"/>
                </a:solidFill>
                <a:highlight>
                  <a:srgbClr val="FFFFFF"/>
                </a:highlight>
              </a:rPr>
              <a:t>ivest–</a:t>
            </a:r>
            <a:r>
              <a:rPr b="1" lang="en" sz="2000">
                <a:solidFill>
                  <a:srgbClr val="1F1F1F"/>
                </a:solidFill>
                <a:highlight>
                  <a:srgbClr val="FFFF00"/>
                </a:highlight>
              </a:rPr>
              <a:t>S</a:t>
            </a:r>
            <a:r>
              <a:rPr b="1" lang="en" sz="2000">
                <a:solidFill>
                  <a:srgbClr val="1F1F1F"/>
                </a:solidFill>
                <a:highlight>
                  <a:srgbClr val="FFFFFF"/>
                </a:highlight>
              </a:rPr>
              <a:t>hamir–</a:t>
            </a:r>
            <a:r>
              <a:rPr b="1" lang="en" sz="2000">
                <a:solidFill>
                  <a:srgbClr val="1F1F1F"/>
                </a:solidFill>
                <a:highlight>
                  <a:srgbClr val="FFFF00"/>
                </a:highlight>
              </a:rPr>
              <a:t>A</a:t>
            </a:r>
            <a:r>
              <a:rPr b="1" lang="en" sz="2000">
                <a:solidFill>
                  <a:srgbClr val="1F1F1F"/>
                </a:solidFill>
                <a:highlight>
                  <a:srgbClr val="FFFFFF"/>
                </a:highlight>
              </a:rPr>
              <a:t>dleman:</a:t>
            </a:r>
            <a:endParaRPr b="1" sz="2000">
              <a:solidFill>
                <a:srgbClr val="1F1F1F"/>
              </a:solidFill>
              <a:highlight>
                <a:srgbClr val="FFFFFF"/>
              </a:highlight>
            </a:endParaRPr>
          </a:p>
          <a:p>
            <a:pPr indent="-355600" lvl="1" marL="914400" rtl="0" algn="l">
              <a:lnSpc>
                <a:spcPct val="115000"/>
              </a:lnSpc>
              <a:spcBef>
                <a:spcPts val="600"/>
              </a:spcBef>
              <a:spcAft>
                <a:spcPts val="0"/>
              </a:spcAft>
              <a:buClr>
                <a:srgbClr val="1F1F1F"/>
              </a:buClr>
              <a:buSzPts val="2000"/>
              <a:buFont typeface="Arial"/>
              <a:buChar char="○"/>
            </a:pPr>
            <a:r>
              <a:rPr lang="en">
                <a:solidFill>
                  <a:srgbClr val="1F1F1F"/>
                </a:solidFill>
                <a:highlight>
                  <a:srgbClr val="FFFFFF"/>
                </a:highlight>
              </a:rPr>
              <a:t>One of the earliest and most widely used asymmetric algorithms.</a:t>
            </a:r>
            <a:endParaRPr>
              <a:solidFill>
                <a:srgbClr val="1F1F1F"/>
              </a:solidFill>
              <a:highlight>
                <a:srgbClr val="FFFFFF"/>
              </a:highlight>
            </a:endParaRPr>
          </a:p>
          <a:p>
            <a:pPr indent="-355600" lvl="1" marL="914400" rtl="0" algn="l">
              <a:lnSpc>
                <a:spcPct val="115000"/>
              </a:lnSpc>
              <a:spcBef>
                <a:spcPts val="0"/>
              </a:spcBef>
              <a:spcAft>
                <a:spcPts val="0"/>
              </a:spcAft>
              <a:buClr>
                <a:srgbClr val="1F1F1F"/>
              </a:buClr>
              <a:buSzPts val="2000"/>
              <a:buFont typeface="Arial"/>
              <a:buChar char="○"/>
            </a:pPr>
            <a:r>
              <a:rPr lang="en">
                <a:solidFill>
                  <a:srgbClr val="1F1F1F"/>
                </a:solidFill>
                <a:highlight>
                  <a:srgbClr val="FFFFFF"/>
                </a:highlight>
              </a:rPr>
              <a:t>Based on the difficulty of factoring large prime numbers.</a:t>
            </a:r>
            <a:endParaRPr>
              <a:solidFill>
                <a:srgbClr val="1F1F1F"/>
              </a:solidFill>
              <a:highlight>
                <a:srgbClr val="FFFFFF"/>
              </a:highlight>
            </a:endParaRPr>
          </a:p>
          <a:p>
            <a:pPr indent="-355600" lvl="1" marL="914400" rtl="0" algn="l">
              <a:lnSpc>
                <a:spcPct val="115000"/>
              </a:lnSpc>
              <a:spcBef>
                <a:spcPts val="0"/>
              </a:spcBef>
              <a:spcAft>
                <a:spcPts val="0"/>
              </a:spcAft>
              <a:buClr>
                <a:srgbClr val="1F1F1F"/>
              </a:buClr>
              <a:buSzPts val="2000"/>
              <a:buFont typeface="Arial"/>
              <a:buChar char="○"/>
            </a:pPr>
            <a:r>
              <a:rPr lang="en">
                <a:solidFill>
                  <a:srgbClr val="1F1F1F"/>
                </a:solidFill>
                <a:highlight>
                  <a:srgbClr val="FFFFFF"/>
                </a:highlight>
              </a:rPr>
              <a:t>Strengths: Proven track record, widely implemented and trusted.</a:t>
            </a:r>
            <a:endParaRPr>
              <a:solidFill>
                <a:srgbClr val="1F1F1F"/>
              </a:solidFill>
              <a:highlight>
                <a:srgbClr val="FFFFFF"/>
              </a:highlight>
            </a:endParaRPr>
          </a:p>
          <a:p>
            <a:pPr indent="-355600" lvl="1" marL="914400" rtl="0" algn="l">
              <a:lnSpc>
                <a:spcPct val="115000"/>
              </a:lnSpc>
              <a:spcBef>
                <a:spcPts val="0"/>
              </a:spcBef>
              <a:spcAft>
                <a:spcPts val="0"/>
              </a:spcAft>
              <a:buClr>
                <a:srgbClr val="1F1F1F"/>
              </a:buClr>
              <a:buSzPts val="2000"/>
              <a:buFont typeface="Arial"/>
              <a:buChar char="○"/>
            </a:pPr>
            <a:r>
              <a:rPr lang="en">
                <a:solidFill>
                  <a:srgbClr val="1F1F1F"/>
                </a:solidFill>
                <a:highlight>
                  <a:srgbClr val="FFFFFF"/>
                </a:highlight>
              </a:rPr>
              <a:t>Weakness: Susceptible to future attacks by quantum computers. Requires relatively large key sizes for adequate security.</a:t>
            </a:r>
            <a:endParaRPr sz="28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35"/>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Asymmetric: ECC</a:t>
            </a:r>
            <a:endParaRPr/>
          </a:p>
        </p:txBody>
      </p:sp>
      <p:sp>
        <p:nvSpPr>
          <p:cNvPr id="189" name="Google Shape;189;p35"/>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b="1" lang="en" sz="1900">
                <a:solidFill>
                  <a:srgbClr val="1F1F1F"/>
                </a:solidFill>
                <a:highlight>
                  <a:srgbClr val="FFFF00"/>
                </a:highlight>
              </a:rPr>
              <a:t>E</a:t>
            </a:r>
            <a:r>
              <a:rPr b="1" lang="en" sz="1900">
                <a:solidFill>
                  <a:srgbClr val="1F1F1F"/>
                </a:solidFill>
                <a:highlight>
                  <a:srgbClr val="FFFFFF"/>
                </a:highlight>
              </a:rPr>
              <a:t>lliptic </a:t>
            </a:r>
            <a:r>
              <a:rPr b="1" lang="en" sz="1900">
                <a:solidFill>
                  <a:srgbClr val="1F1F1F"/>
                </a:solidFill>
                <a:highlight>
                  <a:srgbClr val="FFFF00"/>
                </a:highlight>
              </a:rPr>
              <a:t>C</a:t>
            </a:r>
            <a:r>
              <a:rPr b="1" lang="en" sz="1900">
                <a:solidFill>
                  <a:srgbClr val="1F1F1F"/>
                </a:solidFill>
                <a:highlight>
                  <a:srgbClr val="FFFFFF"/>
                </a:highlight>
              </a:rPr>
              <a:t>urve </a:t>
            </a:r>
            <a:r>
              <a:rPr b="1" lang="en" sz="1900">
                <a:solidFill>
                  <a:srgbClr val="1F1F1F"/>
                </a:solidFill>
                <a:highlight>
                  <a:srgbClr val="FFFF00"/>
                </a:highlight>
              </a:rPr>
              <a:t>C</a:t>
            </a:r>
            <a:r>
              <a:rPr b="1" lang="en" sz="1900">
                <a:solidFill>
                  <a:srgbClr val="1F1F1F"/>
                </a:solidFill>
                <a:highlight>
                  <a:srgbClr val="FFFFFF"/>
                </a:highlight>
              </a:rPr>
              <a:t>ryptography:</a:t>
            </a:r>
            <a:endParaRPr b="1" sz="1900">
              <a:solidFill>
                <a:srgbClr val="1F1F1F"/>
              </a:solidFill>
              <a:highlight>
                <a:srgbClr val="FFFFFF"/>
              </a:highlight>
            </a:endParaRPr>
          </a:p>
          <a:p>
            <a:pPr indent="-349250" lvl="0" marL="457200" rtl="0" algn="l">
              <a:lnSpc>
                <a:spcPct val="115000"/>
              </a:lnSpc>
              <a:spcBef>
                <a:spcPts val="1200"/>
              </a:spcBef>
              <a:spcAft>
                <a:spcPts val="0"/>
              </a:spcAft>
              <a:buClr>
                <a:srgbClr val="1F1F1F"/>
              </a:buClr>
              <a:buSzPts val="1900"/>
              <a:buFont typeface="Arial"/>
              <a:buChar char="●"/>
            </a:pPr>
            <a:r>
              <a:rPr lang="en" sz="1900">
                <a:solidFill>
                  <a:srgbClr val="1F1F1F"/>
                </a:solidFill>
                <a:highlight>
                  <a:srgbClr val="FFFFFF"/>
                </a:highlight>
              </a:rPr>
              <a:t>More recent, based on the mathematics of elliptic curves over finite fields.</a:t>
            </a:r>
            <a:endParaRPr sz="1900">
              <a:solidFill>
                <a:srgbClr val="1F1F1F"/>
              </a:solidFill>
              <a:highlight>
                <a:srgbClr val="FFFFFF"/>
              </a:highlight>
            </a:endParaRPr>
          </a:p>
          <a:p>
            <a:pPr indent="-349250" lvl="0" marL="457200" rtl="0" algn="l">
              <a:lnSpc>
                <a:spcPct val="115000"/>
              </a:lnSpc>
              <a:spcBef>
                <a:spcPts val="0"/>
              </a:spcBef>
              <a:spcAft>
                <a:spcPts val="0"/>
              </a:spcAft>
              <a:buClr>
                <a:srgbClr val="1F1F1F"/>
              </a:buClr>
              <a:buSzPts val="1900"/>
              <a:buFont typeface="Arial"/>
              <a:buChar char="●"/>
            </a:pPr>
            <a:r>
              <a:rPr lang="en" sz="1900">
                <a:solidFill>
                  <a:srgbClr val="1F1F1F"/>
                </a:solidFill>
                <a:highlight>
                  <a:srgbClr val="FFFFFF"/>
                </a:highlight>
              </a:rPr>
              <a:t>Key Advantage: Offers the same level of security as RSA with significantly smaller key sizes.</a:t>
            </a:r>
            <a:endParaRPr sz="1900">
              <a:solidFill>
                <a:srgbClr val="1F1F1F"/>
              </a:solidFill>
              <a:highlight>
                <a:srgbClr val="FFFFFF"/>
              </a:highlight>
            </a:endParaRPr>
          </a:p>
          <a:p>
            <a:pPr indent="-349250" lvl="0" marL="457200" rtl="0" algn="l">
              <a:lnSpc>
                <a:spcPct val="115000"/>
              </a:lnSpc>
              <a:spcBef>
                <a:spcPts val="0"/>
              </a:spcBef>
              <a:spcAft>
                <a:spcPts val="0"/>
              </a:spcAft>
              <a:buClr>
                <a:srgbClr val="1F1F1F"/>
              </a:buClr>
              <a:buSzPts val="1900"/>
              <a:buFont typeface="Arial"/>
              <a:buChar char="●"/>
            </a:pPr>
            <a:r>
              <a:rPr lang="en" sz="1900">
                <a:solidFill>
                  <a:srgbClr val="1F1F1F"/>
                </a:solidFill>
                <a:highlight>
                  <a:srgbClr val="FFFFFF"/>
                </a:highlight>
              </a:rPr>
              <a:t>Benefits: Faster, requires less computing power and storage space– ideal for mobile devices and resource-constrained environments.</a:t>
            </a:r>
            <a:endParaRPr sz="1900">
              <a:solidFill>
                <a:srgbClr val="1F1F1F"/>
              </a:solidFill>
              <a:highlight>
                <a:srgbClr val="FFFFFF"/>
              </a:highlight>
            </a:endParaRPr>
          </a:p>
          <a:p>
            <a:pPr indent="-349250" lvl="0" marL="457200" rtl="0" algn="l">
              <a:lnSpc>
                <a:spcPct val="115000"/>
              </a:lnSpc>
              <a:spcBef>
                <a:spcPts val="0"/>
              </a:spcBef>
              <a:spcAft>
                <a:spcPts val="0"/>
              </a:spcAft>
              <a:buClr>
                <a:srgbClr val="1F1F1F"/>
              </a:buClr>
              <a:buSzPts val="1900"/>
              <a:buFont typeface="Arial"/>
              <a:buChar char="●"/>
            </a:pPr>
            <a:r>
              <a:rPr lang="en" sz="1900">
                <a:solidFill>
                  <a:srgbClr val="1F1F1F"/>
                </a:solidFill>
                <a:highlight>
                  <a:srgbClr val="FFFFFF"/>
                </a:highlight>
              </a:rPr>
              <a:t>Growing Adoption: Increasingly used in modern security systems, especially where resources are limited.</a:t>
            </a:r>
            <a:endParaRPr sz="3100"/>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6"/>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Computational Difficulty and Quantum Computing</a:t>
            </a:r>
            <a:endParaRPr sz="2600"/>
          </a:p>
        </p:txBody>
      </p:sp>
      <p:sp>
        <p:nvSpPr>
          <p:cNvPr id="195" name="Google Shape;195;p36"/>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en" sz="1800"/>
              <a:t>Quantum Computers</a:t>
            </a:r>
            <a:r>
              <a:rPr lang="en" sz="1800"/>
              <a:t>: These theoretical machines can solve certain types of problems much faster than classical computers. Specifically, they could potentially </a:t>
            </a:r>
            <a:r>
              <a:rPr lang="en" sz="1800">
                <a:highlight>
                  <a:srgbClr val="FFFF00"/>
                </a:highlight>
              </a:rPr>
              <a:t>break current encryption algorithms by efficiently solving the mathematical problems</a:t>
            </a:r>
            <a:r>
              <a:rPr lang="en" sz="1800"/>
              <a:t> (like factoring large numbers for RSA or solving discrete logarithm problems for ECC) on which their security is based.</a:t>
            </a:r>
            <a:endParaRPr sz="1800"/>
          </a:p>
          <a:p>
            <a:pPr indent="0" lvl="0" marL="0" rtl="0" algn="l">
              <a:spcBef>
                <a:spcPts val="1200"/>
              </a:spcBef>
              <a:spcAft>
                <a:spcPts val="1200"/>
              </a:spcAft>
              <a:buNone/>
            </a:pPr>
            <a:r>
              <a:rPr b="1" lang="en" sz="1800"/>
              <a:t>Stable Qubits</a:t>
            </a:r>
            <a:r>
              <a:rPr lang="en" sz="1800"/>
              <a:t>: Quantum computers operate using qubits, which can represent and store information in a way that allows for more complex computation than traditional bits. The number of stable qubits a quantum computer has is crucial for its computational power. Current quantum computers have a l</a:t>
            </a:r>
            <a:r>
              <a:rPr lang="en" sz="1800">
                <a:highlight>
                  <a:srgbClr val="FFFF00"/>
                </a:highlight>
              </a:rPr>
              <a:t>imited number of qubits that are stable enough to perform calculations</a:t>
            </a:r>
            <a:r>
              <a:rPr lang="en" sz="1800"/>
              <a:t>, which restricts their ability to break encryption.</a:t>
            </a:r>
            <a:endParaRPr sz="31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37"/>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600"/>
              <a:t>Computational Difficulty and Quantum Computing</a:t>
            </a:r>
            <a:endParaRPr sz="2600"/>
          </a:p>
        </p:txBody>
      </p:sp>
      <p:sp>
        <p:nvSpPr>
          <p:cNvPr id="201" name="Google Shape;201;p37"/>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en" sz="1800"/>
              <a:t>Key Size and Computational Effort</a:t>
            </a:r>
            <a:r>
              <a:rPr lang="en" sz="1800"/>
              <a:t>: The effort required to break encryption scales with the size of the encryption key. Quantum computers are expected to break smaller keys more easily than larger ones. However, the algorithms most at risk from quantum attacks (RSA, ECC) </a:t>
            </a:r>
            <a:r>
              <a:rPr lang="en" sz="1800">
                <a:highlight>
                  <a:srgbClr val="FFFF00"/>
                </a:highlight>
              </a:rPr>
              <a:t>don't scale in difficulty as linearly with key size in the quantum context as they do in classical cryptography</a:t>
            </a:r>
            <a:r>
              <a:rPr lang="en" sz="1800"/>
              <a:t>. </a:t>
            </a:r>
            <a:r>
              <a:rPr lang="en" sz="1800">
                <a:highlight>
                  <a:srgbClr val="00FF00"/>
                </a:highlight>
              </a:rPr>
              <a:t>ECC, for instance, provides stronger security per bit of key length compared to RSA</a:t>
            </a:r>
            <a:r>
              <a:rPr lang="en" sz="1800"/>
              <a:t>, meaning </a:t>
            </a:r>
            <a:r>
              <a:rPr lang="en" sz="1800">
                <a:highlight>
                  <a:srgbClr val="FFFF00"/>
                </a:highlight>
              </a:rPr>
              <a:t>ECC can use smaller keys to provide equivalent security against classical attacks</a:t>
            </a:r>
            <a:r>
              <a:rPr lang="en" sz="1800"/>
              <a:t>. This characteristic potentially makes ECC harder to break with early quantum computers, which will have limited qubit stability and computational capacity.</a:t>
            </a:r>
            <a:endParaRPr sz="3100"/>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sp>
        <p:nvSpPr>
          <p:cNvPr id="206" name="Google Shape;206;p38"/>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Practical Implications for ECC</a:t>
            </a:r>
            <a:endParaRPr/>
          </a:p>
        </p:txBody>
      </p:sp>
      <p:sp>
        <p:nvSpPr>
          <p:cNvPr id="207" name="Google Shape;207;p38"/>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298450" lvl="0" marL="457200" rtl="0" algn="l">
              <a:lnSpc>
                <a:spcPct val="115000"/>
              </a:lnSpc>
              <a:spcBef>
                <a:spcPts val="0"/>
              </a:spcBef>
              <a:spcAft>
                <a:spcPts val="0"/>
              </a:spcAft>
              <a:buClr>
                <a:schemeClr val="dk1"/>
              </a:buClr>
              <a:buSzPts val="1100"/>
              <a:buFont typeface="Arial"/>
              <a:buChar char="●"/>
            </a:pPr>
            <a:r>
              <a:rPr b="1" lang="en" sz="1100"/>
              <a:t>Storage and Bandwidth</a:t>
            </a:r>
            <a:r>
              <a:rPr lang="en" sz="1100"/>
              <a:t>: Smaller keys are beneficial because they require less storage space and bandwidth. This is particularly important for devices with limited storage or processing power and in situations where large volumes of data need to be encrypted and transmitted efficiently.</a:t>
            </a:r>
            <a:endParaRPr sz="1100"/>
          </a:p>
          <a:p>
            <a:pPr indent="-298450" lvl="0" marL="457200" rtl="0" algn="l">
              <a:lnSpc>
                <a:spcPct val="115000"/>
              </a:lnSpc>
              <a:spcBef>
                <a:spcPts val="0"/>
              </a:spcBef>
              <a:spcAft>
                <a:spcPts val="0"/>
              </a:spcAft>
              <a:buClr>
                <a:schemeClr val="dk1"/>
              </a:buClr>
              <a:buSzPts val="1100"/>
              <a:buFont typeface="Arial"/>
              <a:buChar char="●"/>
            </a:pPr>
            <a:r>
              <a:rPr b="1" lang="en" sz="1100"/>
              <a:t>Performance</a:t>
            </a:r>
            <a:r>
              <a:rPr lang="en" sz="1100"/>
              <a:t>: Cryptographic operations with smaller keys are faster, improving overall system performance. This is crucial for real-time applications or devices with limited computational resources.</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9"/>
          <p:cNvSpPr txBox="1"/>
          <p:nvPr>
            <p:ph type="title"/>
          </p:nvPr>
        </p:nvSpPr>
        <p:spPr>
          <a:xfrm>
            <a:off x="311700" y="292850"/>
            <a:ext cx="8520600" cy="8010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Agility Against Future Threats</a:t>
            </a:r>
            <a:endParaRPr/>
          </a:p>
        </p:txBody>
      </p:sp>
      <p:sp>
        <p:nvSpPr>
          <p:cNvPr id="213" name="Google Shape;213;p39"/>
          <p:cNvSpPr txBox="1"/>
          <p:nvPr>
            <p:ph idx="1" type="body"/>
          </p:nvPr>
        </p:nvSpPr>
        <p:spPr>
          <a:xfrm>
            <a:off x="311700" y="1228675"/>
            <a:ext cx="8520600" cy="3340200"/>
          </a:xfrm>
          <a:prstGeom prst="rect">
            <a:avLst/>
          </a:prstGeom>
        </p:spPr>
        <p:txBody>
          <a:bodyPr anchorCtr="0" anchor="t" bIns="91425" lIns="91425" spcFirstLastPara="1" rIns="91425" wrap="square" tIns="91425">
            <a:normAutofit lnSpcReduction="10000"/>
          </a:bodyPr>
          <a:lstStyle/>
          <a:p>
            <a:pPr indent="-330200" lvl="0" marL="457200" rtl="0" algn="l">
              <a:lnSpc>
                <a:spcPct val="115000"/>
              </a:lnSpc>
              <a:spcBef>
                <a:spcPts val="0"/>
              </a:spcBef>
              <a:spcAft>
                <a:spcPts val="0"/>
              </a:spcAft>
              <a:buClr>
                <a:schemeClr val="dk1"/>
              </a:buClr>
              <a:buSzPts val="1600"/>
              <a:buFont typeface="Arial"/>
              <a:buChar char="●"/>
            </a:pPr>
            <a:r>
              <a:rPr b="1" lang="en" sz="1600"/>
              <a:t>Migration to Quantum-resistant Algorithms</a:t>
            </a:r>
            <a:r>
              <a:rPr lang="en" sz="1600"/>
              <a:t>: The field of post-quantum cryptography is developing algorithms that are resistant to quantum computing attacks. </a:t>
            </a:r>
            <a:r>
              <a:rPr lang="en" sz="1600">
                <a:highlight>
                  <a:srgbClr val="FFFF00"/>
                </a:highlight>
              </a:rPr>
              <a:t>Systems using ECC, because of their smaller key sizes and less intensive computational requirements, might find it easier to migrate to new, quantum-resistant algorithms compared to systems heavily reliant on larger-key RSA encryption.</a:t>
            </a:r>
            <a:r>
              <a:rPr lang="en" sz="1600"/>
              <a:t> This potential for easier migration makes ECC an attractive option as we prepare for the advent of practical quantum computing.</a:t>
            </a:r>
            <a:endParaRPr sz="1600"/>
          </a:p>
          <a:p>
            <a:pPr indent="-330200" lvl="0" marL="457200" rtl="0" algn="l">
              <a:lnSpc>
                <a:spcPct val="115000"/>
              </a:lnSpc>
              <a:spcBef>
                <a:spcPts val="0"/>
              </a:spcBef>
              <a:spcAft>
                <a:spcPts val="0"/>
              </a:spcAft>
              <a:buClr>
                <a:schemeClr val="dk1"/>
              </a:buClr>
              <a:buSzPts val="1600"/>
              <a:buFont typeface="Arial"/>
              <a:buChar char="●"/>
            </a:pPr>
            <a:r>
              <a:rPr b="1" lang="en" sz="1600"/>
              <a:t>Re-encryption and System Redesign</a:t>
            </a:r>
            <a:r>
              <a:rPr lang="en" sz="1600"/>
              <a:t>: In a future where quantum computers can break current encryption, systems will need to re-encrypt sensitive data with quantum-resistant algorithms. Smaller keys and the systems designed around them could be more adaptable, requiring less overhaul of existing infrastructure to accommodate the new security measures.</a:t>
            </a:r>
            <a:endParaRPr sz="29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40"/>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Practical Limitations of Asymmetric Encryption</a:t>
            </a:r>
            <a:endParaRPr sz="2700"/>
          </a:p>
        </p:txBody>
      </p:sp>
      <p:sp>
        <p:nvSpPr>
          <p:cNvPr id="219" name="Google Shape;219;p40"/>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Computational Intensity</a:t>
            </a:r>
            <a:r>
              <a:rPr lang="en"/>
              <a:t>:  Asymmetric encryption algorithms are significantly more resource-intensive than their symmetric counterparts.  Encrypting large files directly would be time-consuming and place a heavy load on systems.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1"/>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Practical Limitations of Asymmetric Encryption</a:t>
            </a:r>
            <a:endParaRPr sz="2700"/>
          </a:p>
        </p:txBody>
      </p:sp>
      <p:sp>
        <p:nvSpPr>
          <p:cNvPr id="225" name="Google Shape;225;p41"/>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Payload Size Limitation</a:t>
            </a:r>
            <a:r>
              <a:rPr lang="en"/>
              <a:t>: The maximum amount of data directly encryptable with asymmetric encryption is tied to the key size. For instance, with a 2048-bit RSA key, you can encrypt a bit less than 256 bytes, with some space needed for essential security padding.</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2"/>
          <p:cNvSpPr txBox="1"/>
          <p:nvPr>
            <p:ph type="title"/>
          </p:nvPr>
        </p:nvSpPr>
        <p:spPr>
          <a:xfrm>
            <a:off x="311700" y="292850"/>
            <a:ext cx="8520600" cy="801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700"/>
              <a:t>Practical Limitations of Asymmetric Encryption</a:t>
            </a:r>
            <a:endParaRPr sz="2700"/>
          </a:p>
        </p:txBody>
      </p:sp>
      <p:sp>
        <p:nvSpPr>
          <p:cNvPr id="231" name="Google Shape;231;p42"/>
          <p:cNvSpPr txBox="1"/>
          <p:nvPr>
            <p:ph idx="1" type="body"/>
          </p:nvPr>
        </p:nvSpPr>
        <p:spPr>
          <a:xfrm>
            <a:off x="311700" y="1228675"/>
            <a:ext cx="8520600" cy="33402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b="1" lang="en"/>
              <a:t>Hybrid Approach is Best</a:t>
            </a:r>
            <a:r>
              <a:rPr lang="en"/>
              <a:t>:  Asymmetric encryption shines in secure key exchange and encrypting small messages. This allows us to securely distribute a symmetric key, which then handles the efficient encryption of large amounts of data.</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Beach Day">
  <a:themeElements>
    <a:clrScheme name="Beach Day">
      <a:dk1>
        <a:srgbClr val="00FDC8"/>
      </a:dk1>
      <a:lt1>
        <a:srgbClr val="FFFFFF"/>
      </a:lt1>
      <a:dk2>
        <a:srgbClr val="666666"/>
      </a:dk2>
      <a:lt2>
        <a:srgbClr val="EEEEEE"/>
      </a:lt2>
      <a:accent1>
        <a:srgbClr val="212121"/>
      </a:accent1>
      <a:accent2>
        <a:srgbClr val="455A64"/>
      </a:accent2>
      <a:accent3>
        <a:srgbClr val="78909C"/>
      </a:accent3>
      <a:accent4>
        <a:srgbClr val="7C7CE0"/>
      </a:accent4>
      <a:accent5>
        <a:srgbClr val="DB4437"/>
      </a:accent5>
      <a:accent6>
        <a:srgbClr val="F6CD4C"/>
      </a:accent6>
      <a:hlink>
        <a:srgbClr val="DB4437"/>
      </a:hlink>
      <a:folHlink>
        <a:srgbClr val="DB443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