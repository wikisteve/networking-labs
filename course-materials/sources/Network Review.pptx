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Amatic SC"/>
      <p:regular r:id="rId38"/>
      <p:bold r:id="rId39"/>
    </p:embeddedFont>
    <p:embeddedFont>
      <p:font typeface="Source Code Pr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urceCodePro-regular.fntdata"/><Relationship Id="rId20" Type="http://schemas.openxmlformats.org/officeDocument/2006/relationships/slide" Target="slides/slide15.xml"/><Relationship Id="rId42" Type="http://schemas.openxmlformats.org/officeDocument/2006/relationships/font" Target="fonts/SourceCodePro-italic.fntdata"/><Relationship Id="rId41" Type="http://schemas.openxmlformats.org/officeDocument/2006/relationships/font" Target="fonts/SourceCodePro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SourceCodePro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AmaticSC-bold.fntdata"/><Relationship Id="rId16" Type="http://schemas.openxmlformats.org/officeDocument/2006/relationships/slide" Target="slides/slide11.xml"/><Relationship Id="rId38" Type="http://schemas.openxmlformats.org/officeDocument/2006/relationships/font" Target="fonts/AmaticSC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909818b141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909818b14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909818b14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909818b14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909818b14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909818b14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909818b14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909818b14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909818b141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909818b14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909818b141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909818b14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909818b141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909818b14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909818b141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909818b14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909818b141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909818b141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909818b141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909818b141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909818b141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909818b141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909818b141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909818b141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909818b141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909818b141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909818b141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909818b141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909818b141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909818b141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909818b141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909818b141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909818b141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909818b141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909818b141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909818b141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909818b141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909818b141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909818b141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909818b141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909818b141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909818b141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909818b141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909818b141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909818b141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909818b141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909818b141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909818b141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909818b141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909818b141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909818b141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909818b141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909818b141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909818b141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909818b141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909818b141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909818b141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909818b141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909818b141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909818b141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909818b141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909818b141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1050" lIns="82100" spcFirstLastPara="1" rIns="82100" wrap="square" tIns="410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050" lIns="82100" spcFirstLastPara="1" rIns="82100" wrap="square" tIns="4105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800"/>
              <a:buChar char="■"/>
              <a:defRPr/>
            </a:lvl3pPr>
            <a:lvl4pPr indent="-228600" lvl="3" marL="18288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95000"/>
              </a:lnSpc>
              <a:spcBef>
                <a:spcPts val="63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/>
          <p:nvPr/>
        </p:nvSpPr>
        <p:spPr>
          <a:xfrm>
            <a:off x="0" y="0"/>
            <a:ext cx="9144000" cy="396900"/>
          </a:xfrm>
          <a:prstGeom prst="rect">
            <a:avLst/>
          </a:prstGeom>
          <a:solidFill>
            <a:srgbClr val="708CA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050" lIns="82100" spcFirstLastPara="1" rIns="82100" wrap="square" tIns="410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Review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Bits and Bytes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Understanding TCP and Connection Protocols</a:t>
            </a:r>
            <a:endParaRPr sz="27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Brief overview of today's topics: TCP 3-way handshake, connection-oriented protocols, and connectionless oriented protocols.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6905" y="0"/>
            <a:ext cx="599018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3-way Handshake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 sz="1800"/>
              <a:t>Step 1:</a:t>
            </a:r>
            <a:r>
              <a:rPr lang="en" sz="1800"/>
              <a:t> Client sends a SYN (synchronize) packet to the server.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 sz="1800"/>
              <a:t>Step 2:</a:t>
            </a:r>
            <a:r>
              <a:rPr lang="en" sz="1800"/>
              <a:t> Server responds with a SYN-ACK (synchronize-acknowledge) packet.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 sz="1800"/>
              <a:t>Step 3:</a:t>
            </a:r>
            <a:r>
              <a:rPr lang="en" sz="1800"/>
              <a:t> Client sends an ACK (acknowledge) packet back to the server.</a:t>
            </a:r>
            <a:endParaRPr sz="3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3-way Handshake?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Ensures both the client and server are ready for data transfer.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Validates that both parties can send and receive packets.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Establishes parameters for the connection.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Connection-Oriented Protocols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Definition: Protocols that establish a connection before transferring data.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Examples: TCP, FTP, HTTP.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Characteristics: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"/>
              <a:t>Reliable data transfer.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"/>
              <a:t>Error-checking and correction.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"/>
              <a:t>Ordered data transfer.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Connectionless-Oriented Protocols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Definition: Protocols that don't establish a connection before transferring data.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Examples: UDP, ICMP.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Characteristics: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"/>
              <a:t>May not guarantee data delivery.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"/>
              <a:t>No error-checking or correction.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n"/>
              <a:t>Faster data transfer due to fewer overheads.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the Two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Table comparing the two: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 sz="1800"/>
              <a:t>Connection</a:t>
            </a:r>
            <a:r>
              <a:rPr lang="en" sz="1800"/>
              <a:t>: Required for connection-oriented, not required for connectionless.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 sz="1800"/>
              <a:t>Reliability</a:t>
            </a:r>
            <a:r>
              <a:rPr lang="en" sz="1800"/>
              <a:t>: High for connection-oriented, variable for connectionless.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 sz="1800"/>
              <a:t>Use Cases</a:t>
            </a:r>
            <a:r>
              <a:rPr lang="en" sz="1800"/>
              <a:t>: Streaming, file transfer for connection-oriented; VoIP, online gaming for connectionless.</a:t>
            </a:r>
            <a:endParaRPr sz="3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Real-world Applications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How websites use both TCP (HTTP/HTTPS) and UDP (DNS).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Why video calls might use UDP.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Why file transfers typically use TCP.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Stateful vs. Stateless: Networking Perspective</a:t>
            </a:r>
            <a:endParaRPr sz="2700"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Brief introduction to the concepts of stateful and stateless in the context of networking.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Highlight: The foundation for understanding firewalls and iptables.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Connection-Oriented Protocols: TCP</a:t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TCP establishes a connection using the 3-way handshake.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Maintains state information about the connection.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Ensures reliable and ordered data transfer.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Connectionless Protocols: UDP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UDP sends data without establishing a connection.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Does not maintain state information.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Faster data transfer but may not guarantee delivery.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Stateful Networking: Remembering Connections</a:t>
            </a:r>
            <a:endParaRPr b="0" sz="2700"/>
          </a:p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Systems remember past interactions and sessions.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Useful for ensuring data integrity and security.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Example: Stateful firewalls track the state of active connections.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Stateless Networking</a:t>
            </a:r>
            <a:endParaRPr/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Each request or packet is treated as an isolated transaction.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Efficient for handling large-scale operations.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Example: Stateless firewalls treat each packet individually.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Stateful Firewalls</a:t>
            </a:r>
            <a:endParaRPr/>
          </a:p>
        </p:txBody>
      </p:sp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Track the state of active connections.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Can determine if an incoming packet is part of an established connection.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Enhanced security by understanding the context of network traffic.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Stateless Firewalls: Treating Packets Individually</a:t>
            </a:r>
            <a:endParaRPr sz="2500"/>
          </a:p>
        </p:txBody>
      </p:sp>
      <p:sp>
        <p:nvSpPr>
          <p:cNvPr id="152" name="Google Shape;152;p29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 lnSpcReduction="20000"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2900"/>
              <a:t>Use predefined rules to allow or block packets.</a:t>
            </a:r>
            <a:endParaRPr sz="29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2900"/>
              <a:t>Do not track the state of connections.</a:t>
            </a:r>
            <a:endParaRPr sz="29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2900"/>
              <a:t>Faster but may not provide the same level of security.</a:t>
            </a:r>
            <a:endParaRPr sz="2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Does It Matter for iptables?</a:t>
            </a:r>
            <a:endParaRPr/>
          </a:p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iptables can be configured to act as both stateful and stateless firewalls.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Understanding state helps in configuring and managing iptables rules effectively.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Provides a foundation for advanced firewall configurations.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Ports and Protocols: The Basics</a:t>
            </a:r>
            <a:endParaRPr/>
          </a:p>
        </p:txBody>
      </p:sp>
      <p:sp>
        <p:nvSpPr>
          <p:cNvPr id="164" name="Google Shape;164;p31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Brief introduction to what ports and protocols are.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Highlight: Ports are endpoints for communication, while protocols define the rules for communication.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vs. UDP: Two Distinct Protocols</a:t>
            </a:r>
            <a:endParaRPr/>
          </a:p>
        </p:txBody>
      </p:sp>
      <p:sp>
        <p:nvSpPr>
          <p:cNvPr id="170" name="Google Shape;170;p32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TCP: Connection-oriented, reliable, establishes a connection using a 3-way handshake.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UDP: Connectionless, faster, does not establish a formal connection.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 Numbers: The Basics</a:t>
            </a:r>
            <a:endParaRPr/>
          </a:p>
        </p:txBody>
      </p:sp>
      <p:sp>
        <p:nvSpPr>
          <p:cNvPr id="176" name="Google Shape;176;p33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Ports are 16-bit numbers, ranging from 0 to 65535.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Used to identify specific processes or services on a computer.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Common services have well-known port numbers (e.g., HTTP on port 80).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Sharing Port Numbers: Is It Possible?</a:t>
            </a:r>
            <a:endParaRPr/>
          </a:p>
        </p:txBody>
      </p:sp>
      <p:sp>
        <p:nvSpPr>
          <p:cNvPr id="182" name="Google Shape;182;p34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Yes, TCP and UDP can use the same port number on the same machine without conflict.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They are distinct protocols and are treated separately by the operating system.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Example: Port 53</a:t>
            </a:r>
            <a:endParaRPr/>
          </a:p>
        </p:txBody>
      </p:sp>
      <p:sp>
        <p:nvSpPr>
          <p:cNvPr id="188" name="Google Shape;188;p35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DNS typically uses port 53.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DNS can operate over both TCP and UDP, depending on the situation.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A machine can have port 53 open for both TCP and UDP simultaneously without any issues.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Why Can TCP and UDP Share Port Numbers?</a:t>
            </a:r>
            <a:endParaRPr sz="2900"/>
          </a:p>
        </p:txBody>
      </p:sp>
      <p:sp>
        <p:nvSpPr>
          <p:cNvPr id="194" name="Google Shape;194;p36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The combination of IP address, port number, and protocol (TCP/UDP) creates a unique endpoint for communication.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This combination ensures there's no ambiguity when a computer receives network traffic.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Practical Implications of Shared Port Numbers</a:t>
            </a:r>
            <a:endParaRPr sz="2800"/>
          </a:p>
        </p:txBody>
      </p:sp>
      <p:sp>
        <p:nvSpPr>
          <p:cNvPr id="200" name="Google Shape;200;p37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Allows flexibility in designing network applications.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Some applications might use both TCP and UDP for different purposes but want to use the same port number for simplicity.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Network Ports</a:t>
            </a:r>
            <a:endParaRPr/>
          </a:p>
        </p:txBody>
      </p:sp>
      <p:sp>
        <p:nvSpPr>
          <p:cNvPr id="206" name="Google Shape;206;p38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Brief introduction to what network ports are.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Highlight: Ports are endpoints for communication in the networking world.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9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Well-Known Ports: Defined Standards</a:t>
            </a:r>
            <a:endParaRPr/>
          </a:p>
        </p:txBody>
      </p:sp>
      <p:sp>
        <p:nvSpPr>
          <p:cNvPr id="212" name="Google Shape;212;p39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Range: 0-1023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Reserved for standard services (e.g., HTTP on port 80, HTTPS on port 443).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Defined by the Internet Assigned Numbers Authority (IANA).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Ephemeral Ports: Dynamic &amp; Temporary</a:t>
            </a:r>
            <a:endParaRPr/>
          </a:p>
        </p:txBody>
      </p:sp>
      <p:sp>
        <p:nvSpPr>
          <p:cNvPr id="218" name="Google Shape;218;p40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Range: Varies by OS, typically 1024-49151.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Used for outbound connections or as temporary ports for inbound responses.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Allocated dynamically and released when no longer needed.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1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Need Ephemeral Ports?</a:t>
            </a:r>
            <a:endParaRPr/>
          </a:p>
        </p:txBody>
      </p:sp>
      <p:sp>
        <p:nvSpPr>
          <p:cNvPr id="224" name="Google Shape;224;p41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Allow multiple simultaneous connections from one IP address.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Provide dynamic ports for client-side of the connection.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Essential for client-server communication where numerous clients connect to a server.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2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vs. Destination Ports</a:t>
            </a:r>
            <a:endParaRPr/>
          </a:p>
        </p:txBody>
      </p:sp>
      <p:sp>
        <p:nvSpPr>
          <p:cNvPr id="230" name="Google Shape;230;p42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1" lang="en" sz="1900"/>
              <a:t>Source Port:</a:t>
            </a:r>
            <a:r>
              <a:rPr lang="en" sz="1900"/>
              <a:t> Ephemeral port used by the client for outbound connections.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●"/>
            </a:pPr>
            <a:r>
              <a:rPr b="1" lang="en" sz="1900"/>
              <a:t>Destination Port:</a:t>
            </a:r>
            <a:r>
              <a:rPr lang="en" sz="1900"/>
              <a:t> Port on the server where a service is listening (often a well-known port).</a:t>
            </a:r>
            <a:endParaRPr sz="3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3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Example</a:t>
            </a:r>
            <a:endParaRPr/>
          </a:p>
        </p:txBody>
      </p:sp>
      <p:sp>
        <p:nvSpPr>
          <p:cNvPr id="236" name="Google Shape;236;p43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User's computer (source) might use ephemeral port 49562 to request a webpage.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Web server (destination) uses well-known port 80 to listen for incoming HTTP requests.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4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in Stateful Firewalling</a:t>
            </a:r>
            <a:endParaRPr/>
          </a:p>
        </p:txBody>
      </p:sp>
      <p:sp>
        <p:nvSpPr>
          <p:cNvPr id="242" name="Google Shape;242;p44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 lnSpcReduction="10000"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Stateful firewalls track the state of active connections.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They use source and destination ports to determine if incoming traffic is a legitimate response.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E.g., If a request was made from source port 49562 to destination port 80, the firewall expects a response to come back to port 49562.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5"/>
          <p:cNvSpPr txBox="1"/>
          <p:nvPr>
            <p:ph type="title"/>
          </p:nvPr>
        </p:nvSpPr>
        <p:spPr>
          <a:xfrm>
            <a:off x="655638" y="470297"/>
            <a:ext cx="8145600" cy="628800"/>
          </a:xfrm>
          <a:prstGeom prst="rect">
            <a:avLst/>
          </a:prstGeom>
        </p:spPr>
        <p:txBody>
          <a:bodyPr anchorCtr="0" anchor="b" bIns="41050" lIns="82100" spcFirstLastPara="1" rIns="82100" wrap="square" tIns="41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Recap: Understanding Ports in Networking</a:t>
            </a:r>
            <a:endParaRPr sz="2800"/>
          </a:p>
        </p:txBody>
      </p:sp>
      <p:sp>
        <p:nvSpPr>
          <p:cNvPr id="248" name="Google Shape;248;p45"/>
          <p:cNvSpPr txBox="1"/>
          <p:nvPr>
            <p:ph idx="1" type="body"/>
          </p:nvPr>
        </p:nvSpPr>
        <p:spPr>
          <a:xfrm>
            <a:off x="655638" y="1425178"/>
            <a:ext cx="7940700" cy="2679000"/>
          </a:xfrm>
          <a:prstGeom prst="rect">
            <a:avLst/>
          </a:prstGeom>
        </p:spPr>
        <p:txBody>
          <a:bodyPr anchorCtr="0" anchor="t" bIns="41050" lIns="82100" spcFirstLastPara="1" rIns="82100" wrap="square" tIns="4105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Well-known ports are standard and reserved.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Ephemeral ports are dynamic and used for outbound connections.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Source and destination ports are crucial for understanding network communication and are vital for stateful firewalling.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