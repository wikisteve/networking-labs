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Amatic SC"/>
      <p:regular r:id="rId34"/>
      <p:bold r:id="rId35"/>
    </p:embeddedFont>
    <p:embeddedFont>
      <p:font typeface="Source Code Pr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maticSC-bold.fntdata"/><Relationship Id="rId12" Type="http://schemas.openxmlformats.org/officeDocument/2006/relationships/slide" Target="slides/slide7.xml"/><Relationship Id="rId34" Type="http://schemas.openxmlformats.org/officeDocument/2006/relationships/font" Target="fonts/AmaticSC-regular.fntdata"/><Relationship Id="rId15" Type="http://schemas.openxmlformats.org/officeDocument/2006/relationships/slide" Target="slides/slide10.xml"/><Relationship Id="rId37" Type="http://schemas.openxmlformats.org/officeDocument/2006/relationships/font" Target="fonts/SourceCodePro-bold.fntdata"/><Relationship Id="rId14" Type="http://schemas.openxmlformats.org/officeDocument/2006/relationships/slide" Target="slides/slide9.xml"/><Relationship Id="rId36" Type="http://schemas.openxmlformats.org/officeDocument/2006/relationships/font" Target="fonts/SourceCodePro-regular.fntdata"/><Relationship Id="rId17" Type="http://schemas.openxmlformats.org/officeDocument/2006/relationships/slide" Target="slides/slide12.xml"/><Relationship Id="rId39" Type="http://schemas.openxmlformats.org/officeDocument/2006/relationships/font" Target="fonts/SourceCodePro-boldItalic.fntdata"/><Relationship Id="rId16" Type="http://schemas.openxmlformats.org/officeDocument/2006/relationships/slide" Target="slides/slide11.xml"/><Relationship Id="rId38" Type="http://schemas.openxmlformats.org/officeDocument/2006/relationships/font" Target="fonts/SourceCodePr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ed436b62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ced436b62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ed436b62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ced436b62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ced436b62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ced436b62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ced436b62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ced436b62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ed436b62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ced436b62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ced436b62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ced436b62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ed436b62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ced436b62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ed436b62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ced436b62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ced436b62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ced436b62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ced436b62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ced436b62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f7d87d69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f7d87d69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f7d87d696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f7d87d696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f7d87d696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f7d87d696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f7d87d696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f7d87d696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ced436b62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ced436b62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f7d87d696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f7d87d696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f7d87d696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f7d87d696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f7d87d696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f7d87d696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f7d87d696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f7d87d696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f7d87d696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f7d87d696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f7d87d696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f7d87d696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f7d87d696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f7d87d696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f7d87d696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f7d87d696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f7d87d696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f7d87d696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f7d87d6963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f7d87d696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f7d87d696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f7d87d696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f7d87d696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f7d87d696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hermetic.ch/dd/dd_2.htm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en.wikipedia.org/wiki/Disk_partitioning" TargetMode="External"/><Relationship Id="rId4" Type="http://schemas.openxmlformats.org/officeDocument/2006/relationships/hyperlink" Target="https://en.wikipedia.org/wiki/Logical_volume_management" TargetMode="External"/><Relationship Id="rId5" Type="http://schemas.openxmlformats.org/officeDocument/2006/relationships/hyperlink" Target="https://en.wikipedia.org/wiki/Features_new_to_Windows_8#Storage" TargetMode="External"/><Relationship Id="rId6" Type="http://schemas.openxmlformats.org/officeDocument/2006/relationships/hyperlink" Target="https://en.wikipedia.org/wiki/RAID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Computer Hardware and Operating Systems </a:t>
            </a:r>
            <a:r>
              <a:rPr lang="en">
                <a:highlight>
                  <a:schemeClr val="accent6"/>
                </a:highlight>
              </a:rPr>
              <a:t>Part 2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Bits, Bytes, and Everything Nice: Unpacking the Essentials of Computer Hardware and Operating Systems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Mechanics of HDDs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0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Platters:</a:t>
            </a:r>
            <a:r>
              <a:rPr lang="en" sz="20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HDDs contain circular, flat disks called platters. These platters are typically made of aluminum or glass and coated with a magnetic material. Data is stored on these platters.</a:t>
            </a:r>
            <a:endParaRPr sz="260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4" y="1325750"/>
            <a:ext cx="4009600" cy="327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Mechanics of HDDs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Read/Write Heads:</a:t>
            </a: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An actuator arm with tiny read/write heads moves across the surface of the platters. These heads are responsible for reading data from the magnetic material and writing new data onto it.</a:t>
            </a:r>
            <a:endParaRPr sz="2700"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4" y="1325750"/>
            <a:ext cx="4009600" cy="327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Mechanics of HDDs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" sz="2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Spinning Disks:</a:t>
            </a:r>
            <a:r>
              <a:rPr lang="en" sz="2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The platters spin at incredibly high speeds, typically  5400 or 7200 revolutions per minute (RPM). Higher RPMs generally mean faster data access.</a:t>
            </a:r>
            <a:endParaRPr b="1" sz="2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4" y="1325750"/>
            <a:ext cx="4009600" cy="327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Storage: It's All About Magnetism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HDDs utilize magnetism to store data. Here's how it works:</a:t>
            </a:r>
            <a:endParaRPr sz="19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AutoNum type="arabicPeriod"/>
            </a:pPr>
            <a:r>
              <a:rPr b="1" lang="en" sz="19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Binary Representation:</a:t>
            </a: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All the data on your computer is ultimately represented as sequences of 0s and 1s (binary code).</a:t>
            </a:r>
            <a:endParaRPr sz="19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AutoNum type="arabicPeriod"/>
            </a:pPr>
            <a:r>
              <a:rPr b="1" lang="en" sz="19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Magnetization:</a:t>
            </a: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The platters are divided into microscopic regions. Each region can be magnetized in one of two directions, representing a '0' or a '1'.</a:t>
            </a:r>
            <a:endParaRPr sz="19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AutoNum type="arabicPeriod"/>
            </a:pPr>
            <a:r>
              <a:rPr b="1" lang="en" sz="19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Reading and Writing:</a:t>
            </a: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The read/write head magnetizes these regions to store data (writing). It also detects the existing magnetic orientations to read the data back.</a:t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Your HDD Stores Information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1" marL="9144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Arial"/>
              <a:buChar char="○"/>
            </a:pPr>
            <a:r>
              <a:rPr lang="en" sz="2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HDDs use magnetic platters to store data in tiny 'bits' (0s or 1s).</a:t>
            </a:r>
            <a:endParaRPr sz="2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Arial"/>
              <a:buChar char="○"/>
            </a:pPr>
            <a:r>
              <a:rPr lang="en" sz="2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Deleting a file just removes its entry from the "file table" (like the library catalog).</a:t>
            </a:r>
            <a:endParaRPr sz="2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Arial"/>
              <a:buChar char="○"/>
            </a:pPr>
            <a:r>
              <a:rPr lang="en" sz="2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actual data often remains on the platter until overwritten by new information.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1: </a:t>
            </a:r>
            <a:r>
              <a:rPr lang="en"/>
              <a:t>Digital Paper Shredding: Overwrite for Erasure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228675"/>
            <a:ext cx="41772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925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Specialized software fills the hard drive with random data, sometimes multiple times.</a:t>
            </a:r>
            <a:endParaRPr sz="19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Obscures the original data patterns, making recovery very difficult.</a:t>
            </a:r>
            <a:endParaRPr sz="19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Common tools: DBAN (Darik's Boot and Nuke), KillDisk</a:t>
            </a:r>
            <a:endParaRPr sz="19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Source</a:t>
            </a:r>
            <a:endParaRPr sz="19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 sz="19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8900" y="1228663"/>
            <a:ext cx="4343400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2: Degaussing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228675"/>
            <a:ext cx="3915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Magnetic Mayhem</a:t>
            </a:r>
            <a:endParaRPr sz="24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powerful magnet disrupts the magnetic patterns on the platters.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Renders data permanently unreadable.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Fast but requires specialized equipment.</a:t>
            </a:r>
            <a:endParaRPr sz="2400"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1400" y="721175"/>
            <a:ext cx="4452600" cy="3562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3: Physical Destruction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228675"/>
            <a:ext cx="43671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When Overwriting Isn't Enough</a:t>
            </a:r>
            <a:endParaRPr sz="20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Drilling, shredding, or incinerating the hard drive.</a:t>
            </a:r>
            <a:endParaRPr sz="20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Ultimate data security but renders the drive unusable.</a:t>
            </a:r>
            <a:endParaRPr sz="2600"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9821" y="1296125"/>
            <a:ext cx="4492474" cy="300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SSDs: A Different Challenge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228675"/>
            <a:ext cx="53244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Why Overwriting Isn't the Answer for SSDs</a:t>
            </a:r>
            <a:endParaRPr sz="16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SSDs use different storage technology than HDDs – wear-leveling and TRIM commands complicate erasure.</a:t>
            </a:r>
            <a:endParaRPr sz="16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Overwriting may not reliably hit every bit of old data.</a:t>
            </a:r>
            <a:endParaRPr sz="16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Secure erase tools and manufacturer-specific software are often needed for SSDs.</a:t>
            </a:r>
            <a:endParaRPr sz="16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8500" y="1246250"/>
            <a:ext cx="3232025" cy="258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Flash Memory?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228675"/>
            <a:ext cx="5607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 Heart of SSDs: Flash Memory</a:t>
            </a:r>
            <a:endParaRPr sz="24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Non-volatile memory: Retains data without power.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Found in SSDs, USB drives, memory cards, etc.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Uses "floating gate" transistors to trap electrical charges representing data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9725" y="1228675"/>
            <a:ext cx="23812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USB Flash Drive vs. SSD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228675"/>
            <a:ext cx="5607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Similar Technology, Different Goals</a:t>
            </a:r>
            <a:endParaRPr b="1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Both use flash memory, but are optimized differently</a:t>
            </a:r>
            <a:endParaRPr sz="18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USB Drive: Portable, smaller transfers, generally slower speeds.</a:t>
            </a:r>
            <a:endParaRPr sz="18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SSD: Internal computer storage, prioritizes maximum speed, capacity, and handling demanding workloads.</a:t>
            </a:r>
            <a:endParaRPr sz="3000"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000" y="1246250"/>
            <a:ext cx="23812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SSD Cache: The Speed Boost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228675"/>
            <a:ext cx="5607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SSDs often have DRAM cache for temporary storage of frequently accessed data.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Acts as a high-speed buffer, improving performance, especially with repetitive tasks.</a:t>
            </a:r>
            <a:endParaRPr sz="2400"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000" y="1246250"/>
            <a:ext cx="2919600" cy="19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Brains of the Operation: SSD Processors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228675"/>
            <a:ext cx="5607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SSDs Have Their Own Processors</a:t>
            </a:r>
            <a:endParaRPr sz="28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Controllers manage complex tasks critical to SSD operation:</a:t>
            </a:r>
            <a:endParaRPr sz="16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Wear leveling: Distributing writes for even wear of flash cells.</a:t>
            </a:r>
            <a:endParaRPr sz="16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Garbage collection: Cleaning up space from deleted data.</a:t>
            </a:r>
            <a:endParaRPr sz="16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Error correction: Protecting your data's integrity.</a:t>
            </a:r>
            <a:endParaRPr sz="2800"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9600" y="1246250"/>
            <a:ext cx="3051625" cy="2441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SEDs: Built-in Data Security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228675"/>
            <a:ext cx="5607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SSDs have hardware-based encryption.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Makes data unreadable without the correct key.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Protects sensitive information even if the SSD is stolen, but </a:t>
            </a:r>
            <a:r>
              <a:rPr b="1" lang="en" sz="2400"/>
              <a:t>most importantly it allows you to </a:t>
            </a:r>
            <a:r>
              <a:rPr b="1" lang="en" sz="2400"/>
              <a:t>securely</a:t>
            </a:r>
            <a:r>
              <a:rPr b="1" lang="en" sz="2400"/>
              <a:t> erase your drive for resell.</a:t>
            </a:r>
            <a:endParaRPr b="1" sz="2400"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000" y="1246250"/>
            <a:ext cx="2919600" cy="1976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Filesystems: The Unsung Heroes of Data Storage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228675"/>
            <a:ext cx="5523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Imagine a library without a filing system – books piled haphazardly, impossible to find anything!  Filesystems are the librarians of the digital world, meticulously organizing and keeping track of all your data on hard drives and storage devices.</a:t>
            </a: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7700" y="1246250"/>
            <a:ext cx="23812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Essential Roles of a Filesystem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Stores and organizes files and folders on a storage device</a:t>
            </a:r>
            <a:endParaRPr sz="2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Assigns unique filenames and tracks where data resides on the drive</a:t>
            </a:r>
            <a:endParaRPr sz="2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Manages metadata (file size, creation date, permissions)</a:t>
            </a:r>
            <a:endParaRPr sz="22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Controls access and security to different types of data</a:t>
            </a:r>
            <a:endParaRPr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the Right Filesystem for the Job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Popular Filesystems and Their Applications</a:t>
            </a:r>
            <a:endParaRPr sz="24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FAT32: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Older but widely compatible, ideal for USB drives and cameras (limited file size)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exFAT: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Modern successor to FAT32, supports larger files, suitable for flash drives and cross-platform use.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NTFS: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Windows' default choice, robust features like journaling and permissions, excellent for internal hard drives.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Ext4: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Popular Linux filesystem, known for reliability and performance, not natively readable by Windows.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Journaling: Keeping Track of Changes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journal records the modifications a filesystem intends to make to files before they are written to the disk.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case of a sudden power outage or system crash, the journal helps determine data consistency and enables recovery.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Journaling:  Pros and Cons</a:t>
            </a:r>
            <a:endParaRPr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Journaling Filesystems:</a:t>
            </a:r>
            <a:endParaRPr b="1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Offer better data integrity and crash recovery</a:t>
            </a:r>
            <a:endParaRPr sz="18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More secure against data corruption</a:t>
            </a:r>
            <a:endParaRPr sz="18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Might have a slight performance overhead due to the extra write operation for the journal.</a:t>
            </a:r>
            <a:endParaRPr sz="18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Non-Journaling Filesystems:</a:t>
            </a:r>
            <a:endParaRPr b="1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Simpler and faster for basic operations</a:t>
            </a:r>
            <a:endParaRPr sz="18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Less overhead</a:t>
            </a:r>
            <a:endParaRPr sz="18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Increased risk of data corruption if a crash occurs during write operations.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Cameras Ditch the Journal</a:t>
            </a:r>
            <a:endParaRPr/>
          </a:p>
        </p:txBody>
      </p:sp>
      <p:sp>
        <p:nvSpPr>
          <p:cNvPr id="190" name="Google Shape;190;p33"/>
          <p:cNvSpPr txBox="1"/>
          <p:nvPr>
            <p:ph idx="1" type="body"/>
          </p:nvPr>
        </p:nvSpPr>
        <p:spPr>
          <a:xfrm>
            <a:off x="311700" y="1228675"/>
            <a:ext cx="61392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Cameras prioritize fast write speeds and compatibility for viewing photos on different devices.</a:t>
            </a:r>
            <a:endParaRPr sz="20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While losing some photos due to corruption is frustrating, it's less damaging than crashing your entire operating system.</a:t>
            </a:r>
            <a:endParaRPr sz="20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Windows systems handle complex tasks. Journaling offers vital protection against crashes corrupting critical files.</a:t>
            </a:r>
            <a:endParaRPr sz="2600"/>
          </a:p>
        </p:txBody>
      </p:sp>
      <p:pic>
        <p:nvPicPr>
          <p:cNvPr id="191" name="Google Shape;1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1050" y="1812225"/>
            <a:ext cx="23812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Partitions in a Hard Drive</a:t>
            </a:r>
            <a:endParaRPr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Partitions are distinct sections of a hard drive.</a:t>
            </a:r>
            <a:endParaRPr sz="19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Think of them as separate 'containers' on a disk, each formatted with a specific file system like NTFS, FAT32, or ext4.</a:t>
            </a:r>
            <a:endParaRPr sz="19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Organizational Structure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Partitions can help organize data by type or category, like separating system files from user data.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Efficiency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Smaller partitions can lead to less fragmentation and potentially faster access times for data.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Dual-Booting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Dual-booting where each OS resides on a separate partition, allowing users to choose an OS at startup.</a:t>
            </a:r>
            <a:endParaRPr b="1" sz="1900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Partitions to Volumes</a:t>
            </a:r>
            <a:endParaRPr/>
          </a:p>
        </p:txBody>
      </p:sp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volume is a storage area with a file system, which the operating system can access as a single drive, even if it spans multiple partitions or disks.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Accessible Unit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Volumes make one or more partitions appear as a single drive letter in Windows or a single mount point in Unix/Linux.</a:t>
            </a:r>
            <a:endParaRPr sz="2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Partitions and Volumes</a:t>
            </a:r>
            <a:endParaRPr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Partitions serve as the foundational elements of a hard drive's structure. They can be individually formatted and used as separate units for storage. However, when combined, they can also be recognized by the operating system as a singular logical volume. This allows for more flexible and efficient use of the storage space on the drive.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Combining Partitions</a:t>
            </a:r>
            <a:endParaRPr/>
          </a:p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various scenarios where it may be advantageous to combine multiple partitions into a single volume: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Expanding Storage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When a partition runs out of space, expanding it into an adjacent unallocated partition can provide additional storage without the need to reformat or move data.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Pooling Free Space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 systems with multiple drives, partitions from each drive can be combined to create a volume that pools their free space, making it appear as one large drive to the operating system.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Redundancy and Performance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Certain types of volumes, like those in RAID arrays, can span across partitions on multiple drives for increased redundancy or performance.</a:t>
            </a:r>
            <a:endParaRPr sz="23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Volume Management</a:t>
            </a:r>
            <a:endParaRPr/>
          </a:p>
        </p:txBody>
      </p:sp>
      <p:sp>
        <p:nvSpPr>
          <p:cNvPr id="221" name="Google Shape;221;p3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Operating systems come equipped with tools to manage the creation and administration of volumes: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Windows Disk Management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This graphical tool allows users to create, resize, and delete partitions and volumes, and to format them with various file systems.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Linux Logical Volume Manager (LVM)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LVM is a more flexible system for volume management. It allows for logical volumes to span across multiple physical partitions or disks, and even allows for resizing volumes on-the-fly, without the need for unmounting or downtime.</a:t>
            </a:r>
            <a:endParaRPr sz="2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– Wikpedia!</a:t>
            </a:r>
            <a:endParaRPr/>
          </a:p>
        </p:txBody>
      </p:sp>
      <p:sp>
        <p:nvSpPr>
          <p:cNvPr id="227" name="Google Shape;227;p3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Disk partitioning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Logical Volume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Storage spaces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RAID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600"/>
            </a:br>
            <a:r>
              <a:rPr lang="en" sz="1600"/>
              <a:t>Understand partitioning first. Then LVM &amp; Storage Spaces are abstractions for volumes commonly done in software.  RAID is done either in software or hardware for </a:t>
            </a:r>
            <a:r>
              <a:rPr lang="en" sz="1600"/>
              <a:t>redundancy. Make sure to have read these before this afternoon. :) 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</a:t>
            </a:r>
            <a:endParaRPr/>
          </a:p>
        </p:txBody>
      </p:sp>
      <p:sp>
        <p:nvSpPr>
          <p:cNvPr id="233" name="Google Shape;233;p4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Follow along with Steve on installing Debian.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We’ll chat about partitioning, packages and installing Debian.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</a:t>
            </a:r>
            <a:r>
              <a:rPr lang="en">
                <a:highlight>
                  <a:srgbClr val="FFFF00"/>
                </a:highlight>
              </a:rPr>
              <a:t>Zoom video will be recorded and shared before the end of class</a:t>
            </a:r>
            <a:r>
              <a:rPr lang="en"/>
              <a:t> so you’ll have lots of time to replay the video before the afternoon session.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