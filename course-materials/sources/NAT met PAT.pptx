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Amatic SC"/>
      <p:regular r:id="rId41"/>
      <p:bold r:id="rId42"/>
    </p:embeddedFont>
    <p:embeddedFont>
      <p:font typeface="Source Code Pro"/>
      <p:regular r:id="rId43"/>
      <p:bold r:id="rId44"/>
      <p:italic r:id="rId45"/>
      <p:boldItalic r:id="rId46"/>
    </p:embeddedFont>
    <p:embeddedFont>
      <p:font typeface="Roboto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AmaticSC-bold.fntdata"/><Relationship Id="rId41" Type="http://schemas.openxmlformats.org/officeDocument/2006/relationships/font" Target="fonts/AmaticSC-regular.fntdata"/><Relationship Id="rId44" Type="http://schemas.openxmlformats.org/officeDocument/2006/relationships/font" Target="fonts/SourceCodePro-bold.fntdata"/><Relationship Id="rId43" Type="http://schemas.openxmlformats.org/officeDocument/2006/relationships/font" Target="fonts/SourceCodePro-regular.fntdata"/><Relationship Id="rId46" Type="http://schemas.openxmlformats.org/officeDocument/2006/relationships/font" Target="fonts/SourceCodePro-boldItalic.fntdata"/><Relationship Id="rId45" Type="http://schemas.openxmlformats.org/officeDocument/2006/relationships/font" Target="fonts/SourceCodePr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95f072399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95f072399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5f072399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5f07239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5f072399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95f072399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5f072399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5f072399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95f072399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95f072399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95f072399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95f072399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5f072399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5f072399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95f0723992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95f072399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5f072399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5f072399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95f0723992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95f0723992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5f072399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5f072399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95f0723992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95f0723992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95f072399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95f072399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95f072399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95f072399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5f072399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95f072399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95f0723992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95f0723992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5f072399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5f072399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5f0723992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95f072399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95f072399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95f072399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95f0723992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95f0723992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95f072399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95f072399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95f0723992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95f0723992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95f072399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95f072399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95f072399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95f072399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5f0723992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95f0723992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5f0723992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5f0723992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5f0723992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95f0723992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95f072399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95f072399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95f0723992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95f0723992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95f0723992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95f0723992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95f0723992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95f0723992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95f0723992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95f0723992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5f0723992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95f0723992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95f0723992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95f0723992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en.wikipedia.org/wiki/Network_address_translation#Methods_of_translation" TargetMode="External"/><Relationship Id="rId4" Type="http://schemas.openxmlformats.org/officeDocument/2006/relationships/hyperlink" Target="https://en.wikipedia.org/wiki/Network_address_translation#Methods_of_translat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NAT met PAT</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The Dynamic Duo of Network Transformation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Need NAT?</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Resource Optimization</a:t>
            </a:r>
            <a:r>
              <a:rPr lang="en" sz="1800"/>
              <a:t>: Allows multiple devices to share a single public IP address.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Security</a:t>
            </a:r>
            <a:r>
              <a:rPr lang="en" sz="1800"/>
              <a:t>: Masks internal IP addresses from the external network.</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IP Conflict Resolution</a:t>
            </a:r>
            <a:r>
              <a:rPr lang="en" sz="1800"/>
              <a:t>: Resolves IP address conflicts in overlapping networks.</a:t>
            </a:r>
            <a:endParaRPr sz="3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NAT</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Clr>
                <a:schemeClr val="dk1"/>
              </a:buClr>
              <a:buSzPts val="1800"/>
              <a:buFont typeface="Arial"/>
              <a:buChar char="●"/>
            </a:pPr>
            <a:r>
              <a:rPr b="1" lang="en" sz="1800"/>
              <a:t>Static NAT</a:t>
            </a:r>
            <a:r>
              <a:rPr lang="en" sz="1800"/>
              <a:t>: One-to-one mapping between internal and external IP addresses.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Dynamic NAT</a:t>
            </a:r>
            <a:r>
              <a:rPr lang="en" sz="1800"/>
              <a:t>: Multiple internal IP addresses are mapped to a pool of external IP addresses.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Port Address Translation (PAT)</a:t>
            </a:r>
            <a:r>
              <a:rPr lang="en" sz="1800"/>
              <a:t>: Multiple internal IP addresses are mapped to a single external IP address, differentiated by port numbers.</a:t>
            </a:r>
            <a:endParaRPr sz="1800"/>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1200"/>
              </a:spcAft>
              <a:buNone/>
            </a:pPr>
            <a:r>
              <a:rPr lang="en" sz="1800"/>
              <a:t>.. </a:t>
            </a:r>
            <a:r>
              <a:rPr i="1" lang="en" sz="1800"/>
              <a:t>there is </a:t>
            </a:r>
            <a:r>
              <a:rPr i="1" lang="en" sz="1800"/>
              <a:t>actually</a:t>
            </a:r>
            <a:r>
              <a:rPr i="1" lang="en" sz="1800"/>
              <a:t> </a:t>
            </a:r>
            <a:r>
              <a:rPr i="1" lang="en" sz="1800" u="sng">
                <a:solidFill>
                  <a:schemeClr val="hlink"/>
                </a:solidFill>
                <a:hlinkClick r:id="rId3"/>
              </a:rPr>
              <a:t>even more intricate </a:t>
            </a:r>
            <a:r>
              <a:rPr i="1" lang="en" sz="1800" u="sng">
                <a:solidFill>
                  <a:schemeClr val="hlink"/>
                </a:solidFill>
                <a:hlinkClick r:id="rId4"/>
              </a:rPr>
              <a:t>classifications</a:t>
            </a:r>
            <a:r>
              <a:rPr i="1" lang="en" sz="1800"/>
              <a:t> but we’ll stop at these three.</a:t>
            </a:r>
            <a:endParaRPr i="1"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Components</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Inside Local</a:t>
            </a:r>
            <a:r>
              <a:rPr lang="en" sz="1800"/>
              <a:t>: The original source IP address.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Inside Global</a:t>
            </a:r>
            <a:r>
              <a:rPr lang="en" sz="1800"/>
              <a:t>: The translated source IP address.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Outside Local</a:t>
            </a:r>
            <a:r>
              <a:rPr lang="en" sz="1800"/>
              <a:t>: The destination IP address as it appears to the internal network.</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Outside Global</a:t>
            </a:r>
            <a:r>
              <a:rPr lang="en" sz="1800"/>
              <a:t>: The destination IP address as it appears to the external network.</a:t>
            </a:r>
            <a:endParaRPr sz="3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Components</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t> </a:t>
            </a:r>
            <a:endParaRPr sz="3100"/>
          </a:p>
        </p:txBody>
      </p:sp>
      <p:pic>
        <p:nvPicPr>
          <p:cNvPr id="82" name="Google Shape;82;p17"/>
          <p:cNvPicPr preferRelativeResize="0"/>
          <p:nvPr/>
        </p:nvPicPr>
        <p:blipFill>
          <a:blip r:embed="rId3">
            <a:alphaModFix/>
          </a:blip>
          <a:stretch>
            <a:fillRect/>
          </a:stretch>
        </p:blipFill>
        <p:spPr>
          <a:xfrm>
            <a:off x="942975" y="1200150"/>
            <a:ext cx="7258050" cy="320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Tables</a:t>
            </a:r>
            <a:endParaRPr/>
          </a:p>
        </p:txBody>
      </p:sp>
      <p:sp>
        <p:nvSpPr>
          <p:cNvPr id="88" name="Google Shape;88;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Translation Table</a:t>
            </a:r>
            <a:r>
              <a:rPr lang="en" sz="1800"/>
              <a:t>: Keeps track of all the mappings.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Timeouts</a:t>
            </a:r>
            <a:r>
              <a:rPr lang="en" sz="1800"/>
              <a:t>: Entries in the NAT table have a timeout value to ensure old mappings are removed.</a:t>
            </a:r>
            <a:endParaRPr sz="3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 and iptables</a:t>
            </a:r>
            <a:endParaRPr/>
          </a:p>
        </p:txBody>
      </p:sp>
      <p:sp>
        <p:nvSpPr>
          <p:cNvPr id="94" name="Google Shape;94;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PREROUTING Chain</a:t>
            </a:r>
            <a:r>
              <a:rPr lang="en" sz="1900"/>
              <a:t>: Handles incoming packets and performs Destination NAT.</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POSTROUTING Chain</a:t>
            </a:r>
            <a:r>
              <a:rPr lang="en" sz="1900"/>
              <a:t>: Handles outgoing packets and performs Source NAT.</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Chains in NAT</a:t>
            </a:r>
            <a:endParaRPr/>
          </a:p>
        </p:txBody>
      </p:sp>
      <p:sp>
        <p:nvSpPr>
          <p:cNvPr id="100" name="Google Shape;100;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Chains</a:t>
            </a:r>
            <a:r>
              <a:rPr lang="en" sz="1800"/>
              <a:t>: In iptables, a chain is essentially a list of rules that are applied to packets as they traverse through it.</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NAT Table</a:t>
            </a:r>
            <a:r>
              <a:rPr lang="en" sz="1800"/>
              <a:t>: This is one of the specialized tables in iptables designed specifically for NAT operations.</a:t>
            </a:r>
            <a:endParaRPr sz="3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PREROUTING Chain</a:t>
            </a:r>
            <a:endParaRPr/>
          </a:p>
        </p:txBody>
      </p:sp>
      <p:sp>
        <p:nvSpPr>
          <p:cNvPr id="106" name="Google Shape;106;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100000"/>
              <a:buFont typeface="Arial"/>
              <a:buNone/>
            </a:pPr>
            <a:r>
              <a:rPr b="1" lang="en" sz="1100"/>
              <a:t>Definition</a:t>
            </a:r>
            <a:r>
              <a:rPr lang="en" sz="1100"/>
              <a:t>: The PREROUTING chain is responsible for handling packets as they arrive at the network interface, before the routing decision is made.</a:t>
            </a:r>
            <a:endParaRPr sz="1100"/>
          </a:p>
          <a:p>
            <a:pPr indent="0" lvl="0" marL="0" rtl="0" algn="l">
              <a:spcBef>
                <a:spcPts val="1200"/>
              </a:spcBef>
              <a:spcAft>
                <a:spcPts val="0"/>
              </a:spcAft>
              <a:buClr>
                <a:schemeClr val="dk1"/>
              </a:buClr>
              <a:buSzPct val="100000"/>
              <a:buFont typeface="Arial"/>
              <a:buNone/>
            </a:pPr>
            <a:r>
              <a:rPr b="1" lang="en" sz="1100"/>
              <a:t>When It Acts</a:t>
            </a:r>
            <a:r>
              <a:rPr lang="en" sz="1100"/>
              <a:t>: As soon as the packet hits the network interface.</a:t>
            </a:r>
            <a:endParaRPr sz="1100"/>
          </a:p>
          <a:p>
            <a:pPr indent="0" lvl="0" marL="0" rtl="0" algn="l">
              <a:spcBef>
                <a:spcPts val="1200"/>
              </a:spcBef>
              <a:spcAft>
                <a:spcPts val="0"/>
              </a:spcAft>
              <a:buClr>
                <a:schemeClr val="dk1"/>
              </a:buClr>
              <a:buSzPct val="100000"/>
              <a:buFont typeface="Arial"/>
              <a:buNone/>
            </a:pPr>
            <a:r>
              <a:rPr b="1" lang="en" sz="1100"/>
              <a:t>Main Job</a:t>
            </a:r>
            <a:r>
              <a:rPr lang="en" sz="1100"/>
              <a:t>: Destination NAT (DNAT).</a:t>
            </a:r>
            <a:endParaRPr sz="1100"/>
          </a:p>
          <a:p>
            <a:pPr indent="-277495" lvl="0" marL="457200" rtl="0" algn="l">
              <a:lnSpc>
                <a:spcPct val="115000"/>
              </a:lnSpc>
              <a:spcBef>
                <a:spcPts val="1200"/>
              </a:spcBef>
              <a:spcAft>
                <a:spcPts val="0"/>
              </a:spcAft>
              <a:buClr>
                <a:schemeClr val="dk1"/>
              </a:buClr>
              <a:buSzPct val="100000"/>
              <a:buFont typeface="Arial"/>
              <a:buChar char="●"/>
            </a:pPr>
            <a:r>
              <a:rPr b="1" lang="en" sz="1100"/>
              <a:t>Example</a:t>
            </a:r>
            <a:r>
              <a:rPr lang="en" sz="1100"/>
              <a:t>: Redirecting all incoming HTTP traffic to a specific internal server.</a:t>
            </a:r>
            <a:endParaRPr sz="1100"/>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iptables -t nat -A PREROUTING -i eth1 -p tcp --dport 80 -j DNAT --to-destination 172.16.1.8:80</a:t>
            </a:r>
            <a:endParaRPr sz="1100"/>
          </a:p>
          <a:p>
            <a:pPr indent="0" lvl="0" marL="0" rtl="0" algn="l">
              <a:spcBef>
                <a:spcPts val="1200"/>
              </a:spcBef>
              <a:spcAft>
                <a:spcPts val="0"/>
              </a:spcAft>
              <a:buClr>
                <a:schemeClr val="dk1"/>
              </a:buClr>
              <a:buSzPct val="100000"/>
              <a:buFont typeface="Arial"/>
              <a:buNone/>
            </a:pPr>
            <a:r>
              <a:rPr b="1" lang="en" sz="1100"/>
              <a:t>Before and After Rule Application</a:t>
            </a:r>
            <a:r>
              <a:rPr lang="en" sz="1100"/>
              <a:t>:</a:t>
            </a:r>
            <a:endParaRPr sz="1100"/>
          </a:p>
          <a:p>
            <a:pPr indent="-277495" lvl="0" marL="457200" rtl="0" algn="l">
              <a:lnSpc>
                <a:spcPct val="115000"/>
              </a:lnSpc>
              <a:spcBef>
                <a:spcPts val="1200"/>
              </a:spcBef>
              <a:spcAft>
                <a:spcPts val="0"/>
              </a:spcAft>
              <a:buClr>
                <a:schemeClr val="dk1"/>
              </a:buClr>
              <a:buSzPct val="100000"/>
              <a:buFont typeface="Arial"/>
              <a:buChar char="●"/>
            </a:pPr>
            <a:r>
              <a:rPr b="1" lang="en" sz="1100"/>
              <a:t>Before</a:t>
            </a:r>
            <a:r>
              <a:rPr lang="en" sz="1100"/>
              <a:t>: Incoming HTTP traffic is directed to the original destination.</a:t>
            </a:r>
            <a:endParaRPr sz="1100"/>
          </a:p>
          <a:p>
            <a:pPr indent="-277495" lvl="0" marL="457200" rtl="0" algn="l">
              <a:lnSpc>
                <a:spcPct val="115000"/>
              </a:lnSpc>
              <a:spcBef>
                <a:spcPts val="0"/>
              </a:spcBef>
              <a:spcAft>
                <a:spcPts val="0"/>
              </a:spcAft>
              <a:buClr>
                <a:schemeClr val="dk1"/>
              </a:buClr>
              <a:buSzPct val="100000"/>
              <a:buFont typeface="Arial"/>
              <a:buChar char="●"/>
            </a:pPr>
            <a:r>
              <a:rPr b="1" lang="en" sz="1100"/>
              <a:t>After</a:t>
            </a:r>
            <a:r>
              <a:rPr lang="en" sz="1100"/>
              <a:t>: All incoming HTTP traffic is now redirected to 172.16.1.8.</a:t>
            </a:r>
            <a:endParaRPr sz="1100"/>
          </a:p>
          <a:p>
            <a:pPr indent="0" lvl="0" marL="0" rtl="0" algn="l">
              <a:lnSpc>
                <a:spcPct val="115000"/>
              </a:lnSpc>
              <a:spcBef>
                <a:spcPts val="1200"/>
              </a:spcBef>
              <a:spcAft>
                <a:spcPts val="0"/>
              </a:spcAft>
              <a:buClr>
                <a:schemeClr val="dk1"/>
              </a:buClr>
              <a:buSzPct val="100000"/>
              <a:buFont typeface="Arial"/>
              <a:buNone/>
            </a:pPr>
            <a:r>
              <a:rPr b="1" lang="en" sz="1100"/>
              <a:t>View Hits</a:t>
            </a:r>
            <a:r>
              <a:rPr lang="en" sz="1100"/>
              <a:t>: To see if the rule is working, you can view the hits.</a:t>
            </a:r>
            <a:endParaRPr sz="1100"/>
          </a:p>
          <a:p>
            <a:pPr indent="0" lvl="0" marL="0" rtl="0" algn="l">
              <a:spcBef>
                <a:spcPts val="1200"/>
              </a:spcBef>
              <a:spcAft>
                <a:spcPts val="0"/>
              </a:spcAft>
              <a:buNone/>
            </a:pPr>
            <a:r>
              <a:rPr lang="en" sz="1100">
                <a:solidFill>
                  <a:srgbClr val="188038"/>
                </a:solidFill>
                <a:latin typeface="Roboto Mono"/>
                <a:ea typeface="Roboto Mono"/>
                <a:cs typeface="Roboto Mono"/>
                <a:sym typeface="Roboto Mono"/>
              </a:rPr>
              <a:t>iptables -t nat -L PREROUTING -v -n | grep 80</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ct val="100000"/>
              <a:buFont typeface="Arial"/>
              <a:buNone/>
            </a:pPr>
            <a:r>
              <a:t/>
            </a:r>
            <a:endParaRPr sz="11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POSTROUTING Chain</a:t>
            </a:r>
            <a:endParaRPr/>
          </a:p>
        </p:txBody>
      </p:sp>
      <p:sp>
        <p:nvSpPr>
          <p:cNvPr id="112" name="Google Shape;112;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Definition</a:t>
            </a:r>
            <a:r>
              <a:rPr lang="en" sz="1100"/>
              <a:t>: The POSTROUTING chain is responsible for handling packets just before they leave the network interface.</a:t>
            </a:r>
            <a:endParaRPr sz="1100"/>
          </a:p>
          <a:p>
            <a:pPr indent="0" lvl="0" marL="0" rtl="0" algn="l">
              <a:spcBef>
                <a:spcPts val="1200"/>
              </a:spcBef>
              <a:spcAft>
                <a:spcPts val="0"/>
              </a:spcAft>
              <a:buClr>
                <a:schemeClr val="dk1"/>
              </a:buClr>
              <a:buSzPts val="1100"/>
              <a:buFont typeface="Arial"/>
              <a:buNone/>
            </a:pPr>
            <a:r>
              <a:rPr b="1" lang="en" sz="1100"/>
              <a:t>When It Acts</a:t>
            </a:r>
            <a:r>
              <a:rPr lang="en" sz="1100"/>
              <a:t>: Right after the routing decision is made, just before the packet is sent out.</a:t>
            </a:r>
            <a:endParaRPr sz="1100"/>
          </a:p>
          <a:p>
            <a:pPr indent="0" lvl="0" marL="0" rtl="0" algn="l">
              <a:spcBef>
                <a:spcPts val="1200"/>
              </a:spcBef>
              <a:spcAft>
                <a:spcPts val="0"/>
              </a:spcAft>
              <a:buClr>
                <a:schemeClr val="dk1"/>
              </a:buClr>
              <a:buSzPts val="1100"/>
              <a:buFont typeface="Arial"/>
              <a:buNone/>
            </a:pPr>
            <a:r>
              <a:rPr b="1" lang="en" sz="1100"/>
              <a:t>Main Job</a:t>
            </a:r>
            <a:r>
              <a:rPr lang="en" sz="1100"/>
              <a:t>: Source NAT (SNAT).</a:t>
            </a:r>
            <a:endParaRPr sz="1100"/>
          </a:p>
          <a:p>
            <a:pPr indent="-298450" lvl="0" marL="457200" rtl="0" algn="l">
              <a:lnSpc>
                <a:spcPct val="115000"/>
              </a:lnSpc>
              <a:spcBef>
                <a:spcPts val="1200"/>
              </a:spcBef>
              <a:spcAft>
                <a:spcPts val="0"/>
              </a:spcAft>
              <a:buClr>
                <a:schemeClr val="dk1"/>
              </a:buClr>
              <a:buSzPts val="1100"/>
              <a:buFont typeface="Arial"/>
              <a:buChar char="●"/>
            </a:pPr>
            <a:r>
              <a:rPr b="1" lang="en" sz="1100"/>
              <a:t>Example</a:t>
            </a:r>
            <a:r>
              <a:rPr lang="en" sz="1100"/>
              <a:t>: Changing the source IP of all outgoing traffic from the LAN to the public IP.</a:t>
            </a:r>
            <a:endParaRPr sz="1100"/>
          </a:p>
          <a:p>
            <a:pPr indent="0" lvl="0" marL="0" rtl="0" algn="l">
              <a:spcBef>
                <a:spcPts val="1200"/>
              </a:spcBef>
              <a:spcAft>
                <a:spcPts val="1200"/>
              </a:spcAft>
              <a:buNone/>
            </a:pPr>
            <a:r>
              <a:rPr lang="en" sz="1100">
                <a:solidFill>
                  <a:srgbClr val="188038"/>
                </a:solidFill>
                <a:latin typeface="Roboto Mono"/>
                <a:ea typeface="Roboto Mono"/>
                <a:cs typeface="Roboto Mono"/>
                <a:sym typeface="Roboto Mono"/>
              </a:rPr>
              <a:t>ip</a:t>
            </a:r>
            <a:r>
              <a:rPr lang="en" sz="1100">
                <a:solidFill>
                  <a:srgbClr val="188038"/>
                </a:solidFill>
                <a:latin typeface="Roboto Mono"/>
                <a:ea typeface="Roboto Mono"/>
                <a:cs typeface="Roboto Mono"/>
                <a:sym typeface="Roboto Mono"/>
              </a:rPr>
              <a:t>t</a:t>
            </a:r>
            <a:r>
              <a:rPr lang="en" sz="1100">
                <a:solidFill>
                  <a:srgbClr val="188038"/>
                </a:solidFill>
                <a:latin typeface="Roboto Mono"/>
                <a:ea typeface="Roboto Mono"/>
                <a:cs typeface="Roboto Mono"/>
                <a:sym typeface="Roboto Mono"/>
              </a:rPr>
              <a:t>ables -t nat -A POSTROUTING -o eth1 -s 10.81.100.0/24 -j SNAT --to-source 200.1.1.1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POSTROUTING Chain</a:t>
            </a:r>
            <a:endParaRPr/>
          </a:p>
        </p:txBody>
      </p:sp>
      <p:sp>
        <p:nvSpPr>
          <p:cNvPr id="118" name="Google Shape;118;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Before and After Rule Application</a:t>
            </a:r>
            <a:r>
              <a:rPr lang="en" sz="1100"/>
              <a:t>:</a:t>
            </a:r>
            <a:endParaRPr sz="1100"/>
          </a:p>
          <a:p>
            <a:pPr indent="-298450" lvl="0" marL="457200" rtl="0" algn="l">
              <a:lnSpc>
                <a:spcPct val="115000"/>
              </a:lnSpc>
              <a:spcBef>
                <a:spcPts val="1200"/>
              </a:spcBef>
              <a:spcAft>
                <a:spcPts val="0"/>
              </a:spcAft>
              <a:buClr>
                <a:schemeClr val="dk1"/>
              </a:buClr>
              <a:buSzPts val="1100"/>
              <a:buFont typeface="Arial"/>
              <a:buChar char="●"/>
            </a:pPr>
            <a:r>
              <a:rPr b="1" lang="en" sz="1100"/>
              <a:t>Before</a:t>
            </a:r>
            <a:r>
              <a:rPr lang="en" sz="1100"/>
              <a:t>: Outgoing packets retain their original source IP.</a:t>
            </a:r>
            <a:endParaRPr sz="1100"/>
          </a:p>
          <a:p>
            <a:pPr indent="-298450" lvl="0" marL="457200" rtl="0" algn="l">
              <a:lnSpc>
                <a:spcPct val="115000"/>
              </a:lnSpc>
              <a:spcBef>
                <a:spcPts val="0"/>
              </a:spcBef>
              <a:spcAft>
                <a:spcPts val="0"/>
              </a:spcAft>
              <a:buClr>
                <a:schemeClr val="dk1"/>
              </a:buClr>
              <a:buSzPts val="1100"/>
              <a:buFont typeface="Arial"/>
              <a:buChar char="●"/>
            </a:pPr>
            <a:r>
              <a:rPr b="1" lang="en" sz="1100"/>
              <a:t>After</a:t>
            </a:r>
            <a:r>
              <a:rPr lang="en" sz="1100"/>
              <a:t>: All outgoing packets from the LAN now have their source IP changed to 200.1.1.1.</a:t>
            </a:r>
            <a:endParaRPr sz="1100"/>
          </a:p>
          <a:p>
            <a:pPr indent="0" lvl="0" marL="0" rtl="0" algn="l">
              <a:lnSpc>
                <a:spcPct val="115000"/>
              </a:lnSpc>
              <a:spcBef>
                <a:spcPts val="1200"/>
              </a:spcBef>
              <a:spcAft>
                <a:spcPts val="0"/>
              </a:spcAft>
              <a:buClr>
                <a:schemeClr val="dk1"/>
              </a:buClr>
              <a:buSzPts val="1100"/>
              <a:buFont typeface="Arial"/>
              <a:buNone/>
            </a:pPr>
            <a:r>
              <a:rPr b="1" lang="en" sz="1100"/>
              <a:t>View Hits</a:t>
            </a:r>
            <a:r>
              <a:rPr lang="en" sz="1100"/>
              <a:t>: To see if the rule is working, you can view the hits.</a:t>
            </a:r>
            <a:endParaRPr sz="1100"/>
          </a:p>
          <a:p>
            <a:pPr indent="0" lvl="0" marL="0" rtl="0" algn="l">
              <a:spcBef>
                <a:spcPts val="1200"/>
              </a:spcBef>
              <a:spcAft>
                <a:spcPts val="1200"/>
              </a:spcAft>
              <a:buNone/>
            </a:pPr>
            <a:r>
              <a:rPr lang="en" sz="1100"/>
              <a:t>iptables -t nat -L POSTROUTING -v -n | grep 200.1.1.1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Introduction to PAT (Port Address Translation)</a:t>
            </a:r>
            <a:endParaRPr sz="2700"/>
          </a:p>
        </p:txBody>
      </p:sp>
      <p:sp>
        <p:nvSpPr>
          <p:cNvPr id="124" name="Google Shape;124;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PAT is a subtype of NAT that allows multiple devices on a local network to be mapped to a single public IP address by using different port numbers.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Introduction to PAT (Port Address Translation)</a:t>
            </a:r>
            <a:endParaRPr sz="2700"/>
          </a:p>
        </p:txBody>
      </p:sp>
      <p:sp>
        <p:nvSpPr>
          <p:cNvPr id="130" name="Google Shape;130;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31" name="Google Shape;131;p25"/>
          <p:cNvPicPr preferRelativeResize="0"/>
          <p:nvPr/>
        </p:nvPicPr>
        <p:blipFill>
          <a:blip r:embed="rId3">
            <a:alphaModFix/>
          </a:blip>
          <a:stretch>
            <a:fillRect/>
          </a:stretch>
        </p:blipFill>
        <p:spPr>
          <a:xfrm>
            <a:off x="1476206" y="1017726"/>
            <a:ext cx="7667794" cy="38490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PAT Important?</a:t>
            </a:r>
            <a:endParaRPr/>
          </a:p>
        </p:txBody>
      </p:sp>
      <p:sp>
        <p:nvSpPr>
          <p:cNvPr id="137" name="Google Shape;137;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Resource Optimization</a:t>
            </a:r>
            <a:r>
              <a:rPr lang="en" sz="1900"/>
              <a:t>: Allows multiple hosts to share a single public IP.</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Security</a:t>
            </a:r>
            <a:r>
              <a:rPr lang="en" sz="1900"/>
              <a:t>: Obscures internal IP addresses.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Cost-Effective</a:t>
            </a:r>
            <a:r>
              <a:rPr lang="en" sz="1900"/>
              <a:t>: Reduces the need for multiple public IPs.</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PAT Work?</a:t>
            </a:r>
            <a:endParaRPr/>
          </a:p>
        </p:txBody>
      </p:sp>
      <p:sp>
        <p:nvSpPr>
          <p:cNvPr id="143" name="Google Shape;143;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Clr>
                <a:schemeClr val="dk1"/>
              </a:buClr>
              <a:buSzPts val="2200"/>
              <a:buFont typeface="Arial"/>
              <a:buChar char="●"/>
            </a:pPr>
            <a:r>
              <a:rPr b="1" lang="en" sz="2200"/>
              <a:t>Mechanism</a:t>
            </a:r>
            <a:r>
              <a:rPr lang="en" sz="2200"/>
              <a:t>: PAT modifies not just the source IP address but also the source port in the IP headers of packets.</a:t>
            </a:r>
            <a:endParaRPr sz="2200"/>
          </a:p>
          <a:p>
            <a:pPr indent="-368300" lvl="1" marL="914400" rtl="0" algn="l">
              <a:lnSpc>
                <a:spcPct val="115000"/>
              </a:lnSpc>
              <a:spcBef>
                <a:spcPts val="0"/>
              </a:spcBef>
              <a:spcAft>
                <a:spcPts val="0"/>
              </a:spcAft>
              <a:buClr>
                <a:schemeClr val="dk1"/>
              </a:buClr>
              <a:buSzPts val="2200"/>
              <a:buFont typeface="Arial"/>
              <a:buChar char="○"/>
            </a:pPr>
            <a:r>
              <a:rPr b="1" lang="en" sz="2200"/>
              <a:t>Example</a:t>
            </a:r>
            <a:r>
              <a:rPr lang="en" sz="2200"/>
              <a:t>: Multiple users accessing a website will have their requests sent through different source ports but the same public IP.</a:t>
            </a:r>
            <a:endParaRPr sz="3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MASQUERADE in iptables</a:t>
            </a:r>
            <a:endParaRPr/>
          </a:p>
        </p:txBody>
      </p:sp>
      <p:sp>
        <p:nvSpPr>
          <p:cNvPr id="149" name="Google Shape;149;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800"/>
              <a:t>What is MASQUERADE?</a:t>
            </a:r>
            <a:endParaRPr b="1" sz="1800"/>
          </a:p>
          <a:p>
            <a:pPr indent="-342900" lvl="0" marL="457200" rtl="0" algn="l">
              <a:lnSpc>
                <a:spcPct val="115000"/>
              </a:lnSpc>
              <a:spcBef>
                <a:spcPts val="200"/>
              </a:spcBef>
              <a:spcAft>
                <a:spcPts val="0"/>
              </a:spcAft>
              <a:buClr>
                <a:schemeClr val="dk1"/>
              </a:buClr>
              <a:buSzPts val="1800"/>
              <a:buFont typeface="Arial"/>
              <a:buChar char="●"/>
            </a:pPr>
            <a:r>
              <a:rPr b="1" lang="en" sz="1800"/>
              <a:t>Definition</a:t>
            </a:r>
            <a:r>
              <a:rPr lang="en" sz="1800"/>
              <a:t>: The </a:t>
            </a:r>
            <a:r>
              <a:rPr lang="en" sz="1800">
                <a:solidFill>
                  <a:srgbClr val="188038"/>
                </a:solidFill>
                <a:latin typeface="Roboto Mono"/>
                <a:ea typeface="Roboto Mono"/>
                <a:cs typeface="Roboto Mono"/>
                <a:sym typeface="Roboto Mono"/>
              </a:rPr>
              <a:t>MASQUERADE</a:t>
            </a:r>
            <a:r>
              <a:rPr lang="en" sz="1800"/>
              <a:t> target is used in iptables to perform Source NAT for a dynamic IP address.</a:t>
            </a:r>
            <a:endParaRPr sz="1800"/>
          </a:p>
          <a:p>
            <a:pPr indent="0" lvl="0" marL="0" rtl="0" algn="l">
              <a:lnSpc>
                <a:spcPct val="115000"/>
              </a:lnSpc>
              <a:spcBef>
                <a:spcPts val="1200"/>
              </a:spcBef>
              <a:spcAft>
                <a:spcPts val="0"/>
              </a:spcAft>
              <a:buClr>
                <a:schemeClr val="dk1"/>
              </a:buClr>
              <a:buSzPts val="1100"/>
              <a:buFont typeface="Arial"/>
              <a:buNone/>
            </a:pPr>
            <a:r>
              <a:rPr b="1" lang="en" sz="1800"/>
              <a:t>Why Use MASQUERADE?</a:t>
            </a:r>
            <a:endParaRPr b="1" sz="1800"/>
          </a:p>
          <a:p>
            <a:pPr indent="-342900" lvl="0" marL="457200" rtl="0" algn="l">
              <a:lnSpc>
                <a:spcPct val="115000"/>
              </a:lnSpc>
              <a:spcBef>
                <a:spcPts val="200"/>
              </a:spcBef>
              <a:spcAft>
                <a:spcPts val="0"/>
              </a:spcAft>
              <a:buClr>
                <a:schemeClr val="dk1"/>
              </a:buClr>
              <a:buSzPts val="1800"/>
              <a:buFont typeface="Arial"/>
              <a:buChar char="●"/>
            </a:pPr>
            <a:r>
              <a:rPr b="1" lang="en" sz="1800"/>
              <a:t>Dynamic IPs</a:t>
            </a:r>
            <a:r>
              <a:rPr lang="en" sz="1800"/>
              <a:t>: Ideal for situations where the public IP address is dynamically assigned, such as with DHCP.</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Ease of Use</a:t>
            </a:r>
            <a:r>
              <a:rPr lang="en" sz="1800"/>
              <a:t>: Automatically handles the changing of the public IP address, no need to specify it.</a:t>
            </a:r>
            <a:endParaRPr sz="3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MASQUERADE Work?</a:t>
            </a:r>
            <a:endParaRPr/>
          </a:p>
        </p:txBody>
      </p:sp>
      <p:sp>
        <p:nvSpPr>
          <p:cNvPr id="155" name="Google Shape;155;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Arial"/>
              <a:buChar char="●"/>
            </a:pPr>
            <a:r>
              <a:rPr b="1" lang="en" sz="2000"/>
              <a:t>Mechanism</a:t>
            </a:r>
            <a:r>
              <a:rPr lang="en" sz="2000"/>
              <a:t>: It takes the IP address of the outgoing network interface and uses that as the source address for all the packets traveling through it.</a:t>
            </a:r>
            <a:endParaRPr sz="2000"/>
          </a:p>
          <a:p>
            <a:pPr indent="-355600" lvl="1" marL="914400" rtl="0" algn="l">
              <a:lnSpc>
                <a:spcPct val="115000"/>
              </a:lnSpc>
              <a:spcBef>
                <a:spcPts val="0"/>
              </a:spcBef>
              <a:spcAft>
                <a:spcPts val="0"/>
              </a:spcAft>
              <a:buClr>
                <a:schemeClr val="dk1"/>
              </a:buClr>
              <a:buSzPts val="2000"/>
              <a:buFont typeface="Arial"/>
              <a:buChar char="○"/>
            </a:pPr>
            <a:r>
              <a:rPr b="1" lang="en"/>
              <a:t>Example</a:t>
            </a:r>
            <a:r>
              <a:rPr lang="en"/>
              <a:t>: If your router's WAN interface (</a:t>
            </a:r>
            <a:r>
              <a:rPr lang="en">
                <a:solidFill>
                  <a:srgbClr val="188038"/>
                </a:solidFill>
                <a:latin typeface="Roboto Mono"/>
                <a:ea typeface="Roboto Mono"/>
                <a:cs typeface="Roboto Mono"/>
                <a:sym typeface="Roboto Mono"/>
              </a:rPr>
              <a:t>eth1</a:t>
            </a:r>
            <a:r>
              <a:rPr lang="en"/>
              <a:t>) has a dynamic IP, </a:t>
            </a:r>
            <a:r>
              <a:rPr lang="en">
                <a:solidFill>
                  <a:srgbClr val="188038"/>
                </a:solidFill>
                <a:latin typeface="Roboto Mono"/>
                <a:ea typeface="Roboto Mono"/>
                <a:cs typeface="Roboto Mono"/>
                <a:sym typeface="Roboto Mono"/>
              </a:rPr>
              <a:t>MASQUERADE</a:t>
            </a:r>
            <a:r>
              <a:rPr lang="en"/>
              <a:t> will use whatever IP is assigned to </a:t>
            </a:r>
            <a:r>
              <a:rPr lang="en">
                <a:solidFill>
                  <a:srgbClr val="188038"/>
                </a:solidFill>
                <a:latin typeface="Roboto Mono"/>
                <a:ea typeface="Roboto Mono"/>
                <a:cs typeface="Roboto Mono"/>
                <a:sym typeface="Roboto Mono"/>
              </a:rPr>
              <a:t>eth1</a:t>
            </a:r>
            <a:r>
              <a:rPr lang="en"/>
              <a:t> as the source IP for packets leaving the network.</a:t>
            </a:r>
            <a:endParaRPr sz="2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MASQUERADE vs SNAT</a:t>
            </a:r>
            <a:endParaRPr/>
          </a:p>
        </p:txBody>
      </p:sp>
      <p:sp>
        <p:nvSpPr>
          <p:cNvPr id="161" name="Google Shape;161;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SNAT</a:t>
            </a:r>
            <a:r>
              <a:rPr lang="en" sz="1900"/>
              <a:t>: Requires a specific IP to be set and doesn't change automatically.</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MASQUERADE</a:t>
            </a:r>
            <a:r>
              <a:rPr lang="en" sz="1900"/>
              <a:t>: Automatically adapts to IP changes, more CPU intensive.</a:t>
            </a:r>
            <a:endParaRPr sz="3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MASQUERADE vs SNAT</a:t>
            </a:r>
            <a:endParaRPr/>
          </a:p>
        </p:txBody>
      </p:sp>
      <p:sp>
        <p:nvSpPr>
          <p:cNvPr id="167" name="Google Shape;167;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SNAT</a:t>
            </a:r>
            <a:r>
              <a:rPr lang="en" sz="1900"/>
              <a:t>: Requires a specific IP to be set and doesn't change automatically.</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MASQUERADE</a:t>
            </a:r>
            <a:r>
              <a:rPr lang="en" sz="1900"/>
              <a:t>: Automatically adapts to IP changes, more CPU intensive.</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MASQUERADE vs SNAT</a:t>
            </a:r>
            <a:endParaRPr/>
          </a:p>
        </p:txBody>
      </p:sp>
      <p:sp>
        <p:nvSpPr>
          <p:cNvPr id="173" name="Google Shape;173;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800"/>
              <a:t>Example Command Explained:</a:t>
            </a:r>
            <a:endParaRPr b="1" sz="1800"/>
          </a:p>
          <a:p>
            <a:pPr indent="-342900" lvl="0" marL="457200" rtl="0" algn="l">
              <a:lnSpc>
                <a:spcPct val="115000"/>
              </a:lnSpc>
              <a:spcBef>
                <a:spcPts val="20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iptables -t nat -A POSTROUTING -o eth1 -s 10.81.100.0/24 -j MASQUERADE</a:t>
            </a:r>
            <a:endParaRPr sz="1800">
              <a:solidFill>
                <a:srgbClr val="188038"/>
              </a:solidFill>
              <a:latin typeface="Roboto Mono"/>
              <a:ea typeface="Roboto Mono"/>
              <a:cs typeface="Roboto Mono"/>
              <a:sym typeface="Roboto Mono"/>
            </a:endParaRPr>
          </a:p>
          <a:p>
            <a:pPr indent="-342900" lvl="1" marL="914400" rtl="0" algn="l">
              <a:lnSpc>
                <a:spcPct val="115000"/>
              </a:lnSpc>
              <a:spcBef>
                <a:spcPts val="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-t nat</a:t>
            </a:r>
            <a:r>
              <a:rPr lang="en" sz="1800"/>
              <a:t>: Specifies the NAT table.</a:t>
            </a:r>
            <a:endParaRPr sz="1800"/>
          </a:p>
          <a:p>
            <a:pPr indent="-342900" lvl="1" marL="914400" rtl="0" algn="l">
              <a:lnSpc>
                <a:spcPct val="115000"/>
              </a:lnSpc>
              <a:spcBef>
                <a:spcPts val="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-A POSTROUTING</a:t>
            </a:r>
            <a:r>
              <a:rPr lang="en" sz="1800"/>
              <a:t>: Appends a rule to the POSTROUTING chain.</a:t>
            </a:r>
            <a:endParaRPr sz="1800"/>
          </a:p>
          <a:p>
            <a:pPr indent="-342900" lvl="1" marL="914400" rtl="0" algn="l">
              <a:lnSpc>
                <a:spcPct val="115000"/>
              </a:lnSpc>
              <a:spcBef>
                <a:spcPts val="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-o eth1</a:t>
            </a:r>
            <a:r>
              <a:rPr lang="en" sz="1800"/>
              <a:t>: Specifies the outgoing interface.</a:t>
            </a:r>
            <a:endParaRPr sz="1800"/>
          </a:p>
          <a:p>
            <a:pPr indent="-342900" lvl="1" marL="914400" rtl="0" algn="l">
              <a:lnSpc>
                <a:spcPct val="115000"/>
              </a:lnSpc>
              <a:spcBef>
                <a:spcPts val="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-s 10.81.100.0/24</a:t>
            </a:r>
            <a:r>
              <a:rPr lang="en" sz="1800"/>
              <a:t>: Specifies the source IP range.</a:t>
            </a:r>
            <a:endParaRPr sz="1800"/>
          </a:p>
          <a:p>
            <a:pPr indent="-342900" lvl="1" marL="914400" rtl="0" algn="l">
              <a:lnSpc>
                <a:spcPct val="115000"/>
              </a:lnSpc>
              <a:spcBef>
                <a:spcPts val="0"/>
              </a:spcBef>
              <a:spcAft>
                <a:spcPts val="0"/>
              </a:spcAft>
              <a:buClr>
                <a:schemeClr val="dk1"/>
              </a:buClr>
              <a:buSzPts val="1800"/>
              <a:buFont typeface="Arial"/>
              <a:buChar char="○"/>
            </a:pPr>
            <a:r>
              <a:rPr lang="en" sz="1800">
                <a:solidFill>
                  <a:srgbClr val="188038"/>
                </a:solidFill>
                <a:latin typeface="Roboto Mono"/>
                <a:ea typeface="Roboto Mono"/>
                <a:cs typeface="Roboto Mono"/>
                <a:sym typeface="Roboto Mono"/>
              </a:rPr>
              <a:t>-j MASQUERADE</a:t>
            </a:r>
            <a:r>
              <a:rPr lang="en" sz="1800"/>
              <a:t>: Sets the target to MASQUERADE, performing Source NAT.</a:t>
            </a:r>
            <a:endParaRPr sz="2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Viewing MASQUERADE Hits</a:t>
            </a:r>
            <a:endParaRPr/>
          </a:p>
        </p:txBody>
      </p:sp>
      <p:sp>
        <p:nvSpPr>
          <p:cNvPr id="179" name="Google Shape;179;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iptables -t nat -L POSTROUTING -v -n | grep MASQUERADE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Stateful vs Stateless NAT</a:t>
            </a:r>
            <a:endParaRPr/>
          </a:p>
        </p:txBody>
      </p:sp>
      <p:sp>
        <p:nvSpPr>
          <p:cNvPr id="185" name="Google Shape;185;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Stateful NAT</a:t>
            </a:r>
            <a:r>
              <a:rPr lang="en" sz="1800"/>
              <a:t>: Keeps track of the state of each connection and allows bidirectional initation.</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Stateless NAT</a:t>
            </a:r>
            <a:r>
              <a:rPr lang="en" sz="1800"/>
              <a:t>: Does not keep track of connection states; generally used in simpler, less secure setups.</a:t>
            </a:r>
            <a:endParaRPr sz="3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Stateful NAT?</a:t>
            </a:r>
            <a:endParaRPr/>
          </a:p>
        </p:txBody>
      </p:sp>
      <p:sp>
        <p:nvSpPr>
          <p:cNvPr id="191" name="Google Shape;191;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4705"/>
              <a:buFont typeface="Arial"/>
              <a:buNone/>
            </a:pPr>
            <a:r>
              <a:rPr b="1" lang="en" sz="1700"/>
              <a:t>Definition</a:t>
            </a:r>
            <a:r>
              <a:rPr lang="en" sz="1700"/>
              <a:t>: Stateful NAT keeps track of the state of each active connection. This means it remembers the source and destination IP addresses and port numbers, as well as the state of the connection (e.g., SYN_SENT, ESTABLISHED).</a:t>
            </a:r>
            <a:endParaRPr sz="1700"/>
          </a:p>
          <a:p>
            <a:pPr indent="0" lvl="0" marL="0" rtl="0" algn="l">
              <a:spcBef>
                <a:spcPts val="1200"/>
              </a:spcBef>
              <a:spcAft>
                <a:spcPts val="0"/>
              </a:spcAft>
              <a:buClr>
                <a:schemeClr val="dk1"/>
              </a:buClr>
              <a:buSzPct val="64705"/>
              <a:buFont typeface="Arial"/>
              <a:buNone/>
            </a:pPr>
            <a:r>
              <a:rPr b="1" lang="en" sz="1700"/>
              <a:t>Advantages</a:t>
            </a:r>
            <a:r>
              <a:rPr lang="en" sz="1700"/>
              <a:t>:</a:t>
            </a:r>
            <a:endParaRPr sz="1700"/>
          </a:p>
          <a:p>
            <a:pPr indent="-328453" lvl="0" marL="457200" rtl="0" algn="l">
              <a:lnSpc>
                <a:spcPct val="115000"/>
              </a:lnSpc>
              <a:spcBef>
                <a:spcPts val="1200"/>
              </a:spcBef>
              <a:spcAft>
                <a:spcPts val="0"/>
              </a:spcAft>
              <a:buClr>
                <a:schemeClr val="dk1"/>
              </a:buClr>
              <a:buSzPct val="100000"/>
              <a:buFont typeface="Arial"/>
              <a:buChar char="●"/>
            </a:pPr>
            <a:r>
              <a:rPr b="1" lang="en" sz="1700"/>
              <a:t>Bidirectional Initiation</a:t>
            </a:r>
            <a:r>
              <a:rPr lang="en" sz="1700"/>
              <a:t>: Allows connections to be initiated from both sides, not just from inside to outside.</a:t>
            </a:r>
            <a:endParaRPr sz="1700"/>
          </a:p>
          <a:p>
            <a:pPr indent="-328453" lvl="0" marL="457200" rtl="0" algn="l">
              <a:lnSpc>
                <a:spcPct val="115000"/>
              </a:lnSpc>
              <a:spcBef>
                <a:spcPts val="0"/>
              </a:spcBef>
              <a:spcAft>
                <a:spcPts val="0"/>
              </a:spcAft>
              <a:buClr>
                <a:schemeClr val="dk1"/>
              </a:buClr>
              <a:buSzPct val="100000"/>
              <a:buFont typeface="Arial"/>
              <a:buChar char="●"/>
            </a:pPr>
            <a:r>
              <a:rPr b="1" lang="en" sz="1700"/>
              <a:t>Higher Security</a:t>
            </a:r>
            <a:r>
              <a:rPr lang="en" sz="1700"/>
              <a:t>: By tracking state, it can prevent unsolicited incoming traffic that doesn't correspond to a known active connection.</a:t>
            </a:r>
            <a:endParaRPr sz="1700"/>
          </a:p>
          <a:p>
            <a:pPr indent="-328453" lvl="0" marL="457200" rtl="0" algn="l">
              <a:lnSpc>
                <a:spcPct val="115000"/>
              </a:lnSpc>
              <a:spcBef>
                <a:spcPts val="0"/>
              </a:spcBef>
              <a:spcAft>
                <a:spcPts val="0"/>
              </a:spcAft>
              <a:buClr>
                <a:schemeClr val="dk1"/>
              </a:buClr>
              <a:buSzPct val="100000"/>
              <a:buFont typeface="Arial"/>
              <a:buChar char="●"/>
            </a:pPr>
            <a:r>
              <a:rPr b="1" lang="en" sz="1700"/>
              <a:t>Dynamic Port Mapping</a:t>
            </a:r>
            <a:r>
              <a:rPr lang="en" sz="1700"/>
              <a:t>: Can dynamically allocate ports for outgoing connections and free them when the connection is closed.</a:t>
            </a:r>
            <a:endParaRPr sz="3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Stateful NAT?</a:t>
            </a:r>
            <a:endParaRPr/>
          </a:p>
        </p:txBody>
      </p:sp>
      <p:sp>
        <p:nvSpPr>
          <p:cNvPr id="197" name="Google Shape;197;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How it Works</a:t>
            </a:r>
            <a:r>
              <a:rPr lang="en" sz="1700"/>
              <a:t>:</a:t>
            </a:r>
            <a:endParaRPr sz="1700"/>
          </a:p>
          <a:p>
            <a:pPr indent="-336550" lvl="0" marL="457200" rtl="0" algn="l">
              <a:lnSpc>
                <a:spcPct val="115000"/>
              </a:lnSpc>
              <a:spcBef>
                <a:spcPts val="1200"/>
              </a:spcBef>
              <a:spcAft>
                <a:spcPts val="0"/>
              </a:spcAft>
              <a:buClr>
                <a:schemeClr val="dk1"/>
              </a:buClr>
              <a:buSzPts val="1700"/>
              <a:buFont typeface="Arial"/>
              <a:buChar char="●"/>
            </a:pPr>
            <a:r>
              <a:rPr lang="en" sz="1700"/>
              <a:t>Uses a state table to keep track of each connection.</a:t>
            </a:r>
            <a:endParaRPr sz="1700"/>
          </a:p>
          <a:p>
            <a:pPr indent="-336550" lvl="0" marL="457200" rtl="0" algn="l">
              <a:lnSpc>
                <a:spcPct val="115000"/>
              </a:lnSpc>
              <a:spcBef>
                <a:spcPts val="0"/>
              </a:spcBef>
              <a:spcAft>
                <a:spcPts val="0"/>
              </a:spcAft>
              <a:buClr>
                <a:schemeClr val="dk1"/>
              </a:buClr>
              <a:buSzPts val="1700"/>
              <a:buFont typeface="Arial"/>
              <a:buChar char="●"/>
            </a:pPr>
            <a:r>
              <a:rPr lang="en" sz="1700"/>
              <a:t>Examines each packet to update its state table.</a:t>
            </a:r>
            <a:endParaRPr sz="1700"/>
          </a:p>
          <a:p>
            <a:pPr indent="-336550" lvl="0" marL="457200" rtl="0" algn="l">
              <a:lnSpc>
                <a:spcPct val="115000"/>
              </a:lnSpc>
              <a:spcBef>
                <a:spcPts val="0"/>
              </a:spcBef>
              <a:spcAft>
                <a:spcPts val="0"/>
              </a:spcAft>
              <a:buClr>
                <a:schemeClr val="dk1"/>
              </a:buClr>
              <a:buSzPts val="1700"/>
              <a:buFont typeface="Arial"/>
              <a:buChar char="●"/>
            </a:pPr>
            <a:r>
              <a:rPr lang="en" sz="1700"/>
              <a:t>Makes decisions based on the state table for allowing or denying packets.</a:t>
            </a:r>
            <a:endParaRPr sz="3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Stateless NAT?</a:t>
            </a:r>
            <a:endParaRPr/>
          </a:p>
        </p:txBody>
      </p:sp>
      <p:sp>
        <p:nvSpPr>
          <p:cNvPr id="203" name="Google Shape;203;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Definition</a:t>
            </a:r>
            <a:r>
              <a:rPr lang="en" sz="1800"/>
              <a:t>: Stateless NAT performs address translation without keeping track of each individual connection's state.</a:t>
            </a:r>
            <a:endParaRPr sz="1800"/>
          </a:p>
          <a:p>
            <a:pPr indent="0" lvl="0" marL="0" rtl="0" algn="l">
              <a:spcBef>
                <a:spcPts val="1200"/>
              </a:spcBef>
              <a:spcAft>
                <a:spcPts val="0"/>
              </a:spcAft>
              <a:buClr>
                <a:schemeClr val="dk1"/>
              </a:buClr>
              <a:buSzPts val="1100"/>
              <a:buFont typeface="Arial"/>
              <a:buNone/>
            </a:pPr>
            <a:r>
              <a:rPr b="1" lang="en" sz="1800"/>
              <a:t>Advantages</a:t>
            </a:r>
            <a:r>
              <a:rPr lang="en" sz="1800"/>
              <a:t>:</a:t>
            </a:r>
            <a:endParaRPr sz="1800"/>
          </a:p>
          <a:p>
            <a:pPr indent="-342900" lvl="0" marL="457200" rtl="0" algn="l">
              <a:lnSpc>
                <a:spcPct val="115000"/>
              </a:lnSpc>
              <a:spcBef>
                <a:spcPts val="1200"/>
              </a:spcBef>
              <a:spcAft>
                <a:spcPts val="0"/>
              </a:spcAft>
              <a:buClr>
                <a:schemeClr val="dk1"/>
              </a:buClr>
              <a:buSzPts val="1800"/>
              <a:buFont typeface="Arial"/>
              <a:buChar char="●"/>
            </a:pPr>
            <a:r>
              <a:rPr b="1" lang="en" sz="1800"/>
              <a:t>Simplicity</a:t>
            </a:r>
            <a:r>
              <a:rPr lang="en" sz="1800"/>
              <a:t>: Easier to set up and manage.</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Less CPU Intensive</a:t>
            </a:r>
            <a:r>
              <a:rPr lang="en" sz="1800"/>
              <a:t>: Doesn't require as much processing power since it doesn't keep a state table.</a:t>
            </a:r>
            <a:endParaRPr sz="3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Stateless NAT?</a:t>
            </a:r>
            <a:endParaRPr/>
          </a:p>
        </p:txBody>
      </p:sp>
      <p:sp>
        <p:nvSpPr>
          <p:cNvPr id="209" name="Google Shape;209;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Disadvantages</a:t>
            </a:r>
            <a:r>
              <a:rPr lang="en" sz="1800"/>
              <a:t>:</a:t>
            </a:r>
            <a:endParaRPr sz="1800"/>
          </a:p>
          <a:p>
            <a:pPr indent="-342900" lvl="1" marL="914400" rtl="0" algn="l">
              <a:lnSpc>
                <a:spcPct val="115000"/>
              </a:lnSpc>
              <a:spcBef>
                <a:spcPts val="0"/>
              </a:spcBef>
              <a:spcAft>
                <a:spcPts val="0"/>
              </a:spcAft>
              <a:buClr>
                <a:schemeClr val="dk1"/>
              </a:buClr>
              <a:buSzPts val="1800"/>
              <a:buFont typeface="Arial"/>
              <a:buChar char="○"/>
            </a:pPr>
            <a:r>
              <a:rPr b="1" lang="en" sz="1800"/>
              <a:t>Lower Security</a:t>
            </a:r>
            <a:r>
              <a:rPr lang="en" sz="1800"/>
              <a:t>: More susceptible to attacks like IP spoofing.</a:t>
            </a:r>
            <a:endParaRPr sz="1800"/>
          </a:p>
          <a:p>
            <a:pPr indent="-342900" lvl="1" marL="914400" rtl="0" algn="l">
              <a:lnSpc>
                <a:spcPct val="115000"/>
              </a:lnSpc>
              <a:spcBef>
                <a:spcPts val="0"/>
              </a:spcBef>
              <a:spcAft>
                <a:spcPts val="0"/>
              </a:spcAft>
              <a:buClr>
                <a:schemeClr val="dk1"/>
              </a:buClr>
              <a:buSzPts val="1800"/>
              <a:buFont typeface="Arial"/>
              <a:buChar char="○"/>
            </a:pPr>
            <a:r>
              <a:rPr b="1" lang="en" sz="1800"/>
              <a:t>Unidirectional</a:t>
            </a:r>
            <a:r>
              <a:rPr lang="en" sz="1800"/>
              <a:t>: Generally allows connections to be initiated only from one side, usually from inside to outside.</a:t>
            </a:r>
            <a:endParaRPr sz="2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Stateful NAT in iptables</a:t>
            </a:r>
            <a:endParaRPr/>
          </a:p>
        </p:txBody>
      </p:sp>
      <p:sp>
        <p:nvSpPr>
          <p:cNvPr id="215" name="Google Shape;215;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800"/>
              <a:t>Connection Tracking</a:t>
            </a:r>
            <a:r>
              <a:rPr lang="en" sz="1800"/>
              <a:t>: iptables uses the </a:t>
            </a:r>
            <a:r>
              <a:rPr lang="en" sz="1800">
                <a:solidFill>
                  <a:srgbClr val="188038"/>
                </a:solidFill>
                <a:latin typeface="Roboto Mono"/>
                <a:ea typeface="Roboto Mono"/>
                <a:cs typeface="Roboto Mono"/>
                <a:sym typeface="Roboto Mono"/>
              </a:rPr>
              <a:t>conntrack</a:t>
            </a:r>
            <a:r>
              <a:rPr lang="en" sz="1800"/>
              <a:t> module for stateful NAT.</a:t>
            </a:r>
            <a:endParaRPr sz="1800"/>
          </a:p>
          <a:p>
            <a:pPr indent="-342900" lvl="0" marL="457200" rtl="0" algn="l">
              <a:lnSpc>
                <a:spcPct val="115000"/>
              </a:lnSpc>
              <a:spcBef>
                <a:spcPts val="1200"/>
              </a:spcBef>
              <a:spcAft>
                <a:spcPts val="0"/>
              </a:spcAft>
              <a:buClr>
                <a:schemeClr val="dk1"/>
              </a:buClr>
              <a:buSzPts val="1800"/>
              <a:buFont typeface="Arial"/>
              <a:buChar char="●"/>
            </a:pPr>
            <a:r>
              <a:rPr b="1" lang="en" sz="1800"/>
              <a:t>Example</a:t>
            </a:r>
            <a:r>
              <a:rPr lang="en" sz="1800"/>
              <a:t>: To allow established and related incoming connections.</a:t>
            </a:r>
            <a:br>
              <a:rPr lang="en" sz="1800"/>
            </a:br>
            <a:r>
              <a:rPr lang="en" sz="1800"/>
              <a:t>bash</a:t>
            </a:r>
            <a:endParaRPr sz="1800"/>
          </a:p>
          <a:p>
            <a:pPr indent="0" lvl="0" marL="0" rtl="0" algn="l">
              <a:lnSpc>
                <a:spcPct val="115000"/>
              </a:lnSpc>
              <a:spcBef>
                <a:spcPts val="1200"/>
              </a:spcBef>
              <a:spcAft>
                <a:spcPts val="1200"/>
              </a:spcAft>
              <a:buNone/>
            </a:pPr>
            <a:r>
              <a:rPr lang="en" sz="1800"/>
              <a:t>iptables -A INPUT -m conntrack --ctstate ESTABLISHED,RELATED -j ACCEPT</a:t>
            </a:r>
            <a:endParaRPr sz="3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Stateless NAT in iptables</a:t>
            </a:r>
            <a:endParaRPr/>
          </a:p>
        </p:txBody>
      </p:sp>
      <p:sp>
        <p:nvSpPr>
          <p:cNvPr id="221" name="Google Shape;221;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700"/>
              <a:t>Simple Rule</a:t>
            </a:r>
            <a:r>
              <a:rPr lang="en" sz="1700"/>
              <a:t>: A basic NAT rule without state tracking.</a:t>
            </a:r>
            <a:endParaRPr sz="1700"/>
          </a:p>
          <a:p>
            <a:pPr indent="-336550" lvl="0" marL="457200" rtl="0" algn="l">
              <a:lnSpc>
                <a:spcPct val="115000"/>
              </a:lnSpc>
              <a:spcBef>
                <a:spcPts val="1200"/>
              </a:spcBef>
              <a:spcAft>
                <a:spcPts val="0"/>
              </a:spcAft>
              <a:buClr>
                <a:schemeClr val="dk1"/>
              </a:buClr>
              <a:buSzPts val="1700"/>
              <a:buFont typeface="Arial"/>
              <a:buChar char="●"/>
            </a:pPr>
            <a:r>
              <a:rPr b="1" lang="en" sz="1700"/>
              <a:t>Example</a:t>
            </a:r>
            <a:r>
              <a:rPr lang="en" sz="1700"/>
              <a:t>: To simply forward all incoming HTTP traffic to a specific internal IP.</a:t>
            </a:r>
            <a:endParaRPr sz="1700"/>
          </a:p>
          <a:p>
            <a:pPr indent="0" lvl="0" marL="0" rtl="0" algn="l">
              <a:spcBef>
                <a:spcPts val="1200"/>
              </a:spcBef>
              <a:spcAft>
                <a:spcPts val="1200"/>
              </a:spcAft>
              <a:buNone/>
            </a:pPr>
            <a:r>
              <a:rPr lang="en" sz="1700">
                <a:solidFill>
                  <a:srgbClr val="188038"/>
                </a:solidFill>
                <a:latin typeface="Roboto Mono"/>
                <a:ea typeface="Roboto Mono"/>
                <a:cs typeface="Roboto Mono"/>
                <a:sym typeface="Roboto Mono"/>
              </a:rPr>
              <a:t>iptables -t nat -A PREROUTING -p tcp --dport 80 -j DNAT --to-destination 10.81.100.10</a:t>
            </a:r>
            <a:endParaRPr sz="3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with NAT</a:t>
            </a:r>
            <a:endParaRPr/>
          </a:p>
        </p:txBody>
      </p:sp>
      <p:sp>
        <p:nvSpPr>
          <p:cNvPr id="227" name="Google Shape;227;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Clr>
                <a:schemeClr val="dk1"/>
              </a:buClr>
              <a:buSzPct val="68750"/>
              <a:buFont typeface="Arial"/>
              <a:buNone/>
            </a:pPr>
            <a:r>
              <a:rPr b="1" lang="en" sz="1600"/>
              <a:t>Breaking End-to-End Connectivity</a:t>
            </a:r>
            <a:endParaRPr b="1" sz="1600"/>
          </a:p>
          <a:p>
            <a:pPr indent="-322580" lvl="0" marL="457200" rtl="0" algn="l">
              <a:lnSpc>
                <a:spcPct val="115000"/>
              </a:lnSpc>
              <a:spcBef>
                <a:spcPts val="200"/>
              </a:spcBef>
              <a:spcAft>
                <a:spcPts val="0"/>
              </a:spcAft>
              <a:buClr>
                <a:schemeClr val="dk1"/>
              </a:buClr>
              <a:buSzPct val="100000"/>
              <a:buFont typeface="Arial"/>
              <a:buChar char="●"/>
            </a:pPr>
            <a:r>
              <a:rPr b="1" lang="en" sz="1600"/>
              <a:t>What is End-to-End Principle?</a:t>
            </a:r>
            <a:r>
              <a:rPr lang="en" sz="1600"/>
              <a:t>: In a pure IP network, each packet would travel from the source directly to the destination without any changes to the packet headers.</a:t>
            </a:r>
            <a:endParaRPr sz="1600"/>
          </a:p>
          <a:p>
            <a:pPr indent="-322580" lvl="0" marL="457200" rtl="0" algn="l">
              <a:lnSpc>
                <a:spcPct val="115000"/>
              </a:lnSpc>
              <a:spcBef>
                <a:spcPts val="0"/>
              </a:spcBef>
              <a:spcAft>
                <a:spcPts val="0"/>
              </a:spcAft>
              <a:buClr>
                <a:schemeClr val="dk1"/>
              </a:buClr>
              <a:buSzPct val="100000"/>
              <a:buFont typeface="Arial"/>
              <a:buChar char="●"/>
            </a:pPr>
            <a:r>
              <a:rPr b="1" lang="en" sz="1600"/>
              <a:t>How NAT Breaks It</a:t>
            </a:r>
            <a:r>
              <a:rPr lang="en" sz="1600"/>
              <a:t>: NAT modifies the source or destination IP addresses, and sometimes the port numbers, as packets pass through. This breaks the end-to-end principle because the integrity of the packet is altered.</a:t>
            </a:r>
            <a:endParaRPr sz="1600"/>
          </a:p>
          <a:p>
            <a:pPr indent="-322580" lvl="0" marL="457200" rtl="0" algn="l">
              <a:lnSpc>
                <a:spcPct val="115000"/>
              </a:lnSpc>
              <a:spcBef>
                <a:spcPts val="0"/>
              </a:spcBef>
              <a:spcAft>
                <a:spcPts val="0"/>
              </a:spcAft>
              <a:buClr>
                <a:schemeClr val="dk1"/>
              </a:buClr>
              <a:buSzPct val="100000"/>
              <a:buFont typeface="Arial"/>
              <a:buChar char="●"/>
            </a:pPr>
            <a:r>
              <a:rPr b="1" lang="en" sz="1600"/>
              <a:t>Implications</a:t>
            </a:r>
            <a:r>
              <a:rPr lang="en" sz="1600"/>
              <a:t>:</a:t>
            </a:r>
            <a:endParaRPr sz="1600"/>
          </a:p>
          <a:p>
            <a:pPr indent="-322580" lvl="1" marL="914400" rtl="0" algn="l">
              <a:lnSpc>
                <a:spcPct val="115000"/>
              </a:lnSpc>
              <a:spcBef>
                <a:spcPts val="0"/>
              </a:spcBef>
              <a:spcAft>
                <a:spcPts val="0"/>
              </a:spcAft>
              <a:buClr>
                <a:schemeClr val="dk1"/>
              </a:buClr>
              <a:buSzPct val="100000"/>
              <a:buFont typeface="Arial"/>
              <a:buChar char="○"/>
            </a:pPr>
            <a:r>
              <a:rPr b="1" lang="en" sz="1600"/>
              <a:t>Troubleshooting</a:t>
            </a:r>
            <a:r>
              <a:rPr lang="en" sz="1600"/>
              <a:t>: Makes it difficult to trace network issues.</a:t>
            </a:r>
            <a:endParaRPr sz="1600"/>
          </a:p>
          <a:p>
            <a:pPr indent="-322580" lvl="1" marL="914400" rtl="0" algn="l">
              <a:lnSpc>
                <a:spcPct val="115000"/>
              </a:lnSpc>
              <a:spcBef>
                <a:spcPts val="0"/>
              </a:spcBef>
              <a:spcAft>
                <a:spcPts val="0"/>
              </a:spcAft>
              <a:buClr>
                <a:schemeClr val="dk1"/>
              </a:buClr>
              <a:buSzPct val="100000"/>
              <a:buFont typeface="Arial"/>
              <a:buChar char="○"/>
            </a:pPr>
            <a:r>
              <a:rPr b="1" lang="en" sz="1600"/>
              <a:t>Quality of Service (QoS)</a:t>
            </a:r>
            <a:r>
              <a:rPr lang="en" sz="1600"/>
              <a:t>: Can interfere with QoS mechanisms that rely on the original IP headers.</a:t>
            </a:r>
            <a:endParaRPr sz="1600"/>
          </a:p>
          <a:p>
            <a:pPr indent="-322580" lvl="1" marL="914400" rtl="0" algn="l">
              <a:lnSpc>
                <a:spcPct val="115000"/>
              </a:lnSpc>
              <a:spcBef>
                <a:spcPts val="0"/>
              </a:spcBef>
              <a:spcAft>
                <a:spcPts val="0"/>
              </a:spcAft>
              <a:buClr>
                <a:schemeClr val="dk1"/>
              </a:buClr>
              <a:buSzPct val="100000"/>
              <a:buFont typeface="Arial"/>
              <a:buChar char="○"/>
            </a:pPr>
            <a:r>
              <a:rPr b="1" lang="en" sz="1600"/>
              <a:t>Security</a:t>
            </a:r>
            <a:r>
              <a:rPr lang="en" sz="1600"/>
              <a:t>: Some security protocols like IPsec may not work well with NAT.</a:t>
            </a:r>
            <a:endParaRPr sz="3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with NAT</a:t>
            </a:r>
            <a:endParaRPr/>
          </a:p>
        </p:txBody>
      </p:sp>
      <p:sp>
        <p:nvSpPr>
          <p:cNvPr id="233" name="Google Shape;233;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Complications in VoIP and Gaming</a:t>
            </a:r>
            <a:endParaRPr/>
          </a:p>
          <a:p>
            <a:pPr indent="0" lvl="0" marL="0" rtl="0" algn="l">
              <a:spcBef>
                <a:spcPts val="1200"/>
              </a:spcBef>
              <a:spcAft>
                <a:spcPts val="0"/>
              </a:spcAft>
              <a:buClr>
                <a:schemeClr val="dk1"/>
              </a:buClr>
              <a:buSzPts val="1100"/>
              <a:buFont typeface="Arial"/>
              <a:buNone/>
            </a:pPr>
            <a:r>
              <a:rPr b="1" lang="en" sz="1600"/>
              <a:t>Why It's a Problem</a:t>
            </a:r>
            <a:r>
              <a:rPr lang="en" sz="1600"/>
              <a:t>: Both VoIP and gaming often use dynamic port numbers and may require incoming connections to be initiated from the outside world. NAT can interfere with this.</a:t>
            </a:r>
            <a:endParaRPr sz="1600"/>
          </a:p>
          <a:p>
            <a:pPr indent="0" lvl="0" marL="0" rtl="0" algn="l">
              <a:spcBef>
                <a:spcPts val="1200"/>
              </a:spcBef>
              <a:spcAft>
                <a:spcPts val="0"/>
              </a:spcAft>
              <a:buClr>
                <a:schemeClr val="dk1"/>
              </a:buClr>
              <a:buSzPts val="1100"/>
              <a:buFont typeface="Arial"/>
              <a:buNone/>
            </a:pPr>
            <a:r>
              <a:rPr b="1" lang="en" sz="1600"/>
              <a:t>NAT Traversal Techniques</a:t>
            </a:r>
            <a:r>
              <a:rPr lang="en" sz="1600"/>
              <a:t>:</a:t>
            </a:r>
            <a:endParaRPr sz="1600"/>
          </a:p>
          <a:p>
            <a:pPr indent="-330200" lvl="0" marL="457200" rtl="0" algn="l">
              <a:lnSpc>
                <a:spcPct val="115000"/>
              </a:lnSpc>
              <a:spcBef>
                <a:spcPts val="1200"/>
              </a:spcBef>
              <a:spcAft>
                <a:spcPts val="0"/>
              </a:spcAft>
              <a:buClr>
                <a:schemeClr val="dk1"/>
              </a:buClr>
              <a:buSzPts val="1600"/>
              <a:buFont typeface="Arial"/>
              <a:buChar char="●"/>
            </a:pPr>
            <a:r>
              <a:rPr b="1" lang="en" sz="1600"/>
              <a:t>STUN (Session Traversal Utilities for NAT)</a:t>
            </a:r>
            <a:r>
              <a:rPr lang="en" sz="1600"/>
              <a:t>: Allows a client to discover its public IP address.</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TURN (Traversal Using Relays around NAT)</a:t>
            </a:r>
            <a:r>
              <a:rPr lang="en" sz="1600"/>
              <a:t>: Uses a relay to pass traffic through.</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UPnP (Universal Plug and Play)</a:t>
            </a:r>
            <a:r>
              <a:rPr lang="en" sz="1600"/>
              <a:t>: Allows devices to automatically configure port forwarding.</a:t>
            </a:r>
            <a:endParaRPr sz="2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with NAT</a:t>
            </a:r>
            <a:endParaRPr/>
          </a:p>
        </p:txBody>
      </p:sp>
      <p:sp>
        <p:nvSpPr>
          <p:cNvPr id="239" name="Google Shape;239;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Complications in VoIP and Gaming</a:t>
            </a:r>
            <a:endParaRPr/>
          </a:p>
          <a:p>
            <a:pPr indent="0" lvl="0" marL="0" rtl="0" algn="l">
              <a:spcBef>
                <a:spcPts val="1200"/>
              </a:spcBef>
              <a:spcAft>
                <a:spcPts val="0"/>
              </a:spcAft>
              <a:buClr>
                <a:schemeClr val="dk1"/>
              </a:buClr>
              <a:buSzPts val="1100"/>
              <a:buFont typeface="Arial"/>
              <a:buNone/>
            </a:pPr>
            <a:r>
              <a:rPr b="1" lang="en" sz="1700"/>
              <a:t>Examples</a:t>
            </a:r>
            <a:r>
              <a:rPr lang="en" sz="1700"/>
              <a:t>:</a:t>
            </a:r>
            <a:endParaRPr sz="1700"/>
          </a:p>
          <a:p>
            <a:pPr indent="-336550" lvl="0" marL="457200" rtl="0" algn="l">
              <a:lnSpc>
                <a:spcPct val="115000"/>
              </a:lnSpc>
              <a:spcBef>
                <a:spcPts val="1200"/>
              </a:spcBef>
              <a:spcAft>
                <a:spcPts val="0"/>
              </a:spcAft>
              <a:buClr>
                <a:schemeClr val="dk1"/>
              </a:buClr>
              <a:buSzPts val="1700"/>
              <a:buFont typeface="Arial"/>
              <a:buChar char="●"/>
            </a:pPr>
            <a:r>
              <a:rPr b="1" lang="en" sz="1700"/>
              <a:t>VoIP</a:t>
            </a:r>
            <a:r>
              <a:rPr lang="en" sz="1700"/>
              <a:t>: SIP protocol often faces issues with NAT as it embeds IP addresses within the payload, which NAT doesn't usually alter.</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Gaming</a:t>
            </a:r>
            <a:r>
              <a:rPr lang="en" sz="1700"/>
              <a:t>: Multiplayer games often require a range of ports to be open, which can be problematic with NAT.</a:t>
            </a:r>
            <a:endParaRPr sz="3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with NAT</a:t>
            </a:r>
            <a:endParaRPr/>
          </a:p>
        </p:txBody>
      </p:sp>
      <p:sp>
        <p:nvSpPr>
          <p:cNvPr id="245" name="Google Shape;245;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Complications in VoIP and Gaming</a:t>
            </a:r>
            <a:endParaRPr/>
          </a:p>
          <a:p>
            <a:pPr indent="0" lvl="0" marL="0" rtl="0" algn="l">
              <a:lnSpc>
                <a:spcPct val="115000"/>
              </a:lnSpc>
              <a:spcBef>
                <a:spcPts val="1200"/>
              </a:spcBef>
              <a:spcAft>
                <a:spcPts val="0"/>
              </a:spcAft>
              <a:buClr>
                <a:schemeClr val="dk1"/>
              </a:buClr>
              <a:buSzPts val="1100"/>
              <a:buFont typeface="Arial"/>
              <a:buNone/>
            </a:pPr>
            <a:r>
              <a:rPr b="1" lang="en" sz="1700"/>
              <a:t>Workarounds</a:t>
            </a:r>
            <a:r>
              <a:rPr lang="en" sz="1700"/>
              <a:t>:</a:t>
            </a:r>
            <a:endParaRPr sz="1700"/>
          </a:p>
          <a:p>
            <a:pPr indent="-336550" lvl="0" marL="457200" rtl="0" algn="l">
              <a:lnSpc>
                <a:spcPct val="115000"/>
              </a:lnSpc>
              <a:spcBef>
                <a:spcPts val="1200"/>
              </a:spcBef>
              <a:spcAft>
                <a:spcPts val="0"/>
              </a:spcAft>
              <a:buClr>
                <a:schemeClr val="dk1"/>
              </a:buClr>
              <a:buSzPts val="1700"/>
              <a:buFont typeface="Arial"/>
              <a:buChar char="●"/>
            </a:pPr>
            <a:r>
              <a:rPr b="1" lang="en" sz="1700"/>
              <a:t>Port Forwarding</a:t>
            </a:r>
            <a:r>
              <a:rPr lang="en" sz="1700"/>
              <a:t>: Manually configure your NAT device to forward certain ports.</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DMZ (Demilitarized Zone)</a:t>
            </a:r>
            <a:r>
              <a:rPr lang="en" sz="1700"/>
              <a:t>: Place the affected device in a DMZ, effectively bypassing the NAT for that device (not recommended for security reasons)</a:t>
            </a:r>
            <a:endParaRPr sz="3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Tables and Chains</a:t>
            </a:r>
            <a:endParaRPr/>
          </a:p>
        </p:txBody>
      </p:sp>
      <p:sp>
        <p:nvSpPr>
          <p:cNvPr id="251" name="Google Shape;251;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00"/>
              <a:t>NAT Table</a:t>
            </a:r>
            <a:endParaRPr b="1" sz="1800"/>
          </a:p>
          <a:p>
            <a:pPr indent="-342900" lvl="0" marL="457200" rtl="0" algn="l">
              <a:lnSpc>
                <a:spcPct val="115000"/>
              </a:lnSpc>
              <a:spcBef>
                <a:spcPts val="200"/>
              </a:spcBef>
              <a:spcAft>
                <a:spcPts val="0"/>
              </a:spcAft>
              <a:buClr>
                <a:schemeClr val="dk1"/>
              </a:buClr>
              <a:buSzPts val="1800"/>
              <a:buFont typeface="Arial"/>
              <a:buChar char="●"/>
            </a:pPr>
            <a:r>
              <a:rPr b="1" lang="en" sz="1800"/>
              <a:t>Purpose</a:t>
            </a:r>
            <a:r>
              <a:rPr lang="en" sz="1800"/>
              <a:t>: Primarily used for Network Address Translation (NAT).</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Chains</a:t>
            </a:r>
            <a:r>
              <a:rPr lang="en" sz="1800"/>
              <a:t>:</a:t>
            </a:r>
            <a:endParaRPr sz="1800"/>
          </a:p>
          <a:p>
            <a:pPr indent="-342900" lvl="1" marL="914400" rtl="0" algn="l">
              <a:lnSpc>
                <a:spcPct val="115000"/>
              </a:lnSpc>
              <a:spcBef>
                <a:spcPts val="0"/>
              </a:spcBef>
              <a:spcAft>
                <a:spcPts val="0"/>
              </a:spcAft>
              <a:buClr>
                <a:schemeClr val="dk1"/>
              </a:buClr>
              <a:buSzPts val="1800"/>
              <a:buFont typeface="Arial"/>
              <a:buChar char="○"/>
            </a:pPr>
            <a:r>
              <a:rPr b="1" lang="en" sz="1800"/>
              <a:t>PREROUTING</a:t>
            </a:r>
            <a:r>
              <a:rPr lang="en" sz="1800"/>
              <a:t>: Handles incoming packets and performs Destination NAT.</a:t>
            </a:r>
            <a:endParaRPr sz="1800"/>
          </a:p>
          <a:p>
            <a:pPr indent="-342900" lvl="1" marL="914400" rtl="0" algn="l">
              <a:lnSpc>
                <a:spcPct val="115000"/>
              </a:lnSpc>
              <a:spcBef>
                <a:spcPts val="0"/>
              </a:spcBef>
              <a:spcAft>
                <a:spcPts val="0"/>
              </a:spcAft>
              <a:buClr>
                <a:schemeClr val="dk1"/>
              </a:buClr>
              <a:buSzPts val="1800"/>
              <a:buFont typeface="Arial"/>
              <a:buChar char="○"/>
            </a:pPr>
            <a:r>
              <a:rPr b="1" lang="en" sz="1800"/>
              <a:t>POSTROUTING</a:t>
            </a:r>
            <a:r>
              <a:rPr lang="en" sz="1800"/>
              <a:t>: Handles outgoing packets and performs Source NAT.</a:t>
            </a:r>
            <a:endParaRPr sz="27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Tables and Chains</a:t>
            </a:r>
            <a:endParaRPr/>
          </a:p>
        </p:txBody>
      </p:sp>
      <p:sp>
        <p:nvSpPr>
          <p:cNvPr id="257" name="Google Shape;257;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900"/>
              <a:t>Filter Table (Revisited)</a:t>
            </a:r>
            <a:endParaRPr b="1" sz="1900"/>
          </a:p>
          <a:p>
            <a:pPr indent="-349250" lvl="0" marL="457200" rtl="0" algn="l">
              <a:lnSpc>
                <a:spcPct val="115000"/>
              </a:lnSpc>
              <a:spcBef>
                <a:spcPts val="200"/>
              </a:spcBef>
              <a:spcAft>
                <a:spcPts val="0"/>
              </a:spcAft>
              <a:buClr>
                <a:schemeClr val="dk1"/>
              </a:buClr>
              <a:buSzPts val="1900"/>
              <a:buFont typeface="Arial"/>
              <a:buChar char="●"/>
            </a:pPr>
            <a:r>
              <a:rPr b="1" lang="en" sz="1900"/>
              <a:t>Purpose</a:t>
            </a:r>
            <a:r>
              <a:rPr lang="en" sz="1900"/>
              <a:t>: Used for basic packet filtering.</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Chains</a:t>
            </a:r>
            <a:r>
              <a:rPr lang="en" sz="1900"/>
              <a:t>:</a:t>
            </a:r>
            <a:endParaRPr sz="1900"/>
          </a:p>
          <a:p>
            <a:pPr indent="-349250" lvl="1" marL="914400" rtl="0" algn="l">
              <a:lnSpc>
                <a:spcPct val="115000"/>
              </a:lnSpc>
              <a:spcBef>
                <a:spcPts val="0"/>
              </a:spcBef>
              <a:spcAft>
                <a:spcPts val="0"/>
              </a:spcAft>
              <a:buClr>
                <a:schemeClr val="dk1"/>
              </a:buClr>
              <a:buSzPts val="1900"/>
              <a:buFont typeface="Arial"/>
              <a:buChar char="○"/>
            </a:pPr>
            <a:r>
              <a:rPr b="1" lang="en" sz="1900"/>
              <a:t>INPUT</a:t>
            </a:r>
            <a:r>
              <a:rPr lang="en" sz="1900"/>
              <a:t>: Deals with incoming packets destined for the system itself.</a:t>
            </a:r>
            <a:endParaRPr sz="1900"/>
          </a:p>
          <a:p>
            <a:pPr indent="-349250" lvl="1" marL="914400" rtl="0" algn="l">
              <a:lnSpc>
                <a:spcPct val="115000"/>
              </a:lnSpc>
              <a:spcBef>
                <a:spcPts val="0"/>
              </a:spcBef>
              <a:spcAft>
                <a:spcPts val="0"/>
              </a:spcAft>
              <a:buClr>
                <a:schemeClr val="dk1"/>
              </a:buClr>
              <a:buSzPts val="1900"/>
              <a:buFont typeface="Arial"/>
              <a:buChar char="○"/>
            </a:pPr>
            <a:r>
              <a:rPr b="1" lang="en" sz="1900"/>
              <a:t>FORWARD</a:t>
            </a:r>
            <a:r>
              <a:rPr lang="en" sz="1900"/>
              <a:t>: Handles packets being routed through the system.</a:t>
            </a:r>
            <a:endParaRPr sz="1900"/>
          </a:p>
          <a:p>
            <a:pPr indent="-349250" lvl="1" marL="914400" rtl="0" algn="l">
              <a:lnSpc>
                <a:spcPct val="115000"/>
              </a:lnSpc>
              <a:spcBef>
                <a:spcPts val="0"/>
              </a:spcBef>
              <a:spcAft>
                <a:spcPts val="0"/>
              </a:spcAft>
              <a:buClr>
                <a:schemeClr val="dk1"/>
              </a:buClr>
              <a:buSzPts val="1900"/>
              <a:buFont typeface="Arial"/>
              <a:buChar char="○"/>
            </a:pPr>
            <a:r>
              <a:rPr b="1" lang="en" sz="1900"/>
              <a:t>OUTPUT</a:t>
            </a:r>
            <a:r>
              <a:rPr lang="en" sz="1900"/>
              <a:t>: Manages outgoing packets originating from the system.</a:t>
            </a:r>
            <a:endParaRPr sz="2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Takeaways</a:t>
            </a:r>
            <a:endParaRPr/>
          </a:p>
        </p:txBody>
      </p:sp>
      <p:sp>
        <p:nvSpPr>
          <p:cNvPr id="263" name="Google Shape;263;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NAT Table</a:t>
            </a:r>
            <a:r>
              <a:rPr lang="en" sz="1900"/>
              <a:t>: Essential for translating network addresses, both source and destination.</a:t>
            </a:r>
            <a:endParaRPr sz="1900"/>
          </a:p>
          <a:p>
            <a:pPr indent="0" lvl="0" marL="0" rtl="0" algn="l">
              <a:spcBef>
                <a:spcPts val="1200"/>
              </a:spcBef>
              <a:spcAft>
                <a:spcPts val="1200"/>
              </a:spcAft>
              <a:buNone/>
            </a:pPr>
            <a:r>
              <a:rPr b="1" lang="en" sz="1900"/>
              <a:t>Filter Table</a:t>
            </a:r>
            <a:r>
              <a:rPr lang="en" sz="1900"/>
              <a:t>: The workhorse for packet filtering, used in most basic setups.</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