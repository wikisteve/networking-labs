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source deck: NAT met PAT.pptx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source deck: NAT met PAT.pptx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source deck image adapted from NAT met PAT.pptx
- nftables wiki, Netfilter hooks, https://wiki.nftables.org/wiki-nftables/index.php/Netfilter_hooks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source deck: NAT met PAT.pptx
- Debian Handbook, Packet Filtering with nftables, https://www.debian.org/doc/manuals/debian-handbook/sect.firewall-packet-filtering.el.html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source deck image adapted from NAT met PAT.pptx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source deck: NAT met PAT.pptx
- nftables wiki, Netfilter hooks, https://wiki.nftables.org/wiki-nftables/index.php/Netfilter_hooks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source deck: NAT met PAT.pptx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Debian Handbook, Packet Filtering with nftables, https://www.debian.org/doc/manuals/debian-handbook/sect.firewall-packet-filtering.el.html
- nftables wiki, Main differences with iptables, https://wiki.nftables.org/wiki-nftables/index.php/Main_differences_with_iptables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Recommendation based on the user-provided deck and repo style; no external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Recommendation based on the user-provided deck and lab rewrite goals.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source deck: NAT met PAT.pptx
- Debian Handbook, Packet Filtering with nftables, https://www.debian.org/doc/manuals/debian-handbook/sect.firewall-packet-filtering.el.html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078992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 and PAT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58368" y="1810512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F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one clean address story every time.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" y="6236208"/>
            <a:ext cx="12042648" cy="585216"/>
          </a:xfrm>
          <a:prstGeom prst="rect">
            <a:avLst/>
          </a:prstGeom>
          <a:solidFill>
            <a:srgbClr val="00FDC8"/>
          </a:solidFill>
          <a:ln w="12700">
            <a:solidFill>
              <a:srgbClr val="00FD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6400800"/>
            <a:ext cx="7955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10.0.0.1 inside, 150.150.0.1 translated, and 200.100.10.1 outside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1430000" y="647395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NAT and PAT still matter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30352" y="877824"/>
            <a:ext cx="11109960" cy="0"/>
          </a:xfrm>
          <a:prstGeom prst="line">
            <a:avLst/>
          </a:prstGeom>
          <a:noFill/>
          <a:ln w="16510">
            <a:solidFill>
              <a:srgbClr val="00FD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1234440"/>
            <a:ext cx="512064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41300" indent="-241300">
              <a:buSzPct val="100000"/>
              <a:buChar char="•"/>
            </a:pPr>
            <a:r>
              <a:rPr lang="en-US" sz="19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you follow a packet, keep three addresses straight: inside, translated, and outside.</a:t>
            </a:r>
            <a:endParaRPr lang="en-US" sz="1900" dirty="0"/>
          </a:p>
          <a:p>
            <a:pPr marL="241300" indent="-241300">
              <a:buSzPct val="100000"/>
              <a:buChar char="•"/>
            </a:pPr>
            <a:r>
              <a:rPr lang="en-US" sz="19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10.0.0.1 leaves the private network, NAT can present it as 150.150.0.1.</a:t>
            </a:r>
            <a:endParaRPr lang="en-US" sz="1900" dirty="0"/>
          </a:p>
          <a:p>
            <a:pPr marL="241300" indent="-241300">
              <a:buSzPct val="100000"/>
              <a:buChar char="•"/>
            </a:pPr>
            <a:r>
              <a:rPr lang="en-US" sz="19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outside server still sees the conversation as happening with 150.150.0.1.</a:t>
            </a:r>
            <a:endParaRPr lang="en-US" sz="1900" dirty="0"/>
          </a:p>
          <a:p>
            <a:pPr marL="241300" indent="-241300">
              <a:buSzPct val="100000"/>
              <a:buChar char="•"/>
            </a:pPr>
            <a:r>
              <a:rPr lang="en-US" sz="19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story did not change. Only the ruleset language did.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720840" y="135331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goal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20840" y="1627632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translation, filtering, and state so you can explain the packet before you explain the rule.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20840" y="2743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mental model. Update the commands.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720840" y="340156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F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gives you cleaner labs without changing the network story.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packet path, new ruleset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30352" y="877824"/>
            <a:ext cx="11109960" cy="0"/>
          </a:xfrm>
          <a:prstGeom prst="line">
            <a:avLst/>
          </a:prstGeom>
          <a:noFill/>
          <a:ln w="16510">
            <a:solidFill>
              <a:srgbClr val="00FD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1234440"/>
            <a:ext cx="4617720" cy="4343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34950" indent="-234950">
              <a:buSzPct val="100000"/>
              <a:buChar char="•"/>
            </a:pPr>
            <a:r>
              <a:rPr lang="en-US" sz="18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look at a packet headed for 200.100.10.1, ask what the source address looks like before and after NAT.</a:t>
            </a:r>
            <a:endParaRPr lang="en-US" sz="1850" dirty="0"/>
          </a:p>
          <a:p>
            <a:pPr marL="234950" indent="-234950">
              <a:buSzPct val="100000"/>
              <a:buChar char="•"/>
            </a:pPr>
            <a:r>
              <a:rPr lang="en-US" sz="18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 translation still matters before the routing decision.</a:t>
            </a:r>
            <a:endParaRPr lang="en-US" sz="1850" dirty="0"/>
          </a:p>
          <a:p>
            <a:pPr marL="234950" indent="-234950">
              <a:buSzPct val="100000"/>
              <a:buChar char="•"/>
            </a:pPr>
            <a:r>
              <a:rPr lang="en-US" sz="18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translation still matters after the routing decision.</a:t>
            </a:r>
            <a:endParaRPr lang="en-US" sz="1850" dirty="0"/>
          </a:p>
          <a:p>
            <a:pPr marL="234950" indent="-234950">
              <a:buSzPct val="100000"/>
              <a:buChar char="•"/>
            </a:pPr>
            <a:r>
              <a:rPr lang="en-US" sz="18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and NAT are separate concerns, even when one device does both.</a:t>
            </a:r>
            <a:endParaRPr lang="en-US" sz="1850" dirty="0"/>
          </a:p>
        </p:txBody>
      </p:sp>
      <p:pic>
        <p:nvPicPr>
          <p:cNvPr id="6" name="Image 0" descr="/mnt/data/f02a9403-6cad-4741-a999-42585547328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2115432"/>
            <a:ext cx="5897880" cy="275515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87568" y="572414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F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example with fixed inside, translated, and outside addresses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NAT, SNAT, and masquerade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30352" y="877824"/>
            <a:ext cx="11109960" cy="0"/>
          </a:xfrm>
          <a:prstGeom prst="line">
            <a:avLst/>
          </a:prstGeom>
          <a:noFill/>
          <a:ln w="16510">
            <a:solidFill>
              <a:srgbClr val="00FD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1234440"/>
            <a:ext cx="475488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34950" indent="-234950">
              <a:buSzPct val="100000"/>
              <a:buChar char="•"/>
            </a:pPr>
            <a:r>
              <a:rPr lang="en-US" sz="18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example when you explain source NAT: 10.0.0.1 becomes 150.150.0.1 on the way to 200.100.10.1.</a:t>
            </a:r>
            <a:endParaRPr lang="en-US" sz="1850" dirty="0"/>
          </a:p>
          <a:p>
            <a:pPr marL="234950" indent="-234950">
              <a:buSzPct val="100000"/>
              <a:buChar char="•"/>
            </a:pPr>
            <a:r>
              <a:rPr lang="en-US" sz="18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SNAT when the translated address is fixed and known.</a:t>
            </a:r>
            <a:endParaRPr lang="en-US" sz="1850" dirty="0"/>
          </a:p>
          <a:p>
            <a:pPr marL="234950" indent="-234950">
              <a:buSzPct val="100000"/>
              <a:buChar char="•"/>
            </a:pPr>
            <a:r>
              <a:rPr lang="en-US" sz="18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translation in a nat table and policy in a filter or inet table.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5623560" y="1417320"/>
            <a:ext cx="5669280" cy="2194560"/>
          </a:xfrm>
          <a:prstGeom prst="rect">
            <a:avLst/>
          </a:prstGeom>
          <a:solidFill>
            <a:srgbClr val="ECF2F1"/>
          </a:solidFill>
          <a:ln w="8890">
            <a:solidFill>
              <a:srgbClr val="C8D6D3"/>
            </a:solidFill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 ip nat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chain postrouting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 nat hook postrouting priority srcnat;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ip saddr 10.0.0.0/24 oifname "outside" snat to 150.150.0.1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45262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notice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4791456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source address change. The host is still 10.0.0.1 inside, but the outside world sees 150.150.0.1.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PAT, what actually changes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30352" y="877824"/>
            <a:ext cx="11109960" cy="0"/>
          </a:xfrm>
          <a:prstGeom prst="line">
            <a:avLst/>
          </a:prstGeom>
          <a:noFill/>
          <a:ln w="16510">
            <a:solidFill>
              <a:srgbClr val="00FD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1234440"/>
            <a:ext cx="452628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31140" indent="-231140">
              <a:buSzPct val="100000"/>
              <a:buChar char="•"/>
            </a:pPr>
            <a:r>
              <a:rPr lang="en-US" sz="182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 is still address translation plus port translation.</a:t>
            </a:r>
            <a:endParaRPr lang="en-US" sz="1820" dirty="0"/>
          </a:p>
          <a:p>
            <a:pPr marL="231140" indent="-231140">
              <a:buSzPct val="100000"/>
              <a:buChar char="•"/>
            </a:pPr>
            <a:r>
              <a:rPr lang="en-US" sz="182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it as a tuple: 10.0.0.1:high-port becomes 150.150.0.1:translated-port on the way to 200.100.10.1:80.</a:t>
            </a:r>
            <a:endParaRPr lang="en-US" sz="1820" dirty="0"/>
          </a:p>
          <a:p>
            <a:pPr marL="231140" indent="-231140">
              <a:buSzPct val="100000"/>
              <a:buChar char="•"/>
            </a:pPr>
            <a:r>
              <a:rPr lang="en-US" sz="182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Conntrack keeps flows unique by tracking tuples, not just a single IP.</a:t>
            </a:r>
            <a:endParaRPr lang="en-US" sz="1820" dirty="0"/>
          </a:p>
          <a:p>
            <a:pPr marL="231140" indent="-231140">
              <a:buSzPct val="100000"/>
              <a:buChar char="•"/>
            </a:pPr>
            <a:r>
              <a:rPr lang="en-US" sz="182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public IP can represent many inside sessions at once.</a:t>
            </a:r>
            <a:endParaRPr lang="en-US" sz="1820" dirty="0"/>
          </a:p>
        </p:txBody>
      </p:sp>
      <p:pic>
        <p:nvPicPr>
          <p:cNvPr id="6" name="Image 0" descr="/mnt/data/pat_diagram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8112" y="2036259"/>
            <a:ext cx="5897880" cy="30598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DNAT and port publishing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30352" y="877824"/>
            <a:ext cx="11109960" cy="0"/>
          </a:xfrm>
          <a:prstGeom prst="line">
            <a:avLst/>
          </a:prstGeom>
          <a:noFill/>
          <a:ln w="16510">
            <a:solidFill>
              <a:srgbClr val="00FD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1234440"/>
            <a:ext cx="470916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34950" indent="-234950">
              <a:buSzPct val="100000"/>
              <a:buChar char="•"/>
            </a:pPr>
            <a:r>
              <a:rPr lang="en-US" sz="18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example when you publish an inside service: traffic aimed at 150.150.0.1:80 is redirected to 10.0.0.1:80.</a:t>
            </a:r>
            <a:endParaRPr lang="en-US" sz="1850" dirty="0"/>
          </a:p>
          <a:p>
            <a:pPr marL="234950" indent="-234950">
              <a:buSzPct val="100000"/>
              <a:buChar char="•"/>
            </a:pPr>
            <a:r>
              <a:rPr lang="en-US" sz="18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 translation happens before the packet is routed onward.</a:t>
            </a:r>
            <a:endParaRPr lang="en-US" sz="1850" dirty="0"/>
          </a:p>
          <a:p>
            <a:pPr marL="234950" indent="-234950">
              <a:buSzPct val="100000"/>
              <a:buChar char="•"/>
            </a:pPr>
            <a:r>
              <a:rPr lang="en-US" sz="18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Publishing a service needs both the DNAT rule and the matching forward policy.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5486400" y="1207008"/>
            <a:ext cx="5852160" cy="3383280"/>
          </a:xfrm>
          <a:prstGeom prst="rect">
            <a:avLst/>
          </a:prstGeom>
          <a:solidFill>
            <a:srgbClr val="ECF2F1"/>
          </a:solidFill>
          <a:ln w="8890">
            <a:solidFill>
              <a:srgbClr val="C8D6D3"/>
            </a:solidFill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 ip nat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chain prerouting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 nat hook prerouting priority dstnat;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iifname "outside" ip daddr 150.150.0.1 tcp dport 80 dnat to 10.0.0.1:80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 inet fw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chain forward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 filter hook forward priority 0;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policy drop;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ct state established,related accept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iifname "outside" oifname "inside" ip daddr 10.0.0.1 tcp dport 80 accept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510235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4F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public address and the inside address visible together, or the example gets muddy fast.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Stateful filtering with conntrack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30352" y="877824"/>
            <a:ext cx="11109960" cy="0"/>
          </a:xfrm>
          <a:prstGeom prst="line">
            <a:avLst/>
          </a:prstGeom>
          <a:noFill/>
          <a:ln w="16510">
            <a:solidFill>
              <a:srgbClr val="00FD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1234440"/>
            <a:ext cx="475488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34950" indent="-234950">
              <a:buSzPct val="100000"/>
              <a:buChar char="•"/>
            </a:pPr>
            <a:r>
              <a:rPr lang="en-US" sz="18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flows are where your explicit policy matters.</a:t>
            </a:r>
            <a:endParaRPr lang="en-US" sz="1850" dirty="0"/>
          </a:p>
          <a:p>
            <a:pPr marL="234950" indent="-234950">
              <a:buSzPct val="100000"/>
              <a:buChar char="•"/>
            </a:pPr>
            <a:r>
              <a:rPr lang="en-US" sz="18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traffic is usually admitted with established,related state.</a:t>
            </a:r>
            <a:endParaRPr lang="en-US" sz="1850" dirty="0"/>
          </a:p>
          <a:p>
            <a:pPr marL="234950" indent="-234950">
              <a:buSzPct val="100000"/>
              <a:buChar char="•"/>
            </a:pPr>
            <a:r>
              <a:rPr lang="en-US" sz="18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10.0.0.1 talks to 200.100.10.1 through 150.150.0.1, conntrack is what keeps the return traffic sane.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5541264" y="1280160"/>
            <a:ext cx="5715000" cy="3063240"/>
          </a:xfrm>
          <a:prstGeom prst="rect">
            <a:avLst/>
          </a:prstGeom>
          <a:solidFill>
            <a:srgbClr val="ECF2F1"/>
          </a:solidFill>
          <a:ln w="8890">
            <a:solidFill>
              <a:srgbClr val="C8D6D3"/>
            </a:solidFill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 inet fw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chain forward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 filter hook forward priority 0;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policy drop;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ct state established,related accept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ip saddr 10.0.0.0/24 ip daddr 200.100.10.1 tcp dport { 80, 443 } accept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ip saddr 10.0.0.0/24 ip daddr 200.100.10.1 udp dport 53 accept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449884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test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47548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counters or a before-and-after test to prove the stateful rule. Do not trust the config just because it loaded.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old, teach the new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30352" y="877824"/>
            <a:ext cx="11109960" cy="0"/>
          </a:xfrm>
          <a:prstGeom prst="line">
            <a:avLst/>
          </a:prstGeom>
          <a:noFill/>
          <a:ln w="16510">
            <a:solidFill>
              <a:srgbClr val="00FD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3232" y="117043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iptables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199632" y="117043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nftables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" y="1463040"/>
            <a:ext cx="4983480" cy="1463040"/>
          </a:xfrm>
          <a:prstGeom prst="rect">
            <a:avLst/>
          </a:prstGeom>
          <a:solidFill>
            <a:srgbClr val="ECF2F1"/>
          </a:solidFill>
          <a:ln w="8890">
            <a:solidFill>
              <a:srgbClr val="C8D6D3"/>
            </a:solidFill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iptables -t nat -A POSTROUTING \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-o eth1 -s 10.81.100.0/24 \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-j MASQUERADE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53328" y="1481328"/>
            <a:ext cx="5440680" cy="1664208"/>
          </a:xfrm>
          <a:prstGeom prst="rect">
            <a:avLst/>
          </a:prstGeom>
          <a:solidFill>
            <a:srgbClr val="ECF2F1"/>
          </a:solidFill>
          <a:ln w="8890">
            <a:solidFill>
              <a:srgbClr val="C8D6D3"/>
            </a:solidFill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 ip nat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chain postrouting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 nat hook postrouting priority srcnat;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ip saddr 10.0.0.0/24 snat to 150.150.0.1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9808" y="3840480"/>
            <a:ext cx="1033272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job, cleaner grammar.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same inside, translated, and outside addresses in every example so the syntax does not hide the packet story.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iptables in the course as a legacy reading skill, not the main language.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Containerlab-friendly lab pattern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30352" y="877824"/>
            <a:ext cx="11109960" cy="0"/>
          </a:xfrm>
          <a:prstGeom prst="line">
            <a:avLst/>
          </a:prstGeom>
          <a:noFill/>
          <a:ln w="16510">
            <a:solidFill>
              <a:srgbClr val="00FD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49808" y="118872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Topology skeleton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444752"/>
            <a:ext cx="3977640" cy="3017520"/>
          </a:xfrm>
          <a:prstGeom prst="rect">
            <a:avLst/>
          </a:prstGeom>
          <a:solidFill>
            <a:srgbClr val="ECF2F1"/>
          </a:solidFill>
          <a:ln w="8890">
            <a:solidFill>
              <a:srgbClr val="C8D6D3"/>
            </a:solidFill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[inside1]   [inside2]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\         /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\       /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 fw1 ]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  |  \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[dmzweb]  |  [outside]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|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capture / tests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212080" y="1417320"/>
            <a:ext cx="5669280" cy="3154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one simple example path first: 10.0.0.1 to 200.100.10.1 through translated address 150.150.0.1.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the labs into host firewall, transit firewall, and NAT or publishing.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the screenshot prompt beside the command that produces the evidence.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475488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lab order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5010912"/>
            <a:ext cx="102412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2250" indent="-222250">
              <a:buSzPct val="100000"/>
              <a:buChar char="•"/>
            </a:pPr>
            <a:r>
              <a:rPr lang="en-US" sz="17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firewall rules on a single endpoint.</a:t>
            </a:r>
            <a:endParaRPr lang="en-US" sz="1750" dirty="0"/>
          </a:p>
          <a:p>
            <a:pPr marL="222250" indent="-222250">
              <a:buSzPct val="100000"/>
              <a:buChar char="•"/>
            </a:pPr>
            <a:r>
              <a:rPr lang="en-US" sz="17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 policy on fw1 using forward.</a:t>
            </a:r>
            <a:endParaRPr lang="en-US" sz="1750" dirty="0"/>
          </a:p>
          <a:p>
            <a:pPr marL="222250" indent="-222250">
              <a:buSzPct val="100000"/>
              <a:buChar char="•"/>
            </a:pPr>
            <a:r>
              <a:rPr lang="en-US" sz="17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 and port publishing after you can explain inside, translated, and outside addresses cleanly.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 to kill in the rewrite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30352" y="877824"/>
            <a:ext cx="11109960" cy="0"/>
          </a:xfrm>
          <a:prstGeom prst="line">
            <a:avLst/>
          </a:prstGeom>
          <a:noFill/>
          <a:ln w="16510">
            <a:solidFill>
              <a:srgbClr val="00FD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07040" cy="4069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18440" indent="-218440">
              <a:buSzPct val="100000"/>
              <a:buChar char="•"/>
            </a:pPr>
            <a:r>
              <a:rPr lang="en-US" sz="172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Mixing host output rules with router forward rules in the same exercise.</a:t>
            </a:r>
            <a:endParaRPr lang="en-US" sz="1720" dirty="0"/>
          </a:p>
          <a:p>
            <a:pPr marL="218440" indent="-218440">
              <a:buSzPct val="100000"/>
              <a:buChar char="•"/>
            </a:pPr>
            <a:r>
              <a:rPr lang="en-US" sz="172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Losing track of which address is inside, which is translated, and which belongs to the outside server.</a:t>
            </a:r>
            <a:endParaRPr lang="en-US" sz="1720" dirty="0"/>
          </a:p>
          <a:p>
            <a:pPr marL="218440" indent="-218440">
              <a:buSzPct val="100000"/>
              <a:buChar char="•"/>
            </a:pPr>
            <a:r>
              <a:rPr lang="en-US" sz="172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NAT and filtering as if they are one table or one idea.</a:t>
            </a:r>
            <a:endParaRPr lang="en-US" sz="1720" dirty="0"/>
          </a:p>
          <a:p>
            <a:pPr marL="218440" indent="-218440">
              <a:buSzPct val="100000"/>
              <a:buChar char="•"/>
            </a:pPr>
            <a:r>
              <a:rPr lang="en-US" sz="172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Publishing a service without the matching forward rule.</a:t>
            </a:r>
            <a:endParaRPr lang="en-US" sz="1720" dirty="0"/>
          </a:p>
          <a:p>
            <a:pPr marL="218440" indent="-218440">
              <a:buSzPct val="100000"/>
              <a:buChar char="•"/>
            </a:pPr>
            <a:r>
              <a:rPr lang="en-US" sz="172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Leaving required screenshots until the end of the lab.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749808" y="577900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deck should remove ambiguity, not just update syntax.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60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49808" y="1828800"/>
            <a:ext cx="731520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packet path and the address story.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nftables as the main language.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iptables only as a legacy reading skill.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labs around evidence, not platform trivia.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" y="6163056"/>
            <a:ext cx="11996928" cy="530352"/>
          </a:xfrm>
          <a:prstGeom prst="rect">
            <a:avLst/>
          </a:prstGeom>
          <a:solidFill>
            <a:srgbClr val="00FDC8"/>
          </a:solidFill>
          <a:ln w="12700">
            <a:solidFill>
              <a:srgbClr val="00FD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6336792"/>
            <a:ext cx="10332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next move: rebuild the NAT lab first, using 10.0.0.1, 150.150.0.1, and 200.100.10.1 all the way through.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1430000" y="647395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 and PAT, modernized for nftables</dc:title>
  <dc:subject>Modernized NAT/PAT deck</dc:subject>
  <dc:creator>OpenAI</dc:creator>
  <cp:lastModifiedBy>OpenAI</cp:lastModifiedBy>
  <cp:revision>1</cp:revision>
  <dcterms:created xsi:type="dcterms:W3CDTF">2026-03-17T18:14:21Z</dcterms:created>
  <dcterms:modified xsi:type="dcterms:W3CDTF">2026-03-17T18:14:21Z</dcterms:modified>
</cp:coreProperties>
</file>