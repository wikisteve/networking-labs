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Amatic SC"/>
      <p:regular r:id="rId49"/>
      <p:bold r:id="rId50"/>
    </p:embeddedFont>
    <p:embeddedFont>
      <p:font typeface="Source Code Pr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AmaticSC-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SourceCodePro-regular.fntdata"/><Relationship Id="rId50" Type="http://schemas.openxmlformats.org/officeDocument/2006/relationships/font" Target="fonts/AmaticSC-bold.fntdata"/><Relationship Id="rId53" Type="http://schemas.openxmlformats.org/officeDocument/2006/relationships/font" Target="fonts/SourceCodePro-italic.fntdata"/><Relationship Id="rId52" Type="http://schemas.openxmlformats.org/officeDocument/2006/relationships/font" Target="fonts/SourceCodePro-bold.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SourceCodePr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b2c5b71c3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b2c5b71c3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b2c5b71c3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b2c5b71c3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b2c5b71c3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b2c5b71c3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b2c5b71c3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b2c5b71c3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b2c5b71c3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b2c5b71c3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b2c5b71c3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b2c5b71c3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b2c5b71c3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b2c5b71c3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b2c5b71c31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b2c5b71c31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b2c5b71c3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b2c5b71c3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b2c5b71c31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b2c5b71c31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b2c5b71c3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b2c5b71c3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b2c5b71c3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b2c5b71c3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b2c5b71c31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b2c5b71c31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b2c5b71c31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b2c5b71c31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b2c5b71c3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b2c5b71c3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ef9c63f32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ef9c63f32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ef9c63f32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ef9c63f32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ef9c63f32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ef9c63f32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ef9c63f3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ef9c63f3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f9c63f32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ef9c63f32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ef9c63f32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ef9c63f32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ef9c63f32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ef9c63f32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ef9c63f32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ef9c63f32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ef9c63f32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ef9c63f32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ef9c63f32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ef9c63f32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ef9c63f325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ef9c63f32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ef9c63f32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ef9c63f32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ef9c63f32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ef9c63f32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ef9c63f325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ef9c63f325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ef9c63f325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ef9c63f32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ef9c63f32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ef9c63f32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ef9c63f325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ef9c63f32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ef9c63f32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ef9c63f32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ef9c63f32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ef9c63f32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ef9c63f32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ef9c63f32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ef9c63f32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ef9c63f32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ef9c63f32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ef9c63f32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ef9c63f32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ef9c63f32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ef9c63f325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ef9c63f325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ef9c63f325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ef9c63f325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ef9c63f325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ef9c63f325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ef9c63f325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ef9c63f325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en.wikipedia.org/wiki/Network-attached_storage#/media/File:NAS_server.png"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en.wikipedia.org/wiki/Network-attached_storage#/media/File:SANvsNAS.svg"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core.vmware.com/resource/basics-remote-direct-memory-access-rdma-vsphere#section2" TargetMode="Externa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core.vmware.com/resource/basics-remote-direct-memory-access-rdma-vsphere#section2" TargetMode="Externa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NAS Systems and File Servers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Where Data Lives Cozy and Connected!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NAS?</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A specialized storage device connected to a network.</a:t>
            </a:r>
            <a:endParaRPr/>
          </a:p>
          <a:p>
            <a:pPr indent="-298450" lvl="0" marL="457200" rtl="0" algn="l">
              <a:lnSpc>
                <a:spcPct val="115000"/>
              </a:lnSpc>
              <a:spcBef>
                <a:spcPts val="0"/>
              </a:spcBef>
              <a:spcAft>
                <a:spcPts val="0"/>
              </a:spcAft>
              <a:buClr>
                <a:schemeClr val="dk1"/>
              </a:buClr>
              <a:buSzPts val="1100"/>
              <a:buFont typeface="Arial"/>
              <a:buChar char="●"/>
            </a:pPr>
            <a:r>
              <a:rPr lang="en"/>
              <a:t>Provides centralized, consolidated disk storage.</a:t>
            </a:r>
            <a:endParaRPr/>
          </a:p>
          <a:p>
            <a:pPr indent="-298450" lvl="0" marL="457200" rtl="0" algn="l">
              <a:lnSpc>
                <a:spcPct val="115000"/>
              </a:lnSpc>
              <a:spcBef>
                <a:spcPts val="0"/>
              </a:spcBef>
              <a:spcAft>
                <a:spcPts val="0"/>
              </a:spcAft>
              <a:buClr>
                <a:schemeClr val="dk1"/>
              </a:buClr>
              <a:buSzPts val="1100"/>
              <a:buFont typeface="Arial"/>
              <a:buChar char="●"/>
            </a:pPr>
            <a:r>
              <a:rPr lang="en"/>
              <a:t>Accessible by multiple clients across different operating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NAS?</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t>Source</a:t>
            </a:r>
            <a:endParaRPr/>
          </a:p>
          <a:p>
            <a:pPr indent="0" lvl="0" marL="0" rtl="0" algn="l">
              <a:lnSpc>
                <a:spcPct val="115000"/>
              </a:lnSpc>
              <a:spcBef>
                <a:spcPts val="1200"/>
              </a:spcBef>
              <a:spcAft>
                <a:spcPts val="1200"/>
              </a:spcAft>
              <a:buNone/>
            </a:pPr>
            <a:r>
              <a:rPr lang="en" u="sng">
                <a:solidFill>
                  <a:schemeClr val="hlink"/>
                </a:solidFill>
                <a:hlinkClick r:id="rId3"/>
              </a:rPr>
              <a:t>Wikipedia</a:t>
            </a:r>
            <a:endParaRPr/>
          </a:p>
        </p:txBody>
      </p:sp>
      <p:pic>
        <p:nvPicPr>
          <p:cNvPr id="70" name="Google Shape;70;p15"/>
          <p:cNvPicPr preferRelativeResize="0"/>
          <p:nvPr/>
        </p:nvPicPr>
        <p:blipFill>
          <a:blip r:embed="rId4">
            <a:alphaModFix/>
          </a:blip>
          <a:stretch>
            <a:fillRect/>
          </a:stretch>
        </p:blipFill>
        <p:spPr>
          <a:xfrm>
            <a:off x="3016049" y="777975"/>
            <a:ext cx="3786725" cy="4365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 of NAS</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Arial"/>
              <a:buChar char="●"/>
            </a:pPr>
            <a:r>
              <a:rPr b="1" lang="en" sz="2000"/>
              <a:t>Ease of Access &amp; Setup:</a:t>
            </a:r>
            <a:endParaRPr b="1" sz="2000"/>
          </a:p>
          <a:p>
            <a:pPr indent="-355600" lvl="1" marL="914400" rtl="0" algn="l">
              <a:lnSpc>
                <a:spcPct val="115000"/>
              </a:lnSpc>
              <a:spcBef>
                <a:spcPts val="0"/>
              </a:spcBef>
              <a:spcAft>
                <a:spcPts val="0"/>
              </a:spcAft>
              <a:buClr>
                <a:schemeClr val="dk1"/>
              </a:buClr>
              <a:buSzPts val="2000"/>
              <a:buFont typeface="Arial"/>
              <a:buChar char="○"/>
            </a:pPr>
            <a:r>
              <a:rPr lang="en"/>
              <a:t>Designed for simplicity in setup and operation.</a:t>
            </a:r>
            <a:endParaRPr/>
          </a:p>
          <a:p>
            <a:pPr indent="-355600" lvl="1" marL="914400" rtl="0" algn="l">
              <a:lnSpc>
                <a:spcPct val="115000"/>
              </a:lnSpc>
              <a:spcBef>
                <a:spcPts val="0"/>
              </a:spcBef>
              <a:spcAft>
                <a:spcPts val="0"/>
              </a:spcAft>
              <a:buClr>
                <a:schemeClr val="dk1"/>
              </a:buClr>
              <a:buSzPts val="2000"/>
              <a:buFont typeface="Arial"/>
              <a:buChar char="○"/>
            </a:pPr>
            <a:r>
              <a:rPr lang="en"/>
              <a:t>Offers built-in operating systems optimized for file storage and sharing.</a:t>
            </a:r>
            <a:endParaRPr/>
          </a:p>
          <a:p>
            <a:pPr indent="-355600" lvl="0" marL="457200" rtl="0" algn="l">
              <a:lnSpc>
                <a:spcPct val="115000"/>
              </a:lnSpc>
              <a:spcBef>
                <a:spcPts val="0"/>
              </a:spcBef>
              <a:spcAft>
                <a:spcPts val="0"/>
              </a:spcAft>
              <a:buClr>
                <a:schemeClr val="dk1"/>
              </a:buClr>
              <a:buSzPts val="2000"/>
              <a:buFont typeface="Arial"/>
              <a:buChar char="●"/>
            </a:pPr>
            <a:r>
              <a:rPr b="1" lang="en" sz="2000"/>
              <a:t>Data Availability:</a:t>
            </a:r>
            <a:endParaRPr b="1" sz="2000"/>
          </a:p>
          <a:p>
            <a:pPr indent="-355600" lvl="1" marL="914400" rtl="0" algn="l">
              <a:lnSpc>
                <a:spcPct val="115000"/>
              </a:lnSpc>
              <a:spcBef>
                <a:spcPts val="0"/>
              </a:spcBef>
              <a:spcAft>
                <a:spcPts val="0"/>
              </a:spcAft>
              <a:buClr>
                <a:schemeClr val="dk1"/>
              </a:buClr>
              <a:buSzPts val="2000"/>
              <a:buFont typeface="Arial"/>
              <a:buChar char="○"/>
            </a:pPr>
            <a:r>
              <a:rPr lang="en"/>
              <a:t>Ensures data is consistently available to authorized network users.</a:t>
            </a:r>
            <a:endParaRPr/>
          </a:p>
          <a:p>
            <a:pPr indent="-355600" lvl="1" marL="914400" rtl="0" algn="l">
              <a:lnSpc>
                <a:spcPct val="115000"/>
              </a:lnSpc>
              <a:spcBef>
                <a:spcPts val="0"/>
              </a:spcBef>
              <a:spcAft>
                <a:spcPts val="0"/>
              </a:spcAft>
              <a:buClr>
                <a:schemeClr val="dk1"/>
              </a:buClr>
              <a:buSzPts val="2000"/>
              <a:buFont typeface="Arial"/>
              <a:buChar char="○"/>
            </a:pPr>
            <a:r>
              <a:rPr lang="en"/>
              <a:t>Often comes with redundancy features (like RAID) to protect against data loss.</a:t>
            </a:r>
            <a:endParaRPr sz="2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File Servers?</a:t>
            </a:r>
            <a:endParaRPr/>
          </a:p>
        </p:txBody>
      </p:sp>
      <p:sp>
        <p:nvSpPr>
          <p:cNvPr id="82" name="Google Shape;82;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General-purpose servers that provide file storage services to clients.</a:t>
            </a:r>
            <a:endParaRPr/>
          </a:p>
          <a:p>
            <a:pPr indent="-298450" lvl="0" marL="457200" rtl="0" algn="l">
              <a:lnSpc>
                <a:spcPct val="115000"/>
              </a:lnSpc>
              <a:spcBef>
                <a:spcPts val="0"/>
              </a:spcBef>
              <a:spcAft>
                <a:spcPts val="0"/>
              </a:spcAft>
              <a:buClr>
                <a:schemeClr val="dk1"/>
              </a:buClr>
              <a:buSzPts val="1100"/>
              <a:buFont typeface="Arial"/>
              <a:buChar char="●"/>
            </a:pPr>
            <a:r>
              <a:rPr lang="en"/>
              <a:t>Often part of a larger server offering various services beyond just file storage.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NAS vs. Traditional File Servers</a:t>
            </a:r>
            <a:endParaRPr/>
          </a:p>
        </p:txBody>
      </p:sp>
      <p:sp>
        <p:nvSpPr>
          <p:cNvPr id="88" name="Google Shape;88;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323850" lvl="0" marL="457200" rtl="0" algn="l">
              <a:lnSpc>
                <a:spcPct val="115000"/>
              </a:lnSpc>
              <a:spcBef>
                <a:spcPts val="0"/>
              </a:spcBef>
              <a:spcAft>
                <a:spcPts val="0"/>
              </a:spcAft>
              <a:buClr>
                <a:schemeClr val="dk1"/>
              </a:buClr>
              <a:buSzPts val="1500"/>
              <a:buFont typeface="Arial"/>
              <a:buChar char="●"/>
            </a:pPr>
            <a:r>
              <a:rPr b="1" lang="en" sz="1500"/>
              <a:t>Dedication to Storage:</a:t>
            </a:r>
            <a:endParaRPr b="1" sz="1500"/>
          </a:p>
          <a:p>
            <a:pPr indent="-323850" lvl="1" marL="914400" rtl="0" algn="l">
              <a:lnSpc>
                <a:spcPct val="115000"/>
              </a:lnSpc>
              <a:spcBef>
                <a:spcPts val="0"/>
              </a:spcBef>
              <a:spcAft>
                <a:spcPts val="0"/>
              </a:spcAft>
              <a:buClr>
                <a:schemeClr val="dk1"/>
              </a:buClr>
              <a:buSzPts val="1500"/>
              <a:buFont typeface="Arial"/>
              <a:buChar char="○"/>
            </a:pPr>
            <a:r>
              <a:rPr lang="en" sz="1500"/>
              <a:t>NAS: Highly specialized for storage, offering plug-and-play functionality.</a:t>
            </a:r>
            <a:endParaRPr sz="1500"/>
          </a:p>
          <a:p>
            <a:pPr indent="-323850" lvl="1" marL="914400" rtl="0" algn="l">
              <a:lnSpc>
                <a:spcPct val="115000"/>
              </a:lnSpc>
              <a:spcBef>
                <a:spcPts val="0"/>
              </a:spcBef>
              <a:spcAft>
                <a:spcPts val="0"/>
              </a:spcAft>
              <a:buClr>
                <a:schemeClr val="dk1"/>
              </a:buClr>
              <a:buSzPts val="1500"/>
              <a:buFont typeface="Arial"/>
              <a:buChar char="○"/>
            </a:pPr>
            <a:r>
              <a:rPr lang="en" sz="1500"/>
              <a:t>File Servers: Versatile, handling storage along with other server roles.</a:t>
            </a:r>
            <a:endParaRPr sz="1500"/>
          </a:p>
          <a:p>
            <a:pPr indent="-323850" lvl="0" marL="457200" rtl="0" algn="l">
              <a:lnSpc>
                <a:spcPct val="115000"/>
              </a:lnSpc>
              <a:spcBef>
                <a:spcPts val="0"/>
              </a:spcBef>
              <a:spcAft>
                <a:spcPts val="0"/>
              </a:spcAft>
              <a:buClr>
                <a:schemeClr val="dk1"/>
              </a:buClr>
              <a:buSzPts val="1500"/>
              <a:buFont typeface="Arial"/>
              <a:buChar char="●"/>
            </a:pPr>
            <a:r>
              <a:rPr b="1" lang="en" sz="1500"/>
              <a:t>Complexity and Cost:</a:t>
            </a:r>
            <a:endParaRPr b="1" sz="1500"/>
          </a:p>
          <a:p>
            <a:pPr indent="-323850" lvl="1" marL="914400" rtl="0" algn="l">
              <a:lnSpc>
                <a:spcPct val="115000"/>
              </a:lnSpc>
              <a:spcBef>
                <a:spcPts val="0"/>
              </a:spcBef>
              <a:spcAft>
                <a:spcPts val="0"/>
              </a:spcAft>
              <a:buClr>
                <a:schemeClr val="dk1"/>
              </a:buClr>
              <a:buSzPts val="1500"/>
              <a:buFont typeface="Arial"/>
              <a:buChar char="○"/>
            </a:pPr>
            <a:r>
              <a:rPr lang="en" sz="1500"/>
              <a:t>NAS: Typically lower in cost with minimal setup complexity.</a:t>
            </a:r>
            <a:endParaRPr sz="1500"/>
          </a:p>
          <a:p>
            <a:pPr indent="-323850" lvl="1" marL="914400" rtl="0" algn="l">
              <a:lnSpc>
                <a:spcPct val="115000"/>
              </a:lnSpc>
              <a:spcBef>
                <a:spcPts val="0"/>
              </a:spcBef>
              <a:spcAft>
                <a:spcPts val="0"/>
              </a:spcAft>
              <a:buClr>
                <a:schemeClr val="dk1"/>
              </a:buClr>
              <a:buSzPts val="1500"/>
              <a:buFont typeface="Arial"/>
              <a:buChar char="○"/>
            </a:pPr>
            <a:r>
              <a:rPr lang="en" sz="1500"/>
              <a:t>File Servers: Potentially higher cost, requiring more setup and maintenance, especially if serving multiple roles.</a:t>
            </a:r>
            <a:endParaRPr sz="1500"/>
          </a:p>
          <a:p>
            <a:pPr indent="-323850" lvl="0" marL="457200" rtl="0" algn="l">
              <a:lnSpc>
                <a:spcPct val="115000"/>
              </a:lnSpc>
              <a:spcBef>
                <a:spcPts val="0"/>
              </a:spcBef>
              <a:spcAft>
                <a:spcPts val="0"/>
              </a:spcAft>
              <a:buClr>
                <a:schemeClr val="dk1"/>
              </a:buClr>
              <a:buSzPts val="1500"/>
              <a:buFont typeface="Arial"/>
              <a:buChar char="●"/>
            </a:pPr>
            <a:r>
              <a:rPr b="1" lang="en" sz="1500"/>
              <a:t>Performance:</a:t>
            </a:r>
            <a:endParaRPr b="1" sz="1500"/>
          </a:p>
          <a:p>
            <a:pPr indent="-323850" lvl="1" marL="914400" rtl="0" algn="l">
              <a:lnSpc>
                <a:spcPct val="115000"/>
              </a:lnSpc>
              <a:spcBef>
                <a:spcPts val="0"/>
              </a:spcBef>
              <a:spcAft>
                <a:spcPts val="0"/>
              </a:spcAft>
              <a:buClr>
                <a:schemeClr val="dk1"/>
              </a:buClr>
              <a:buSzPts val="1500"/>
              <a:buFont typeface="Arial"/>
              <a:buChar char="○"/>
            </a:pPr>
            <a:r>
              <a:rPr lang="en" sz="1500"/>
              <a:t>NAS: Optimized for file storage and sharing; may have performance limitations for other server roles.</a:t>
            </a:r>
            <a:endParaRPr sz="1500"/>
          </a:p>
          <a:p>
            <a:pPr indent="-323850" lvl="1" marL="914400" rtl="0" algn="l">
              <a:lnSpc>
                <a:spcPct val="115000"/>
              </a:lnSpc>
              <a:spcBef>
                <a:spcPts val="0"/>
              </a:spcBef>
              <a:spcAft>
                <a:spcPts val="0"/>
              </a:spcAft>
              <a:buClr>
                <a:schemeClr val="dk1"/>
              </a:buClr>
              <a:buSzPts val="1500"/>
              <a:buFont typeface="Arial"/>
              <a:buChar char="○"/>
            </a:pPr>
            <a:r>
              <a:rPr lang="en" sz="1500"/>
              <a:t>File Servers: Configurable for high performance across multiple roles, including file storage.</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NAS vs. Traditional File Servers</a:t>
            </a:r>
            <a:endParaRPr/>
          </a:p>
        </p:txBody>
      </p:sp>
      <p:sp>
        <p:nvSpPr>
          <p:cNvPr id="94" name="Google Shape;94;p19"/>
          <p:cNvSpPr txBox="1"/>
          <p:nvPr>
            <p:ph idx="1" type="body"/>
          </p:nvPr>
        </p:nvSpPr>
        <p:spPr>
          <a:xfrm>
            <a:off x="311700" y="1152475"/>
            <a:ext cx="17022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t>Source</a:t>
            </a:r>
            <a:endParaRPr/>
          </a:p>
          <a:p>
            <a:pPr indent="0" lvl="0" marL="0" rtl="0" algn="l">
              <a:lnSpc>
                <a:spcPct val="115000"/>
              </a:lnSpc>
              <a:spcBef>
                <a:spcPts val="1200"/>
              </a:spcBef>
              <a:spcAft>
                <a:spcPts val="1200"/>
              </a:spcAft>
              <a:buNone/>
            </a:pPr>
            <a:r>
              <a:rPr lang="en" u="sng">
                <a:solidFill>
                  <a:schemeClr val="hlink"/>
                </a:solidFill>
                <a:hlinkClick r:id="rId3"/>
              </a:rPr>
              <a:t>Wikipedia</a:t>
            </a:r>
            <a:endParaRPr/>
          </a:p>
        </p:txBody>
      </p:sp>
      <p:pic>
        <p:nvPicPr>
          <p:cNvPr id="95" name="Google Shape;95;p19"/>
          <p:cNvPicPr preferRelativeResize="0"/>
          <p:nvPr/>
        </p:nvPicPr>
        <p:blipFill>
          <a:blip r:embed="rId4">
            <a:alphaModFix/>
          </a:blip>
          <a:stretch>
            <a:fillRect/>
          </a:stretch>
        </p:blipFill>
        <p:spPr>
          <a:xfrm>
            <a:off x="2013850" y="980400"/>
            <a:ext cx="7130150" cy="4010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Advanced File Serving with Windows</a:t>
            </a:r>
            <a:endParaRPr/>
          </a:p>
        </p:txBody>
      </p:sp>
      <p:sp>
        <p:nvSpPr>
          <p:cNvPr id="101" name="Google Shape;101;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chemeClr val="dk1"/>
              </a:buClr>
              <a:buSzPts val="2000"/>
              <a:buFont typeface="Arial"/>
              <a:buChar char="●"/>
            </a:pPr>
            <a:r>
              <a:rPr b="1" lang="en" sz="2000"/>
              <a:t>Overview</a:t>
            </a:r>
            <a:r>
              <a:rPr lang="en" sz="2000"/>
              <a:t>: Windows takes file serving to the next level with advanced features.</a:t>
            </a:r>
            <a:endParaRPr sz="2000"/>
          </a:p>
          <a:p>
            <a:pPr indent="-355600" lvl="0" marL="457200" rtl="0" algn="l">
              <a:lnSpc>
                <a:spcPct val="115000"/>
              </a:lnSpc>
              <a:spcBef>
                <a:spcPts val="0"/>
              </a:spcBef>
              <a:spcAft>
                <a:spcPts val="0"/>
              </a:spcAft>
              <a:buClr>
                <a:schemeClr val="dk1"/>
              </a:buClr>
              <a:buSzPts val="2000"/>
              <a:buFont typeface="Arial"/>
              <a:buChar char="●"/>
            </a:pPr>
            <a:r>
              <a:rPr b="1" lang="en" sz="2000"/>
              <a:t>Key Features</a:t>
            </a:r>
            <a:r>
              <a:rPr lang="en" sz="2000"/>
              <a:t>:</a:t>
            </a:r>
            <a:endParaRPr sz="2000"/>
          </a:p>
          <a:p>
            <a:pPr indent="-355600" lvl="1" marL="914400" rtl="0" algn="l">
              <a:lnSpc>
                <a:spcPct val="115000"/>
              </a:lnSpc>
              <a:spcBef>
                <a:spcPts val="0"/>
              </a:spcBef>
              <a:spcAft>
                <a:spcPts val="0"/>
              </a:spcAft>
              <a:buClr>
                <a:schemeClr val="dk1"/>
              </a:buClr>
              <a:buSzPts val="2000"/>
              <a:buFont typeface="Arial"/>
              <a:buChar char="○"/>
            </a:pPr>
            <a:r>
              <a:rPr b="1" lang="en"/>
              <a:t>Storage Pools</a:t>
            </a:r>
            <a:r>
              <a:rPr lang="en"/>
              <a:t>: Group multiple hard drives to create a larger storage space.</a:t>
            </a:r>
            <a:endParaRPr/>
          </a:p>
          <a:p>
            <a:pPr indent="-355600" lvl="1" marL="914400" rtl="0" algn="l">
              <a:lnSpc>
                <a:spcPct val="115000"/>
              </a:lnSpc>
              <a:spcBef>
                <a:spcPts val="0"/>
              </a:spcBef>
              <a:spcAft>
                <a:spcPts val="0"/>
              </a:spcAft>
              <a:buClr>
                <a:schemeClr val="dk1"/>
              </a:buClr>
              <a:buSzPts val="2000"/>
              <a:buFont typeface="Arial"/>
              <a:buChar char="○"/>
            </a:pPr>
            <a:r>
              <a:rPr b="1" lang="en"/>
              <a:t>Replication</a:t>
            </a:r>
            <a:r>
              <a:rPr lang="en"/>
              <a:t>: Ensures data is copied and maintained across different storage locations.</a:t>
            </a:r>
            <a:endParaRPr/>
          </a:p>
          <a:p>
            <a:pPr indent="-355600" lvl="1" marL="914400" rtl="0" algn="l">
              <a:lnSpc>
                <a:spcPct val="115000"/>
              </a:lnSpc>
              <a:spcBef>
                <a:spcPts val="0"/>
              </a:spcBef>
              <a:spcAft>
                <a:spcPts val="0"/>
              </a:spcAft>
              <a:buClr>
                <a:schemeClr val="dk1"/>
              </a:buClr>
              <a:buSzPts val="2000"/>
              <a:buFont typeface="Arial"/>
              <a:buChar char="○"/>
            </a:pPr>
            <a:r>
              <a:rPr b="1" lang="en"/>
              <a:t>High Availability</a:t>
            </a:r>
            <a:r>
              <a:rPr lang="en"/>
              <a:t>: Minimizes downtime and ensures data is always accessible.</a:t>
            </a:r>
            <a:endParaRPr sz="2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Consider Windows for File Serving?</a:t>
            </a:r>
            <a:endParaRPr/>
          </a:p>
        </p:txBody>
      </p:sp>
      <p:sp>
        <p:nvSpPr>
          <p:cNvPr id="107" name="Google Shape;107;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Scalability</a:t>
            </a:r>
            <a:r>
              <a:rPr lang="en" sz="1800"/>
              <a:t>: Ideal for organizations looking to scale their storage solutions.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Integration</a:t>
            </a:r>
            <a:r>
              <a:rPr lang="en" sz="1800"/>
              <a:t>: Seamless integration with existing Windows-based infrastructure.</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Advanced Features</a:t>
            </a:r>
            <a:r>
              <a:rPr lang="en" sz="1800"/>
              <a:t>: Offers robust solutions like Storage Spaces Direct, DFS Namespaces, and DFS Replication.</a:t>
            </a:r>
            <a:endParaRPr sz="3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Open Source Alternatives for Advanced File Serving</a:t>
            </a:r>
            <a:endParaRPr sz="2600"/>
          </a:p>
        </p:txBody>
      </p:sp>
      <p:sp>
        <p:nvSpPr>
          <p:cNvPr id="113" name="Google Shape;113;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FreeNAS/TrueNAS</a:t>
            </a:r>
            <a:r>
              <a:rPr lang="en" sz="1700"/>
              <a:t>:</a:t>
            </a:r>
            <a:endParaRPr sz="1700"/>
          </a:p>
          <a:p>
            <a:pPr indent="-336550" lvl="0" marL="457200" rtl="0" algn="l">
              <a:lnSpc>
                <a:spcPct val="115000"/>
              </a:lnSpc>
              <a:spcBef>
                <a:spcPts val="1200"/>
              </a:spcBef>
              <a:spcAft>
                <a:spcPts val="0"/>
              </a:spcAft>
              <a:buClr>
                <a:schemeClr val="dk1"/>
              </a:buClr>
              <a:buSzPts val="1700"/>
              <a:buFont typeface="Arial"/>
              <a:buChar char="●"/>
            </a:pPr>
            <a:r>
              <a:rPr b="1" lang="en" sz="1700"/>
              <a:t>Description</a:t>
            </a:r>
            <a:r>
              <a:rPr lang="en" sz="1700"/>
              <a:t>: A powerful, flexible open-source storage platform based on FreeBSD.</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Storage Pools</a:t>
            </a:r>
            <a:r>
              <a:rPr lang="en" sz="1700"/>
              <a:t>: Supports ZFS for creating storage pools with robust features like snapshots, replication, and compression.</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Replication</a:t>
            </a:r>
            <a:r>
              <a:rPr lang="en" sz="1700"/>
              <a:t>: Built-in support for ZFS replication.</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High Availability</a:t>
            </a:r>
            <a:r>
              <a:rPr lang="en" sz="1700"/>
              <a:t>: Offers plugins for various high-availability solutions.</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Open Source Alternatives for Advanced File Serving</a:t>
            </a:r>
            <a:endParaRPr sz="2600"/>
          </a:p>
        </p:txBody>
      </p:sp>
      <p:sp>
        <p:nvSpPr>
          <p:cNvPr id="119" name="Google Shape;119;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2000"/>
              <a:t>GlusterFS</a:t>
            </a:r>
            <a:r>
              <a:rPr lang="en" sz="2000"/>
              <a:t>:</a:t>
            </a:r>
            <a:endParaRPr sz="2000"/>
          </a:p>
          <a:p>
            <a:pPr indent="-355600" lvl="0" marL="457200" rtl="0" algn="l">
              <a:lnSpc>
                <a:spcPct val="115000"/>
              </a:lnSpc>
              <a:spcBef>
                <a:spcPts val="1200"/>
              </a:spcBef>
              <a:spcAft>
                <a:spcPts val="0"/>
              </a:spcAft>
              <a:buClr>
                <a:schemeClr val="dk1"/>
              </a:buClr>
              <a:buSzPts val="2000"/>
              <a:buFont typeface="Arial"/>
              <a:buChar char="●"/>
            </a:pPr>
            <a:r>
              <a:rPr b="1" lang="en" sz="2000"/>
              <a:t>Description</a:t>
            </a:r>
            <a:r>
              <a:rPr lang="en" sz="2000"/>
              <a:t>: A scalable network filesystem that allows rapid provisioning of additional storage based on your storage needs.</a:t>
            </a:r>
            <a:endParaRPr sz="2000"/>
          </a:p>
          <a:p>
            <a:pPr indent="-355600" lvl="0" marL="457200" rtl="0" algn="l">
              <a:lnSpc>
                <a:spcPct val="115000"/>
              </a:lnSpc>
              <a:spcBef>
                <a:spcPts val="0"/>
              </a:spcBef>
              <a:spcAft>
                <a:spcPts val="0"/>
              </a:spcAft>
              <a:buClr>
                <a:schemeClr val="dk1"/>
              </a:buClr>
              <a:buSzPts val="2000"/>
              <a:buFont typeface="Arial"/>
              <a:buChar char="●"/>
            </a:pPr>
            <a:r>
              <a:rPr b="1" lang="en" sz="2000"/>
              <a:t>Scalability</a:t>
            </a:r>
            <a:r>
              <a:rPr lang="en" sz="2000"/>
              <a:t>: Excellent for scaling horizontally by adding more nodes.</a:t>
            </a:r>
            <a:endParaRPr sz="2000"/>
          </a:p>
          <a:p>
            <a:pPr indent="-355600" lvl="0" marL="457200" rtl="0" algn="l">
              <a:lnSpc>
                <a:spcPct val="115000"/>
              </a:lnSpc>
              <a:spcBef>
                <a:spcPts val="0"/>
              </a:spcBef>
              <a:spcAft>
                <a:spcPts val="0"/>
              </a:spcAft>
              <a:buClr>
                <a:schemeClr val="dk1"/>
              </a:buClr>
              <a:buSzPts val="2000"/>
              <a:buFont typeface="Arial"/>
              <a:buChar char="●"/>
            </a:pPr>
            <a:r>
              <a:rPr b="1" lang="en" sz="2000"/>
              <a:t>Replication &amp; High Availability</a:t>
            </a:r>
            <a:r>
              <a:rPr lang="en" sz="2000"/>
              <a:t>: Supports data replication across various storage volumes and high availability through self-healing and rebalancing.</a:t>
            </a:r>
            <a:endParaRPr sz="3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Open Source Alternatives for Advanced File Serving</a:t>
            </a:r>
            <a:endParaRPr sz="2600"/>
          </a:p>
        </p:txBody>
      </p:sp>
      <p:sp>
        <p:nvSpPr>
          <p:cNvPr id="125" name="Google Shape;125;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Ceph</a:t>
            </a:r>
            <a:r>
              <a:rPr lang="en" sz="1800"/>
              <a:t>:</a:t>
            </a:r>
            <a:endParaRPr sz="1800"/>
          </a:p>
          <a:p>
            <a:pPr indent="-342900" lvl="0" marL="457200" rtl="0" algn="l">
              <a:lnSpc>
                <a:spcPct val="115000"/>
              </a:lnSpc>
              <a:spcBef>
                <a:spcPts val="1200"/>
              </a:spcBef>
              <a:spcAft>
                <a:spcPts val="0"/>
              </a:spcAft>
              <a:buClr>
                <a:schemeClr val="dk1"/>
              </a:buClr>
              <a:buSzPts val="1800"/>
              <a:buFont typeface="Arial"/>
              <a:buChar char="●"/>
            </a:pPr>
            <a:r>
              <a:rPr b="1" lang="en" sz="1800"/>
              <a:t>Description</a:t>
            </a:r>
            <a:r>
              <a:rPr lang="en" sz="1800"/>
              <a:t>: A unified, distributed storage system designed for excellent performance, reliability, and scalability.</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Storage Pools</a:t>
            </a:r>
            <a:r>
              <a:rPr lang="en" sz="1800"/>
              <a:t>: Provides highly scalable and robust storage solutions using commodity hardware.</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Replication &amp; High Availability</a:t>
            </a:r>
            <a:r>
              <a:rPr lang="en" sz="1800"/>
              <a:t>: Ensures data safety through replication and erasure coding, designed for high availability and reliability.</a:t>
            </a:r>
            <a:endParaRPr sz="3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Why Consider Open Source Solutions?</a:t>
            </a:r>
            <a:endParaRPr sz="2600"/>
          </a:p>
        </p:txBody>
      </p:sp>
      <p:sp>
        <p:nvSpPr>
          <p:cNvPr id="131" name="Google Shape;131;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Cost-Effectiveness</a:t>
            </a:r>
            <a:r>
              <a:rPr lang="en" sz="1800"/>
              <a:t>: Generally lower cost than proprietary solutions, with many solutions available for free.</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Flexibility &amp; Customization</a:t>
            </a:r>
            <a:r>
              <a:rPr lang="en" sz="1800"/>
              <a:t>: High degree of customizability to meet specific organizational needs.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Community Support</a:t>
            </a:r>
            <a:r>
              <a:rPr lang="en" sz="1800"/>
              <a:t>: Strong community support, with the advantage of collective troubleshooting and improvements.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Transparency</a:t>
            </a:r>
            <a:r>
              <a:rPr lang="en" sz="1800"/>
              <a:t>: Open-source code allows for auditability and understanding of the software's inner workings.</a:t>
            </a:r>
            <a:endParaRPr sz="3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Key Features of NAS (Network-Attached Storage)</a:t>
            </a:r>
            <a:endParaRPr sz="2800"/>
          </a:p>
        </p:txBody>
      </p:sp>
      <p:sp>
        <p:nvSpPr>
          <p:cNvPr id="137" name="Google Shape;137;p26"/>
          <p:cNvSpPr txBox="1"/>
          <p:nvPr>
            <p:ph idx="1" type="body"/>
          </p:nvPr>
        </p:nvSpPr>
        <p:spPr>
          <a:xfrm>
            <a:off x="311700" y="1152475"/>
            <a:ext cx="43890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500"/>
              <a:t>1. Simplicity &amp; Speed of Deployment:</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Plug-and-play setup.</a:t>
            </a:r>
            <a:endParaRPr sz="1500"/>
          </a:p>
          <a:p>
            <a:pPr indent="-323850" lvl="0" marL="457200" rtl="0" algn="l">
              <a:lnSpc>
                <a:spcPct val="115000"/>
              </a:lnSpc>
              <a:spcBef>
                <a:spcPts val="0"/>
              </a:spcBef>
              <a:spcAft>
                <a:spcPts val="0"/>
              </a:spcAft>
              <a:buClr>
                <a:schemeClr val="dk1"/>
              </a:buClr>
              <a:buSzPts val="1500"/>
              <a:buFont typeface="Arial"/>
              <a:buChar char="●"/>
            </a:pPr>
            <a:r>
              <a:rPr lang="en" sz="1500"/>
              <a:t>Intuitive interfaces for management.</a:t>
            </a:r>
            <a:endParaRPr sz="1500"/>
          </a:p>
          <a:p>
            <a:pPr indent="0" lvl="0" marL="0" rtl="0" algn="l">
              <a:lnSpc>
                <a:spcPct val="115000"/>
              </a:lnSpc>
              <a:spcBef>
                <a:spcPts val="1200"/>
              </a:spcBef>
              <a:spcAft>
                <a:spcPts val="0"/>
              </a:spcAft>
              <a:buClr>
                <a:schemeClr val="dk1"/>
              </a:buClr>
              <a:buSzPts val="1100"/>
              <a:buFont typeface="Arial"/>
              <a:buNone/>
            </a:pPr>
            <a:r>
              <a:rPr b="1" lang="en" sz="1500"/>
              <a:t>2. Fault Tolerance:</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Redundancy options (RAID configurations).</a:t>
            </a:r>
            <a:endParaRPr sz="1500"/>
          </a:p>
          <a:p>
            <a:pPr indent="-323850" lvl="0" marL="457200" rtl="0" algn="l">
              <a:lnSpc>
                <a:spcPct val="115000"/>
              </a:lnSpc>
              <a:spcBef>
                <a:spcPts val="0"/>
              </a:spcBef>
              <a:spcAft>
                <a:spcPts val="0"/>
              </a:spcAft>
              <a:buClr>
                <a:schemeClr val="dk1"/>
              </a:buClr>
              <a:buSzPts val="1500"/>
              <a:buFont typeface="Arial"/>
              <a:buChar char="●"/>
            </a:pPr>
            <a:r>
              <a:rPr lang="en" sz="1500"/>
              <a:t>Hot-swappable drives for uninterrupted service.</a:t>
            </a:r>
            <a:endParaRPr sz="2800"/>
          </a:p>
        </p:txBody>
      </p:sp>
      <p:sp>
        <p:nvSpPr>
          <p:cNvPr id="138" name="Google Shape;138;p26"/>
          <p:cNvSpPr txBox="1"/>
          <p:nvPr>
            <p:ph idx="1" type="body"/>
          </p:nvPr>
        </p:nvSpPr>
        <p:spPr>
          <a:xfrm>
            <a:off x="4803100" y="1066050"/>
            <a:ext cx="40293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500"/>
              <a:t>3. Scalability:</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Effortless addition of more storage.</a:t>
            </a:r>
            <a:endParaRPr sz="1500"/>
          </a:p>
          <a:p>
            <a:pPr indent="-323850" lvl="0" marL="457200" rtl="0" algn="l">
              <a:lnSpc>
                <a:spcPct val="115000"/>
              </a:lnSpc>
              <a:spcBef>
                <a:spcPts val="0"/>
              </a:spcBef>
              <a:spcAft>
                <a:spcPts val="0"/>
              </a:spcAft>
              <a:buClr>
                <a:schemeClr val="dk1"/>
              </a:buClr>
              <a:buSzPts val="1500"/>
              <a:buFont typeface="Arial"/>
              <a:buChar char="●"/>
            </a:pPr>
            <a:r>
              <a:rPr lang="en" sz="1500"/>
              <a:t>Capability to meet growing data demands.</a:t>
            </a:r>
            <a:endParaRPr sz="1500"/>
          </a:p>
          <a:p>
            <a:pPr indent="0" lvl="0" marL="0" rtl="0" algn="l">
              <a:lnSpc>
                <a:spcPct val="115000"/>
              </a:lnSpc>
              <a:spcBef>
                <a:spcPts val="1200"/>
              </a:spcBef>
              <a:spcAft>
                <a:spcPts val="0"/>
              </a:spcAft>
              <a:buNone/>
            </a:pPr>
            <a:r>
              <a:rPr b="1" lang="en" sz="1500"/>
              <a:t>4. Easy Backup &amp; Recovery:</a:t>
            </a:r>
            <a:endParaRPr b="1" sz="1500"/>
          </a:p>
          <a:p>
            <a:pPr indent="-323850" lvl="0" marL="457200" rtl="0" algn="l">
              <a:lnSpc>
                <a:spcPct val="115000"/>
              </a:lnSpc>
              <a:spcBef>
                <a:spcPts val="1200"/>
              </a:spcBef>
              <a:spcAft>
                <a:spcPts val="0"/>
              </a:spcAft>
              <a:buClr>
                <a:schemeClr val="dk1"/>
              </a:buClr>
              <a:buSzPts val="1500"/>
              <a:buFont typeface="Arial"/>
              <a:buChar char="●"/>
            </a:pPr>
            <a:r>
              <a:rPr lang="en" sz="1500"/>
              <a:t>Integrated backup solutions.</a:t>
            </a:r>
            <a:endParaRPr sz="1500"/>
          </a:p>
          <a:p>
            <a:pPr indent="-323850" lvl="0" marL="457200" rtl="0" algn="l">
              <a:lnSpc>
                <a:spcPct val="115000"/>
              </a:lnSpc>
              <a:spcBef>
                <a:spcPts val="0"/>
              </a:spcBef>
              <a:spcAft>
                <a:spcPts val="0"/>
              </a:spcAft>
              <a:buClr>
                <a:schemeClr val="dk1"/>
              </a:buClr>
              <a:buSzPts val="1500"/>
              <a:buFont typeface="Arial"/>
              <a:buChar char="●"/>
            </a:pPr>
            <a:r>
              <a:rPr lang="en" sz="1500"/>
              <a:t>Support for snapshot technology and replication.</a:t>
            </a:r>
            <a:endParaRPr b="1"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NAS for Small and Medium-Sized Businesses (SMBs)</a:t>
            </a:r>
            <a:endParaRPr sz="2600"/>
          </a:p>
        </p:txBody>
      </p:sp>
      <p:sp>
        <p:nvSpPr>
          <p:cNvPr id="144" name="Google Shape;144;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700"/>
              <a:t>Cost-Effectiveness</a:t>
            </a:r>
            <a:endParaRPr b="1" sz="1700"/>
          </a:p>
          <a:p>
            <a:pPr indent="-336550" lvl="0" marL="457200" rtl="0" algn="l">
              <a:lnSpc>
                <a:spcPct val="115000"/>
              </a:lnSpc>
              <a:spcBef>
                <a:spcPts val="1200"/>
              </a:spcBef>
              <a:spcAft>
                <a:spcPts val="0"/>
              </a:spcAft>
              <a:buClr>
                <a:schemeClr val="dk1"/>
              </a:buClr>
              <a:buSzPts val="1700"/>
              <a:buFont typeface="Arial"/>
              <a:buChar char="●"/>
            </a:pPr>
            <a:r>
              <a:rPr lang="en" sz="1700"/>
              <a:t>Budget-friendly storage solutions.</a:t>
            </a:r>
            <a:endParaRPr sz="1700"/>
          </a:p>
          <a:p>
            <a:pPr indent="-336550" lvl="0" marL="457200" rtl="0" algn="l">
              <a:lnSpc>
                <a:spcPct val="115000"/>
              </a:lnSpc>
              <a:spcBef>
                <a:spcPts val="0"/>
              </a:spcBef>
              <a:spcAft>
                <a:spcPts val="0"/>
              </a:spcAft>
              <a:buClr>
                <a:schemeClr val="dk1"/>
              </a:buClr>
              <a:buSzPts val="1700"/>
              <a:buFont typeface="Arial"/>
              <a:buChar char="●"/>
            </a:pPr>
            <a:r>
              <a:rPr lang="en" sz="1700"/>
              <a:t>Low operational and maintenance costs.</a:t>
            </a:r>
            <a:endParaRPr sz="1700"/>
          </a:p>
          <a:p>
            <a:pPr indent="0" lvl="0" marL="0" rtl="0" algn="l">
              <a:lnSpc>
                <a:spcPct val="115000"/>
              </a:lnSpc>
              <a:spcBef>
                <a:spcPts val="1200"/>
              </a:spcBef>
              <a:spcAft>
                <a:spcPts val="0"/>
              </a:spcAft>
              <a:buClr>
                <a:schemeClr val="dk1"/>
              </a:buClr>
              <a:buSzPts val="1100"/>
              <a:buFont typeface="Arial"/>
              <a:buNone/>
            </a:pPr>
            <a:r>
              <a:rPr b="1" lang="en" sz="1700"/>
              <a:t>Centralized File Storage</a:t>
            </a:r>
            <a:endParaRPr b="1" sz="1700"/>
          </a:p>
          <a:p>
            <a:pPr indent="-336550" lvl="0" marL="457200" rtl="0" algn="l">
              <a:lnSpc>
                <a:spcPct val="115000"/>
              </a:lnSpc>
              <a:spcBef>
                <a:spcPts val="1200"/>
              </a:spcBef>
              <a:spcAft>
                <a:spcPts val="0"/>
              </a:spcAft>
              <a:buClr>
                <a:schemeClr val="dk1"/>
              </a:buClr>
              <a:buSzPts val="1700"/>
              <a:buFont typeface="Arial"/>
              <a:buChar char="●"/>
            </a:pPr>
            <a:r>
              <a:rPr lang="en" sz="1700"/>
              <a:t>Single storage hub for all business data.</a:t>
            </a:r>
            <a:endParaRPr sz="1700"/>
          </a:p>
          <a:p>
            <a:pPr indent="-336550" lvl="0" marL="457200" rtl="0" algn="l">
              <a:lnSpc>
                <a:spcPct val="115000"/>
              </a:lnSpc>
              <a:spcBef>
                <a:spcPts val="0"/>
              </a:spcBef>
              <a:spcAft>
                <a:spcPts val="0"/>
              </a:spcAft>
              <a:buClr>
                <a:schemeClr val="dk1"/>
              </a:buClr>
              <a:buSzPts val="1700"/>
              <a:buFont typeface="Arial"/>
              <a:buChar char="●"/>
            </a:pPr>
            <a:r>
              <a:rPr lang="en" sz="1700"/>
              <a:t>Simplified data management and accessibility.</a:t>
            </a:r>
            <a:endParaRPr sz="3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NAS in Creative Industries</a:t>
            </a:r>
            <a:endParaRPr/>
          </a:p>
        </p:txBody>
      </p:sp>
      <p:sp>
        <p:nvSpPr>
          <p:cNvPr id="150" name="Google Shape;150;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2100"/>
              <a:t>High-Capacity Storage</a:t>
            </a:r>
            <a:endParaRPr b="1" sz="2100"/>
          </a:p>
          <a:p>
            <a:pPr indent="-361950" lvl="0" marL="457200" rtl="0" algn="l">
              <a:lnSpc>
                <a:spcPct val="115000"/>
              </a:lnSpc>
              <a:spcBef>
                <a:spcPts val="1200"/>
              </a:spcBef>
              <a:spcAft>
                <a:spcPts val="0"/>
              </a:spcAft>
              <a:buClr>
                <a:schemeClr val="dk1"/>
              </a:buClr>
              <a:buSzPts val="2100"/>
              <a:buFont typeface="Arial"/>
              <a:buChar char="●"/>
            </a:pPr>
            <a:r>
              <a:rPr lang="en" sz="2100"/>
              <a:t>Ideal for storing large multimedia files.</a:t>
            </a:r>
            <a:endParaRPr sz="2100"/>
          </a:p>
          <a:p>
            <a:pPr indent="-361950" lvl="0" marL="457200" rtl="0" algn="l">
              <a:lnSpc>
                <a:spcPct val="115000"/>
              </a:lnSpc>
              <a:spcBef>
                <a:spcPts val="0"/>
              </a:spcBef>
              <a:spcAft>
                <a:spcPts val="0"/>
              </a:spcAft>
              <a:buClr>
                <a:schemeClr val="dk1"/>
              </a:buClr>
              <a:buSzPts val="2100"/>
              <a:buFont typeface="Arial"/>
              <a:buChar char="●"/>
            </a:pPr>
            <a:r>
              <a:rPr lang="en" sz="2100"/>
              <a:t>Easily handles video, audio, and image libraries.</a:t>
            </a:r>
            <a:endParaRPr sz="2100"/>
          </a:p>
          <a:p>
            <a:pPr indent="0" lvl="0" marL="0" rtl="0" algn="l">
              <a:lnSpc>
                <a:spcPct val="115000"/>
              </a:lnSpc>
              <a:spcBef>
                <a:spcPts val="1200"/>
              </a:spcBef>
              <a:spcAft>
                <a:spcPts val="0"/>
              </a:spcAft>
              <a:buClr>
                <a:schemeClr val="dk1"/>
              </a:buClr>
              <a:buSzPts val="1100"/>
              <a:buFont typeface="Arial"/>
              <a:buNone/>
            </a:pPr>
            <a:r>
              <a:rPr b="1" lang="en" sz="2100"/>
              <a:t>Fast Data Transfer</a:t>
            </a:r>
            <a:endParaRPr b="1" sz="2100"/>
          </a:p>
          <a:p>
            <a:pPr indent="-361950" lvl="0" marL="457200" rtl="0" algn="l">
              <a:lnSpc>
                <a:spcPct val="115000"/>
              </a:lnSpc>
              <a:spcBef>
                <a:spcPts val="1200"/>
              </a:spcBef>
              <a:spcAft>
                <a:spcPts val="0"/>
              </a:spcAft>
              <a:buClr>
                <a:schemeClr val="dk1"/>
              </a:buClr>
              <a:buSzPts val="2100"/>
              <a:buFont typeface="Arial"/>
              <a:buChar char="●"/>
            </a:pPr>
            <a:r>
              <a:rPr lang="en" sz="2100"/>
              <a:t>Quick file access and sharing among team members.</a:t>
            </a:r>
            <a:endParaRPr sz="2100"/>
          </a:p>
          <a:p>
            <a:pPr indent="-361950" lvl="0" marL="457200" rtl="0" algn="l">
              <a:lnSpc>
                <a:spcPct val="115000"/>
              </a:lnSpc>
              <a:spcBef>
                <a:spcPts val="0"/>
              </a:spcBef>
              <a:spcAft>
                <a:spcPts val="0"/>
              </a:spcAft>
              <a:buClr>
                <a:schemeClr val="dk1"/>
              </a:buClr>
              <a:buSzPts val="2100"/>
              <a:buFont typeface="Arial"/>
              <a:buChar char="●"/>
            </a:pPr>
            <a:r>
              <a:rPr lang="en" sz="2100"/>
              <a:t>Supports intense workflows and deadlines.</a:t>
            </a:r>
            <a:endParaRPr sz="3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NAS in Surveillance and Security</a:t>
            </a:r>
            <a:endParaRPr/>
          </a:p>
        </p:txBody>
      </p:sp>
      <p:sp>
        <p:nvSpPr>
          <p:cNvPr id="156" name="Google Shape;156;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b="1" lang="en" sz="2100"/>
              <a:t>Integration with IP Cameras</a:t>
            </a:r>
            <a:endParaRPr b="1" sz="2100"/>
          </a:p>
          <a:p>
            <a:pPr indent="-361950" lvl="0" marL="457200" rtl="0" algn="l">
              <a:lnSpc>
                <a:spcPct val="115000"/>
              </a:lnSpc>
              <a:spcBef>
                <a:spcPts val="1200"/>
              </a:spcBef>
              <a:spcAft>
                <a:spcPts val="0"/>
              </a:spcAft>
              <a:buClr>
                <a:schemeClr val="dk1"/>
              </a:buClr>
              <a:buSzPts val="2100"/>
              <a:buFont typeface="Arial"/>
              <a:buChar char="●"/>
            </a:pPr>
            <a:r>
              <a:rPr lang="en" sz="2100"/>
              <a:t>Seamless connectivity with multiple IP cameras.</a:t>
            </a:r>
            <a:endParaRPr sz="2100"/>
          </a:p>
          <a:p>
            <a:pPr indent="-361950" lvl="0" marL="457200" rtl="0" algn="l">
              <a:lnSpc>
                <a:spcPct val="115000"/>
              </a:lnSpc>
              <a:spcBef>
                <a:spcPts val="0"/>
              </a:spcBef>
              <a:spcAft>
                <a:spcPts val="0"/>
              </a:spcAft>
              <a:buClr>
                <a:schemeClr val="dk1"/>
              </a:buClr>
              <a:buSzPts val="2100"/>
              <a:buFont typeface="Arial"/>
              <a:buChar char="●"/>
            </a:pPr>
            <a:r>
              <a:rPr lang="en" sz="2100"/>
              <a:t>Centralized storage of surveillance footage.</a:t>
            </a:r>
            <a:endParaRPr sz="2100"/>
          </a:p>
          <a:p>
            <a:pPr indent="0" lvl="0" marL="0" rtl="0" algn="l">
              <a:lnSpc>
                <a:spcPct val="115000"/>
              </a:lnSpc>
              <a:spcBef>
                <a:spcPts val="1200"/>
              </a:spcBef>
              <a:spcAft>
                <a:spcPts val="0"/>
              </a:spcAft>
              <a:buClr>
                <a:schemeClr val="dk1"/>
              </a:buClr>
              <a:buSzPts val="1100"/>
              <a:buFont typeface="Arial"/>
              <a:buNone/>
            </a:pPr>
            <a:r>
              <a:rPr b="1" lang="en" sz="2100"/>
              <a:t>Scalable Storage</a:t>
            </a:r>
            <a:endParaRPr b="1" sz="2100"/>
          </a:p>
          <a:p>
            <a:pPr indent="-361950" lvl="0" marL="457200" rtl="0" algn="l">
              <a:lnSpc>
                <a:spcPct val="115000"/>
              </a:lnSpc>
              <a:spcBef>
                <a:spcPts val="1200"/>
              </a:spcBef>
              <a:spcAft>
                <a:spcPts val="0"/>
              </a:spcAft>
              <a:buClr>
                <a:schemeClr val="dk1"/>
              </a:buClr>
              <a:buSzPts val="2100"/>
              <a:buFont typeface="Arial"/>
              <a:buChar char="●"/>
            </a:pPr>
            <a:r>
              <a:rPr lang="en" sz="2100"/>
              <a:t>Easy expansion of storage as surveillance needs grow.</a:t>
            </a:r>
            <a:endParaRPr sz="2100"/>
          </a:p>
          <a:p>
            <a:pPr indent="-361950" lvl="0" marL="457200" rtl="0" algn="l">
              <a:lnSpc>
                <a:spcPct val="115000"/>
              </a:lnSpc>
              <a:spcBef>
                <a:spcPts val="0"/>
              </a:spcBef>
              <a:spcAft>
                <a:spcPts val="0"/>
              </a:spcAft>
              <a:buClr>
                <a:schemeClr val="dk1"/>
              </a:buClr>
              <a:buSzPts val="2100"/>
              <a:buFont typeface="Arial"/>
              <a:buChar char="●"/>
            </a:pPr>
            <a:r>
              <a:rPr lang="en" sz="2100"/>
              <a:t>Efficient management of large volumes of video data.</a:t>
            </a:r>
            <a:endParaRPr sz="3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00"/>
              <a:t>NAS in Research and Academic Institutions</a:t>
            </a:r>
            <a:endParaRPr sz="2900"/>
          </a:p>
        </p:txBody>
      </p:sp>
      <p:sp>
        <p:nvSpPr>
          <p:cNvPr id="162" name="Google Shape;162;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Clr>
                <a:schemeClr val="dk1"/>
              </a:buClr>
              <a:buSzPct val="52380"/>
              <a:buFont typeface="Arial"/>
              <a:buNone/>
            </a:pPr>
            <a:r>
              <a:rPr b="1" lang="en" sz="2100"/>
              <a:t>Storing Extensive Databases and Materials</a:t>
            </a:r>
            <a:endParaRPr b="1" sz="2100"/>
          </a:p>
          <a:p>
            <a:pPr indent="-351948" lvl="0" marL="457200" rtl="0" algn="l">
              <a:lnSpc>
                <a:spcPct val="115000"/>
              </a:lnSpc>
              <a:spcBef>
                <a:spcPts val="1200"/>
              </a:spcBef>
              <a:spcAft>
                <a:spcPts val="0"/>
              </a:spcAft>
              <a:buClr>
                <a:schemeClr val="dk1"/>
              </a:buClr>
              <a:buSzPct val="100000"/>
              <a:buFont typeface="Arial"/>
              <a:buChar char="●"/>
            </a:pPr>
            <a:r>
              <a:rPr lang="en" sz="2100"/>
              <a:t>Capable of handling large datasets and research materials.</a:t>
            </a:r>
            <a:endParaRPr sz="2100"/>
          </a:p>
          <a:p>
            <a:pPr indent="-351948" lvl="0" marL="457200" rtl="0" algn="l">
              <a:lnSpc>
                <a:spcPct val="115000"/>
              </a:lnSpc>
              <a:spcBef>
                <a:spcPts val="0"/>
              </a:spcBef>
              <a:spcAft>
                <a:spcPts val="0"/>
              </a:spcAft>
              <a:buClr>
                <a:schemeClr val="dk1"/>
              </a:buClr>
              <a:buSzPct val="100000"/>
              <a:buFont typeface="Arial"/>
              <a:buChar char="●"/>
            </a:pPr>
            <a:r>
              <a:rPr lang="en" sz="2100"/>
              <a:t>Secure storage of sensitive academic records.</a:t>
            </a:r>
            <a:endParaRPr sz="2100"/>
          </a:p>
          <a:p>
            <a:pPr indent="0" lvl="0" marL="0" rtl="0" algn="l">
              <a:lnSpc>
                <a:spcPct val="115000"/>
              </a:lnSpc>
              <a:spcBef>
                <a:spcPts val="1200"/>
              </a:spcBef>
              <a:spcAft>
                <a:spcPts val="0"/>
              </a:spcAft>
              <a:buClr>
                <a:schemeClr val="dk1"/>
              </a:buClr>
              <a:buSzPct val="52380"/>
              <a:buFont typeface="Arial"/>
              <a:buNone/>
            </a:pPr>
            <a:r>
              <a:rPr b="1" lang="en" sz="2100"/>
              <a:t>Collaborative Benefits</a:t>
            </a:r>
            <a:endParaRPr b="1" sz="2100"/>
          </a:p>
          <a:p>
            <a:pPr indent="-351948" lvl="0" marL="457200" rtl="0" algn="l">
              <a:lnSpc>
                <a:spcPct val="115000"/>
              </a:lnSpc>
              <a:spcBef>
                <a:spcPts val="1200"/>
              </a:spcBef>
              <a:spcAft>
                <a:spcPts val="0"/>
              </a:spcAft>
              <a:buClr>
                <a:schemeClr val="dk1"/>
              </a:buClr>
              <a:buSzPct val="100000"/>
              <a:buFont typeface="Arial"/>
              <a:buChar char="●"/>
            </a:pPr>
            <a:r>
              <a:rPr lang="en" sz="2100"/>
              <a:t>Facilitates data sharing among researchers and students.</a:t>
            </a:r>
            <a:endParaRPr sz="2100"/>
          </a:p>
          <a:p>
            <a:pPr indent="-351948" lvl="0" marL="457200" rtl="0" algn="l">
              <a:lnSpc>
                <a:spcPct val="115000"/>
              </a:lnSpc>
              <a:spcBef>
                <a:spcPts val="0"/>
              </a:spcBef>
              <a:spcAft>
                <a:spcPts val="0"/>
              </a:spcAft>
              <a:buClr>
                <a:schemeClr val="dk1"/>
              </a:buClr>
              <a:buSzPct val="100000"/>
              <a:buFont typeface="Arial"/>
              <a:buChar char="●"/>
            </a:pPr>
            <a:r>
              <a:rPr lang="en" sz="2100"/>
              <a:t>Supports remote access and collaborative projects.</a:t>
            </a:r>
            <a:endParaRPr sz="3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NAS Configuration</a:t>
            </a:r>
            <a:endParaRPr/>
          </a:p>
        </p:txBody>
      </p:sp>
      <p:sp>
        <p:nvSpPr>
          <p:cNvPr id="168" name="Google Shape;168;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Initial Setup:</a:t>
            </a:r>
            <a:r>
              <a:rPr lang="en" sz="1900"/>
              <a:t> Basic setup steps (network connection, IP settings, user accounts).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Storage Configuration:</a:t>
            </a:r>
            <a:r>
              <a:rPr lang="en" sz="1900"/>
              <a:t> RAID configuration, levels, and use cases.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Access and Security:</a:t>
            </a:r>
            <a:r>
              <a:rPr lang="en" sz="1900"/>
              <a:t> Network shares, access rights, firmware updates, security patches.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Data Backup and Recovery:</a:t>
            </a:r>
            <a:r>
              <a:rPr lang="en" sz="1900"/>
              <a:t> Role in backup strategies, off-site backups for disaster recovery.</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Performance Optimization:</a:t>
            </a:r>
            <a:r>
              <a:rPr lang="en" sz="1900"/>
              <a:t> Tips for maintaining optimal performance.</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00"/>
              <a:t>Integrating NAS into Existing IT Infrastructure</a:t>
            </a:r>
            <a:endParaRPr sz="2900"/>
          </a:p>
        </p:txBody>
      </p:sp>
      <p:sp>
        <p:nvSpPr>
          <p:cNvPr id="174" name="Google Shape;174;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Compatibility and Interoperability:</a:t>
            </a:r>
            <a:r>
              <a:rPr lang="en" sz="1800"/>
              <a:t> Compatibility with different OS and network environments.</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Scalability and Future-proofing:</a:t>
            </a:r>
            <a:r>
              <a:rPr lang="en" sz="1800"/>
              <a:t> Scaling NAS systems with growing data requirements, considerations for future expansion.</a:t>
            </a:r>
            <a:endParaRPr sz="3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Compatibility and Interoperability</a:t>
            </a:r>
            <a:endParaRPr/>
          </a:p>
        </p:txBody>
      </p:sp>
      <p:sp>
        <p:nvSpPr>
          <p:cNvPr id="180" name="Google Shape;180;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600"/>
              <a:t>Protocol Support and Integration</a:t>
            </a:r>
            <a:r>
              <a:rPr lang="en" sz="1600"/>
              <a:t>: NAS systems must support various network protocols like SMB (for Windows), NFS (for Unix/Linux), and AFP (for macOS) to ensure seamless integration across different operating systems. Effective NAS systems are designed to work with multiple protocols simultaneously, allowing diverse client OS environments to access shared storage resources efficiently.</a:t>
            </a:r>
            <a:endParaRPr sz="1600"/>
          </a:p>
          <a:p>
            <a:pPr indent="0" lvl="0" marL="0" rtl="0" algn="l">
              <a:spcBef>
                <a:spcPts val="1200"/>
              </a:spcBef>
              <a:spcAft>
                <a:spcPts val="1200"/>
              </a:spcAft>
              <a:buNone/>
            </a:pPr>
            <a:r>
              <a:rPr b="1" lang="en" sz="1600"/>
              <a:t>User Authentication and Access Control</a:t>
            </a:r>
            <a:r>
              <a:rPr lang="en" sz="1600"/>
              <a:t>: Compatibility with different OS includes integrating with their respective authentication systems. A NAS should be compatible with Active Directory (AD) for Windows, LDAP for Linux, and Open Directory for macOS. This ensures that user credentials and access permissions are consistently managed across different networked environments.</a:t>
            </a:r>
            <a:endParaRPr sz="2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Compatibility and Interoperability</a:t>
            </a:r>
            <a:endParaRPr/>
          </a:p>
        </p:txBody>
      </p:sp>
      <p:sp>
        <p:nvSpPr>
          <p:cNvPr id="186" name="Google Shape;186;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t>File Locking and Permissions</a:t>
            </a:r>
            <a:r>
              <a:rPr lang="en" sz="1500"/>
              <a:t>: Ensuring that file locking and permissions work consistently across different operating systems is crucial. This prevents issues like data corruption or unauthorized access when multiple users from different OS environments are accessing or modifying the same files on the NAS.</a:t>
            </a:r>
            <a:endParaRPr sz="1500"/>
          </a:p>
          <a:p>
            <a:pPr indent="0" lvl="0" marL="0" rtl="0" algn="l">
              <a:spcBef>
                <a:spcPts val="1200"/>
              </a:spcBef>
              <a:spcAft>
                <a:spcPts val="1200"/>
              </a:spcAft>
              <a:buNone/>
            </a:pPr>
            <a:r>
              <a:rPr b="1" lang="en" sz="1500"/>
              <a:t>Network Configuration and Management Tools</a:t>
            </a:r>
            <a:r>
              <a:rPr lang="en" sz="1500"/>
              <a:t>: Compatibility extends to network configurations as well. NAS systems should have flexible network configuration capabilities to adapt to various network setups (like DHCP, static IPs) and should provide management tools that are accessible and functional across different platforms.</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Compatibility and Interoperability</a:t>
            </a:r>
            <a:endParaRPr/>
          </a:p>
        </p:txBody>
      </p:sp>
      <p:sp>
        <p:nvSpPr>
          <p:cNvPr id="192" name="Google Shape;192;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t>Cross-platform File Services and Data Protection</a:t>
            </a:r>
            <a:r>
              <a:rPr lang="en" sz="1800"/>
              <a:t>: The NAS should handle cross-platform file services, ensuring data integrity when files are accessed and modified from different OS platforms. Additionally, it should support universal data protection measures like RAID configurations and have the capability to implement OS-agnostic backup and recovery solutions.</a:t>
            </a:r>
            <a:endParaRPr sz="3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Scalability and Future-proofing</a:t>
            </a:r>
            <a:endParaRPr/>
          </a:p>
        </p:txBody>
      </p:sp>
      <p:sp>
        <p:nvSpPr>
          <p:cNvPr id="198" name="Google Shape;198;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t>Hardware Scalability</a:t>
            </a:r>
            <a:r>
              <a:rPr lang="en" sz="1700"/>
              <a:t>: NAS systems must be designed to handle increased storage demands without significant performance degradation. This involves using scalable hardware components like expandable memory and multi-core processors. For example, some NAS systems support hot-swapping of drives, allowing for storage expansion without downtime.</a:t>
            </a:r>
            <a:endParaRPr sz="1700"/>
          </a:p>
          <a:p>
            <a:pPr indent="0" lvl="0" marL="0" rtl="0" algn="l">
              <a:spcBef>
                <a:spcPts val="1200"/>
              </a:spcBef>
              <a:spcAft>
                <a:spcPts val="1200"/>
              </a:spcAft>
              <a:buNone/>
            </a:pPr>
            <a:r>
              <a:rPr b="1" lang="en" sz="1700"/>
              <a:t>Volume Management</a:t>
            </a:r>
            <a:r>
              <a:rPr lang="en" sz="1700"/>
              <a:t>: Efficient volume management is crucial in scaling NAS systems. Techniques like thin provisioning, where physical storage is allocated dynamically based on demand, ensure efficient use of resources. </a:t>
            </a:r>
            <a:endParaRPr sz="3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Scalability and Future-proofing</a:t>
            </a:r>
            <a:endParaRPr/>
          </a:p>
        </p:txBody>
      </p:sp>
      <p:sp>
        <p:nvSpPr>
          <p:cNvPr id="204" name="Google Shape;204;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Network Infrastructure</a:t>
            </a:r>
            <a:r>
              <a:rPr lang="en" sz="1900"/>
              <a:t>: As data demands grow, the network infrastructure supporting NAS must also be scalable. This includes upgrading network bandwidth capabilities and implementing advanced network interfaces, such as 10 Gigabit Ethernet, to handle increased traffic.</a:t>
            </a:r>
            <a:endParaRPr sz="1900"/>
          </a:p>
          <a:p>
            <a:pPr indent="0" lvl="0" marL="0" rtl="0" algn="l">
              <a:spcBef>
                <a:spcPts val="1200"/>
              </a:spcBef>
              <a:spcAft>
                <a:spcPts val="1200"/>
              </a:spcAft>
              <a:buNone/>
            </a:pPr>
            <a:r>
              <a:rPr b="1" lang="en" sz="1900"/>
              <a:t>Data Deduplication and Compression</a:t>
            </a:r>
            <a:r>
              <a:rPr lang="en" sz="1900"/>
              <a:t>: These technologies are vital for scaling NAS systems. Deduplication removes duplicate copies of data, and compression reduces the size of data. Both significantly increase storage efficiency, especially in environments with large volumes of redundant data, like backup systems.</a:t>
            </a:r>
            <a:endParaRPr sz="3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Scalability and Future-proofing</a:t>
            </a:r>
            <a:endParaRPr/>
          </a:p>
        </p:txBody>
      </p:sp>
      <p:sp>
        <p:nvSpPr>
          <p:cNvPr id="210" name="Google Shape;210;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900"/>
              <a:t>High Availability and Fault Tolerance</a:t>
            </a:r>
            <a:r>
              <a:rPr lang="en" sz="1900"/>
              <a:t>: As the amount of data stored in NAS systems increases, ensuring data availability becomes more critical. Implementing RAID configurations for redundancy, clustering for fault tolerance, and regular backup strategies are essential components of a scalable NAS infrastructure.</a:t>
            </a:r>
            <a:endParaRPr sz="3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SMB (Server Message Block)</a:t>
            </a:r>
            <a:endParaRPr/>
          </a:p>
        </p:txBody>
      </p:sp>
      <p:sp>
        <p:nvSpPr>
          <p:cNvPr id="216" name="Google Shape;216;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Primary protocol for Windows-based network file sharing.</a:t>
            </a:r>
            <a:endParaRPr/>
          </a:p>
          <a:p>
            <a:pPr indent="-298450" lvl="0" marL="457200" rtl="0" algn="l">
              <a:lnSpc>
                <a:spcPct val="115000"/>
              </a:lnSpc>
              <a:spcBef>
                <a:spcPts val="0"/>
              </a:spcBef>
              <a:spcAft>
                <a:spcPts val="0"/>
              </a:spcAft>
              <a:buClr>
                <a:schemeClr val="dk1"/>
              </a:buClr>
              <a:buSzPts val="1100"/>
              <a:buFont typeface="Arial"/>
              <a:buChar char="●"/>
            </a:pPr>
            <a:r>
              <a:rPr lang="en"/>
              <a:t>Enables access to files, printers, serial ports, and other resources on a network.</a:t>
            </a:r>
            <a:endParaRPr/>
          </a:p>
          <a:p>
            <a:pPr indent="-298450" lvl="0" marL="457200" rtl="0" algn="l">
              <a:lnSpc>
                <a:spcPct val="115000"/>
              </a:lnSpc>
              <a:spcBef>
                <a:spcPts val="0"/>
              </a:spcBef>
              <a:spcAft>
                <a:spcPts val="0"/>
              </a:spcAft>
              <a:buClr>
                <a:schemeClr val="dk1"/>
              </a:buClr>
              <a:buSzPts val="1100"/>
              <a:buFont typeface="Arial"/>
              <a:buChar char="●"/>
            </a:pPr>
            <a:r>
              <a:rPr lang="en"/>
              <a:t>SMB 3.0 offers enhanced features for virtualization, including:</a:t>
            </a:r>
            <a:endParaRPr/>
          </a:p>
          <a:p>
            <a:pPr indent="-298450" lvl="1" marL="914400" rtl="0" algn="l">
              <a:lnSpc>
                <a:spcPct val="115000"/>
              </a:lnSpc>
              <a:spcBef>
                <a:spcPts val="0"/>
              </a:spcBef>
              <a:spcAft>
                <a:spcPts val="0"/>
              </a:spcAft>
              <a:buClr>
                <a:schemeClr val="dk1"/>
              </a:buClr>
              <a:buSzPts val="1100"/>
              <a:buFont typeface="Arial"/>
              <a:buChar char="○"/>
            </a:pPr>
            <a:r>
              <a:rPr lang="en"/>
              <a:t>Improved security with encryption.</a:t>
            </a:r>
            <a:endParaRPr/>
          </a:p>
          <a:p>
            <a:pPr indent="-298450" lvl="1" marL="914400" rtl="0" algn="l">
              <a:lnSpc>
                <a:spcPct val="115000"/>
              </a:lnSpc>
              <a:spcBef>
                <a:spcPts val="0"/>
              </a:spcBef>
              <a:spcAft>
                <a:spcPts val="0"/>
              </a:spcAft>
              <a:buClr>
                <a:schemeClr val="dk1"/>
              </a:buClr>
              <a:buSzPts val="1100"/>
              <a:buFont typeface="Arial"/>
              <a:buChar char="○"/>
            </a:pPr>
            <a:r>
              <a:rPr lang="en"/>
              <a:t>Performance optimization for virtual machine (VM) storage.</a:t>
            </a:r>
            <a:endParaRPr/>
          </a:p>
          <a:p>
            <a:pPr indent="-298450" lvl="1" marL="914400" rtl="0" algn="l">
              <a:lnSpc>
                <a:spcPct val="115000"/>
              </a:lnSpc>
              <a:spcBef>
                <a:spcPts val="0"/>
              </a:spcBef>
              <a:spcAft>
                <a:spcPts val="0"/>
              </a:spcAft>
              <a:buClr>
                <a:schemeClr val="dk1"/>
              </a:buClr>
              <a:buSzPts val="1100"/>
              <a:buFont typeface="Arial"/>
              <a:buChar char="○"/>
            </a:pPr>
            <a:r>
              <a:rPr lang="en"/>
              <a:t>Resilience in case of a temporary loss of network connectivity.</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NFS (Network File System)</a:t>
            </a:r>
            <a:endParaRPr/>
          </a:p>
        </p:txBody>
      </p:sp>
      <p:sp>
        <p:nvSpPr>
          <p:cNvPr id="222" name="Google Shape;222;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lang="en"/>
              <a:t>Standard protocol used to share files over a network.</a:t>
            </a:r>
            <a:endParaRPr/>
          </a:p>
          <a:p>
            <a:pPr indent="-298450" lvl="0" marL="457200" rtl="0" algn="l">
              <a:lnSpc>
                <a:spcPct val="115000"/>
              </a:lnSpc>
              <a:spcBef>
                <a:spcPts val="0"/>
              </a:spcBef>
              <a:spcAft>
                <a:spcPts val="0"/>
              </a:spcAft>
              <a:buClr>
                <a:schemeClr val="dk1"/>
              </a:buClr>
              <a:buSzPts val="1100"/>
              <a:buFont typeface="Arial"/>
              <a:buChar char="●"/>
            </a:pPr>
            <a:r>
              <a:rPr lang="en"/>
              <a:t>Predominantly utilized in Unix/Linux environments.</a:t>
            </a:r>
            <a:endParaRPr/>
          </a:p>
          <a:p>
            <a:pPr indent="-298450" lvl="0" marL="457200" rtl="0" algn="l">
              <a:lnSpc>
                <a:spcPct val="115000"/>
              </a:lnSpc>
              <a:spcBef>
                <a:spcPts val="0"/>
              </a:spcBef>
              <a:spcAft>
                <a:spcPts val="0"/>
              </a:spcAft>
              <a:buClr>
                <a:schemeClr val="dk1"/>
              </a:buClr>
              <a:buSzPts val="1100"/>
              <a:buFont typeface="Arial"/>
              <a:buChar char="●"/>
            </a:pPr>
            <a:r>
              <a:rPr lang="en"/>
              <a:t>Known for its simplicity and high-performance capabilities.</a:t>
            </a:r>
            <a:endParaRPr/>
          </a:p>
          <a:p>
            <a:pPr indent="-298450" lvl="0" marL="457200" rtl="0" algn="l">
              <a:lnSpc>
                <a:spcPct val="115000"/>
              </a:lnSpc>
              <a:spcBef>
                <a:spcPts val="0"/>
              </a:spcBef>
              <a:spcAft>
                <a:spcPts val="0"/>
              </a:spcAft>
              <a:buClr>
                <a:schemeClr val="dk1"/>
              </a:buClr>
              <a:buSzPts val="1100"/>
              <a:buFont typeface="Arial"/>
              <a:buChar char="●"/>
            </a:pPr>
            <a:r>
              <a:rPr lang="en"/>
              <a:t>Ideal for distributed file systems, allowing users to access files remotely as if they were local.</a:t>
            </a:r>
            <a:endParaRPr/>
          </a:p>
          <a:p>
            <a:pPr indent="-298450" lvl="0" marL="457200" rtl="0" algn="l">
              <a:lnSpc>
                <a:spcPct val="115000"/>
              </a:lnSpc>
              <a:spcBef>
                <a:spcPts val="0"/>
              </a:spcBef>
              <a:spcAft>
                <a:spcPts val="0"/>
              </a:spcAft>
              <a:buClr>
                <a:schemeClr val="dk1"/>
              </a:buClr>
              <a:buSzPts val="1100"/>
              <a:buFont typeface="Arial"/>
              <a:buChar char="●"/>
            </a:pPr>
            <a:r>
              <a:rPr lang="en"/>
              <a:t>Supports various versions with NFSv4 providing improved security and performance.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NAS Integration in Hypervisor Environments</a:t>
            </a:r>
            <a:endParaRPr sz="3000"/>
          </a:p>
        </p:txBody>
      </p:sp>
      <p:sp>
        <p:nvSpPr>
          <p:cNvPr id="228" name="Google Shape;228;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Hypervisor Compatibility</a:t>
            </a:r>
            <a:endParaRPr b="1" sz="1900"/>
          </a:p>
          <a:p>
            <a:pPr indent="-349250" lvl="0" marL="457200" rtl="0" algn="l">
              <a:lnSpc>
                <a:spcPct val="115000"/>
              </a:lnSpc>
              <a:spcBef>
                <a:spcPts val="1200"/>
              </a:spcBef>
              <a:spcAft>
                <a:spcPts val="0"/>
              </a:spcAft>
              <a:buClr>
                <a:schemeClr val="dk1"/>
              </a:buClr>
              <a:buSzPts val="1900"/>
              <a:buFont typeface="Arial"/>
              <a:buChar char="●"/>
            </a:pPr>
            <a:r>
              <a:rPr lang="en" sz="1900"/>
              <a:t>NAS systems support major hypervisors.</a:t>
            </a:r>
            <a:endParaRPr sz="1900"/>
          </a:p>
          <a:p>
            <a:pPr indent="-349250" lvl="0" marL="457200" rtl="0" algn="l">
              <a:lnSpc>
                <a:spcPct val="115000"/>
              </a:lnSpc>
              <a:spcBef>
                <a:spcPts val="0"/>
              </a:spcBef>
              <a:spcAft>
                <a:spcPts val="0"/>
              </a:spcAft>
              <a:buClr>
                <a:schemeClr val="dk1"/>
              </a:buClr>
              <a:buSzPts val="1900"/>
              <a:buFont typeface="Arial"/>
              <a:buChar char="●"/>
            </a:pPr>
            <a:r>
              <a:rPr lang="en" sz="1900"/>
              <a:t>Compatible with file-based storage protocols like NFS and SMB.</a:t>
            </a:r>
            <a:endParaRPr sz="1900"/>
          </a:p>
          <a:p>
            <a:pPr indent="0" lvl="0" marL="0" rtl="0" algn="l">
              <a:lnSpc>
                <a:spcPct val="115000"/>
              </a:lnSpc>
              <a:spcBef>
                <a:spcPts val="1200"/>
              </a:spcBef>
              <a:spcAft>
                <a:spcPts val="0"/>
              </a:spcAft>
              <a:buClr>
                <a:schemeClr val="dk1"/>
              </a:buClr>
              <a:buSzPts val="1100"/>
              <a:buFont typeface="Arial"/>
              <a:buNone/>
            </a:pPr>
            <a:r>
              <a:rPr b="1" lang="en" sz="1900"/>
              <a:t>File Locking Mechanisms</a:t>
            </a:r>
            <a:endParaRPr b="1" sz="1900"/>
          </a:p>
          <a:p>
            <a:pPr indent="-349250" lvl="0" marL="457200" rtl="0" algn="l">
              <a:lnSpc>
                <a:spcPct val="115000"/>
              </a:lnSpc>
              <a:spcBef>
                <a:spcPts val="1200"/>
              </a:spcBef>
              <a:spcAft>
                <a:spcPts val="0"/>
              </a:spcAft>
              <a:buClr>
                <a:schemeClr val="dk1"/>
              </a:buClr>
              <a:buSzPts val="1900"/>
              <a:buFont typeface="Arial"/>
              <a:buChar char="●"/>
            </a:pPr>
            <a:r>
              <a:rPr lang="en" sz="1900"/>
              <a:t>NAS itself does not directly provide file locking.</a:t>
            </a:r>
            <a:endParaRPr sz="1900"/>
          </a:p>
          <a:p>
            <a:pPr indent="-349250" lvl="0" marL="457200" rtl="0" algn="l">
              <a:lnSpc>
                <a:spcPct val="115000"/>
              </a:lnSpc>
              <a:spcBef>
                <a:spcPts val="0"/>
              </a:spcBef>
              <a:spcAft>
                <a:spcPts val="0"/>
              </a:spcAft>
              <a:buClr>
                <a:schemeClr val="dk1"/>
              </a:buClr>
              <a:buSzPts val="1900"/>
              <a:buFont typeface="Arial"/>
              <a:buChar char="●"/>
            </a:pPr>
            <a:r>
              <a:rPr lang="en" sz="1900"/>
              <a:t>Supports applications (e.g., Word, VMware Workstation) that use file locking to prevent simultaneous write conflicts and ensure data integrity in multi-user environments.</a:t>
            </a:r>
            <a:endParaRPr sz="32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NAS Integration in Hypervisor Environments</a:t>
            </a:r>
            <a:endParaRPr sz="3000"/>
          </a:p>
        </p:txBody>
      </p:sp>
      <p:sp>
        <p:nvSpPr>
          <p:cNvPr id="234" name="Google Shape;234;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sz="1600"/>
              <a:t>Clustering and Resource Management</a:t>
            </a:r>
            <a:endParaRPr b="1" sz="1600"/>
          </a:p>
          <a:p>
            <a:pPr indent="-330200" lvl="0" marL="457200" rtl="0" algn="l">
              <a:lnSpc>
                <a:spcPct val="115000"/>
              </a:lnSpc>
              <a:spcBef>
                <a:spcPts val="1200"/>
              </a:spcBef>
              <a:spcAft>
                <a:spcPts val="0"/>
              </a:spcAft>
              <a:buClr>
                <a:schemeClr val="dk1"/>
              </a:buClr>
              <a:buSzPts val="1600"/>
              <a:buFont typeface="Arial"/>
              <a:buChar char="●"/>
            </a:pPr>
            <a:r>
              <a:rPr lang="en" sz="1600"/>
              <a:t>NAS systems seamlessly integrate with hypervisor clustering.</a:t>
            </a:r>
            <a:endParaRPr sz="1600"/>
          </a:p>
          <a:p>
            <a:pPr indent="-330200" lvl="0" marL="457200" rtl="0" algn="l">
              <a:lnSpc>
                <a:spcPct val="115000"/>
              </a:lnSpc>
              <a:spcBef>
                <a:spcPts val="0"/>
              </a:spcBef>
              <a:spcAft>
                <a:spcPts val="0"/>
              </a:spcAft>
              <a:buClr>
                <a:schemeClr val="dk1"/>
              </a:buClr>
              <a:buSzPts val="1600"/>
              <a:buFont typeface="Arial"/>
              <a:buChar char="●"/>
            </a:pPr>
            <a:r>
              <a:rPr lang="en" sz="1600"/>
              <a:t>Facilitates effective resource management of virtual machines.</a:t>
            </a:r>
            <a:endParaRPr sz="1600"/>
          </a:p>
          <a:p>
            <a:pPr indent="0" lvl="0" marL="0" rtl="0" algn="l">
              <a:lnSpc>
                <a:spcPct val="115000"/>
              </a:lnSpc>
              <a:spcBef>
                <a:spcPts val="1200"/>
              </a:spcBef>
              <a:spcAft>
                <a:spcPts val="0"/>
              </a:spcAft>
              <a:buClr>
                <a:schemeClr val="dk1"/>
              </a:buClr>
              <a:buSzPts val="1100"/>
              <a:buFont typeface="Arial"/>
              <a:buNone/>
            </a:pPr>
            <a:r>
              <a:rPr b="1" lang="en" sz="1600"/>
              <a:t>Optimizations for Hypervisor Workloads</a:t>
            </a:r>
            <a:endParaRPr b="1" sz="1600"/>
          </a:p>
          <a:p>
            <a:pPr indent="-330200" lvl="0" marL="457200" rtl="0" algn="l">
              <a:lnSpc>
                <a:spcPct val="115000"/>
              </a:lnSpc>
              <a:spcBef>
                <a:spcPts val="1200"/>
              </a:spcBef>
              <a:spcAft>
                <a:spcPts val="0"/>
              </a:spcAft>
              <a:buClr>
                <a:schemeClr val="dk1"/>
              </a:buClr>
              <a:buSzPts val="1600"/>
              <a:buFont typeface="Arial"/>
              <a:buChar char="●"/>
            </a:pPr>
            <a:r>
              <a:rPr lang="en" sz="1600"/>
              <a:t>NAS systems specifically optimized for virtualization tasks.</a:t>
            </a:r>
            <a:endParaRPr sz="1600"/>
          </a:p>
          <a:p>
            <a:pPr indent="-330200" lvl="0" marL="457200" rtl="0" algn="l">
              <a:lnSpc>
                <a:spcPct val="115000"/>
              </a:lnSpc>
              <a:spcBef>
                <a:spcPts val="0"/>
              </a:spcBef>
              <a:spcAft>
                <a:spcPts val="0"/>
              </a:spcAft>
              <a:buClr>
                <a:schemeClr val="dk1"/>
              </a:buClr>
              <a:buSzPts val="1600"/>
              <a:buFont typeface="Arial"/>
              <a:buChar char="●"/>
            </a:pPr>
            <a:r>
              <a:rPr lang="en" sz="1600"/>
              <a:t>Ensures enhanced performance and reliability for VM operations.</a:t>
            </a:r>
            <a:endParaRPr sz="1600"/>
          </a:p>
          <a:p>
            <a:pPr indent="0" lvl="0" marL="0" rtl="0" algn="l">
              <a:lnSpc>
                <a:spcPct val="115000"/>
              </a:lnSpc>
              <a:spcBef>
                <a:spcPts val="1200"/>
              </a:spcBef>
              <a:spcAft>
                <a:spcPts val="0"/>
              </a:spcAft>
              <a:buClr>
                <a:schemeClr val="dk1"/>
              </a:buClr>
              <a:buSzPts val="1100"/>
              <a:buFont typeface="Arial"/>
              <a:buNone/>
            </a:pPr>
            <a:r>
              <a:rPr b="1" lang="en" sz="1600"/>
              <a:t>VM-Specific File Systems</a:t>
            </a:r>
            <a:endParaRPr b="1" sz="1600"/>
          </a:p>
          <a:p>
            <a:pPr indent="-330200" lvl="0" marL="457200" rtl="0" algn="l">
              <a:lnSpc>
                <a:spcPct val="115000"/>
              </a:lnSpc>
              <a:spcBef>
                <a:spcPts val="1200"/>
              </a:spcBef>
              <a:spcAft>
                <a:spcPts val="0"/>
              </a:spcAft>
              <a:buClr>
                <a:schemeClr val="dk1"/>
              </a:buClr>
              <a:buSzPts val="1600"/>
              <a:buFont typeface="Arial"/>
              <a:buChar char="●"/>
            </a:pPr>
            <a:r>
              <a:rPr lang="en" sz="1600"/>
              <a:t>Incorporates specialized file systems tailored for efficient VM management.</a:t>
            </a:r>
            <a:endParaRPr sz="1600"/>
          </a:p>
          <a:p>
            <a:pPr indent="-330200" lvl="0" marL="457200" rtl="0" algn="l">
              <a:lnSpc>
                <a:spcPct val="115000"/>
              </a:lnSpc>
              <a:spcBef>
                <a:spcPts val="0"/>
              </a:spcBef>
              <a:spcAft>
                <a:spcPts val="0"/>
              </a:spcAft>
              <a:buClr>
                <a:schemeClr val="dk1"/>
              </a:buClr>
              <a:buSzPts val="1600"/>
              <a:buFont typeface="Arial"/>
              <a:buChar char="●"/>
            </a:pPr>
            <a:r>
              <a:rPr lang="en" sz="1600"/>
              <a:t>Aims to improve VM performance and data handling capabilities.</a:t>
            </a:r>
            <a:endParaRPr sz="29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SAN vs. NAS</a:t>
            </a:r>
            <a:endParaRPr/>
          </a:p>
        </p:txBody>
      </p:sp>
      <p:sp>
        <p:nvSpPr>
          <p:cNvPr id="240" name="Google Shape;240;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00"/>
              <a:t>SAN (Storage Area Network)</a:t>
            </a:r>
            <a:endParaRPr b="1" sz="1400"/>
          </a:p>
          <a:p>
            <a:pPr indent="-317500" lvl="0" marL="457200" rtl="0" algn="l">
              <a:lnSpc>
                <a:spcPct val="115000"/>
              </a:lnSpc>
              <a:spcBef>
                <a:spcPts val="1200"/>
              </a:spcBef>
              <a:spcAft>
                <a:spcPts val="0"/>
              </a:spcAft>
              <a:buClr>
                <a:schemeClr val="dk1"/>
              </a:buClr>
              <a:buSzPts val="1400"/>
              <a:buFont typeface="Arial"/>
              <a:buChar char="●"/>
            </a:pPr>
            <a:r>
              <a:rPr b="1" lang="en" sz="1400"/>
              <a:t>Use Cases</a:t>
            </a:r>
            <a:endParaRPr b="1" sz="1400"/>
          </a:p>
          <a:p>
            <a:pPr indent="-317500" lvl="1" marL="914400" rtl="0" algn="l">
              <a:lnSpc>
                <a:spcPct val="115000"/>
              </a:lnSpc>
              <a:spcBef>
                <a:spcPts val="0"/>
              </a:spcBef>
              <a:spcAft>
                <a:spcPts val="0"/>
              </a:spcAft>
              <a:buClr>
                <a:schemeClr val="dk1"/>
              </a:buClr>
              <a:buSzPts val="1400"/>
              <a:buFont typeface="Arial"/>
              <a:buChar char="○"/>
            </a:pPr>
            <a:r>
              <a:rPr lang="en" sz="1400"/>
              <a:t>High-Performance Computing: Handling complex computations with speed and efficiency.</a:t>
            </a:r>
            <a:endParaRPr sz="1400"/>
          </a:p>
          <a:p>
            <a:pPr indent="-317500" lvl="1" marL="914400" rtl="0" algn="l">
              <a:lnSpc>
                <a:spcPct val="115000"/>
              </a:lnSpc>
              <a:spcBef>
                <a:spcPts val="0"/>
              </a:spcBef>
              <a:spcAft>
                <a:spcPts val="0"/>
              </a:spcAft>
              <a:buClr>
                <a:schemeClr val="dk1"/>
              </a:buClr>
              <a:buSzPts val="1400"/>
              <a:buFont typeface="Arial"/>
              <a:buChar char="○"/>
            </a:pPr>
            <a:r>
              <a:rPr lang="en" sz="1400"/>
              <a:t>Virtualization Platforms: Managing and storing data for multiple virtualized environments.</a:t>
            </a:r>
            <a:endParaRPr sz="1400"/>
          </a:p>
          <a:p>
            <a:pPr indent="-317500" lvl="1" marL="914400" rtl="0" algn="l">
              <a:lnSpc>
                <a:spcPct val="115000"/>
              </a:lnSpc>
              <a:spcBef>
                <a:spcPts val="0"/>
              </a:spcBef>
              <a:spcAft>
                <a:spcPts val="0"/>
              </a:spcAft>
              <a:buClr>
                <a:schemeClr val="dk1"/>
              </a:buClr>
              <a:buSzPts val="1400"/>
              <a:buFont typeface="Arial"/>
              <a:buChar char="○"/>
            </a:pPr>
            <a:r>
              <a:rPr lang="en" sz="1400"/>
              <a:t>Data-Intensive Applications: Supporting applications requiring fast access to large volumes of data.</a:t>
            </a:r>
            <a:endParaRPr sz="1400"/>
          </a:p>
          <a:p>
            <a:pPr indent="-317500" lvl="0" marL="457200" rtl="0" algn="l">
              <a:lnSpc>
                <a:spcPct val="115000"/>
              </a:lnSpc>
              <a:spcBef>
                <a:spcPts val="0"/>
              </a:spcBef>
              <a:spcAft>
                <a:spcPts val="0"/>
              </a:spcAft>
              <a:buClr>
                <a:schemeClr val="dk1"/>
              </a:buClr>
              <a:buSzPts val="1400"/>
              <a:buFont typeface="Arial"/>
              <a:buChar char="●"/>
            </a:pPr>
            <a:r>
              <a:rPr b="1" lang="en" sz="1400"/>
              <a:t>Circumstances for Choosing SAN</a:t>
            </a:r>
            <a:endParaRPr b="1" sz="1400"/>
          </a:p>
          <a:p>
            <a:pPr indent="-317500" lvl="1" marL="914400" rtl="0" algn="l">
              <a:lnSpc>
                <a:spcPct val="115000"/>
              </a:lnSpc>
              <a:spcBef>
                <a:spcPts val="0"/>
              </a:spcBef>
              <a:spcAft>
                <a:spcPts val="0"/>
              </a:spcAft>
              <a:buClr>
                <a:schemeClr val="dk1"/>
              </a:buClr>
              <a:buSzPts val="1400"/>
              <a:buFont typeface="Arial"/>
              <a:buChar char="○"/>
            </a:pPr>
            <a:r>
              <a:rPr lang="en" sz="1400"/>
              <a:t>Performance Sensitivity: Ideal when high-speed data access and transfer rates are critical.</a:t>
            </a:r>
            <a:endParaRPr sz="1400"/>
          </a:p>
          <a:p>
            <a:pPr indent="-317500" lvl="1" marL="914400" rtl="0" algn="l">
              <a:lnSpc>
                <a:spcPct val="115000"/>
              </a:lnSpc>
              <a:spcBef>
                <a:spcPts val="0"/>
              </a:spcBef>
              <a:spcAft>
                <a:spcPts val="0"/>
              </a:spcAft>
              <a:buClr>
                <a:schemeClr val="dk1"/>
              </a:buClr>
              <a:buSzPts val="1400"/>
              <a:buFont typeface="Arial"/>
              <a:buChar char="○"/>
            </a:pPr>
            <a:r>
              <a:rPr lang="en" sz="1400"/>
              <a:t>Scalability Needs: Suitable for environments that require scaling storage capacity and performance separately.</a:t>
            </a:r>
            <a:endParaRPr sz="1400"/>
          </a:p>
          <a:p>
            <a:pPr indent="-317500" lvl="1" marL="914400" rtl="0" algn="l">
              <a:lnSpc>
                <a:spcPct val="115000"/>
              </a:lnSpc>
              <a:spcBef>
                <a:spcPts val="0"/>
              </a:spcBef>
              <a:spcAft>
                <a:spcPts val="0"/>
              </a:spcAft>
              <a:buClr>
                <a:schemeClr val="dk1"/>
              </a:buClr>
              <a:buSzPts val="1400"/>
              <a:buFont typeface="Arial"/>
              <a:buChar char="○"/>
            </a:pPr>
            <a:r>
              <a:rPr lang="en" sz="1400"/>
              <a:t>Centralized Management: Beneficial for centralized storage management of complex data networks.</a:t>
            </a:r>
            <a:endParaRPr b="1"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SAN vs. NAS</a:t>
            </a:r>
            <a:endParaRPr/>
          </a:p>
        </p:txBody>
      </p:sp>
      <p:sp>
        <p:nvSpPr>
          <p:cNvPr id="246" name="Google Shape;246;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600"/>
              <a:t>NAS (Network-Attached Storage)</a:t>
            </a:r>
            <a:endParaRPr b="1" sz="1600"/>
          </a:p>
          <a:p>
            <a:pPr indent="-330200" lvl="0" marL="457200" rtl="0" algn="l">
              <a:lnSpc>
                <a:spcPct val="115000"/>
              </a:lnSpc>
              <a:spcBef>
                <a:spcPts val="1200"/>
              </a:spcBef>
              <a:spcAft>
                <a:spcPts val="0"/>
              </a:spcAft>
              <a:buClr>
                <a:schemeClr val="dk1"/>
              </a:buClr>
              <a:buSzPts val="1600"/>
              <a:buFont typeface="Arial"/>
              <a:buChar char="●"/>
            </a:pPr>
            <a:r>
              <a:rPr b="1" lang="en" sz="1600"/>
              <a:t>Use Cases</a:t>
            </a:r>
            <a:endParaRPr b="1" sz="1600"/>
          </a:p>
          <a:p>
            <a:pPr indent="-330200" lvl="1" marL="914400" rtl="0" algn="l">
              <a:lnSpc>
                <a:spcPct val="115000"/>
              </a:lnSpc>
              <a:spcBef>
                <a:spcPts val="0"/>
              </a:spcBef>
              <a:spcAft>
                <a:spcPts val="0"/>
              </a:spcAft>
              <a:buClr>
                <a:schemeClr val="dk1"/>
              </a:buClr>
              <a:buSzPts val="1600"/>
              <a:buFont typeface="Arial"/>
              <a:buChar char="○"/>
            </a:pPr>
            <a:r>
              <a:rPr lang="en" sz="1600"/>
              <a:t>File Sharing: Centralized location for storing and accessing files within a network.</a:t>
            </a:r>
            <a:endParaRPr sz="1600"/>
          </a:p>
          <a:p>
            <a:pPr indent="-330200" lvl="1" marL="914400" rtl="0" algn="l">
              <a:lnSpc>
                <a:spcPct val="115000"/>
              </a:lnSpc>
              <a:spcBef>
                <a:spcPts val="0"/>
              </a:spcBef>
              <a:spcAft>
                <a:spcPts val="0"/>
              </a:spcAft>
              <a:buClr>
                <a:schemeClr val="dk1"/>
              </a:buClr>
              <a:buSzPts val="1600"/>
              <a:buFont typeface="Arial"/>
              <a:buChar char="○"/>
            </a:pPr>
            <a:r>
              <a:rPr lang="en" sz="1600"/>
              <a:t>Media Streaming: Efficient storage and streaming of media files across a network.</a:t>
            </a:r>
            <a:endParaRPr sz="1600"/>
          </a:p>
          <a:p>
            <a:pPr indent="-330200" lvl="1" marL="914400" rtl="0" algn="l">
              <a:lnSpc>
                <a:spcPct val="115000"/>
              </a:lnSpc>
              <a:spcBef>
                <a:spcPts val="0"/>
              </a:spcBef>
              <a:spcAft>
                <a:spcPts val="0"/>
              </a:spcAft>
              <a:buClr>
                <a:schemeClr val="dk1"/>
              </a:buClr>
              <a:buSzPts val="1600"/>
              <a:buFont typeface="Arial"/>
              <a:buChar char="○"/>
            </a:pPr>
            <a:r>
              <a:rPr lang="en" sz="1600"/>
              <a:t>IP Camera Storage: Recording and storing footage from IP surveillance cameras.</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Circumstances for Choosing NAS</a:t>
            </a:r>
            <a:endParaRPr b="1" sz="1600"/>
          </a:p>
          <a:p>
            <a:pPr indent="-330200" lvl="1" marL="914400" rtl="0" algn="l">
              <a:lnSpc>
                <a:spcPct val="115000"/>
              </a:lnSpc>
              <a:spcBef>
                <a:spcPts val="0"/>
              </a:spcBef>
              <a:spcAft>
                <a:spcPts val="0"/>
              </a:spcAft>
              <a:buClr>
                <a:schemeClr val="dk1"/>
              </a:buClr>
              <a:buSzPts val="1600"/>
              <a:buFont typeface="Arial"/>
              <a:buChar char="○"/>
            </a:pPr>
            <a:r>
              <a:rPr lang="en" sz="1600"/>
              <a:t>Cost-Effectiveness: More affordable option for basic storage needs.</a:t>
            </a:r>
            <a:endParaRPr sz="1600"/>
          </a:p>
          <a:p>
            <a:pPr indent="-330200" lvl="1" marL="914400" rtl="0" algn="l">
              <a:lnSpc>
                <a:spcPct val="115000"/>
              </a:lnSpc>
              <a:spcBef>
                <a:spcPts val="0"/>
              </a:spcBef>
              <a:spcAft>
                <a:spcPts val="0"/>
              </a:spcAft>
              <a:buClr>
                <a:schemeClr val="dk1"/>
              </a:buClr>
              <a:buSzPts val="1600"/>
              <a:buFont typeface="Arial"/>
              <a:buChar char="○"/>
            </a:pPr>
            <a:r>
              <a:rPr lang="en" sz="1600"/>
              <a:t>Simplicity and Ease of Use: User-friendly for small businesses and home users.</a:t>
            </a:r>
            <a:endParaRPr sz="1600"/>
          </a:p>
          <a:p>
            <a:pPr indent="-330200" lvl="1" marL="914400" rtl="0" algn="l">
              <a:lnSpc>
                <a:spcPct val="115000"/>
              </a:lnSpc>
              <a:spcBef>
                <a:spcPts val="0"/>
              </a:spcBef>
              <a:spcAft>
                <a:spcPts val="0"/>
              </a:spcAft>
              <a:buClr>
                <a:schemeClr val="dk1"/>
              </a:buClr>
              <a:buSzPts val="1600"/>
              <a:buFont typeface="Arial"/>
              <a:buChar char="○"/>
            </a:pPr>
            <a:r>
              <a:rPr lang="en" sz="1600"/>
              <a:t>File-Level Operations: Ideal for environments that require file sharing and regular file-level access.</a:t>
            </a:r>
            <a:endParaRPr sz="25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Important Considerations: </a:t>
            </a:r>
            <a:r>
              <a:rPr lang="en" sz="3000">
                <a:highlight>
                  <a:srgbClr val="FFFF00"/>
                </a:highlight>
              </a:rPr>
              <a:t>Boot Operations</a:t>
            </a:r>
            <a:endParaRPr sz="3000">
              <a:highlight>
                <a:srgbClr val="FFFF00"/>
              </a:highlight>
            </a:endParaRPr>
          </a:p>
        </p:txBody>
      </p:sp>
      <p:sp>
        <p:nvSpPr>
          <p:cNvPr id="252" name="Google Shape;252;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chemeClr val="dk1"/>
              </a:buClr>
              <a:buSzPts val="1700"/>
              <a:buFont typeface="Arial"/>
              <a:buChar char="●"/>
            </a:pPr>
            <a:r>
              <a:rPr b="1" lang="en" sz="1700"/>
              <a:t>NAS:</a:t>
            </a:r>
            <a:r>
              <a:rPr lang="en" sz="1700"/>
              <a:t> Normally, you cannot directly boot from a NAS, as it provides file-level storage. However, certain NAS solutions can support booting operations for specific systems by offering NFS or iSCSI support.</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SAN:</a:t>
            </a:r>
            <a:r>
              <a:rPr lang="en" sz="1700"/>
              <a:t> SAN systems are more typically used for booting purposes in enterprise environments. For example, ESXi hosts can boot from a SAN using iSCSI or Fibre Channel protocols. This is particularly relevant for hypervisor compatibility, where SANs can provide an iSCSI target in the NIC for booting host machines like ESXi.</a:t>
            </a:r>
            <a:endParaRPr sz="3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Important Considerations: </a:t>
            </a:r>
            <a:r>
              <a:rPr lang="en" sz="2700">
                <a:highlight>
                  <a:srgbClr val="FFFF00"/>
                </a:highlight>
              </a:rPr>
              <a:t>Specific Device Support</a:t>
            </a:r>
            <a:endParaRPr sz="2700">
              <a:highlight>
                <a:srgbClr val="FFFF00"/>
              </a:highlight>
            </a:endParaRPr>
          </a:p>
        </p:txBody>
      </p:sp>
      <p:sp>
        <p:nvSpPr>
          <p:cNvPr id="258" name="Google Shape;258;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IP Cameras:</a:t>
            </a:r>
            <a:r>
              <a:rPr lang="en" sz="1800"/>
              <a:t> These devices generally require file-based storage and are commonly configured to store footage directly on a NAS device. SAN systems are less suitable for this purpose due to their block-level storage nature.</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Virtual Environment Booting:</a:t>
            </a:r>
            <a:r>
              <a:rPr lang="en" sz="1800"/>
              <a:t> In virtualized environments, hypervisors such as ESXi can boot from SAN environments using iSCSI or Fibre Channel. While NAS devices typically do not support direct booting for such environments, some NAS systems can emulate SAN behavior using iSCSI, offering an alternative solution for virtual environment booting​​.</a:t>
            </a:r>
            <a:endParaRPr sz="3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NAS Integration with Hyper-V and VMware vSphere</a:t>
            </a:r>
            <a:endParaRPr sz="2600"/>
          </a:p>
        </p:txBody>
      </p:sp>
      <p:sp>
        <p:nvSpPr>
          <p:cNvPr id="264" name="Google Shape;264;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chemeClr val="dk1"/>
              </a:buClr>
              <a:buSzPts val="1900"/>
              <a:buFont typeface="Arial"/>
              <a:buChar char="●"/>
            </a:pPr>
            <a:r>
              <a:rPr b="1" lang="en" sz="1900"/>
              <a:t>High-Performance Storage Backend:</a:t>
            </a:r>
            <a:r>
              <a:rPr lang="en" sz="1900"/>
              <a:t> NAS with SMB 3.x, Hyper-V over SMB, VMware vSphere, and NAS.</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VM Live Migration:</a:t>
            </a:r>
            <a:r>
              <a:rPr lang="en" sz="1900"/>
              <a:t> Hyper-V Live Migration, VMware vMotion.</a:t>
            </a:r>
            <a:endParaRPr sz="1900"/>
          </a:p>
          <a:p>
            <a:pPr indent="-349250" lvl="0" marL="457200" rtl="0" algn="l">
              <a:lnSpc>
                <a:spcPct val="115000"/>
              </a:lnSpc>
              <a:spcBef>
                <a:spcPts val="0"/>
              </a:spcBef>
              <a:spcAft>
                <a:spcPts val="0"/>
              </a:spcAft>
              <a:buClr>
                <a:schemeClr val="dk1"/>
              </a:buClr>
              <a:buSzPts val="1900"/>
              <a:buFont typeface="Arial"/>
              <a:buChar char="●"/>
            </a:pPr>
            <a:r>
              <a:rPr b="1" lang="en" sz="1900"/>
              <a:t>High Availability:</a:t>
            </a:r>
            <a:r>
              <a:rPr lang="en" sz="1900"/>
              <a:t> Hyper-V and SMB, VMware HA with NAS.</a:t>
            </a:r>
            <a:endParaRPr sz="3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SMB Direct</a:t>
            </a:r>
            <a:endParaRPr/>
          </a:p>
        </p:txBody>
      </p:sp>
      <p:sp>
        <p:nvSpPr>
          <p:cNvPr id="270" name="Google Shape;270;p4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Clr>
                <a:schemeClr val="dk1"/>
              </a:buClr>
              <a:buSzPts val="1600"/>
              <a:buFont typeface="Arial"/>
              <a:buChar char="●"/>
            </a:pPr>
            <a:r>
              <a:rPr b="1" lang="en" sz="1600"/>
              <a:t>Overview of SMB Direct</a:t>
            </a:r>
            <a:endParaRPr b="1" sz="1600"/>
          </a:p>
          <a:p>
            <a:pPr indent="-330200" lvl="1" marL="914400" rtl="0" algn="l">
              <a:lnSpc>
                <a:spcPct val="115000"/>
              </a:lnSpc>
              <a:spcBef>
                <a:spcPts val="0"/>
              </a:spcBef>
              <a:spcAft>
                <a:spcPts val="0"/>
              </a:spcAft>
              <a:buClr>
                <a:schemeClr val="dk1"/>
              </a:buClr>
              <a:buSzPts val="1600"/>
              <a:buFont typeface="Arial"/>
              <a:buChar char="○"/>
            </a:pPr>
            <a:r>
              <a:rPr lang="en" sz="1600"/>
              <a:t>Definition: SMB Direct, also known as SMB over RDMA (Remote Direct Memory Access), is an extension of the Server Message Block (SMB) protocol.</a:t>
            </a:r>
            <a:endParaRPr sz="1600"/>
          </a:p>
          <a:p>
            <a:pPr indent="-330200" lvl="1" marL="914400" rtl="0" algn="l">
              <a:lnSpc>
                <a:spcPct val="115000"/>
              </a:lnSpc>
              <a:spcBef>
                <a:spcPts val="0"/>
              </a:spcBef>
              <a:spcAft>
                <a:spcPts val="0"/>
              </a:spcAft>
              <a:buClr>
                <a:schemeClr val="dk1"/>
              </a:buClr>
              <a:buSzPts val="1600"/>
              <a:buFont typeface="Arial"/>
              <a:buChar char="○"/>
            </a:pPr>
            <a:r>
              <a:rPr lang="en" sz="1600"/>
              <a:t>Functionality: Enables high-throughput, low-latency networking with low CPU utilization.</a:t>
            </a:r>
            <a:endParaRPr sz="1600"/>
          </a:p>
          <a:p>
            <a:pPr indent="-330200" lvl="1" marL="914400" rtl="0" algn="l">
              <a:lnSpc>
                <a:spcPct val="115000"/>
              </a:lnSpc>
              <a:spcBef>
                <a:spcPts val="0"/>
              </a:spcBef>
              <a:spcAft>
                <a:spcPts val="0"/>
              </a:spcAft>
              <a:buClr>
                <a:schemeClr val="dk1"/>
              </a:buClr>
              <a:buSzPts val="1600"/>
              <a:buFont typeface="Arial"/>
              <a:buChar char="○"/>
            </a:pPr>
            <a:r>
              <a:rPr lang="en" sz="1600"/>
              <a:t>Key Benefit: Provides faster data transfers for applications accessing files on an SMB file server.</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Technology Behind SMB Direct</a:t>
            </a:r>
            <a:endParaRPr b="1" sz="1600"/>
          </a:p>
          <a:p>
            <a:pPr indent="-330200" lvl="1" marL="914400" rtl="0" algn="l">
              <a:lnSpc>
                <a:spcPct val="115000"/>
              </a:lnSpc>
              <a:spcBef>
                <a:spcPts val="0"/>
              </a:spcBef>
              <a:spcAft>
                <a:spcPts val="0"/>
              </a:spcAft>
              <a:buClr>
                <a:schemeClr val="dk1"/>
              </a:buClr>
              <a:buSzPts val="1600"/>
              <a:buFont typeface="Arial"/>
              <a:buChar char="○"/>
            </a:pPr>
            <a:r>
              <a:rPr lang="en" sz="1600"/>
              <a:t>SMB over RDMA: Utilizes RDMA-capable network adapters for direct memory-to-memory data transfers.</a:t>
            </a:r>
            <a:endParaRPr sz="1600"/>
          </a:p>
          <a:p>
            <a:pPr indent="-330200" lvl="1" marL="914400" rtl="0" algn="l">
              <a:lnSpc>
                <a:spcPct val="115000"/>
              </a:lnSpc>
              <a:spcBef>
                <a:spcPts val="0"/>
              </a:spcBef>
              <a:spcAft>
                <a:spcPts val="0"/>
              </a:spcAft>
              <a:buClr>
                <a:schemeClr val="dk1"/>
              </a:buClr>
              <a:buSzPts val="1600"/>
              <a:buFont typeface="Arial"/>
              <a:buChar char="○"/>
            </a:pPr>
            <a:r>
              <a:rPr lang="en" sz="1600"/>
              <a:t>Protocols Supported: Works with InfiniBand, iWARP (Internet Wide Area RDMA Protocol), and RoCE (RDMA over Converged Ethernet).</a:t>
            </a:r>
            <a:endParaRPr sz="25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SMB Direct in Practice</a:t>
            </a:r>
            <a:endParaRPr/>
          </a:p>
        </p:txBody>
      </p:sp>
      <p:sp>
        <p:nvSpPr>
          <p:cNvPr id="276" name="Google Shape;276;p4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36550" lvl="0" marL="457200" rtl="0" algn="l">
              <a:lnSpc>
                <a:spcPct val="115000"/>
              </a:lnSpc>
              <a:spcBef>
                <a:spcPts val="0"/>
              </a:spcBef>
              <a:spcAft>
                <a:spcPts val="0"/>
              </a:spcAft>
              <a:buClr>
                <a:schemeClr val="dk1"/>
              </a:buClr>
              <a:buSzPts val="1700"/>
              <a:buFont typeface="Arial"/>
              <a:buChar char="●"/>
            </a:pPr>
            <a:r>
              <a:rPr b="1" lang="en" sz="1700"/>
              <a:t>Use Cases for SMB Direct</a:t>
            </a:r>
            <a:endParaRPr b="1" sz="1700"/>
          </a:p>
          <a:p>
            <a:pPr indent="-336550" lvl="1" marL="914400" rtl="0" algn="l">
              <a:lnSpc>
                <a:spcPct val="115000"/>
              </a:lnSpc>
              <a:spcBef>
                <a:spcPts val="0"/>
              </a:spcBef>
              <a:spcAft>
                <a:spcPts val="0"/>
              </a:spcAft>
              <a:buClr>
                <a:schemeClr val="dk1"/>
              </a:buClr>
              <a:buSzPts val="1700"/>
              <a:buFont typeface="Arial"/>
              <a:buChar char="○"/>
            </a:pPr>
            <a:r>
              <a:rPr lang="en" sz="1700"/>
              <a:t>High-Performance Computing (HPC): Ideal for environments requiring high data throughput and low latency.</a:t>
            </a:r>
            <a:endParaRPr sz="1700"/>
          </a:p>
          <a:p>
            <a:pPr indent="-336550" lvl="1" marL="914400" rtl="0" algn="l">
              <a:lnSpc>
                <a:spcPct val="115000"/>
              </a:lnSpc>
              <a:spcBef>
                <a:spcPts val="0"/>
              </a:spcBef>
              <a:spcAft>
                <a:spcPts val="0"/>
              </a:spcAft>
              <a:buClr>
                <a:schemeClr val="dk1"/>
              </a:buClr>
              <a:buSzPts val="1700"/>
              <a:buFont typeface="Arial"/>
              <a:buChar char="○"/>
            </a:pPr>
            <a:r>
              <a:rPr lang="en" sz="1700"/>
              <a:t>File Servers: Enhances file access speeds for applications like SQL Server and Hyper-V over SMB.</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Limitations and Considerations</a:t>
            </a:r>
            <a:endParaRPr b="1" sz="1700"/>
          </a:p>
          <a:p>
            <a:pPr indent="-336550" lvl="1" marL="914400" rtl="0" algn="l">
              <a:lnSpc>
                <a:spcPct val="115000"/>
              </a:lnSpc>
              <a:spcBef>
                <a:spcPts val="0"/>
              </a:spcBef>
              <a:spcAft>
                <a:spcPts val="0"/>
              </a:spcAft>
              <a:buClr>
                <a:schemeClr val="dk1"/>
              </a:buClr>
              <a:buSzPts val="1700"/>
              <a:buFont typeface="Arial"/>
              <a:buChar char="○"/>
            </a:pPr>
            <a:r>
              <a:rPr lang="en" sz="1700"/>
              <a:t>Compatibility: Requires RDMA-capable network adapters and switches.</a:t>
            </a:r>
            <a:endParaRPr sz="1700"/>
          </a:p>
          <a:p>
            <a:pPr indent="-336550" lvl="1" marL="914400" rtl="0" algn="l">
              <a:lnSpc>
                <a:spcPct val="115000"/>
              </a:lnSpc>
              <a:spcBef>
                <a:spcPts val="0"/>
              </a:spcBef>
              <a:spcAft>
                <a:spcPts val="0"/>
              </a:spcAft>
              <a:buClr>
                <a:schemeClr val="dk1"/>
              </a:buClr>
              <a:buSzPts val="1700"/>
              <a:buFont typeface="Arial"/>
              <a:buChar char="○"/>
            </a:pPr>
            <a:r>
              <a:rPr lang="en" sz="1700"/>
              <a:t>Windows Environment: Primarily implemented in Windows Server environments.</a:t>
            </a:r>
            <a:endParaRPr sz="1700"/>
          </a:p>
          <a:p>
            <a:pPr indent="-336550" lvl="1" marL="914400" rtl="0" algn="l">
              <a:lnSpc>
                <a:spcPct val="115000"/>
              </a:lnSpc>
              <a:spcBef>
                <a:spcPts val="0"/>
              </a:spcBef>
              <a:spcAft>
                <a:spcPts val="0"/>
              </a:spcAft>
              <a:buClr>
                <a:schemeClr val="dk1"/>
              </a:buClr>
              <a:buSzPts val="1700"/>
              <a:buFont typeface="Arial"/>
              <a:buChar char="○"/>
            </a:pPr>
            <a:r>
              <a:rPr lang="en" sz="1700"/>
              <a:t>NAS Limitation: Not typically available in Network Attached Storage (NAS) systems, as it's mainly a feature for Windows File Shares.</a:t>
            </a:r>
            <a:endParaRPr sz="2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RDMA</a:t>
            </a:r>
            <a:endParaRPr/>
          </a:p>
        </p:txBody>
      </p:sp>
      <p:sp>
        <p:nvSpPr>
          <p:cNvPr id="282" name="Google Shape;282;p50"/>
          <p:cNvSpPr txBox="1"/>
          <p:nvPr>
            <p:ph idx="1" type="body"/>
          </p:nvPr>
        </p:nvSpPr>
        <p:spPr>
          <a:xfrm>
            <a:off x="311700" y="1152475"/>
            <a:ext cx="164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a:t>
            </a:r>
            <a:endParaRPr/>
          </a:p>
          <a:p>
            <a:pPr indent="0" lvl="0" marL="0" rtl="0" algn="l">
              <a:spcBef>
                <a:spcPts val="1200"/>
              </a:spcBef>
              <a:spcAft>
                <a:spcPts val="1200"/>
              </a:spcAft>
              <a:buNone/>
            </a:pPr>
            <a:r>
              <a:rPr lang="en" u="sng">
                <a:solidFill>
                  <a:schemeClr val="hlink"/>
                </a:solidFill>
                <a:hlinkClick r:id="rId3"/>
              </a:rPr>
              <a:t>VMware</a:t>
            </a:r>
            <a:endParaRPr/>
          </a:p>
        </p:txBody>
      </p:sp>
      <p:pic>
        <p:nvPicPr>
          <p:cNvPr id="283" name="Google Shape;283;p50"/>
          <p:cNvPicPr preferRelativeResize="0"/>
          <p:nvPr/>
        </p:nvPicPr>
        <p:blipFill>
          <a:blip r:embed="rId4">
            <a:alphaModFix/>
          </a:blip>
          <a:stretch>
            <a:fillRect/>
          </a:stretch>
        </p:blipFill>
        <p:spPr>
          <a:xfrm>
            <a:off x="2310278" y="1000075"/>
            <a:ext cx="6574270" cy="39910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Without RDMA</a:t>
            </a:r>
            <a:endParaRPr/>
          </a:p>
        </p:txBody>
      </p:sp>
      <p:sp>
        <p:nvSpPr>
          <p:cNvPr id="289" name="Google Shape;289;p51"/>
          <p:cNvSpPr txBox="1"/>
          <p:nvPr>
            <p:ph idx="1" type="body"/>
          </p:nvPr>
        </p:nvSpPr>
        <p:spPr>
          <a:xfrm>
            <a:off x="311700" y="1152475"/>
            <a:ext cx="1642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Source</a:t>
            </a:r>
            <a:endParaRPr/>
          </a:p>
          <a:p>
            <a:pPr indent="0" lvl="0" marL="0" rtl="0" algn="l">
              <a:spcBef>
                <a:spcPts val="1200"/>
              </a:spcBef>
              <a:spcAft>
                <a:spcPts val="1200"/>
              </a:spcAft>
              <a:buNone/>
            </a:pPr>
            <a:r>
              <a:rPr lang="en" u="sng">
                <a:solidFill>
                  <a:schemeClr val="hlink"/>
                </a:solidFill>
                <a:hlinkClick r:id="rId3"/>
              </a:rPr>
              <a:t>VMware</a:t>
            </a:r>
            <a:endParaRPr/>
          </a:p>
        </p:txBody>
      </p:sp>
      <p:pic>
        <p:nvPicPr>
          <p:cNvPr id="290" name="Google Shape;290;p51"/>
          <p:cNvPicPr preferRelativeResize="0"/>
          <p:nvPr/>
        </p:nvPicPr>
        <p:blipFill>
          <a:blip r:embed="rId4">
            <a:alphaModFix/>
          </a:blip>
          <a:stretch>
            <a:fillRect/>
          </a:stretch>
        </p:blipFill>
        <p:spPr>
          <a:xfrm>
            <a:off x="2106600" y="1170125"/>
            <a:ext cx="6885001" cy="283863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RDMA</a:t>
            </a:r>
            <a:endParaRPr/>
          </a:p>
        </p:txBody>
      </p:sp>
      <p:sp>
        <p:nvSpPr>
          <p:cNvPr id="296" name="Google Shape;296;p5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Definition:</a:t>
            </a:r>
            <a:r>
              <a:rPr lang="en" sz="1800"/>
              <a:t> RDMA is an extension of Direct Memory Access (DMA) technology, enabling direct memory access from one computer to another without CPU intervention.</a:t>
            </a:r>
            <a:endParaRPr sz="1800"/>
          </a:p>
          <a:p>
            <a:pPr indent="0" lvl="0" marL="0" rtl="0" algn="l">
              <a:spcBef>
                <a:spcPts val="1200"/>
              </a:spcBef>
              <a:spcAft>
                <a:spcPts val="1200"/>
              </a:spcAft>
              <a:buNone/>
            </a:pPr>
            <a:r>
              <a:rPr b="1" lang="en" sz="1800"/>
              <a:t>Benefits:</a:t>
            </a:r>
            <a:r>
              <a:rPr lang="en" sz="1800"/>
              <a:t> Significantly improves throughput and performance while reducing latency. This efficiency is due to the reduced need for CPU cycles to process network packets.</a:t>
            </a:r>
            <a:endParaRPr sz="3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3"/>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900"/>
              <a:t>Comparing Traditional Data Path and RDMA</a:t>
            </a:r>
            <a:endParaRPr sz="2900"/>
          </a:p>
        </p:txBody>
      </p:sp>
      <p:sp>
        <p:nvSpPr>
          <p:cNvPr id="302" name="Google Shape;302;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Font typeface="Arial"/>
              <a:buChar char="●"/>
            </a:pPr>
            <a:r>
              <a:rPr b="1" lang="en" sz="1600"/>
              <a:t>Traditional Data Path:</a:t>
            </a:r>
            <a:r>
              <a:rPr lang="en" sz="1600"/>
              <a:t> Involves multiple layers from the user space sockets API down to the network fabric, consuming substantial CPU cycles.</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RDMA Path:</a:t>
            </a:r>
            <a:r>
              <a:rPr lang="en" sz="1600"/>
              <a:t> Bypasses kernel processing, directly accessing Host Channel Adapter (HCA). This results in lower latency and higher data throughput.</a:t>
            </a:r>
            <a:endParaRPr sz="29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of RDMA Transport Methods</a:t>
            </a:r>
            <a:endParaRPr/>
          </a:p>
        </p:txBody>
      </p:sp>
      <p:sp>
        <p:nvSpPr>
          <p:cNvPr id="308" name="Google Shape;308;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Clr>
                <a:schemeClr val="dk1"/>
              </a:buClr>
              <a:buSzPts val="1700"/>
              <a:buFont typeface="Arial"/>
              <a:buChar char="●"/>
            </a:pPr>
            <a:r>
              <a:rPr b="1" lang="en" sz="1700"/>
              <a:t>InfiniBand</a:t>
            </a:r>
            <a:r>
              <a:rPr lang="en" sz="1700"/>
              <a:t>: High-speed, low-latency networking primarily used in high-performance computing (HPC). Offers benefits in speed and efficiency.</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RDMA over Converged Ethernet (RoCE)</a:t>
            </a:r>
            <a:r>
              <a:rPr lang="en" sz="1700"/>
              <a:t>: Utilizes Ethernet network while retaining the low-latency and high-throughput characteristics of RDMA.</a:t>
            </a:r>
            <a:endParaRPr sz="1700"/>
          </a:p>
          <a:p>
            <a:pPr indent="-336550" lvl="0" marL="457200" rtl="0" algn="l">
              <a:lnSpc>
                <a:spcPct val="115000"/>
              </a:lnSpc>
              <a:spcBef>
                <a:spcPts val="0"/>
              </a:spcBef>
              <a:spcAft>
                <a:spcPts val="0"/>
              </a:spcAft>
              <a:buClr>
                <a:schemeClr val="dk1"/>
              </a:buClr>
              <a:buSzPts val="1700"/>
              <a:buFont typeface="Arial"/>
              <a:buChar char="●"/>
            </a:pPr>
            <a:r>
              <a:rPr b="1" lang="en" sz="1700"/>
              <a:t>iWARP</a:t>
            </a:r>
            <a:r>
              <a:rPr lang="en" sz="1700"/>
              <a:t>: Internet Wide Area RDMA Protocol, enabling RDMA over TCP networks, making it suitable for long-distance communication.</a:t>
            </a:r>
            <a:endParaRPr sz="3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SMB Direct and its Role in RDMA</a:t>
            </a:r>
            <a:endParaRPr/>
          </a:p>
        </p:txBody>
      </p:sp>
      <p:sp>
        <p:nvSpPr>
          <p:cNvPr id="314" name="Google Shape;314;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Font typeface="Arial"/>
              <a:buChar char="●"/>
            </a:pPr>
            <a:r>
              <a:rPr b="1" lang="en" sz="1800"/>
              <a:t>SMB Direct</a:t>
            </a:r>
            <a:r>
              <a:rPr lang="en" sz="1800"/>
              <a:t>: A feature of the Server Message Block (SMB) protocol, leveraging RDMA technology for network file sharing.</a:t>
            </a:r>
            <a:endParaRPr sz="1800"/>
          </a:p>
          <a:p>
            <a:pPr indent="-342900" lvl="0" marL="457200" rtl="0" algn="l">
              <a:lnSpc>
                <a:spcPct val="115000"/>
              </a:lnSpc>
              <a:spcBef>
                <a:spcPts val="0"/>
              </a:spcBef>
              <a:spcAft>
                <a:spcPts val="0"/>
              </a:spcAft>
              <a:buClr>
                <a:schemeClr val="dk1"/>
              </a:buClr>
              <a:buSzPts val="1800"/>
              <a:buFont typeface="Arial"/>
              <a:buChar char="●"/>
            </a:pPr>
            <a:r>
              <a:rPr b="1" lang="en" sz="1800"/>
              <a:t>Efficiency in Data Transfer</a:t>
            </a:r>
            <a:r>
              <a:rPr lang="en" sz="1800"/>
              <a:t>: SMB Direct allows for more efficient file access and transfer, significantly reducing CPU load and enhancing throughput.</a:t>
            </a:r>
            <a:endParaRPr sz="3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