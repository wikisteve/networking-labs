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embeddedFontLst>
    <p:embeddedFont>
      <p:font typeface="Amatic SC"/>
      <p:regular r:id="rId37"/>
      <p:bold r:id="rId38"/>
    </p:embeddedFont>
    <p:embeddedFont>
      <p:font typeface="Source Code Pro"/>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ourceCodePro-bold.fntdata"/><Relationship Id="rId20" Type="http://schemas.openxmlformats.org/officeDocument/2006/relationships/slide" Target="slides/slide15.xml"/><Relationship Id="rId42" Type="http://schemas.openxmlformats.org/officeDocument/2006/relationships/font" Target="fonts/SourceCodePro-boldItalic.fntdata"/><Relationship Id="rId41" Type="http://schemas.openxmlformats.org/officeDocument/2006/relationships/font" Target="fonts/SourceCodePro-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AmaticSC-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SourceCodePro-regular.fntdata"/><Relationship Id="rId16" Type="http://schemas.openxmlformats.org/officeDocument/2006/relationships/slide" Target="slides/slide11.xml"/><Relationship Id="rId38" Type="http://schemas.openxmlformats.org/officeDocument/2006/relationships/font" Target="fonts/AmaticSC-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SLIDES_API153492131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SLIDES_API153492131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3c5669d47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3c5669d47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3c5669d474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3c5669d474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3c5669d474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3c5669d474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3c5669d474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3c5669d474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3c5669d474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3c5669d474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3c5669d474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3c5669d474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3c5669d474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3c5669d474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3c5669d474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3c5669d474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SLIDES_API22428078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SLIDES_API22428078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3c5669d474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3c5669d474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3c5669d474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3c5669d474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3c5669d474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3c5669d474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3c5669d474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3c5669d474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SLIDES_API171291182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SLIDES_API171291182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3c5669d474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3c5669d474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3c5669d474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3c5669d474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3c5669d474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3c5669d474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3c5669d474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3c5669d474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3c5669d474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3c5669d474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3c5669d474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3c5669d474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3c5669d474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3c5669d474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3c5669d474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3c5669d474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3c5669d474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3c5669d474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SLIDES_API56667301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SLIDES_API56667301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3c5669d474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23c5669d474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abe6eddbc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2abe6eddbc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3c5669d474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3c5669d474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3c5669d474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3c5669d474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3c5669d474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3c5669d474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2" name="Google Shape;12;p2"/>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19" name="Google Shape;19;p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5"/>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04800" y="309350"/>
            <a:ext cx="8537700" cy="7482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39" name="Google Shape;39;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0" name="Google Shape;40;p9"/>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0"/>
              </a:spcBef>
              <a:spcAft>
                <a:spcPts val="0"/>
              </a:spcAft>
              <a:buClr>
                <a:schemeClr val="accent1"/>
              </a:buClr>
              <a:buSzPts val="1400"/>
              <a:buChar char="○"/>
              <a:defRPr>
                <a:solidFill>
                  <a:schemeClr val="accent1"/>
                </a:solidFill>
                <a:highlight>
                  <a:schemeClr val="lt1"/>
                </a:highlight>
              </a:defRPr>
            </a:lvl2pPr>
            <a:lvl3pPr indent="-317500" lvl="2" marL="1371600">
              <a:spcBef>
                <a:spcPts val="0"/>
              </a:spcBef>
              <a:spcAft>
                <a:spcPts val="0"/>
              </a:spcAft>
              <a:buClr>
                <a:schemeClr val="accent1"/>
              </a:buClr>
              <a:buSzPts val="1400"/>
              <a:buChar char="■"/>
              <a:defRPr>
                <a:solidFill>
                  <a:schemeClr val="accent1"/>
                </a:solidFill>
                <a:highlight>
                  <a:schemeClr val="lt1"/>
                </a:highlight>
              </a:defRPr>
            </a:lvl3pPr>
            <a:lvl4pPr indent="-317500" lvl="3" marL="1828800">
              <a:spcBef>
                <a:spcPts val="0"/>
              </a:spcBef>
              <a:spcAft>
                <a:spcPts val="0"/>
              </a:spcAft>
              <a:buClr>
                <a:schemeClr val="accent1"/>
              </a:buClr>
              <a:buSzPts val="1400"/>
              <a:buChar char="●"/>
              <a:defRPr>
                <a:solidFill>
                  <a:schemeClr val="accent1"/>
                </a:solidFill>
                <a:highlight>
                  <a:schemeClr val="lt1"/>
                </a:highlight>
              </a:defRPr>
            </a:lvl4pPr>
            <a:lvl5pPr indent="-317500" lvl="4" marL="2286000">
              <a:spcBef>
                <a:spcPts val="0"/>
              </a:spcBef>
              <a:spcAft>
                <a:spcPts val="0"/>
              </a:spcAft>
              <a:buClr>
                <a:schemeClr val="accent1"/>
              </a:buClr>
              <a:buSzPts val="1400"/>
              <a:buChar char="○"/>
              <a:defRPr>
                <a:solidFill>
                  <a:schemeClr val="accent1"/>
                </a:solidFill>
                <a:highlight>
                  <a:schemeClr val="lt1"/>
                </a:highlight>
              </a:defRPr>
            </a:lvl5pPr>
            <a:lvl6pPr indent="-317500" lvl="5" marL="2743200">
              <a:spcBef>
                <a:spcPts val="0"/>
              </a:spcBef>
              <a:spcAft>
                <a:spcPts val="0"/>
              </a:spcAft>
              <a:buClr>
                <a:schemeClr val="accent1"/>
              </a:buClr>
              <a:buSzPts val="1400"/>
              <a:buChar char="■"/>
              <a:defRPr>
                <a:solidFill>
                  <a:schemeClr val="accent1"/>
                </a:solidFill>
                <a:highlight>
                  <a:schemeClr val="lt1"/>
                </a:highlight>
              </a:defRPr>
            </a:lvl6pPr>
            <a:lvl7pPr indent="-317500" lvl="6" marL="3200400">
              <a:spcBef>
                <a:spcPts val="0"/>
              </a:spcBef>
              <a:spcAft>
                <a:spcPts val="0"/>
              </a:spcAft>
              <a:buClr>
                <a:schemeClr val="accent1"/>
              </a:buClr>
              <a:buSzPts val="1400"/>
              <a:buChar char="●"/>
              <a:defRPr>
                <a:solidFill>
                  <a:schemeClr val="accent1"/>
                </a:solidFill>
                <a:highlight>
                  <a:schemeClr val="lt1"/>
                </a:highlight>
              </a:defRPr>
            </a:lvl7pPr>
            <a:lvl8pPr indent="-317500" lvl="7" marL="3657600">
              <a:spcBef>
                <a:spcPts val="0"/>
              </a:spcBef>
              <a:spcAft>
                <a:spcPts val="0"/>
              </a:spcAft>
              <a:buClr>
                <a:schemeClr val="accent1"/>
              </a:buClr>
              <a:buSzPts val="1400"/>
              <a:buChar char="○"/>
              <a:defRPr>
                <a:solidFill>
                  <a:schemeClr val="accent1"/>
                </a:solidFill>
                <a:highlight>
                  <a:schemeClr val="lt1"/>
                </a:highlight>
              </a:defRPr>
            </a:lvl8pPr>
            <a:lvl9pPr indent="-317500" lvl="8" marL="4114800">
              <a:spcBef>
                <a:spcPts val="0"/>
              </a:spcBef>
              <a:spcAft>
                <a:spcPts val="0"/>
              </a:spcAft>
              <a:buClr>
                <a:schemeClr val="accent1"/>
              </a:buClr>
              <a:buSzPts val="1400"/>
              <a:buChar char="■"/>
              <a:defRPr>
                <a:solidFill>
                  <a:schemeClr val="accent1"/>
                </a:solidFill>
                <a:highlight>
                  <a:schemeClr val="lt1"/>
                </a:highlight>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0"/>
              </a:spcBef>
              <a:spcAft>
                <a:spcPts val="0"/>
              </a:spcAft>
              <a:buClr>
                <a:schemeClr val="accent1"/>
              </a:buClr>
              <a:buSzPts val="1400"/>
              <a:buChar char="■"/>
              <a:defRPr>
                <a:solidFill>
                  <a:schemeClr val="accent1"/>
                </a:solidFill>
                <a:highlight>
                  <a:schemeClr val="dk1"/>
                </a:highlight>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7" name="Google Shape;7;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8.jp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cologix.com/data-centers/toronto/tor1/"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1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7.jpg"/><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Azure Fundamentals part 1</a:t>
            </a:r>
            <a:endParaRPr/>
          </a:p>
        </p:txBody>
      </p:sp>
      <p:sp>
        <p:nvSpPr>
          <p:cNvPr id="57" name="Google Shape;57;p13"/>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Describe core cloud concepts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p14"/>
          <p:cNvPicPr preferRelativeResize="0"/>
          <p:nvPr/>
        </p:nvPicPr>
        <p:blipFill>
          <a:blip r:embed="rId3">
            <a:alphaModFix/>
          </a:blip>
          <a:stretch>
            <a:fillRect/>
          </a:stretch>
        </p:blipFill>
        <p:spPr>
          <a:xfrm>
            <a:off x="1143000" y="0"/>
            <a:ext cx="6857999" cy="5143499"/>
          </a:xfrm>
          <a:prstGeom prst="rect">
            <a:avLst/>
          </a:prstGeom>
          <a:noFill/>
          <a:ln>
            <a:noFill/>
          </a:ln>
        </p:spPr>
      </p:pic>
      <p:pic>
        <p:nvPicPr>
          <p:cNvPr id="63" name="Google Shape;63;p14"/>
          <p:cNvPicPr preferRelativeResize="0"/>
          <p:nvPr/>
        </p:nvPicPr>
        <p:blipFill>
          <a:blip r:embed="rId4">
            <a:alphaModFix/>
          </a:blip>
          <a:stretch>
            <a:fillRect/>
          </a:stretch>
        </p:blipFill>
        <p:spPr>
          <a:xfrm>
            <a:off x="1143000" y="0"/>
            <a:ext cx="6857999"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Datacentre</a:t>
            </a:r>
            <a:endParaRPr/>
          </a:p>
        </p:txBody>
      </p:sp>
      <p:sp>
        <p:nvSpPr>
          <p:cNvPr id="69" name="Google Shape;69;p1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This was traditionally</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Co-location is also</a:t>
            </a:r>
            <a:endParaRPr/>
          </a:p>
          <a:p>
            <a:pPr indent="0" lvl="0" marL="0" rtl="0" algn="l">
              <a:spcBef>
                <a:spcPts val="1200"/>
              </a:spcBef>
              <a:spcAft>
                <a:spcPts val="0"/>
              </a:spcAft>
              <a:buNone/>
            </a:pPr>
            <a:r>
              <a:rPr lang="en"/>
              <a:t>An option</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 </a:t>
            </a:r>
            <a:endParaRPr/>
          </a:p>
        </p:txBody>
      </p:sp>
      <p:pic>
        <p:nvPicPr>
          <p:cNvPr id="70" name="Google Shape;70;p15"/>
          <p:cNvPicPr preferRelativeResize="0"/>
          <p:nvPr/>
        </p:nvPicPr>
        <p:blipFill>
          <a:blip r:embed="rId3">
            <a:alphaModFix/>
          </a:blip>
          <a:stretch>
            <a:fillRect/>
          </a:stretch>
        </p:blipFill>
        <p:spPr>
          <a:xfrm>
            <a:off x="3904450" y="1167675"/>
            <a:ext cx="4927850" cy="32900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Service</a:t>
            </a:r>
            <a:endParaRPr/>
          </a:p>
        </p:txBody>
      </p:sp>
      <p:sp>
        <p:nvSpPr>
          <p:cNvPr id="76" name="Google Shape;76;p1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KVM access</a:t>
            </a:r>
            <a:endParaRPr/>
          </a:p>
        </p:txBody>
      </p:sp>
      <p:pic>
        <p:nvPicPr>
          <p:cNvPr id="77" name="Google Shape;77;p16"/>
          <p:cNvPicPr preferRelativeResize="0"/>
          <p:nvPr/>
        </p:nvPicPr>
        <p:blipFill>
          <a:blip r:embed="rId3">
            <a:alphaModFix/>
          </a:blip>
          <a:stretch>
            <a:fillRect/>
          </a:stretch>
        </p:blipFill>
        <p:spPr>
          <a:xfrm>
            <a:off x="4482277" y="586975"/>
            <a:ext cx="3135300" cy="41817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this</a:t>
            </a:r>
            <a:endParaRPr/>
          </a:p>
        </p:txBody>
      </p:sp>
      <p:sp>
        <p:nvSpPr>
          <p:cNvPr id="83" name="Google Shape;83;p1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Hint</a:t>
            </a:r>
            <a:endParaRPr/>
          </a:p>
          <a:p>
            <a:pPr indent="0" lvl="0" marL="0" rtl="0" algn="l">
              <a:spcBef>
                <a:spcPts val="1200"/>
              </a:spcBef>
              <a:spcAft>
                <a:spcPts val="0"/>
              </a:spcAft>
              <a:buNone/>
            </a:pPr>
            <a:r>
              <a:rPr lang="en"/>
              <a:t>Nobody likes</a:t>
            </a:r>
            <a:endParaRPr/>
          </a:p>
          <a:p>
            <a:pPr indent="0" lvl="0" marL="0" rtl="0" algn="l">
              <a:spcBef>
                <a:spcPts val="1200"/>
              </a:spcBef>
              <a:spcAft>
                <a:spcPts val="1200"/>
              </a:spcAft>
              <a:buNone/>
            </a:pPr>
            <a:r>
              <a:rPr lang="en"/>
              <a:t>An outage</a:t>
            </a:r>
            <a:endParaRPr/>
          </a:p>
        </p:txBody>
      </p:sp>
      <p:pic>
        <p:nvPicPr>
          <p:cNvPr id="84" name="Google Shape;84;p17"/>
          <p:cNvPicPr preferRelativeResize="0"/>
          <p:nvPr/>
        </p:nvPicPr>
        <p:blipFill>
          <a:blip r:embed="rId3">
            <a:alphaModFix/>
          </a:blip>
          <a:stretch>
            <a:fillRect/>
          </a:stretch>
        </p:blipFill>
        <p:spPr>
          <a:xfrm>
            <a:off x="3444814" y="508862"/>
            <a:ext cx="4137887" cy="41257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this</a:t>
            </a:r>
            <a:endParaRPr/>
          </a:p>
        </p:txBody>
      </p:sp>
      <p:sp>
        <p:nvSpPr>
          <p:cNvPr id="90" name="Google Shape;90;p1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Hint</a:t>
            </a:r>
            <a:endParaRPr/>
          </a:p>
          <a:p>
            <a:pPr indent="0" lvl="0" marL="0" rtl="0" algn="l">
              <a:spcBef>
                <a:spcPts val="1200"/>
              </a:spcBef>
              <a:spcAft>
                <a:spcPts val="0"/>
              </a:spcAft>
              <a:buNone/>
            </a:pPr>
            <a:r>
              <a:rPr lang="en"/>
              <a:t>Nobody likes</a:t>
            </a:r>
            <a:endParaRPr/>
          </a:p>
          <a:p>
            <a:pPr indent="0" lvl="0" marL="0" rtl="0" algn="l">
              <a:spcBef>
                <a:spcPts val="1200"/>
              </a:spcBef>
              <a:spcAft>
                <a:spcPts val="1200"/>
              </a:spcAft>
              <a:buNone/>
            </a:pPr>
            <a:r>
              <a:rPr lang="en"/>
              <a:t>An outage</a:t>
            </a:r>
            <a:endParaRPr/>
          </a:p>
        </p:txBody>
      </p:sp>
      <p:pic>
        <p:nvPicPr>
          <p:cNvPr id="91" name="Google Shape;91;p18"/>
          <p:cNvPicPr preferRelativeResize="0"/>
          <p:nvPr/>
        </p:nvPicPr>
        <p:blipFill>
          <a:blip r:embed="rId3">
            <a:alphaModFix/>
          </a:blip>
          <a:stretch>
            <a:fillRect/>
          </a:stretch>
        </p:blipFill>
        <p:spPr>
          <a:xfrm>
            <a:off x="3651200" y="742550"/>
            <a:ext cx="4321526" cy="3241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this</a:t>
            </a:r>
            <a:endParaRPr/>
          </a:p>
        </p:txBody>
      </p:sp>
      <p:sp>
        <p:nvSpPr>
          <p:cNvPr id="97" name="Google Shape;97;p1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Hint</a:t>
            </a:r>
            <a:endParaRPr/>
          </a:p>
          <a:p>
            <a:pPr indent="0" lvl="0" marL="0" rtl="0" algn="l">
              <a:spcBef>
                <a:spcPts val="1200"/>
              </a:spcBef>
              <a:spcAft>
                <a:spcPts val="1200"/>
              </a:spcAft>
              <a:buNone/>
            </a:pPr>
            <a:r>
              <a:rPr lang="en"/>
              <a:t>It’s not water</a:t>
            </a:r>
            <a:endParaRPr/>
          </a:p>
        </p:txBody>
      </p:sp>
      <p:pic>
        <p:nvPicPr>
          <p:cNvPr id="98" name="Google Shape;98;p19"/>
          <p:cNvPicPr preferRelativeResize="0"/>
          <p:nvPr/>
        </p:nvPicPr>
        <p:blipFill>
          <a:blip r:embed="rId3">
            <a:alphaModFix/>
          </a:blip>
          <a:stretch>
            <a:fillRect/>
          </a:stretch>
        </p:blipFill>
        <p:spPr>
          <a:xfrm>
            <a:off x="3323825" y="1121125"/>
            <a:ext cx="4995424" cy="3746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this</a:t>
            </a:r>
            <a:endParaRPr/>
          </a:p>
        </p:txBody>
      </p:sp>
      <p:sp>
        <p:nvSpPr>
          <p:cNvPr id="104" name="Google Shape;104;p2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Hint</a:t>
            </a:r>
            <a:endParaRPr/>
          </a:p>
          <a:p>
            <a:pPr indent="0" lvl="0" marL="0" rtl="0" algn="l">
              <a:spcBef>
                <a:spcPts val="1200"/>
              </a:spcBef>
              <a:spcAft>
                <a:spcPts val="0"/>
              </a:spcAft>
              <a:buNone/>
            </a:pPr>
            <a:r>
              <a:rPr lang="en"/>
              <a:t>Computers can</a:t>
            </a:r>
            <a:endParaRPr/>
          </a:p>
          <a:p>
            <a:pPr indent="0" lvl="0" marL="0" rtl="0" algn="l">
              <a:spcBef>
                <a:spcPts val="1200"/>
              </a:spcBef>
              <a:spcAft>
                <a:spcPts val="0"/>
              </a:spcAft>
              <a:buNone/>
            </a:pPr>
            <a:r>
              <a:rPr lang="en"/>
              <a:t>Handle more </a:t>
            </a:r>
            <a:endParaRPr/>
          </a:p>
          <a:p>
            <a:pPr indent="0" lvl="0" marL="0" rtl="0" algn="l">
              <a:spcBef>
                <a:spcPts val="1200"/>
              </a:spcBef>
              <a:spcAft>
                <a:spcPts val="0"/>
              </a:spcAft>
              <a:buNone/>
            </a:pPr>
            <a:r>
              <a:rPr lang="en"/>
              <a:t>Heat than </a:t>
            </a:r>
            <a:endParaRPr/>
          </a:p>
          <a:p>
            <a:pPr indent="0" lvl="0" marL="0" rtl="0" algn="l">
              <a:spcBef>
                <a:spcPts val="1200"/>
              </a:spcBef>
              <a:spcAft>
                <a:spcPts val="0"/>
              </a:spcAft>
              <a:buNone/>
            </a:pPr>
            <a:r>
              <a:rPr lang="en"/>
              <a:t>Humans can</a:t>
            </a:r>
            <a:endParaRPr/>
          </a:p>
          <a:p>
            <a:pPr indent="0" lvl="0" marL="0" rtl="0" algn="l">
              <a:spcBef>
                <a:spcPts val="1200"/>
              </a:spcBef>
              <a:spcAft>
                <a:spcPts val="0"/>
              </a:spcAft>
              <a:buNone/>
            </a:pPr>
            <a:r>
              <a:rPr i="1" lang="en" sz="1700"/>
              <a:t>Very high temp reduces</a:t>
            </a:r>
            <a:endParaRPr i="1" sz="1700"/>
          </a:p>
          <a:p>
            <a:pPr indent="0" lvl="0" marL="0" rtl="0" algn="l">
              <a:spcBef>
                <a:spcPts val="1200"/>
              </a:spcBef>
              <a:spcAft>
                <a:spcPts val="1200"/>
              </a:spcAft>
              <a:buNone/>
            </a:pPr>
            <a:r>
              <a:rPr i="1" lang="en" sz="1700"/>
              <a:t>components lifespan</a:t>
            </a:r>
            <a:endParaRPr i="1" sz="1700"/>
          </a:p>
        </p:txBody>
      </p:sp>
      <p:pic>
        <p:nvPicPr>
          <p:cNvPr id="105" name="Google Shape;105;p20"/>
          <p:cNvPicPr preferRelativeResize="0"/>
          <p:nvPr/>
        </p:nvPicPr>
        <p:blipFill>
          <a:blip r:embed="rId3">
            <a:alphaModFix/>
          </a:blip>
          <a:stretch>
            <a:fillRect/>
          </a:stretch>
        </p:blipFill>
        <p:spPr>
          <a:xfrm>
            <a:off x="3111650" y="1017725"/>
            <a:ext cx="6032352" cy="35220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Interesting note: Co-location</a:t>
            </a:r>
            <a:endParaRPr/>
          </a:p>
        </p:txBody>
      </p:sp>
      <p:sp>
        <p:nvSpPr>
          <p:cNvPr id="111" name="Google Shape;111;p2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rPr lang="en"/>
              <a:t>Nearly all traffic in Ontario passes through </a:t>
            </a:r>
            <a:endParaRPr/>
          </a:p>
          <a:p>
            <a:pPr indent="0" lvl="0" marL="0" rtl="0" algn="l">
              <a:spcBef>
                <a:spcPts val="1200"/>
              </a:spcBef>
              <a:spcAft>
                <a:spcPts val="0"/>
              </a:spcAft>
              <a:buNone/>
            </a:pPr>
            <a:r>
              <a:rPr lang="en"/>
              <a:t>151 Front Street West in Toronto</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Rumour has it, so does Cape Breton!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Telecommunications</a:t>
            </a:r>
            <a:endParaRPr/>
          </a:p>
        </p:txBody>
      </p:sp>
      <p:sp>
        <p:nvSpPr>
          <p:cNvPr id="117" name="Google Shape;117;p2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As an example of </a:t>
            </a:r>
            <a:r>
              <a:rPr lang="en" u="sng">
                <a:solidFill>
                  <a:schemeClr val="hlink"/>
                </a:solidFill>
                <a:hlinkClick r:id="rId3"/>
              </a:rPr>
              <a:t>151 Front Street</a:t>
            </a:r>
            <a:endParaRPr/>
          </a:p>
          <a:p>
            <a:pPr indent="0" lvl="0" marL="0" rtl="0" algn="l">
              <a:spcBef>
                <a:spcPts val="1200"/>
              </a:spcBef>
              <a:spcAft>
                <a:spcPts val="0"/>
              </a:spcAft>
              <a:buClr>
                <a:schemeClr val="dk1"/>
              </a:buClr>
              <a:buSzPts val="1100"/>
              <a:buFont typeface="Arial"/>
              <a:buNone/>
            </a:pPr>
            <a:r>
              <a:rPr lang="en"/>
              <a:t>150+ unique networks in onsite Meet Me Room within Cologix facility plus direct access to building’s MMR</a:t>
            </a:r>
            <a:endParaRPr/>
          </a:p>
          <a:p>
            <a:pPr indent="0" lvl="0" marL="0" rtl="0" algn="l">
              <a:spcBef>
                <a:spcPts val="1200"/>
              </a:spcBef>
              <a:spcAft>
                <a:spcPts val="0"/>
              </a:spcAft>
              <a:buClr>
                <a:schemeClr val="dk1"/>
              </a:buClr>
              <a:buSzPts val="1100"/>
              <a:buFont typeface="Arial"/>
              <a:buNone/>
            </a:pPr>
            <a:r>
              <a:rPr lang="en"/>
              <a:t>Home to the Toronto Internet Exchange, TorIX</a:t>
            </a:r>
            <a:endParaRPr/>
          </a:p>
          <a:p>
            <a:pPr indent="0" lvl="0" marL="0" rtl="0" algn="l">
              <a:spcBef>
                <a:spcPts val="1200"/>
              </a:spcBef>
              <a:spcAft>
                <a:spcPts val="0"/>
              </a:spcAft>
              <a:buClr>
                <a:schemeClr val="dk1"/>
              </a:buClr>
              <a:buSzPts val="1100"/>
              <a:buFont typeface="Arial"/>
              <a:buNone/>
            </a:pPr>
            <a:r>
              <a:rPr lang="en"/>
              <a:t>Diverse building fiber entrance and riser facilities</a:t>
            </a:r>
            <a:endParaRPr/>
          </a:p>
          <a:p>
            <a:pPr indent="0" lvl="0" marL="0" rtl="0" algn="l">
              <a:spcBef>
                <a:spcPts val="1200"/>
              </a:spcBef>
              <a:spcAft>
                <a:spcPts val="0"/>
              </a:spcAft>
              <a:buClr>
                <a:schemeClr val="dk1"/>
              </a:buClr>
              <a:buSzPts val="1100"/>
              <a:buFont typeface="Arial"/>
              <a:buNone/>
            </a:pPr>
            <a:r>
              <a:rPr lang="en"/>
              <a:t>Network-neutral facility</a:t>
            </a:r>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p23"/>
          <p:cNvPicPr preferRelativeResize="0"/>
          <p:nvPr/>
        </p:nvPicPr>
        <p:blipFill>
          <a:blip r:embed="rId3">
            <a:alphaModFix/>
          </a:blip>
          <a:stretch>
            <a:fillRect/>
          </a:stretch>
        </p:blipFill>
        <p:spPr>
          <a:xfrm>
            <a:off x="1143000" y="0"/>
            <a:ext cx="6857999" cy="5143499"/>
          </a:xfrm>
          <a:prstGeom prst="rect">
            <a:avLst/>
          </a:prstGeom>
          <a:noFill/>
          <a:ln>
            <a:noFill/>
          </a:ln>
        </p:spPr>
      </p:pic>
      <p:pic>
        <p:nvPicPr>
          <p:cNvPr id="123" name="Google Shape;123;p23"/>
          <p:cNvPicPr preferRelativeResize="0"/>
          <p:nvPr/>
        </p:nvPicPr>
        <p:blipFill>
          <a:blip r:embed="rId4">
            <a:alphaModFix/>
          </a:blip>
          <a:stretch>
            <a:fillRect/>
          </a:stretch>
        </p:blipFill>
        <p:spPr>
          <a:xfrm>
            <a:off x="1143000" y="0"/>
            <a:ext cx="6857999" cy="514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IaaS</a:t>
            </a:r>
            <a:endParaRPr/>
          </a:p>
        </p:txBody>
      </p:sp>
      <p:sp>
        <p:nvSpPr>
          <p:cNvPr id="129" name="Google Shape;129;p24"/>
          <p:cNvSpPr txBox="1"/>
          <p:nvPr>
            <p:ph idx="1" type="body"/>
          </p:nvPr>
        </p:nvSpPr>
        <p:spPr>
          <a:xfrm>
            <a:off x="311700" y="1152475"/>
            <a:ext cx="2446500" cy="34164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n" sz="2300"/>
              <a:t>Not our problem</a:t>
            </a:r>
            <a:endParaRPr sz="2300"/>
          </a:p>
          <a:p>
            <a:pPr indent="0" lvl="0" marL="0" rtl="0" algn="l">
              <a:spcBef>
                <a:spcPts val="1200"/>
              </a:spcBef>
              <a:spcAft>
                <a:spcPts val="0"/>
              </a:spcAft>
              <a:buNone/>
            </a:pPr>
            <a:r>
              <a:t/>
            </a:r>
            <a:endParaRPr sz="2300"/>
          </a:p>
          <a:p>
            <a:pPr indent="0" lvl="0" marL="0" rtl="0" algn="l">
              <a:spcBef>
                <a:spcPts val="1200"/>
              </a:spcBef>
              <a:spcAft>
                <a:spcPts val="0"/>
              </a:spcAft>
              <a:buNone/>
            </a:pPr>
            <a:r>
              <a:t/>
            </a:r>
            <a:endParaRPr sz="2300"/>
          </a:p>
          <a:p>
            <a:pPr indent="0" lvl="0" marL="0" rtl="0" algn="l">
              <a:spcBef>
                <a:spcPts val="1200"/>
              </a:spcBef>
              <a:spcAft>
                <a:spcPts val="0"/>
              </a:spcAft>
              <a:buNone/>
            </a:pPr>
            <a:r>
              <a:rPr lang="en" sz="2300"/>
              <a:t>Capex to Opex</a:t>
            </a:r>
            <a:endParaRPr sz="2300"/>
          </a:p>
          <a:p>
            <a:pPr indent="0" lvl="0" marL="0" rtl="0" algn="l">
              <a:spcBef>
                <a:spcPts val="1200"/>
              </a:spcBef>
              <a:spcAft>
                <a:spcPts val="1200"/>
              </a:spcAft>
              <a:buNone/>
            </a:pPr>
            <a:r>
              <a:rPr lang="en" sz="2300"/>
              <a:t>For DC duties </a:t>
            </a:r>
            <a:endParaRPr sz="2300"/>
          </a:p>
        </p:txBody>
      </p:sp>
      <p:pic>
        <p:nvPicPr>
          <p:cNvPr id="130" name="Google Shape;130;p24"/>
          <p:cNvPicPr preferRelativeResize="0"/>
          <p:nvPr/>
        </p:nvPicPr>
        <p:blipFill>
          <a:blip r:embed="rId3">
            <a:alphaModFix/>
          </a:blip>
          <a:stretch>
            <a:fillRect/>
          </a:stretch>
        </p:blipFill>
        <p:spPr>
          <a:xfrm>
            <a:off x="2772197" y="1152475"/>
            <a:ext cx="6090201" cy="37291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IaaS - Scenarios</a:t>
            </a:r>
            <a:endParaRPr/>
          </a:p>
        </p:txBody>
      </p:sp>
      <p:sp>
        <p:nvSpPr>
          <p:cNvPr id="136" name="Google Shape;136;p2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lnSpcReduction="10000"/>
          </a:bodyPr>
          <a:lstStyle/>
          <a:p>
            <a:pPr indent="-282575" lvl="0" marL="457200" rtl="0" algn="l">
              <a:lnSpc>
                <a:spcPct val="115000"/>
              </a:lnSpc>
              <a:spcBef>
                <a:spcPts val="1200"/>
              </a:spcBef>
              <a:spcAft>
                <a:spcPts val="0"/>
              </a:spcAft>
              <a:buSzPct val="43478"/>
              <a:buChar char="●"/>
            </a:pPr>
            <a:r>
              <a:rPr lang="en" sz="2300"/>
              <a:t>Lift-and-shift migration: You’re standing up cloud resources similar to your on-prem datacenter, and then simply moving the things running on-prem to running on the IaaS infrastructure.</a:t>
            </a:r>
            <a:endParaRPr sz="2300"/>
          </a:p>
          <a:p>
            <a:pPr indent="-282575" lvl="0" marL="457200" rtl="0" algn="l">
              <a:lnSpc>
                <a:spcPct val="115000"/>
              </a:lnSpc>
              <a:spcBef>
                <a:spcPts val="0"/>
              </a:spcBef>
              <a:spcAft>
                <a:spcPts val="0"/>
              </a:spcAft>
              <a:buSzPct val="43478"/>
              <a:buChar char="●"/>
            </a:pPr>
            <a:r>
              <a:rPr lang="en" sz="2300"/>
              <a:t>Testing and development: You have established configurations for development and test environments that you need to rapidly replicate. You can stand up or shut down the different environments rapidly with an IaaS structure, while maintaining complete control.</a:t>
            </a:r>
            <a:endParaRPr sz="23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PaaS</a:t>
            </a:r>
            <a:endParaRPr/>
          </a:p>
        </p:txBody>
      </p:sp>
      <p:sp>
        <p:nvSpPr>
          <p:cNvPr id="142" name="Google Shape;142;p2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143" name="Google Shape;143;p26"/>
          <p:cNvPicPr preferRelativeResize="0"/>
          <p:nvPr/>
        </p:nvPicPr>
        <p:blipFill>
          <a:blip r:embed="rId3">
            <a:alphaModFix/>
          </a:blip>
          <a:stretch>
            <a:fillRect/>
          </a:stretch>
        </p:blipFill>
        <p:spPr>
          <a:xfrm>
            <a:off x="2241800" y="755550"/>
            <a:ext cx="6493151" cy="38858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PaaS - Scenarios</a:t>
            </a:r>
            <a:endParaRPr/>
          </a:p>
        </p:txBody>
      </p:sp>
      <p:sp>
        <p:nvSpPr>
          <p:cNvPr id="149" name="Google Shape;149;p2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20000"/>
          </a:bodyPr>
          <a:lstStyle/>
          <a:p>
            <a:pPr indent="-246221" lvl="0" marL="457200" rtl="0" algn="l">
              <a:lnSpc>
                <a:spcPct val="115000"/>
              </a:lnSpc>
              <a:spcBef>
                <a:spcPts val="1200"/>
              </a:spcBef>
              <a:spcAft>
                <a:spcPts val="0"/>
              </a:spcAft>
              <a:buSzPts val="278"/>
              <a:buChar char="●"/>
            </a:pPr>
            <a:r>
              <a:rPr lang="en" sz="1600"/>
              <a:t>Development framework: PaaS provides a framework that developers can build upon to develop or customize cloud-based applications. Similar to the way you create an Excel macro, PaaS lets developers create applications using built-in software components. Cloud features such as scalability, high-availability, and multi-tenant capability are included, reducing the amount of coding that developers must do.</a:t>
            </a:r>
            <a:endParaRPr sz="1600"/>
          </a:p>
          <a:p>
            <a:pPr indent="-246221" lvl="0" marL="457200" rtl="0" algn="l">
              <a:lnSpc>
                <a:spcPct val="115000"/>
              </a:lnSpc>
              <a:spcBef>
                <a:spcPts val="0"/>
              </a:spcBef>
              <a:spcAft>
                <a:spcPts val="0"/>
              </a:spcAft>
              <a:buSzPts val="278"/>
              <a:buChar char="●"/>
            </a:pPr>
            <a:r>
              <a:rPr lang="en" sz="1600"/>
              <a:t>Analytics or business intelligence: Tools provided as a service with PaaS allow organizations to analyze and mine their data, finding insights and patterns and predicting outcomes to improve forecasting, product design decisions, investment returns, and other business decisions.</a:t>
            </a:r>
            <a:endParaRPr sz="1600"/>
          </a:p>
          <a:p>
            <a:pPr indent="0" lvl="0" marL="0" rtl="0" algn="l">
              <a:spcBef>
                <a:spcPts val="1200"/>
              </a:spcBef>
              <a:spcAft>
                <a:spcPts val="1200"/>
              </a:spcAft>
              <a:buNone/>
            </a:pPr>
            <a:r>
              <a:rPr lang="en" sz="1854"/>
              <a:t>Think of PaaS like using a domain joined machine: IT maintains the device with regular updates, patches, and refreshes.</a:t>
            </a:r>
            <a:endParaRPr sz="1854"/>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28"/>
          <p:cNvPicPr preferRelativeResize="0"/>
          <p:nvPr/>
        </p:nvPicPr>
        <p:blipFill>
          <a:blip r:embed="rId3">
            <a:alphaModFix/>
          </a:blip>
          <a:stretch>
            <a:fillRect/>
          </a:stretch>
        </p:blipFill>
        <p:spPr>
          <a:xfrm>
            <a:off x="1143000" y="0"/>
            <a:ext cx="6857999" cy="5143500"/>
          </a:xfrm>
          <a:prstGeom prst="rect">
            <a:avLst/>
          </a:prstGeom>
          <a:noFill/>
          <a:ln>
            <a:noFill/>
          </a:ln>
        </p:spPr>
      </p:pic>
      <p:pic>
        <p:nvPicPr>
          <p:cNvPr id="155" name="Google Shape;155;p28"/>
          <p:cNvPicPr preferRelativeResize="0"/>
          <p:nvPr/>
        </p:nvPicPr>
        <p:blipFill>
          <a:blip r:embed="rId4">
            <a:alphaModFix/>
          </a:blip>
          <a:stretch>
            <a:fillRect/>
          </a:stretch>
        </p:blipFill>
        <p:spPr>
          <a:xfrm>
            <a:off x="1143000" y="0"/>
            <a:ext cx="6857999" cy="5143499"/>
          </a:xfrm>
          <a:prstGeom prst="rect">
            <a:avLst/>
          </a:prstGeom>
          <a:noFill/>
          <a:ln>
            <a:noFill/>
          </a:ln>
        </p:spPr>
      </p:pic>
      <p:pic>
        <p:nvPicPr>
          <p:cNvPr id="156" name="Google Shape;156;p28"/>
          <p:cNvPicPr preferRelativeResize="0"/>
          <p:nvPr/>
        </p:nvPicPr>
        <p:blipFill>
          <a:blip r:embed="rId3">
            <a:alphaModFix/>
          </a:blip>
          <a:stretch>
            <a:fillRect/>
          </a:stretch>
        </p:blipFill>
        <p:spPr>
          <a:xfrm>
            <a:off x="1143000" y="0"/>
            <a:ext cx="6857999" cy="51434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SaaS</a:t>
            </a:r>
            <a:endParaRPr/>
          </a:p>
        </p:txBody>
      </p:sp>
      <p:sp>
        <p:nvSpPr>
          <p:cNvPr id="162" name="Google Shape;162;p2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Office 365</a:t>
            </a:r>
            <a:endParaRPr/>
          </a:p>
          <a:p>
            <a:pPr indent="0" lvl="0" marL="0" rtl="0" algn="l">
              <a:spcBef>
                <a:spcPts val="1200"/>
              </a:spcBef>
              <a:spcAft>
                <a:spcPts val="0"/>
              </a:spcAft>
              <a:buNone/>
            </a:pPr>
            <a:r>
              <a:rPr lang="en"/>
              <a:t>Google Docs</a:t>
            </a:r>
            <a:endParaRPr/>
          </a:p>
          <a:p>
            <a:pPr indent="0" lvl="0" marL="0" rtl="0" algn="l">
              <a:spcBef>
                <a:spcPts val="1200"/>
              </a:spcBef>
              <a:spcAft>
                <a:spcPts val="1200"/>
              </a:spcAft>
              <a:buNone/>
            </a:pPr>
            <a:r>
              <a:t/>
            </a:r>
            <a:endParaRPr/>
          </a:p>
        </p:txBody>
      </p:sp>
      <p:pic>
        <p:nvPicPr>
          <p:cNvPr id="163" name="Google Shape;163;p29"/>
          <p:cNvPicPr preferRelativeResize="0"/>
          <p:nvPr/>
        </p:nvPicPr>
        <p:blipFill>
          <a:blip r:embed="rId3">
            <a:alphaModFix/>
          </a:blip>
          <a:stretch>
            <a:fillRect/>
          </a:stretch>
        </p:blipFill>
        <p:spPr>
          <a:xfrm>
            <a:off x="2813761" y="1017725"/>
            <a:ext cx="6135663" cy="36685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SaaS - Scenarios</a:t>
            </a:r>
            <a:endParaRPr/>
          </a:p>
        </p:txBody>
      </p:sp>
      <p:sp>
        <p:nvSpPr>
          <p:cNvPr id="169" name="Google Shape;169;p3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298450" lvl="0" marL="457200" rtl="0" algn="l">
              <a:lnSpc>
                <a:spcPct val="115000"/>
              </a:lnSpc>
              <a:spcBef>
                <a:spcPts val="1200"/>
              </a:spcBef>
              <a:spcAft>
                <a:spcPts val="0"/>
              </a:spcAft>
              <a:buSzPts val="1100"/>
              <a:buChar char="●"/>
            </a:pPr>
            <a:r>
              <a:rPr lang="en"/>
              <a:t>Email and messaging.</a:t>
            </a:r>
            <a:endParaRPr/>
          </a:p>
          <a:p>
            <a:pPr indent="-298450" lvl="0" marL="457200" rtl="0" algn="l">
              <a:lnSpc>
                <a:spcPct val="115000"/>
              </a:lnSpc>
              <a:spcBef>
                <a:spcPts val="0"/>
              </a:spcBef>
              <a:spcAft>
                <a:spcPts val="0"/>
              </a:spcAft>
              <a:buSzPts val="1100"/>
              <a:buChar char="●"/>
            </a:pPr>
            <a:r>
              <a:rPr lang="en"/>
              <a:t>Business productivity applications.</a:t>
            </a:r>
            <a:endParaRPr/>
          </a:p>
          <a:p>
            <a:pPr indent="-298450" lvl="0" marL="457200" rtl="0" algn="l">
              <a:lnSpc>
                <a:spcPct val="115000"/>
              </a:lnSpc>
              <a:spcBef>
                <a:spcPts val="0"/>
              </a:spcBef>
              <a:spcAft>
                <a:spcPts val="0"/>
              </a:spcAft>
              <a:buSzPts val="1100"/>
              <a:buChar char="●"/>
            </a:pPr>
            <a:r>
              <a:rPr lang="en"/>
              <a:t>Finance and expense tracking.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 </a:t>
            </a:r>
            <a:r>
              <a:rPr lang="en"/>
              <a:t>responsibilities</a:t>
            </a:r>
            <a:r>
              <a:rPr lang="en"/>
              <a:t>! </a:t>
            </a:r>
            <a:endParaRPr/>
          </a:p>
        </p:txBody>
      </p:sp>
      <p:sp>
        <p:nvSpPr>
          <p:cNvPr id="175" name="Google Shape;175;p3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Not so fast..</a:t>
            </a:r>
            <a:endParaRPr/>
          </a:p>
          <a:p>
            <a:pPr indent="0" lvl="0" marL="0" rtl="0" algn="l">
              <a:lnSpc>
                <a:spcPct val="115000"/>
              </a:lnSpc>
              <a:spcBef>
                <a:spcPts val="1200"/>
              </a:spcBef>
              <a:spcAft>
                <a:spcPts val="0"/>
              </a:spcAft>
              <a:buClr>
                <a:schemeClr val="dk1"/>
              </a:buClr>
              <a:buSzPts val="1100"/>
              <a:buFont typeface="Arial"/>
              <a:buNone/>
            </a:pPr>
            <a:r>
              <a:rPr lang="en"/>
              <a:t>You’ll always be responsible for:</a:t>
            </a:r>
            <a:endParaRPr/>
          </a:p>
          <a:p>
            <a:pPr indent="-298450" lvl="0" marL="457200" rtl="0" algn="l">
              <a:lnSpc>
                <a:spcPct val="115000"/>
              </a:lnSpc>
              <a:spcBef>
                <a:spcPts val="1200"/>
              </a:spcBef>
              <a:spcAft>
                <a:spcPts val="0"/>
              </a:spcAft>
              <a:buSzPts val="1100"/>
              <a:buChar char="●"/>
            </a:pPr>
            <a:r>
              <a:rPr lang="en"/>
              <a:t>The information and data stored in the cloud</a:t>
            </a:r>
            <a:endParaRPr/>
          </a:p>
          <a:p>
            <a:pPr indent="-298450" lvl="0" marL="457200" rtl="0" algn="l">
              <a:lnSpc>
                <a:spcPct val="115000"/>
              </a:lnSpc>
              <a:spcBef>
                <a:spcPts val="0"/>
              </a:spcBef>
              <a:spcAft>
                <a:spcPts val="0"/>
              </a:spcAft>
              <a:buSzPts val="1100"/>
              <a:buChar char="●"/>
            </a:pPr>
            <a:r>
              <a:rPr lang="en"/>
              <a:t>Devices that are allowed to connect to your cloud (cell phones, computers, and so on)</a:t>
            </a:r>
            <a:endParaRPr/>
          </a:p>
          <a:p>
            <a:pPr indent="-298450" lvl="0" marL="457200" rtl="0" algn="l">
              <a:lnSpc>
                <a:spcPct val="115000"/>
              </a:lnSpc>
              <a:spcBef>
                <a:spcPts val="0"/>
              </a:spcBef>
              <a:spcAft>
                <a:spcPts val="0"/>
              </a:spcAft>
              <a:buSzPts val="1100"/>
              <a:buChar char="●"/>
            </a:pPr>
            <a:r>
              <a:rPr lang="en"/>
              <a:t>The accounts and identities of the people, services, and devices within your organization</a:t>
            </a:r>
            <a:endParaRPr/>
          </a:p>
          <a:p>
            <a:pPr indent="0" lvl="0" marL="0" rtl="0" algn="l">
              <a:spcBef>
                <a:spcPts val="12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pay for private cloud? </a:t>
            </a:r>
            <a:endParaRPr/>
          </a:p>
        </p:txBody>
      </p:sp>
      <p:sp>
        <p:nvSpPr>
          <p:cNvPr id="181" name="Google Shape;181;p3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182" name="Google Shape;182;p32"/>
          <p:cNvPicPr preferRelativeResize="0"/>
          <p:nvPr/>
        </p:nvPicPr>
        <p:blipFill>
          <a:blip r:embed="rId3">
            <a:alphaModFix/>
          </a:blip>
          <a:stretch>
            <a:fillRect/>
          </a:stretch>
        </p:blipFill>
        <p:spPr>
          <a:xfrm>
            <a:off x="528500" y="1221501"/>
            <a:ext cx="7725626" cy="32783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Private cloud</a:t>
            </a:r>
            <a:endParaRPr/>
          </a:p>
        </p:txBody>
      </p:sp>
      <p:sp>
        <p:nvSpPr>
          <p:cNvPr id="188" name="Google Shape;188;p3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-You can run Azure private cloud in </a:t>
            </a:r>
            <a:r>
              <a:rPr b="1" lang="en"/>
              <a:t>your own data centre</a:t>
            </a:r>
            <a:endParaRPr b="1"/>
          </a:p>
          <a:p>
            <a:pPr indent="0" lvl="0" marL="0" rtl="0" algn="l">
              <a:spcBef>
                <a:spcPts val="1200"/>
              </a:spcBef>
              <a:spcAft>
                <a:spcPts val="0"/>
              </a:spcAft>
              <a:buNone/>
            </a:pPr>
            <a:r>
              <a:rPr lang="en"/>
              <a:t>-Integration with Azure Public Clouds (what does this become?)</a:t>
            </a:r>
            <a:endParaRPr/>
          </a:p>
          <a:p>
            <a:pPr indent="0" lvl="0" marL="0" rtl="0" algn="l">
              <a:spcBef>
                <a:spcPts val="1200"/>
              </a:spcBef>
              <a:spcAft>
                <a:spcPts val="1200"/>
              </a:spcAft>
              <a:buNone/>
            </a:pPr>
            <a:r>
              <a:rPr lang="en"/>
              <a:t>-Heavily rely on Microsoft-centric </a:t>
            </a:r>
            <a:r>
              <a:rPr lang="en"/>
              <a:t>infrastructure</a:t>
            </a:r>
            <a:r>
              <a:rPr lang="en"/>
              <a:t>, applications and tools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Azure SLA - High Availability</a:t>
            </a:r>
            <a:endParaRPr/>
          </a:p>
        </p:txBody>
      </p:sp>
      <p:sp>
        <p:nvSpPr>
          <p:cNvPr id="194" name="Google Shape;194;p3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Options: 99%, 99.9% 99.95%, 99.99%</a:t>
            </a:r>
            <a:endParaRPr/>
          </a:p>
          <a:p>
            <a:pPr indent="0" lvl="0" marL="0" rtl="0" algn="l">
              <a:spcBef>
                <a:spcPts val="1200"/>
              </a:spcBef>
              <a:spcAft>
                <a:spcPts val="0"/>
              </a:spcAft>
              <a:buNone/>
            </a:pPr>
            <a:r>
              <a:rPr lang="en"/>
              <a:t>99%     1.68 hrs/week, 7.2hrs/month</a:t>
            </a:r>
            <a:endParaRPr/>
          </a:p>
          <a:p>
            <a:pPr indent="0" lvl="0" marL="0" rtl="0" algn="l">
              <a:spcBef>
                <a:spcPts val="1200"/>
              </a:spcBef>
              <a:spcAft>
                <a:spcPts val="0"/>
              </a:spcAft>
              <a:buNone/>
            </a:pPr>
            <a:r>
              <a:rPr lang="en"/>
              <a:t>99.9%  10 min/week, 43.2 min/month</a:t>
            </a:r>
            <a:endParaRPr/>
          </a:p>
          <a:p>
            <a:pPr indent="0" lvl="0" marL="0" rtl="0" algn="l">
              <a:spcBef>
                <a:spcPts val="1200"/>
              </a:spcBef>
              <a:spcAft>
                <a:spcPts val="0"/>
              </a:spcAft>
              <a:buNone/>
            </a:pPr>
            <a:r>
              <a:rPr lang="en"/>
              <a:t>Two 9s vs three 9s. </a:t>
            </a:r>
            <a:endParaRPr/>
          </a:p>
          <a:p>
            <a:pPr indent="0" lvl="0" marL="0" rtl="0" algn="l">
              <a:spcBef>
                <a:spcPts val="1200"/>
              </a:spcBef>
              <a:spcAft>
                <a:spcPts val="1200"/>
              </a:spcAft>
              <a:buNone/>
            </a:pPr>
            <a:r>
              <a:rPr lang="en" sz="2900"/>
              <a:t>Formal agreement between provider and customer</a:t>
            </a:r>
            <a:endParaRPr sz="29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Scalability</a:t>
            </a:r>
            <a:endParaRPr/>
          </a:p>
        </p:txBody>
      </p:sp>
      <p:sp>
        <p:nvSpPr>
          <p:cNvPr id="200" name="Google Shape;200;p3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Vertical - adding more CPU or RAM</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Horizontal - adding and removing instances: VMs or containers</a:t>
            </a:r>
            <a:endParaRPr/>
          </a:p>
          <a:p>
            <a:pPr indent="0" lvl="0" marL="0" rtl="0" algn="l">
              <a:spcBef>
                <a:spcPts val="1200"/>
              </a:spcBef>
              <a:spcAft>
                <a:spcPts val="1200"/>
              </a:spcAft>
              <a:buNone/>
            </a:pPr>
            <a:r>
              <a:rPr lang="en"/>
              <a:t>Note: </a:t>
            </a:r>
            <a:r>
              <a:rPr lang="en"/>
              <a:t>horizontal</a:t>
            </a:r>
            <a:r>
              <a:rPr lang="en"/>
              <a:t> scaling can be automated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6"/>
          <p:cNvSpPr txBox="1"/>
          <p:nvPr>
            <p:ph type="title"/>
          </p:nvPr>
        </p:nvSpPr>
        <p:spPr>
          <a:xfrm>
            <a:off x="311700" y="5303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600"/>
              <a:t>Microsoft Azure Well-Architected Framework pillar 1 of 5</a:t>
            </a:r>
            <a:endParaRPr sz="2600"/>
          </a:p>
        </p:txBody>
      </p:sp>
      <p:sp>
        <p:nvSpPr>
          <p:cNvPr id="206" name="Google Shape;206;p3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1. Right-size resources: Choose the most appropriate resource types and sizes based on workload requirements, and continually monitor and adjust resource allocation to avoid over provisioning and minimize costs.</a:t>
            </a:r>
            <a:endParaRPr/>
          </a:p>
          <a:p>
            <a:pPr indent="0" lvl="0" marL="0" rtl="0" algn="l">
              <a:spcBef>
                <a:spcPts val="1200"/>
              </a:spcBef>
              <a:spcAft>
                <a:spcPts val="1200"/>
              </a:spcAft>
              <a:buNone/>
            </a:pPr>
            <a:r>
              <a:rPr lang="en"/>
              <a:t>2. Utilize cost management tools: Leverage Azure Cost Management and other cost monitoring tools to gain insights into your spending, identify cost-saving opportunities, and set budgets and alerts to ensure effective control over cloud expenditures.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Governance</a:t>
            </a:r>
            <a:endParaRPr/>
          </a:p>
        </p:txBody>
      </p:sp>
      <p:sp>
        <p:nvSpPr>
          <p:cNvPr id="212" name="Google Shape;212;p3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1. Cloud governance and compliance: Utilize set templates to align resources with corporate standards and regulatory requirements, and leverage cloud-based auditing to identify non-compliant resources and mitigation strategies.</a:t>
            </a:r>
            <a:endParaRPr/>
          </a:p>
          <a:p>
            <a:pPr indent="0" lvl="0" marL="0" rtl="0" algn="l">
              <a:spcBef>
                <a:spcPts val="1200"/>
              </a:spcBef>
              <a:spcAft>
                <a:spcPts val="1200"/>
              </a:spcAft>
              <a:buNone/>
            </a:pPr>
            <a:r>
              <a:rPr lang="en"/>
              <a:t>2. Security and flexibility: Choose the right cloud service model (IaaS, PaaS, or SaaS) to match security needs, and benefit from cloud providers' robust defenses against threats like DDoS attacks, ensuring a secure and well-managed cloud environment.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pic>
        <p:nvPicPr>
          <p:cNvPr id="217" name="Google Shape;217;p38"/>
          <p:cNvPicPr preferRelativeResize="0"/>
          <p:nvPr/>
        </p:nvPicPr>
        <p:blipFill>
          <a:blip r:embed="rId3">
            <a:alphaModFix/>
          </a:blip>
          <a:stretch>
            <a:fillRect/>
          </a:stretch>
        </p:blipFill>
        <p:spPr>
          <a:xfrm>
            <a:off x="1143000" y="0"/>
            <a:ext cx="6857999" cy="5143499"/>
          </a:xfrm>
          <a:prstGeom prst="rect">
            <a:avLst/>
          </a:prstGeom>
          <a:noFill/>
          <a:ln>
            <a:noFill/>
          </a:ln>
        </p:spPr>
      </p:pic>
      <p:pic>
        <p:nvPicPr>
          <p:cNvPr id="218" name="Google Shape;218;p38"/>
          <p:cNvPicPr preferRelativeResize="0"/>
          <p:nvPr/>
        </p:nvPicPr>
        <p:blipFill>
          <a:blip r:embed="rId4">
            <a:alphaModFix/>
          </a:blip>
          <a:stretch>
            <a:fillRect/>
          </a:stretch>
        </p:blipFill>
        <p:spPr>
          <a:xfrm>
            <a:off x="1143000" y="0"/>
            <a:ext cx="6857999" cy="51435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Management options</a:t>
            </a:r>
            <a:endParaRPr/>
          </a:p>
        </p:txBody>
      </p:sp>
      <p:sp>
        <p:nvSpPr>
          <p:cNvPr id="224" name="Google Shape;224;p3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298450" lvl="0" marL="457200" rtl="0" algn="l">
              <a:lnSpc>
                <a:spcPct val="115000"/>
              </a:lnSpc>
              <a:spcBef>
                <a:spcPts val="1200"/>
              </a:spcBef>
              <a:spcAft>
                <a:spcPts val="0"/>
              </a:spcAft>
              <a:buSzPts val="1100"/>
              <a:buChar char="●"/>
            </a:pPr>
            <a:r>
              <a:rPr lang="en"/>
              <a:t>Through a web portal.</a:t>
            </a:r>
            <a:endParaRPr/>
          </a:p>
          <a:p>
            <a:pPr indent="-298450" lvl="0" marL="457200" rtl="0" algn="l">
              <a:lnSpc>
                <a:spcPct val="115000"/>
              </a:lnSpc>
              <a:spcBef>
                <a:spcPts val="0"/>
              </a:spcBef>
              <a:spcAft>
                <a:spcPts val="0"/>
              </a:spcAft>
              <a:buSzPts val="1100"/>
              <a:buChar char="●"/>
            </a:pPr>
            <a:r>
              <a:rPr lang="en"/>
              <a:t>Using a command line interface.</a:t>
            </a:r>
            <a:endParaRPr/>
          </a:p>
          <a:p>
            <a:pPr indent="-298450" lvl="0" marL="457200" rtl="0" algn="l">
              <a:lnSpc>
                <a:spcPct val="115000"/>
              </a:lnSpc>
              <a:spcBef>
                <a:spcPts val="0"/>
              </a:spcBef>
              <a:spcAft>
                <a:spcPts val="0"/>
              </a:spcAft>
              <a:buSzPts val="1100"/>
              <a:buChar char="●"/>
            </a:pPr>
            <a:r>
              <a:rPr lang="en"/>
              <a:t>Using APIs.</a:t>
            </a:r>
            <a:endParaRPr/>
          </a:p>
          <a:p>
            <a:pPr indent="-298450" lvl="0" marL="457200" rtl="0" algn="l">
              <a:lnSpc>
                <a:spcPct val="115000"/>
              </a:lnSpc>
              <a:spcBef>
                <a:spcPts val="0"/>
              </a:spcBef>
              <a:spcAft>
                <a:spcPts val="0"/>
              </a:spcAft>
              <a:buSzPts val="1100"/>
              <a:buChar char="●"/>
            </a:pPr>
            <a:r>
              <a:rPr lang="en"/>
              <a:t>Using PowerShell.</a:t>
            </a:r>
            <a:endParaRPr/>
          </a:p>
          <a:p>
            <a:pPr indent="0" lvl="0" marL="0" rtl="0" algn="l">
              <a:spcBef>
                <a:spcPts val="1200"/>
              </a:spcBef>
              <a:spcAft>
                <a:spcPts val="12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Homework: concepts on exam</a:t>
            </a:r>
            <a:endParaRPr/>
          </a:p>
        </p:txBody>
      </p:sp>
      <p:sp>
        <p:nvSpPr>
          <p:cNvPr id="230" name="Google Shape;230;p4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Complete </a:t>
            </a:r>
            <a:endParaRPr/>
          </a:p>
          <a:p>
            <a:pPr indent="0" lvl="0" marL="0" rtl="0" algn="l">
              <a:spcBef>
                <a:spcPts val="1200"/>
              </a:spcBef>
              <a:spcAft>
                <a:spcPts val="0"/>
              </a:spcAft>
              <a:buNone/>
            </a:pPr>
            <a:r>
              <a:rPr lang="en"/>
              <a:t>Microsoft Azure Fundamentals: Describe cloud concepts</a:t>
            </a:r>
            <a:endParaRPr/>
          </a:p>
          <a:p>
            <a:pPr indent="0" lvl="0" marL="0" rtl="0" algn="l">
              <a:spcBef>
                <a:spcPts val="1200"/>
              </a:spcBef>
              <a:spcAft>
                <a:spcPts val="1200"/>
              </a:spcAft>
              <a:buNone/>
            </a:pPr>
            <a:r>
              <a:rPr lang="en"/>
              <a:t>https://learn.microsoft.com/en-us/training/paths/microsoft-azure-fundamentals-describe-cloud-concepts/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Access the achievement</a:t>
            </a:r>
            <a:endParaRPr/>
          </a:p>
        </p:txBody>
      </p:sp>
      <p:sp>
        <p:nvSpPr>
          <p:cNvPr id="236" name="Google Shape;236;p4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237" name="Google Shape;237;p41"/>
          <p:cNvPicPr preferRelativeResize="0"/>
          <p:nvPr/>
        </p:nvPicPr>
        <p:blipFill>
          <a:blip r:embed="rId3">
            <a:alphaModFix/>
          </a:blip>
          <a:stretch>
            <a:fillRect/>
          </a:stretch>
        </p:blipFill>
        <p:spPr>
          <a:xfrm>
            <a:off x="2219325" y="1114425"/>
            <a:ext cx="4705350" cy="29146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2"/>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700"/>
              <a:t>Correct trophy with your name</a:t>
            </a:r>
            <a:endParaRPr/>
          </a:p>
        </p:txBody>
      </p:sp>
      <p:sp>
        <p:nvSpPr>
          <p:cNvPr id="243" name="Google Shape;243;p4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244" name="Google Shape;244;p42"/>
          <p:cNvPicPr preferRelativeResize="0"/>
          <p:nvPr/>
        </p:nvPicPr>
        <p:blipFill>
          <a:blip r:embed="rId3">
            <a:alphaModFix/>
          </a:blip>
          <a:stretch>
            <a:fillRect/>
          </a:stretch>
        </p:blipFill>
        <p:spPr>
          <a:xfrm>
            <a:off x="2042100" y="1051099"/>
            <a:ext cx="6069661" cy="35939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Credits</a:t>
            </a:r>
            <a:endParaRPr/>
          </a:p>
        </p:txBody>
      </p:sp>
      <p:sp>
        <p:nvSpPr>
          <p:cNvPr id="250" name="Google Shape;250;p4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Images: Wikipedia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