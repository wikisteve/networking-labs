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5143500" cx="9144000"/>
  <p:notesSz cx="6858000" cy="9144000"/>
  <p:embeddedFontLst>
    <p:embeddedFont>
      <p:font typeface="Amatic SC"/>
      <p:regular r:id="rId37"/>
      <p:bold r:id="rId38"/>
    </p:embeddedFont>
    <p:embeddedFont>
      <p:font typeface="Source Code Pro"/>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SourceCodePro-bold.fntdata"/><Relationship Id="rId20" Type="http://schemas.openxmlformats.org/officeDocument/2006/relationships/slide" Target="slides/slide15.xml"/><Relationship Id="rId42" Type="http://schemas.openxmlformats.org/officeDocument/2006/relationships/font" Target="fonts/SourceCodePro-boldItalic.fntdata"/><Relationship Id="rId41" Type="http://schemas.openxmlformats.org/officeDocument/2006/relationships/font" Target="fonts/SourceCodePro-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AmaticSC-regular.fntdata"/><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SourceCodePro-regular.fntdata"/><Relationship Id="rId16" Type="http://schemas.openxmlformats.org/officeDocument/2006/relationships/slide" Target="slides/slide11.xml"/><Relationship Id="rId38" Type="http://schemas.openxmlformats.org/officeDocument/2006/relationships/font" Target="fonts/AmaticSC-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2ce47d966e4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2ce47d966e4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ce47d966e4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2ce47d966e4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2ce47d966e4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2ce47d966e4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2ce47d966e4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2ce47d966e4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2ce47d966e4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2ce47d966e4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2ce47d966e4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2ce47d966e4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ce47d966e4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2ce47d966e4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ce47d966e4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2ce47d966e4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ce47d966e4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2ce47d966e4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ce47d966e4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2ce47d966e4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ce47d966e4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2ce47d966e4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ce47d966e4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2ce47d966e4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ce47d966e4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2ce47d966e4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ce47d966e4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2ce47d966e4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ce47d966e4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2ce47d966e4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2ce47d966e4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2ce47d966e4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2ce47d966e4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2ce47d966e4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ce47d966e4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2ce47d966e4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ce47d966e4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2ce47d966e4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ce47d966e4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2ce47d966e4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ce47d966e4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2ce47d966e4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ce47d966e4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2ce47d966e4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2ce47d966e4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2ce47d966e4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2ce47d966e4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2ce47d966e4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2ce47d966e4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2ce47d966e4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2ce47d966e4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2ce47d966e4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2ce4c46eb31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2ce4c46eb31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2ce4c46eb31_3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2ce4c46eb31_3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2ce47d966e4_0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2ce47d966e4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2ce47d966e4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2ce47d966e4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3429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311700" y="392150"/>
            <a:ext cx="8520600" cy="26904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8000"/>
              <a:buNone/>
              <a:defRPr sz="8000"/>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p:txBody>
      </p:sp>
      <p:sp>
        <p:nvSpPr>
          <p:cNvPr id="12" name="Google Shape;12;p2"/>
          <p:cNvSpPr txBox="1"/>
          <p:nvPr>
            <p:ph idx="1" type="subTitle"/>
          </p:nvPr>
        </p:nvSpPr>
        <p:spPr>
          <a:xfrm>
            <a:off x="311700" y="3890400"/>
            <a:ext cx="8520600" cy="7062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Clr>
                <a:schemeClr val="accent1"/>
              </a:buClr>
              <a:buSzPts val="2100"/>
              <a:buNone/>
              <a:defRPr b="1" sz="2100">
                <a:solidFill>
                  <a:schemeClr val="accent1"/>
                </a:solidFill>
              </a:defRPr>
            </a:lvl1pPr>
            <a:lvl2pPr lvl="1" algn="ctr">
              <a:lnSpc>
                <a:spcPct val="100000"/>
              </a:lnSpc>
              <a:spcBef>
                <a:spcPts val="0"/>
              </a:spcBef>
              <a:spcAft>
                <a:spcPts val="0"/>
              </a:spcAft>
              <a:buClr>
                <a:schemeClr val="accent1"/>
              </a:buClr>
              <a:buSzPts val="2100"/>
              <a:buNone/>
              <a:defRPr b="1" sz="2100">
                <a:solidFill>
                  <a:schemeClr val="accent1"/>
                </a:solidFill>
              </a:defRPr>
            </a:lvl2pPr>
            <a:lvl3pPr lvl="2" algn="ctr">
              <a:lnSpc>
                <a:spcPct val="100000"/>
              </a:lnSpc>
              <a:spcBef>
                <a:spcPts val="0"/>
              </a:spcBef>
              <a:spcAft>
                <a:spcPts val="0"/>
              </a:spcAft>
              <a:buClr>
                <a:schemeClr val="accent1"/>
              </a:buClr>
              <a:buSzPts val="2100"/>
              <a:buNone/>
              <a:defRPr b="1" sz="2100">
                <a:solidFill>
                  <a:schemeClr val="accent1"/>
                </a:solidFill>
              </a:defRPr>
            </a:lvl3pPr>
            <a:lvl4pPr lvl="3" algn="ctr">
              <a:lnSpc>
                <a:spcPct val="100000"/>
              </a:lnSpc>
              <a:spcBef>
                <a:spcPts val="0"/>
              </a:spcBef>
              <a:spcAft>
                <a:spcPts val="0"/>
              </a:spcAft>
              <a:buClr>
                <a:schemeClr val="accent1"/>
              </a:buClr>
              <a:buSzPts val="2100"/>
              <a:buNone/>
              <a:defRPr b="1" sz="2100">
                <a:solidFill>
                  <a:schemeClr val="accent1"/>
                </a:solidFill>
              </a:defRPr>
            </a:lvl4pPr>
            <a:lvl5pPr lvl="4" algn="ctr">
              <a:lnSpc>
                <a:spcPct val="100000"/>
              </a:lnSpc>
              <a:spcBef>
                <a:spcPts val="0"/>
              </a:spcBef>
              <a:spcAft>
                <a:spcPts val="0"/>
              </a:spcAft>
              <a:buClr>
                <a:schemeClr val="accent1"/>
              </a:buClr>
              <a:buSzPts val="2100"/>
              <a:buNone/>
              <a:defRPr b="1" sz="2100">
                <a:solidFill>
                  <a:schemeClr val="accent1"/>
                </a:solidFill>
              </a:defRPr>
            </a:lvl5pPr>
            <a:lvl6pPr lvl="5" algn="ctr">
              <a:lnSpc>
                <a:spcPct val="100000"/>
              </a:lnSpc>
              <a:spcBef>
                <a:spcPts val="0"/>
              </a:spcBef>
              <a:spcAft>
                <a:spcPts val="0"/>
              </a:spcAft>
              <a:buClr>
                <a:schemeClr val="accent1"/>
              </a:buClr>
              <a:buSzPts val="2100"/>
              <a:buNone/>
              <a:defRPr b="1" sz="2100">
                <a:solidFill>
                  <a:schemeClr val="accent1"/>
                </a:solidFill>
              </a:defRPr>
            </a:lvl6pPr>
            <a:lvl7pPr lvl="6" algn="ctr">
              <a:lnSpc>
                <a:spcPct val="100000"/>
              </a:lnSpc>
              <a:spcBef>
                <a:spcPts val="0"/>
              </a:spcBef>
              <a:spcAft>
                <a:spcPts val="0"/>
              </a:spcAft>
              <a:buClr>
                <a:schemeClr val="accent1"/>
              </a:buClr>
              <a:buSzPts val="2100"/>
              <a:buNone/>
              <a:defRPr b="1" sz="2100">
                <a:solidFill>
                  <a:schemeClr val="accent1"/>
                </a:solidFill>
              </a:defRPr>
            </a:lvl7pPr>
            <a:lvl8pPr lvl="7" algn="ctr">
              <a:lnSpc>
                <a:spcPct val="100000"/>
              </a:lnSpc>
              <a:spcBef>
                <a:spcPts val="0"/>
              </a:spcBef>
              <a:spcAft>
                <a:spcPts val="0"/>
              </a:spcAft>
              <a:buClr>
                <a:schemeClr val="accent1"/>
              </a:buClr>
              <a:buSzPts val="2100"/>
              <a:buNone/>
              <a:defRPr b="1" sz="2100">
                <a:solidFill>
                  <a:schemeClr val="accent1"/>
                </a:solidFill>
              </a:defRPr>
            </a:lvl8pPr>
            <a:lvl9pPr lvl="8" algn="ctr">
              <a:lnSpc>
                <a:spcPct val="100000"/>
              </a:lnSpc>
              <a:spcBef>
                <a:spcPts val="0"/>
              </a:spcBef>
              <a:spcAft>
                <a:spcPts val="0"/>
              </a:spcAft>
              <a:buClr>
                <a:schemeClr val="accent1"/>
              </a:buClr>
              <a:buSzPts val="2100"/>
              <a:buNone/>
              <a:defRPr b="1" sz="2100">
                <a:solidFill>
                  <a:schemeClr val="accen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2802750" y="802500"/>
            <a:ext cx="3538500" cy="3538500"/>
          </a:xfrm>
          <a:prstGeom prst="rect">
            <a:avLst/>
          </a:prstGeom>
          <a:solidFill>
            <a:srgbClr val="FFFFFF"/>
          </a:solidFill>
        </p:spPr>
        <p:txBody>
          <a:bodyPr anchorCtr="0" anchor="ctr"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19" name="Google Shape;19;p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5"/>
          <p:cNvSpPr txBox="1"/>
          <p:nvPr>
            <p:ph idx="1" type="body"/>
          </p:nvPr>
        </p:nvSpPr>
        <p:spPr>
          <a:xfrm>
            <a:off x="311700" y="1228675"/>
            <a:ext cx="3999900" cy="334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2" type="body"/>
          </p:nvPr>
        </p:nvSpPr>
        <p:spPr>
          <a:xfrm>
            <a:off x="4832400" y="1228675"/>
            <a:ext cx="3999900" cy="334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04800" y="309350"/>
            <a:ext cx="8537700" cy="7482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sz="3000">
                <a:highlight>
                  <a:schemeClr val="dk1"/>
                </a:highlight>
              </a:defRPr>
            </a:lvl1pPr>
            <a:lvl2pPr lvl="1">
              <a:spcBef>
                <a:spcPts val="0"/>
              </a:spcBef>
              <a:spcAft>
                <a:spcPts val="0"/>
              </a:spcAft>
              <a:buSzPts val="3000"/>
              <a:buNone/>
              <a:defRPr sz="3000">
                <a:highlight>
                  <a:schemeClr val="dk1"/>
                </a:highlight>
              </a:defRPr>
            </a:lvl2pPr>
            <a:lvl3pPr lvl="2">
              <a:spcBef>
                <a:spcPts val="0"/>
              </a:spcBef>
              <a:spcAft>
                <a:spcPts val="0"/>
              </a:spcAft>
              <a:buSzPts val="3000"/>
              <a:buNone/>
              <a:defRPr sz="3000">
                <a:highlight>
                  <a:schemeClr val="dk1"/>
                </a:highlight>
              </a:defRPr>
            </a:lvl3pPr>
            <a:lvl4pPr lvl="3">
              <a:spcBef>
                <a:spcPts val="0"/>
              </a:spcBef>
              <a:spcAft>
                <a:spcPts val="0"/>
              </a:spcAft>
              <a:buSzPts val="3000"/>
              <a:buNone/>
              <a:defRPr sz="3000">
                <a:highlight>
                  <a:schemeClr val="dk1"/>
                </a:highlight>
              </a:defRPr>
            </a:lvl4pPr>
            <a:lvl5pPr lvl="4">
              <a:spcBef>
                <a:spcPts val="0"/>
              </a:spcBef>
              <a:spcAft>
                <a:spcPts val="0"/>
              </a:spcAft>
              <a:buSzPts val="3000"/>
              <a:buNone/>
              <a:defRPr sz="3000">
                <a:highlight>
                  <a:schemeClr val="dk1"/>
                </a:highlight>
              </a:defRPr>
            </a:lvl5pPr>
            <a:lvl6pPr lvl="5">
              <a:spcBef>
                <a:spcPts val="0"/>
              </a:spcBef>
              <a:spcAft>
                <a:spcPts val="0"/>
              </a:spcAft>
              <a:buSzPts val="3000"/>
              <a:buNone/>
              <a:defRPr sz="3000">
                <a:highlight>
                  <a:schemeClr val="dk1"/>
                </a:highlight>
              </a:defRPr>
            </a:lvl6pPr>
            <a:lvl7pPr lvl="6">
              <a:spcBef>
                <a:spcPts val="0"/>
              </a:spcBef>
              <a:spcAft>
                <a:spcPts val="0"/>
              </a:spcAft>
              <a:buSzPts val="3000"/>
              <a:buNone/>
              <a:defRPr sz="3000">
                <a:highlight>
                  <a:schemeClr val="dk1"/>
                </a:highlight>
              </a:defRPr>
            </a:lvl7pPr>
            <a:lvl8pPr lvl="7">
              <a:spcBef>
                <a:spcPts val="0"/>
              </a:spcBef>
              <a:spcAft>
                <a:spcPts val="0"/>
              </a:spcAft>
              <a:buSzPts val="3000"/>
              <a:buNone/>
              <a:defRPr sz="3000">
                <a:highlight>
                  <a:schemeClr val="dk1"/>
                </a:highlight>
              </a:defRPr>
            </a:lvl8pPr>
            <a:lvl9pPr lvl="8">
              <a:spcBef>
                <a:spcPts val="0"/>
              </a:spcBef>
              <a:spcAft>
                <a:spcPts val="0"/>
              </a:spcAft>
              <a:buSzPts val="3000"/>
              <a:buNone/>
              <a:defRPr sz="3000">
                <a:highlight>
                  <a:schemeClr val="dk1"/>
                </a:highlight>
              </a:defRPr>
            </a:lvl9pPr>
          </a:lstStyle>
          <a:p/>
        </p:txBody>
      </p:sp>
      <p:sp>
        <p:nvSpPr>
          <p:cNvPr id="31" name="Google Shape;31;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33" name="Shape 33"/>
        <p:cNvGrpSpPr/>
        <p:nvPr/>
      </p:nvGrpSpPr>
      <p:grpSpPr>
        <a:xfrm>
          <a:off x="0" y="0"/>
          <a:ext cx="0" cy="0"/>
          <a:chOff x="0" y="0"/>
          <a:chExt cx="0" cy="0"/>
        </a:xfrm>
      </p:grpSpPr>
      <p:sp>
        <p:nvSpPr>
          <p:cNvPr id="34" name="Google Shape;34;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6000"/>
              <a:buNone/>
              <a:defRPr sz="6000">
                <a:solidFill>
                  <a:schemeClr val="lt1"/>
                </a:solidFill>
              </a:defRPr>
            </a:lvl1pPr>
            <a:lvl2pPr lvl="1">
              <a:spcBef>
                <a:spcPts val="0"/>
              </a:spcBef>
              <a:spcAft>
                <a:spcPts val="0"/>
              </a:spcAft>
              <a:buClr>
                <a:schemeClr val="lt1"/>
              </a:buClr>
              <a:buSzPts val="6000"/>
              <a:buNone/>
              <a:defRPr sz="6000">
                <a:solidFill>
                  <a:schemeClr val="lt1"/>
                </a:solidFill>
              </a:defRPr>
            </a:lvl2pPr>
            <a:lvl3pPr lvl="2">
              <a:spcBef>
                <a:spcPts val="0"/>
              </a:spcBef>
              <a:spcAft>
                <a:spcPts val="0"/>
              </a:spcAft>
              <a:buClr>
                <a:schemeClr val="lt1"/>
              </a:buClr>
              <a:buSzPts val="6000"/>
              <a:buNone/>
              <a:defRPr sz="6000">
                <a:solidFill>
                  <a:schemeClr val="lt1"/>
                </a:solidFill>
              </a:defRPr>
            </a:lvl3pPr>
            <a:lvl4pPr lvl="3">
              <a:spcBef>
                <a:spcPts val="0"/>
              </a:spcBef>
              <a:spcAft>
                <a:spcPts val="0"/>
              </a:spcAft>
              <a:buClr>
                <a:schemeClr val="lt1"/>
              </a:buClr>
              <a:buSzPts val="6000"/>
              <a:buNone/>
              <a:defRPr sz="6000">
                <a:solidFill>
                  <a:schemeClr val="lt1"/>
                </a:solidFill>
              </a:defRPr>
            </a:lvl4pPr>
            <a:lvl5pPr lvl="4">
              <a:spcBef>
                <a:spcPts val="0"/>
              </a:spcBef>
              <a:spcAft>
                <a:spcPts val="0"/>
              </a:spcAft>
              <a:buClr>
                <a:schemeClr val="lt1"/>
              </a:buClr>
              <a:buSzPts val="6000"/>
              <a:buNone/>
              <a:defRPr sz="6000">
                <a:solidFill>
                  <a:schemeClr val="lt1"/>
                </a:solidFill>
              </a:defRPr>
            </a:lvl5pPr>
            <a:lvl6pPr lvl="5">
              <a:spcBef>
                <a:spcPts val="0"/>
              </a:spcBef>
              <a:spcAft>
                <a:spcPts val="0"/>
              </a:spcAft>
              <a:buClr>
                <a:schemeClr val="lt1"/>
              </a:buClr>
              <a:buSzPts val="6000"/>
              <a:buNone/>
              <a:defRPr sz="6000">
                <a:solidFill>
                  <a:schemeClr val="lt1"/>
                </a:solidFill>
              </a:defRPr>
            </a:lvl6pPr>
            <a:lvl7pPr lvl="6">
              <a:spcBef>
                <a:spcPts val="0"/>
              </a:spcBef>
              <a:spcAft>
                <a:spcPts val="0"/>
              </a:spcAft>
              <a:buClr>
                <a:schemeClr val="lt1"/>
              </a:buClr>
              <a:buSzPts val="6000"/>
              <a:buNone/>
              <a:defRPr sz="6000">
                <a:solidFill>
                  <a:schemeClr val="lt1"/>
                </a:solidFill>
              </a:defRPr>
            </a:lvl7pPr>
            <a:lvl8pPr lvl="7">
              <a:spcBef>
                <a:spcPts val="0"/>
              </a:spcBef>
              <a:spcAft>
                <a:spcPts val="0"/>
              </a:spcAft>
              <a:buClr>
                <a:schemeClr val="lt1"/>
              </a:buClr>
              <a:buSzPts val="6000"/>
              <a:buNone/>
              <a:defRPr sz="6000">
                <a:solidFill>
                  <a:schemeClr val="lt1"/>
                </a:solidFill>
              </a:defRPr>
            </a:lvl8pPr>
            <a:lvl9pPr lvl="8">
              <a:spcBef>
                <a:spcPts val="0"/>
              </a:spcBef>
              <a:spcAft>
                <a:spcPts val="0"/>
              </a:spcAft>
              <a:buClr>
                <a:schemeClr val="lt1"/>
              </a:buClr>
              <a:buSzPts val="6000"/>
              <a:buNone/>
              <a:defRPr sz="6000">
                <a:solidFill>
                  <a:schemeClr val="lt1"/>
                </a:solidFill>
              </a:defRPr>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 name="Google Shape;38;p9"/>
          <p:cNvCxnSpPr/>
          <p:nvPr/>
        </p:nvCxnSpPr>
        <p:spPr>
          <a:xfrm>
            <a:off x="5029675" y="4495500"/>
            <a:ext cx="468300" cy="0"/>
          </a:xfrm>
          <a:prstGeom prst="straightConnector1">
            <a:avLst/>
          </a:prstGeom>
          <a:noFill/>
          <a:ln cap="flat" cmpd="sng" w="28575">
            <a:solidFill>
              <a:schemeClr val="lt1"/>
            </a:solidFill>
            <a:prstDash val="solid"/>
            <a:round/>
            <a:headEnd len="sm" w="sm" type="none"/>
            <a:tailEnd len="sm" w="sm" type="none"/>
          </a:ln>
        </p:spPr>
      </p:cxnSp>
      <p:sp>
        <p:nvSpPr>
          <p:cNvPr id="39" name="Google Shape;39;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40" name="Google Shape;40;p9"/>
          <p:cNvSpPr txBox="1"/>
          <p:nvPr>
            <p:ph idx="1" type="subTitle"/>
          </p:nvPr>
        </p:nvSpPr>
        <p:spPr>
          <a:xfrm>
            <a:off x="265500" y="2845223"/>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1" name="Google Shape;41;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highlight>
                  <a:schemeClr val="lt1"/>
                </a:highlight>
              </a:defRPr>
            </a:lvl1pPr>
            <a:lvl2pPr indent="-317500" lvl="1" marL="914400">
              <a:spcBef>
                <a:spcPts val="0"/>
              </a:spcBef>
              <a:spcAft>
                <a:spcPts val="0"/>
              </a:spcAft>
              <a:buClr>
                <a:schemeClr val="accent1"/>
              </a:buClr>
              <a:buSzPts val="1400"/>
              <a:buChar char="○"/>
              <a:defRPr>
                <a:solidFill>
                  <a:schemeClr val="accent1"/>
                </a:solidFill>
                <a:highlight>
                  <a:schemeClr val="lt1"/>
                </a:highlight>
              </a:defRPr>
            </a:lvl2pPr>
            <a:lvl3pPr indent="-317500" lvl="2" marL="1371600">
              <a:spcBef>
                <a:spcPts val="0"/>
              </a:spcBef>
              <a:spcAft>
                <a:spcPts val="0"/>
              </a:spcAft>
              <a:buClr>
                <a:schemeClr val="accent1"/>
              </a:buClr>
              <a:buSzPts val="1400"/>
              <a:buChar char="■"/>
              <a:defRPr>
                <a:solidFill>
                  <a:schemeClr val="accent1"/>
                </a:solidFill>
                <a:highlight>
                  <a:schemeClr val="lt1"/>
                </a:highlight>
              </a:defRPr>
            </a:lvl3pPr>
            <a:lvl4pPr indent="-317500" lvl="3" marL="1828800">
              <a:spcBef>
                <a:spcPts val="0"/>
              </a:spcBef>
              <a:spcAft>
                <a:spcPts val="0"/>
              </a:spcAft>
              <a:buClr>
                <a:schemeClr val="accent1"/>
              </a:buClr>
              <a:buSzPts val="1400"/>
              <a:buChar char="●"/>
              <a:defRPr>
                <a:solidFill>
                  <a:schemeClr val="accent1"/>
                </a:solidFill>
                <a:highlight>
                  <a:schemeClr val="lt1"/>
                </a:highlight>
              </a:defRPr>
            </a:lvl4pPr>
            <a:lvl5pPr indent="-317500" lvl="4" marL="2286000">
              <a:spcBef>
                <a:spcPts val="0"/>
              </a:spcBef>
              <a:spcAft>
                <a:spcPts val="0"/>
              </a:spcAft>
              <a:buClr>
                <a:schemeClr val="accent1"/>
              </a:buClr>
              <a:buSzPts val="1400"/>
              <a:buChar char="○"/>
              <a:defRPr>
                <a:solidFill>
                  <a:schemeClr val="accent1"/>
                </a:solidFill>
                <a:highlight>
                  <a:schemeClr val="lt1"/>
                </a:highlight>
              </a:defRPr>
            </a:lvl5pPr>
            <a:lvl6pPr indent="-317500" lvl="5" marL="2743200">
              <a:spcBef>
                <a:spcPts val="0"/>
              </a:spcBef>
              <a:spcAft>
                <a:spcPts val="0"/>
              </a:spcAft>
              <a:buClr>
                <a:schemeClr val="accent1"/>
              </a:buClr>
              <a:buSzPts val="1400"/>
              <a:buChar char="■"/>
              <a:defRPr>
                <a:solidFill>
                  <a:schemeClr val="accent1"/>
                </a:solidFill>
                <a:highlight>
                  <a:schemeClr val="lt1"/>
                </a:highlight>
              </a:defRPr>
            </a:lvl6pPr>
            <a:lvl7pPr indent="-317500" lvl="6" marL="3200400">
              <a:spcBef>
                <a:spcPts val="0"/>
              </a:spcBef>
              <a:spcAft>
                <a:spcPts val="0"/>
              </a:spcAft>
              <a:buClr>
                <a:schemeClr val="accent1"/>
              </a:buClr>
              <a:buSzPts val="1400"/>
              <a:buChar char="●"/>
              <a:defRPr>
                <a:solidFill>
                  <a:schemeClr val="accent1"/>
                </a:solidFill>
                <a:highlight>
                  <a:schemeClr val="lt1"/>
                </a:highlight>
              </a:defRPr>
            </a:lvl7pPr>
            <a:lvl8pPr indent="-317500" lvl="7" marL="3657600">
              <a:spcBef>
                <a:spcPts val="0"/>
              </a:spcBef>
              <a:spcAft>
                <a:spcPts val="0"/>
              </a:spcAft>
              <a:buClr>
                <a:schemeClr val="accent1"/>
              </a:buClr>
              <a:buSzPts val="1400"/>
              <a:buChar char="○"/>
              <a:defRPr>
                <a:solidFill>
                  <a:schemeClr val="accent1"/>
                </a:solidFill>
                <a:highlight>
                  <a:schemeClr val="lt1"/>
                </a:highlight>
              </a:defRPr>
            </a:lvl8pPr>
            <a:lvl9pPr indent="-317500" lvl="8" marL="4114800">
              <a:spcBef>
                <a:spcPts val="0"/>
              </a:spcBef>
              <a:spcAft>
                <a:spcPts val="0"/>
              </a:spcAft>
              <a:buClr>
                <a:schemeClr val="accent1"/>
              </a:buClr>
              <a:buSzPts val="1400"/>
              <a:buChar char="■"/>
              <a:defRPr>
                <a:solidFill>
                  <a:schemeClr val="accent1"/>
                </a:solidFill>
                <a:highlight>
                  <a:schemeClr val="lt1"/>
                </a:highlight>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accent1"/>
              </a:buClr>
              <a:buSzPts val="2400"/>
              <a:buFont typeface="Amatic SC"/>
              <a:buNone/>
              <a:defRPr b="1" sz="2400">
                <a:solidFill>
                  <a:schemeClr val="accent1"/>
                </a:solidFill>
                <a:latin typeface="Amatic SC"/>
                <a:ea typeface="Amatic SC"/>
                <a:cs typeface="Amatic SC"/>
                <a:sym typeface="Amatic SC"/>
              </a:defRPr>
            </a:lvl1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240275"/>
            <a:ext cx="8520600" cy="19818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highlight>
                  <a:schemeClr val="accent1"/>
                </a:highlight>
              </a:defRPr>
            </a:lvl1pPr>
            <a:lvl2pPr lvl="1" algn="ctr">
              <a:spcBef>
                <a:spcPts val="0"/>
              </a:spcBef>
              <a:spcAft>
                <a:spcPts val="0"/>
              </a:spcAft>
              <a:buClr>
                <a:schemeClr val="lt1"/>
              </a:buClr>
              <a:buSzPts val="12000"/>
              <a:buNone/>
              <a:defRPr sz="12000">
                <a:solidFill>
                  <a:schemeClr val="lt1"/>
                </a:solidFill>
                <a:highlight>
                  <a:schemeClr val="accent1"/>
                </a:highlight>
              </a:defRPr>
            </a:lvl2pPr>
            <a:lvl3pPr lvl="2" algn="ctr">
              <a:spcBef>
                <a:spcPts val="0"/>
              </a:spcBef>
              <a:spcAft>
                <a:spcPts val="0"/>
              </a:spcAft>
              <a:buClr>
                <a:schemeClr val="lt1"/>
              </a:buClr>
              <a:buSzPts val="12000"/>
              <a:buNone/>
              <a:defRPr sz="12000">
                <a:solidFill>
                  <a:schemeClr val="lt1"/>
                </a:solidFill>
                <a:highlight>
                  <a:schemeClr val="accent1"/>
                </a:highlight>
              </a:defRPr>
            </a:lvl3pPr>
            <a:lvl4pPr lvl="3" algn="ctr">
              <a:spcBef>
                <a:spcPts val="0"/>
              </a:spcBef>
              <a:spcAft>
                <a:spcPts val="0"/>
              </a:spcAft>
              <a:buClr>
                <a:schemeClr val="lt1"/>
              </a:buClr>
              <a:buSzPts val="12000"/>
              <a:buNone/>
              <a:defRPr sz="12000">
                <a:solidFill>
                  <a:schemeClr val="lt1"/>
                </a:solidFill>
                <a:highlight>
                  <a:schemeClr val="accent1"/>
                </a:highlight>
              </a:defRPr>
            </a:lvl4pPr>
            <a:lvl5pPr lvl="4" algn="ctr">
              <a:spcBef>
                <a:spcPts val="0"/>
              </a:spcBef>
              <a:spcAft>
                <a:spcPts val="0"/>
              </a:spcAft>
              <a:buClr>
                <a:schemeClr val="lt1"/>
              </a:buClr>
              <a:buSzPts val="12000"/>
              <a:buNone/>
              <a:defRPr sz="12000">
                <a:solidFill>
                  <a:schemeClr val="lt1"/>
                </a:solidFill>
                <a:highlight>
                  <a:schemeClr val="accent1"/>
                </a:highlight>
              </a:defRPr>
            </a:lvl5pPr>
            <a:lvl6pPr lvl="5" algn="ctr">
              <a:spcBef>
                <a:spcPts val="0"/>
              </a:spcBef>
              <a:spcAft>
                <a:spcPts val="0"/>
              </a:spcAft>
              <a:buClr>
                <a:schemeClr val="lt1"/>
              </a:buClr>
              <a:buSzPts val="12000"/>
              <a:buNone/>
              <a:defRPr sz="12000">
                <a:solidFill>
                  <a:schemeClr val="lt1"/>
                </a:solidFill>
                <a:highlight>
                  <a:schemeClr val="accent1"/>
                </a:highlight>
              </a:defRPr>
            </a:lvl6pPr>
            <a:lvl7pPr lvl="6" algn="ctr">
              <a:spcBef>
                <a:spcPts val="0"/>
              </a:spcBef>
              <a:spcAft>
                <a:spcPts val="0"/>
              </a:spcAft>
              <a:buClr>
                <a:schemeClr val="lt1"/>
              </a:buClr>
              <a:buSzPts val="12000"/>
              <a:buNone/>
              <a:defRPr sz="12000">
                <a:solidFill>
                  <a:schemeClr val="lt1"/>
                </a:solidFill>
                <a:highlight>
                  <a:schemeClr val="accent1"/>
                </a:highlight>
              </a:defRPr>
            </a:lvl7pPr>
            <a:lvl8pPr lvl="7" algn="ctr">
              <a:spcBef>
                <a:spcPts val="0"/>
              </a:spcBef>
              <a:spcAft>
                <a:spcPts val="0"/>
              </a:spcAft>
              <a:buClr>
                <a:schemeClr val="lt1"/>
              </a:buClr>
              <a:buSzPts val="12000"/>
              <a:buNone/>
              <a:defRPr sz="12000">
                <a:solidFill>
                  <a:schemeClr val="lt1"/>
                </a:solidFill>
                <a:highlight>
                  <a:schemeClr val="accent1"/>
                </a:highlight>
              </a:defRPr>
            </a:lvl8pPr>
            <a:lvl9pPr lvl="8" algn="ctr">
              <a:spcBef>
                <a:spcPts val="0"/>
              </a:spcBef>
              <a:spcAft>
                <a:spcPts val="0"/>
              </a:spcAft>
              <a:buClr>
                <a:schemeClr val="lt1"/>
              </a:buClr>
              <a:buSzPts val="12000"/>
              <a:buNone/>
              <a:defRPr sz="12000">
                <a:solidFill>
                  <a:schemeClr val="lt1"/>
                </a:solidFill>
                <a:highlight>
                  <a:schemeClr val="accent1"/>
                </a:highlight>
              </a:defRPr>
            </a:lvl9pPr>
          </a:lstStyle>
          <a:p>
            <a:r>
              <a:t>xx%</a:t>
            </a:r>
          </a:p>
        </p:txBody>
      </p:sp>
      <p:sp>
        <p:nvSpPr>
          <p:cNvPr id="48" name="Google Shape;48;p11"/>
          <p:cNvSpPr txBox="1"/>
          <p:nvPr>
            <p:ph idx="1" type="body"/>
          </p:nvPr>
        </p:nvSpPr>
        <p:spPr>
          <a:xfrm>
            <a:off x="311700" y="33046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accent1"/>
              </a:buClr>
              <a:buSzPts val="1800"/>
              <a:buChar char="●"/>
              <a:defRPr>
                <a:solidFill>
                  <a:schemeClr val="accent1"/>
                </a:solidFill>
                <a:highlight>
                  <a:schemeClr val="dk1"/>
                </a:highlight>
              </a:defRPr>
            </a:lvl1pPr>
            <a:lvl2pPr indent="-317500" lvl="1" marL="914400" algn="ctr">
              <a:spcBef>
                <a:spcPts val="0"/>
              </a:spcBef>
              <a:spcAft>
                <a:spcPts val="0"/>
              </a:spcAft>
              <a:buClr>
                <a:schemeClr val="accent1"/>
              </a:buClr>
              <a:buSzPts val="1400"/>
              <a:buChar char="○"/>
              <a:defRPr>
                <a:solidFill>
                  <a:schemeClr val="accent1"/>
                </a:solidFill>
                <a:highlight>
                  <a:schemeClr val="dk1"/>
                </a:highlight>
              </a:defRPr>
            </a:lvl2pPr>
            <a:lvl3pPr indent="-317500" lvl="2" marL="1371600" algn="ctr">
              <a:spcBef>
                <a:spcPts val="0"/>
              </a:spcBef>
              <a:spcAft>
                <a:spcPts val="0"/>
              </a:spcAft>
              <a:buClr>
                <a:schemeClr val="accent1"/>
              </a:buClr>
              <a:buSzPts val="1400"/>
              <a:buChar char="■"/>
              <a:defRPr>
                <a:solidFill>
                  <a:schemeClr val="accent1"/>
                </a:solidFill>
                <a:highlight>
                  <a:schemeClr val="dk1"/>
                </a:highlight>
              </a:defRPr>
            </a:lvl3pPr>
            <a:lvl4pPr indent="-317500" lvl="3" marL="1828800" algn="ctr">
              <a:spcBef>
                <a:spcPts val="0"/>
              </a:spcBef>
              <a:spcAft>
                <a:spcPts val="0"/>
              </a:spcAft>
              <a:buClr>
                <a:schemeClr val="accent1"/>
              </a:buClr>
              <a:buSzPts val="1400"/>
              <a:buChar char="●"/>
              <a:defRPr>
                <a:solidFill>
                  <a:schemeClr val="accent1"/>
                </a:solidFill>
                <a:highlight>
                  <a:schemeClr val="dk1"/>
                </a:highlight>
              </a:defRPr>
            </a:lvl4pPr>
            <a:lvl5pPr indent="-317500" lvl="4" marL="2286000" algn="ctr">
              <a:spcBef>
                <a:spcPts val="0"/>
              </a:spcBef>
              <a:spcAft>
                <a:spcPts val="0"/>
              </a:spcAft>
              <a:buClr>
                <a:schemeClr val="accent1"/>
              </a:buClr>
              <a:buSzPts val="1400"/>
              <a:buChar char="○"/>
              <a:defRPr>
                <a:solidFill>
                  <a:schemeClr val="accent1"/>
                </a:solidFill>
                <a:highlight>
                  <a:schemeClr val="dk1"/>
                </a:highlight>
              </a:defRPr>
            </a:lvl5pPr>
            <a:lvl6pPr indent="-317500" lvl="5" marL="2743200" algn="ctr">
              <a:spcBef>
                <a:spcPts val="0"/>
              </a:spcBef>
              <a:spcAft>
                <a:spcPts val="0"/>
              </a:spcAft>
              <a:buClr>
                <a:schemeClr val="accent1"/>
              </a:buClr>
              <a:buSzPts val="1400"/>
              <a:buChar char="■"/>
              <a:defRPr>
                <a:solidFill>
                  <a:schemeClr val="accent1"/>
                </a:solidFill>
                <a:highlight>
                  <a:schemeClr val="dk1"/>
                </a:highlight>
              </a:defRPr>
            </a:lvl6pPr>
            <a:lvl7pPr indent="-317500" lvl="6" marL="3200400" algn="ctr">
              <a:spcBef>
                <a:spcPts val="0"/>
              </a:spcBef>
              <a:spcAft>
                <a:spcPts val="0"/>
              </a:spcAft>
              <a:buClr>
                <a:schemeClr val="accent1"/>
              </a:buClr>
              <a:buSzPts val="1400"/>
              <a:buChar char="●"/>
              <a:defRPr>
                <a:solidFill>
                  <a:schemeClr val="accent1"/>
                </a:solidFill>
                <a:highlight>
                  <a:schemeClr val="dk1"/>
                </a:highlight>
              </a:defRPr>
            </a:lvl7pPr>
            <a:lvl8pPr indent="-317500" lvl="7" marL="3657600" algn="ctr">
              <a:spcBef>
                <a:spcPts val="0"/>
              </a:spcBef>
              <a:spcAft>
                <a:spcPts val="0"/>
              </a:spcAft>
              <a:buClr>
                <a:schemeClr val="accent1"/>
              </a:buClr>
              <a:buSzPts val="1400"/>
              <a:buChar char="○"/>
              <a:defRPr>
                <a:solidFill>
                  <a:schemeClr val="accent1"/>
                </a:solidFill>
                <a:highlight>
                  <a:schemeClr val="dk1"/>
                </a:highlight>
              </a:defRPr>
            </a:lvl8pPr>
            <a:lvl9pPr indent="-317500" lvl="8" marL="4114800" algn="ctr">
              <a:spcBef>
                <a:spcPts val="0"/>
              </a:spcBef>
              <a:spcAft>
                <a:spcPts val="0"/>
              </a:spcAft>
              <a:buClr>
                <a:schemeClr val="accent1"/>
              </a:buClr>
              <a:buSzPts val="1400"/>
              <a:buChar char="■"/>
              <a:defRPr>
                <a:solidFill>
                  <a:schemeClr val="accent1"/>
                </a:solidFill>
                <a:highlight>
                  <a:schemeClr val="dk1"/>
                </a:highlight>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beach-day">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292850"/>
            <a:ext cx="8520600" cy="8010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1pPr>
            <a:lvl2pPr lvl="1">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2pPr>
            <a:lvl3pPr lvl="2">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3pPr>
            <a:lvl4pPr lvl="3">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4pPr>
            <a:lvl5pPr lvl="4">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5pPr>
            <a:lvl6pPr lvl="5">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6pPr>
            <a:lvl7pPr lvl="6">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7pPr>
            <a:lvl8pPr lvl="7">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8pPr>
            <a:lvl9pPr lvl="8">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9pPr>
          </a:lstStyle>
          <a:p/>
        </p:txBody>
      </p:sp>
      <p:sp>
        <p:nvSpPr>
          <p:cNvPr id="7" name="Google Shape;7;p1"/>
          <p:cNvSpPr txBox="1"/>
          <p:nvPr>
            <p:ph idx="1" type="body"/>
          </p:nvPr>
        </p:nvSpPr>
        <p:spPr>
          <a:xfrm>
            <a:off x="311700" y="1228675"/>
            <a:ext cx="8520600" cy="334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Source Code Pro"/>
                <a:ea typeface="Source Code Pro"/>
                <a:cs typeface="Source Code Pro"/>
                <a:sym typeface="Source Code Pro"/>
              </a:defRPr>
            </a:lvl1pPr>
            <a:lvl2pPr lvl="1" algn="r">
              <a:buNone/>
              <a:defRPr sz="1000">
                <a:solidFill>
                  <a:schemeClr val="accent1"/>
                </a:solidFill>
                <a:latin typeface="Source Code Pro"/>
                <a:ea typeface="Source Code Pro"/>
                <a:cs typeface="Source Code Pro"/>
                <a:sym typeface="Source Code Pro"/>
              </a:defRPr>
            </a:lvl2pPr>
            <a:lvl3pPr lvl="2" algn="r">
              <a:buNone/>
              <a:defRPr sz="1000">
                <a:solidFill>
                  <a:schemeClr val="accent1"/>
                </a:solidFill>
                <a:latin typeface="Source Code Pro"/>
                <a:ea typeface="Source Code Pro"/>
                <a:cs typeface="Source Code Pro"/>
                <a:sym typeface="Source Code Pro"/>
              </a:defRPr>
            </a:lvl3pPr>
            <a:lvl4pPr lvl="3" algn="r">
              <a:buNone/>
              <a:defRPr sz="1000">
                <a:solidFill>
                  <a:schemeClr val="accent1"/>
                </a:solidFill>
                <a:latin typeface="Source Code Pro"/>
                <a:ea typeface="Source Code Pro"/>
                <a:cs typeface="Source Code Pro"/>
                <a:sym typeface="Source Code Pro"/>
              </a:defRPr>
            </a:lvl4pPr>
            <a:lvl5pPr lvl="4" algn="r">
              <a:buNone/>
              <a:defRPr sz="1000">
                <a:solidFill>
                  <a:schemeClr val="accent1"/>
                </a:solidFill>
                <a:latin typeface="Source Code Pro"/>
                <a:ea typeface="Source Code Pro"/>
                <a:cs typeface="Source Code Pro"/>
                <a:sym typeface="Source Code Pro"/>
              </a:defRPr>
            </a:lvl5pPr>
            <a:lvl6pPr lvl="5" algn="r">
              <a:buNone/>
              <a:defRPr sz="1000">
                <a:solidFill>
                  <a:schemeClr val="accent1"/>
                </a:solidFill>
                <a:latin typeface="Source Code Pro"/>
                <a:ea typeface="Source Code Pro"/>
                <a:cs typeface="Source Code Pro"/>
                <a:sym typeface="Source Code Pro"/>
              </a:defRPr>
            </a:lvl6pPr>
            <a:lvl7pPr lvl="6" algn="r">
              <a:buNone/>
              <a:defRPr sz="1000">
                <a:solidFill>
                  <a:schemeClr val="accent1"/>
                </a:solidFill>
                <a:latin typeface="Source Code Pro"/>
                <a:ea typeface="Source Code Pro"/>
                <a:cs typeface="Source Code Pro"/>
                <a:sym typeface="Source Code Pro"/>
              </a:defRPr>
            </a:lvl7pPr>
            <a:lvl8pPr lvl="7" algn="r">
              <a:buNone/>
              <a:defRPr sz="1000">
                <a:solidFill>
                  <a:schemeClr val="accent1"/>
                </a:solidFill>
                <a:latin typeface="Source Code Pro"/>
                <a:ea typeface="Source Code Pro"/>
                <a:cs typeface="Source Code Pro"/>
                <a:sym typeface="Source Code Pro"/>
              </a:defRPr>
            </a:lvl8pPr>
            <a:lvl9pPr lvl="8" algn="r">
              <a:buNone/>
              <a:defRPr sz="1000">
                <a:solidFill>
                  <a:schemeClr val="accent1"/>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hyperlink" Target="https://computer.howstuffworks.com/motherboard.htm"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hyperlink" Target="https://en.wikipedia.org/wiki/Carrie_Anne_Philbin" TargetMode="External"/><Relationship Id="rId4" Type="http://schemas.openxmlformats.org/officeDocument/2006/relationships/hyperlink" Target="https://en.wikipedia.org/wiki/Crash_Course_(web_series)" TargetMode="External"/><Relationship Id="rId5" Type="http://schemas.openxmlformats.org/officeDocument/2006/relationships/hyperlink" Target="http://www.youtube.com/watch?v=fpnE6UAfbtU" TargetMode="External"/><Relationship Id="rId6" Type="http://schemas.openxmlformats.org/officeDocument/2006/relationships/image" Target="../media/image2.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3"/>
          <p:cNvSpPr txBox="1"/>
          <p:nvPr>
            <p:ph type="ctrTitle"/>
          </p:nvPr>
        </p:nvSpPr>
        <p:spPr>
          <a:xfrm>
            <a:off x="311700" y="392150"/>
            <a:ext cx="8520600" cy="26904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Introduction to Computer Hardware and Operating Systems </a:t>
            </a:r>
            <a:r>
              <a:rPr lang="en">
                <a:highlight>
                  <a:schemeClr val="accent6"/>
                </a:highlight>
              </a:rPr>
              <a:t>Part 1</a:t>
            </a:r>
            <a:endParaRPr>
              <a:highlight>
                <a:schemeClr val="accent6"/>
              </a:highlight>
            </a:endParaRPr>
          </a:p>
        </p:txBody>
      </p:sp>
      <p:sp>
        <p:nvSpPr>
          <p:cNvPr id="57" name="Google Shape;57;p13"/>
          <p:cNvSpPr txBox="1"/>
          <p:nvPr>
            <p:ph idx="1" type="subTitle"/>
          </p:nvPr>
        </p:nvSpPr>
        <p:spPr>
          <a:xfrm>
            <a:off x="311700" y="3890400"/>
            <a:ext cx="8520600" cy="706200"/>
          </a:xfrm>
          <a:prstGeom prst="rect">
            <a:avLst/>
          </a:prstGeom>
        </p:spPr>
        <p:txBody>
          <a:bodyPr anchorCtr="0" anchor="ctr" bIns="91425" lIns="91425" spcFirstLastPara="1" rIns="91425" wrap="square" tIns="91425">
            <a:normAutofit fontScale="92500" lnSpcReduction="20000"/>
          </a:bodyPr>
          <a:lstStyle/>
          <a:p>
            <a:pPr indent="0" lvl="0" marL="0" rtl="0" algn="ctr">
              <a:spcBef>
                <a:spcPts val="0"/>
              </a:spcBef>
              <a:spcAft>
                <a:spcPts val="0"/>
              </a:spcAft>
              <a:buNone/>
            </a:pPr>
            <a:r>
              <a:rPr lang="en"/>
              <a:t>Bits, Bytes, and Everything Nice: Unpacking the Essentials of Computer Hardware and Operating Systems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Objective</a:t>
            </a:r>
            <a:endParaRPr/>
          </a:p>
        </p:txBody>
      </p:sp>
      <p:sp>
        <p:nvSpPr>
          <p:cNvPr id="63" name="Google Shape;63;p1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sz="2000">
                <a:solidFill>
                  <a:srgbClr val="000000"/>
                </a:solidFill>
                <a:latin typeface="Arial"/>
                <a:ea typeface="Arial"/>
                <a:cs typeface="Arial"/>
                <a:sym typeface="Arial"/>
              </a:rPr>
              <a:t>Objective</a:t>
            </a:r>
            <a:r>
              <a:rPr lang="en" sz="2000">
                <a:solidFill>
                  <a:srgbClr val="000000"/>
                </a:solidFill>
                <a:latin typeface="Arial"/>
                <a:ea typeface="Arial"/>
                <a:cs typeface="Arial"/>
                <a:sym typeface="Arial"/>
              </a:rPr>
              <a:t>: To introduce the fundamental concepts of computer hardware components and their interaction with operating systems.</a:t>
            </a:r>
            <a:endParaRPr sz="27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Objectives</a:t>
            </a:r>
            <a:endParaRPr/>
          </a:p>
        </p:txBody>
      </p:sp>
      <p:sp>
        <p:nvSpPr>
          <p:cNvPr id="69" name="Google Shape;69;p1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rgbClr val="000000"/>
              </a:buClr>
              <a:buSzPts val="1100"/>
              <a:buFont typeface="Arial"/>
              <a:buChar char="●"/>
            </a:pPr>
            <a:r>
              <a:rPr lang="en"/>
              <a:t>Understanding key hardware components.</a:t>
            </a:r>
            <a:endParaRPr/>
          </a:p>
          <a:p>
            <a:pPr indent="-298450" lvl="0" marL="457200" rtl="0" algn="l">
              <a:spcBef>
                <a:spcPts val="0"/>
              </a:spcBef>
              <a:spcAft>
                <a:spcPts val="0"/>
              </a:spcAft>
              <a:buClr>
                <a:srgbClr val="000000"/>
              </a:buClr>
              <a:buSzPts val="1100"/>
              <a:buFont typeface="Arial"/>
              <a:buChar char="●"/>
            </a:pPr>
            <a:r>
              <a:rPr lang="en"/>
              <a:t>Overview of operating system functionalities.</a:t>
            </a:r>
            <a:endParaRPr/>
          </a:p>
          <a:p>
            <a:pPr indent="-298450" lvl="0" marL="457200" rtl="0" algn="l">
              <a:spcBef>
                <a:spcPts val="0"/>
              </a:spcBef>
              <a:spcAft>
                <a:spcPts val="0"/>
              </a:spcAft>
              <a:buClr>
                <a:srgbClr val="000000"/>
              </a:buClr>
              <a:buSzPts val="1100"/>
              <a:buFont typeface="Arial"/>
              <a:buChar char="●"/>
            </a:pPr>
            <a:r>
              <a:rPr lang="en"/>
              <a:t>Exploration of storage options and virtualization concepts.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 to Computer Hardware</a:t>
            </a:r>
            <a:endParaRPr/>
          </a:p>
        </p:txBody>
      </p:sp>
      <p:sp>
        <p:nvSpPr>
          <p:cNvPr id="75" name="Google Shape;75;p1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361950" lvl="0" marL="457200" rtl="0" algn="l">
              <a:spcBef>
                <a:spcPts val="300"/>
              </a:spcBef>
              <a:spcAft>
                <a:spcPts val="0"/>
              </a:spcAft>
              <a:buClr>
                <a:srgbClr val="1F1F1F"/>
              </a:buClr>
              <a:buSzPts val="2100"/>
              <a:buFont typeface="Arial"/>
              <a:buChar char="●"/>
            </a:pPr>
            <a:r>
              <a:rPr b="1" lang="en" sz="2100">
                <a:solidFill>
                  <a:srgbClr val="1F1F1F"/>
                </a:solidFill>
                <a:highlight>
                  <a:srgbClr val="FFFFFF"/>
                </a:highlight>
                <a:latin typeface="Arial"/>
                <a:ea typeface="Arial"/>
                <a:cs typeface="Arial"/>
                <a:sym typeface="Arial"/>
              </a:rPr>
              <a:t>Definition:</a:t>
            </a:r>
            <a:r>
              <a:rPr lang="en" sz="2100">
                <a:solidFill>
                  <a:srgbClr val="1F1F1F"/>
                </a:solidFill>
                <a:highlight>
                  <a:srgbClr val="FFFFFF"/>
                </a:highlight>
                <a:latin typeface="Arial"/>
                <a:ea typeface="Arial"/>
                <a:cs typeface="Arial"/>
                <a:sym typeface="Arial"/>
              </a:rPr>
              <a:t> Hardware refers to the physical parts of a computer system that you can touch and see.</a:t>
            </a:r>
            <a:endParaRPr sz="2100">
              <a:solidFill>
                <a:srgbClr val="1F1F1F"/>
              </a:solidFill>
              <a:highlight>
                <a:srgbClr val="FFFFFF"/>
              </a:highlight>
              <a:latin typeface="Arial"/>
              <a:ea typeface="Arial"/>
              <a:cs typeface="Arial"/>
              <a:sym typeface="Arial"/>
            </a:endParaRPr>
          </a:p>
          <a:p>
            <a:pPr indent="-361950" lvl="0" marL="457200" rtl="0" algn="l">
              <a:spcBef>
                <a:spcPts val="0"/>
              </a:spcBef>
              <a:spcAft>
                <a:spcPts val="0"/>
              </a:spcAft>
              <a:buClr>
                <a:srgbClr val="1F1F1F"/>
              </a:buClr>
              <a:buSzPts val="2100"/>
              <a:buFont typeface="Arial"/>
              <a:buChar char="●"/>
            </a:pPr>
            <a:r>
              <a:rPr b="1" lang="en" sz="2100">
                <a:solidFill>
                  <a:srgbClr val="1F1F1F"/>
                </a:solidFill>
                <a:highlight>
                  <a:srgbClr val="FFFFFF"/>
                </a:highlight>
                <a:latin typeface="Arial"/>
                <a:ea typeface="Arial"/>
                <a:cs typeface="Arial"/>
                <a:sym typeface="Arial"/>
              </a:rPr>
              <a:t>Importance:</a:t>
            </a:r>
            <a:r>
              <a:rPr lang="en" sz="2100">
                <a:solidFill>
                  <a:srgbClr val="1F1F1F"/>
                </a:solidFill>
                <a:highlight>
                  <a:srgbClr val="FFFFFF"/>
                </a:highlight>
                <a:latin typeface="Arial"/>
                <a:ea typeface="Arial"/>
                <a:cs typeface="Arial"/>
                <a:sym typeface="Arial"/>
              </a:rPr>
              <a:t> Without hardware, your computer would just be an idea! Hardware components are the foundation that allows software to run and enables all the amazing things computers can do.</a:t>
            </a:r>
            <a:endParaRPr sz="27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CPU (Central Processing Unit)</a:t>
            </a:r>
            <a:endParaRPr/>
          </a:p>
        </p:txBody>
      </p:sp>
      <p:sp>
        <p:nvSpPr>
          <p:cNvPr id="81" name="Google Shape;81;p1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CPU is responsible for executing instructions from both software and hardware. It performs the logic, arithmetic, and input/output operations specified by the instructions.</a:t>
            </a:r>
            <a:endParaRPr/>
          </a:p>
          <a:p>
            <a:pPr indent="-361950" lvl="0" marL="457200" rtl="0" algn="l">
              <a:spcBef>
                <a:spcPts val="1200"/>
              </a:spcBef>
              <a:spcAft>
                <a:spcPts val="0"/>
              </a:spcAft>
              <a:buClr>
                <a:srgbClr val="000000"/>
              </a:buClr>
              <a:buSzPts val="2100"/>
              <a:buFont typeface="Arial"/>
              <a:buChar char="●"/>
            </a:pPr>
            <a:r>
              <a:rPr b="1" lang="en" sz="2100">
                <a:solidFill>
                  <a:srgbClr val="000000"/>
                </a:solidFill>
                <a:latin typeface="Arial"/>
                <a:ea typeface="Arial"/>
                <a:cs typeface="Arial"/>
                <a:sym typeface="Arial"/>
              </a:rPr>
              <a:t>Core</a:t>
            </a:r>
            <a:r>
              <a:rPr lang="en" sz="2100">
                <a:solidFill>
                  <a:srgbClr val="000000"/>
                </a:solidFill>
                <a:latin typeface="Arial"/>
                <a:ea typeface="Arial"/>
                <a:cs typeface="Arial"/>
                <a:sym typeface="Arial"/>
              </a:rPr>
              <a:t>: The core of the CPU carries out the execution of program instructions.</a:t>
            </a:r>
            <a:endParaRPr sz="2100">
              <a:solidFill>
                <a:srgbClr val="000000"/>
              </a:solidFill>
              <a:latin typeface="Arial"/>
              <a:ea typeface="Arial"/>
              <a:cs typeface="Arial"/>
              <a:sym typeface="Arial"/>
            </a:endParaRPr>
          </a:p>
          <a:p>
            <a:pPr indent="-361950" lvl="0" marL="457200" rtl="0" algn="l">
              <a:spcBef>
                <a:spcPts val="0"/>
              </a:spcBef>
              <a:spcAft>
                <a:spcPts val="0"/>
              </a:spcAft>
              <a:buClr>
                <a:srgbClr val="000000"/>
              </a:buClr>
              <a:buSzPts val="2100"/>
              <a:buFont typeface="Arial"/>
              <a:buChar char="●"/>
            </a:pPr>
            <a:r>
              <a:rPr b="1" lang="en" sz="2100">
                <a:solidFill>
                  <a:srgbClr val="000000"/>
                </a:solidFill>
                <a:latin typeface="Arial"/>
                <a:ea typeface="Arial"/>
                <a:cs typeface="Arial"/>
                <a:sym typeface="Arial"/>
              </a:rPr>
              <a:t>Clock Speed</a:t>
            </a:r>
            <a:r>
              <a:rPr lang="en" sz="2100">
                <a:solidFill>
                  <a:srgbClr val="000000"/>
                </a:solidFill>
                <a:latin typeface="Arial"/>
                <a:ea typeface="Arial"/>
                <a:cs typeface="Arial"/>
                <a:sym typeface="Arial"/>
              </a:rPr>
              <a:t>: Measured in gigahertz (GHz), clock speed determines how many instructions per second the CPU can execute.</a:t>
            </a:r>
            <a:endParaRPr sz="28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 to Basic Computer Terminology</a:t>
            </a:r>
            <a:endParaRPr/>
          </a:p>
        </p:txBody>
      </p:sp>
      <p:sp>
        <p:nvSpPr>
          <p:cNvPr id="87" name="Google Shape;87;p1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sz="2000">
                <a:solidFill>
                  <a:srgbClr val="000000"/>
                </a:solidFill>
                <a:latin typeface="Arial"/>
                <a:ea typeface="Arial"/>
                <a:cs typeface="Arial"/>
                <a:sym typeface="Arial"/>
              </a:rPr>
              <a:t>Purpose</a:t>
            </a:r>
            <a:r>
              <a:rPr lang="en" sz="2000">
                <a:solidFill>
                  <a:srgbClr val="000000"/>
                </a:solidFill>
                <a:latin typeface="Arial"/>
                <a:ea typeface="Arial"/>
                <a:cs typeface="Arial"/>
                <a:sym typeface="Arial"/>
              </a:rPr>
              <a:t>: Before we explore how the components of a computer work together, let's define some fundamental terms that will appear throughout our discussion.</a:t>
            </a:r>
            <a:endParaRPr sz="200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CPU (Central Processing Unit)</a:t>
            </a:r>
            <a:endParaRPr/>
          </a:p>
        </p:txBody>
      </p:sp>
      <p:sp>
        <p:nvSpPr>
          <p:cNvPr id="93" name="Google Shape;93;p1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CPU is responsible for executing instructions from both software and hardware. It performs the logic, arithmetic, and input/output operations specified by the instructions.</a:t>
            </a:r>
            <a:endParaRPr/>
          </a:p>
          <a:p>
            <a:pPr indent="-361950" lvl="0" marL="457200" rtl="0" algn="l">
              <a:spcBef>
                <a:spcPts val="1200"/>
              </a:spcBef>
              <a:spcAft>
                <a:spcPts val="0"/>
              </a:spcAft>
              <a:buClr>
                <a:srgbClr val="000000"/>
              </a:buClr>
              <a:buSzPts val="2100"/>
              <a:buFont typeface="Arial"/>
              <a:buChar char="●"/>
            </a:pPr>
            <a:r>
              <a:rPr b="1" lang="en" sz="2100">
                <a:solidFill>
                  <a:srgbClr val="000000"/>
                </a:solidFill>
                <a:latin typeface="Arial"/>
                <a:ea typeface="Arial"/>
                <a:cs typeface="Arial"/>
                <a:sym typeface="Arial"/>
              </a:rPr>
              <a:t>Core</a:t>
            </a:r>
            <a:r>
              <a:rPr lang="en" sz="2100">
                <a:solidFill>
                  <a:srgbClr val="000000"/>
                </a:solidFill>
                <a:latin typeface="Arial"/>
                <a:ea typeface="Arial"/>
                <a:cs typeface="Arial"/>
                <a:sym typeface="Arial"/>
              </a:rPr>
              <a:t>: The core of the CPU carries out the execution of program instructions.</a:t>
            </a:r>
            <a:endParaRPr sz="2100">
              <a:solidFill>
                <a:srgbClr val="000000"/>
              </a:solidFill>
              <a:latin typeface="Arial"/>
              <a:ea typeface="Arial"/>
              <a:cs typeface="Arial"/>
              <a:sym typeface="Arial"/>
            </a:endParaRPr>
          </a:p>
          <a:p>
            <a:pPr indent="-361950" lvl="0" marL="457200" rtl="0" algn="l">
              <a:spcBef>
                <a:spcPts val="0"/>
              </a:spcBef>
              <a:spcAft>
                <a:spcPts val="0"/>
              </a:spcAft>
              <a:buClr>
                <a:srgbClr val="000000"/>
              </a:buClr>
              <a:buSzPts val="2100"/>
              <a:buFont typeface="Arial"/>
              <a:buChar char="●"/>
            </a:pPr>
            <a:r>
              <a:rPr b="1" lang="en" sz="2100">
                <a:solidFill>
                  <a:srgbClr val="000000"/>
                </a:solidFill>
                <a:latin typeface="Arial"/>
                <a:ea typeface="Arial"/>
                <a:cs typeface="Arial"/>
                <a:sym typeface="Arial"/>
              </a:rPr>
              <a:t>Clock Speed</a:t>
            </a:r>
            <a:r>
              <a:rPr lang="en" sz="2100">
                <a:solidFill>
                  <a:srgbClr val="000000"/>
                </a:solidFill>
                <a:latin typeface="Arial"/>
                <a:ea typeface="Arial"/>
                <a:cs typeface="Arial"/>
                <a:sym typeface="Arial"/>
              </a:rPr>
              <a:t>: Measured in gigahertz (GHz), clock speed determines how many instructions per second the CPU can execute.</a:t>
            </a:r>
            <a:endParaRPr sz="28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CPU (Central Processing Unit)</a:t>
            </a:r>
            <a:endParaRPr/>
          </a:p>
        </p:txBody>
      </p:sp>
      <p:sp>
        <p:nvSpPr>
          <p:cNvPr id="99" name="Google Shape;99;p2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457200" rtl="0" algn="l">
              <a:spcBef>
                <a:spcPts val="1200"/>
              </a:spcBef>
              <a:spcAft>
                <a:spcPts val="1200"/>
              </a:spcAft>
              <a:buNone/>
            </a:pPr>
            <a:r>
              <a:rPr lang="en"/>
              <a:t> </a:t>
            </a:r>
            <a:endParaRPr sz="2800"/>
          </a:p>
        </p:txBody>
      </p:sp>
      <p:pic>
        <p:nvPicPr>
          <p:cNvPr id="100" name="Google Shape;100;p20"/>
          <p:cNvPicPr preferRelativeResize="0"/>
          <p:nvPr/>
        </p:nvPicPr>
        <p:blipFill>
          <a:blip r:embed="rId3">
            <a:alphaModFix/>
          </a:blip>
          <a:stretch>
            <a:fillRect/>
          </a:stretch>
        </p:blipFill>
        <p:spPr>
          <a:xfrm>
            <a:off x="3000375" y="1066800"/>
            <a:ext cx="3143250" cy="30099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Processor Architecture Explained</a:t>
            </a:r>
            <a:endParaRPr/>
          </a:p>
        </p:txBody>
      </p:sp>
      <p:sp>
        <p:nvSpPr>
          <p:cNvPr id="106" name="Google Shape;106;p2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342900" lvl="0" marL="457200" rtl="0" algn="l">
              <a:spcBef>
                <a:spcPts val="1200"/>
              </a:spcBef>
              <a:spcAft>
                <a:spcPts val="0"/>
              </a:spcAft>
              <a:buClr>
                <a:srgbClr val="000000"/>
              </a:buClr>
              <a:buSzPts val="1800"/>
              <a:buFont typeface="Arial"/>
              <a:buChar char="●"/>
            </a:pPr>
            <a:r>
              <a:rPr b="1" lang="en">
                <a:solidFill>
                  <a:srgbClr val="000000"/>
                </a:solidFill>
                <a:latin typeface="Arial"/>
                <a:ea typeface="Arial"/>
                <a:cs typeface="Arial"/>
                <a:sym typeface="Arial"/>
              </a:rPr>
              <a:t>Registers</a:t>
            </a:r>
            <a:r>
              <a:rPr lang="en">
                <a:solidFill>
                  <a:srgbClr val="000000"/>
                </a:solidFill>
                <a:latin typeface="Arial"/>
                <a:ea typeface="Arial"/>
                <a:cs typeface="Arial"/>
                <a:sym typeface="Arial"/>
              </a:rPr>
              <a:t>:</a:t>
            </a:r>
            <a:endParaRPr>
              <a:solidFill>
                <a:srgbClr val="000000"/>
              </a:solidFill>
              <a:latin typeface="Arial"/>
              <a:ea typeface="Arial"/>
              <a:cs typeface="Arial"/>
              <a:sym typeface="Arial"/>
            </a:endParaRPr>
          </a:p>
          <a:p>
            <a:pPr indent="-342900" lvl="1" marL="914400" rtl="0" algn="l">
              <a:spcBef>
                <a:spcPts val="0"/>
              </a:spcBef>
              <a:spcAft>
                <a:spcPts val="0"/>
              </a:spcAft>
              <a:buClr>
                <a:srgbClr val="000000"/>
              </a:buClr>
              <a:buSzPts val="1800"/>
              <a:buFont typeface="Arial"/>
              <a:buChar char="○"/>
            </a:pPr>
            <a:r>
              <a:rPr b="1" lang="en" sz="1800">
                <a:solidFill>
                  <a:srgbClr val="000000"/>
                </a:solidFill>
                <a:latin typeface="Arial"/>
                <a:ea typeface="Arial"/>
                <a:cs typeface="Arial"/>
                <a:sym typeface="Arial"/>
              </a:rPr>
              <a:t>Definition</a:t>
            </a:r>
            <a:r>
              <a:rPr lang="en" sz="1800">
                <a:solidFill>
                  <a:srgbClr val="000000"/>
                </a:solidFill>
                <a:latin typeface="Arial"/>
                <a:ea typeface="Arial"/>
                <a:cs typeface="Arial"/>
                <a:sym typeface="Arial"/>
              </a:rPr>
              <a:t>: Small, fast storage locations directly inside the CPU used to hold temporary data and instructions.</a:t>
            </a:r>
            <a:endParaRPr sz="1800">
              <a:solidFill>
                <a:srgbClr val="000000"/>
              </a:solidFill>
              <a:latin typeface="Arial"/>
              <a:ea typeface="Arial"/>
              <a:cs typeface="Arial"/>
              <a:sym typeface="Arial"/>
            </a:endParaRPr>
          </a:p>
          <a:p>
            <a:pPr indent="-342900" lvl="0" marL="457200" rtl="0" algn="l">
              <a:spcBef>
                <a:spcPts val="0"/>
              </a:spcBef>
              <a:spcAft>
                <a:spcPts val="0"/>
              </a:spcAft>
              <a:buClr>
                <a:srgbClr val="000000"/>
              </a:buClr>
              <a:buSzPts val="1800"/>
              <a:buFont typeface="Arial"/>
              <a:buChar char="●"/>
            </a:pPr>
            <a:r>
              <a:rPr b="1" lang="en">
                <a:solidFill>
                  <a:srgbClr val="000000"/>
                </a:solidFill>
                <a:latin typeface="Arial"/>
                <a:ea typeface="Arial"/>
                <a:cs typeface="Arial"/>
                <a:sym typeface="Arial"/>
              </a:rPr>
              <a:t>Combinational Logic</a:t>
            </a:r>
            <a:r>
              <a:rPr lang="en">
                <a:solidFill>
                  <a:srgbClr val="000000"/>
                </a:solidFill>
                <a:latin typeface="Arial"/>
                <a:ea typeface="Arial"/>
                <a:cs typeface="Arial"/>
                <a:sym typeface="Arial"/>
              </a:rPr>
              <a:t>:</a:t>
            </a:r>
            <a:endParaRPr>
              <a:solidFill>
                <a:srgbClr val="000000"/>
              </a:solidFill>
              <a:latin typeface="Arial"/>
              <a:ea typeface="Arial"/>
              <a:cs typeface="Arial"/>
              <a:sym typeface="Arial"/>
            </a:endParaRPr>
          </a:p>
          <a:p>
            <a:pPr indent="-342900" lvl="1" marL="914400" rtl="0" algn="l">
              <a:spcBef>
                <a:spcPts val="0"/>
              </a:spcBef>
              <a:spcAft>
                <a:spcPts val="0"/>
              </a:spcAft>
              <a:buClr>
                <a:srgbClr val="000000"/>
              </a:buClr>
              <a:buSzPts val="1800"/>
              <a:buFont typeface="Arial"/>
              <a:buChar char="○"/>
            </a:pPr>
            <a:r>
              <a:rPr b="1" lang="en" sz="1800">
                <a:solidFill>
                  <a:srgbClr val="000000"/>
                </a:solidFill>
                <a:latin typeface="Arial"/>
                <a:ea typeface="Arial"/>
                <a:cs typeface="Arial"/>
                <a:sym typeface="Arial"/>
              </a:rPr>
              <a:t>Definition</a:t>
            </a:r>
            <a:r>
              <a:rPr lang="en" sz="1800">
                <a:solidFill>
                  <a:srgbClr val="000000"/>
                </a:solidFill>
                <a:latin typeface="Arial"/>
                <a:ea typeface="Arial"/>
                <a:cs typeface="Arial"/>
                <a:sym typeface="Arial"/>
              </a:rPr>
              <a:t>: Circuitry within the processor that performs basic arithmetic, logic, and data storage operations without needing sequential memory.</a:t>
            </a:r>
            <a:endParaRPr sz="21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Understanding CPU Cache</a:t>
            </a:r>
            <a:endParaRPr/>
          </a:p>
        </p:txBody>
      </p:sp>
      <p:sp>
        <p:nvSpPr>
          <p:cNvPr id="112" name="Google Shape;112;p22"/>
          <p:cNvSpPr txBox="1"/>
          <p:nvPr>
            <p:ph idx="1" type="body"/>
          </p:nvPr>
        </p:nvSpPr>
        <p:spPr>
          <a:xfrm>
            <a:off x="311700" y="1228675"/>
            <a:ext cx="8520600" cy="334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rgbClr val="000000"/>
                </a:solidFill>
                <a:latin typeface="Arial"/>
                <a:ea typeface="Arial"/>
                <a:cs typeface="Arial"/>
                <a:sym typeface="Arial"/>
              </a:rPr>
              <a:t>Cache is a small-sized type of volatile computer memory that provides high-speed data access to the CPU and stores frequently used computer programs, applications, and data.</a:t>
            </a:r>
            <a:endParaRPr sz="1500">
              <a:solidFill>
                <a:srgbClr val="000000"/>
              </a:solidFill>
              <a:latin typeface="Arial"/>
              <a:ea typeface="Arial"/>
              <a:cs typeface="Arial"/>
              <a:sym typeface="Arial"/>
            </a:endParaRPr>
          </a:p>
          <a:p>
            <a:pPr indent="0" lvl="0" marL="0" rtl="0" algn="l">
              <a:spcBef>
                <a:spcPts val="1200"/>
              </a:spcBef>
              <a:spcAft>
                <a:spcPts val="0"/>
              </a:spcAft>
              <a:buNone/>
            </a:pPr>
            <a:r>
              <a:rPr b="1" lang="en" sz="1500">
                <a:solidFill>
                  <a:srgbClr val="000000"/>
                </a:solidFill>
                <a:latin typeface="Arial"/>
                <a:ea typeface="Arial"/>
                <a:cs typeface="Arial"/>
                <a:sym typeface="Arial"/>
              </a:rPr>
              <a:t>Functionality</a:t>
            </a:r>
            <a:r>
              <a:rPr lang="en" sz="1500">
                <a:solidFill>
                  <a:srgbClr val="000000"/>
                </a:solidFill>
                <a:latin typeface="Arial"/>
                <a:ea typeface="Arial"/>
                <a:cs typeface="Arial"/>
                <a:sym typeface="Arial"/>
              </a:rPr>
              <a:t>:</a:t>
            </a:r>
            <a:endParaRPr sz="1500">
              <a:solidFill>
                <a:srgbClr val="000000"/>
              </a:solidFill>
              <a:latin typeface="Arial"/>
              <a:ea typeface="Arial"/>
              <a:cs typeface="Arial"/>
              <a:sym typeface="Arial"/>
            </a:endParaRPr>
          </a:p>
          <a:p>
            <a:pPr indent="-323850" lvl="0" marL="457200" rtl="0" algn="l">
              <a:spcBef>
                <a:spcPts val="1200"/>
              </a:spcBef>
              <a:spcAft>
                <a:spcPts val="0"/>
              </a:spcAft>
              <a:buClr>
                <a:srgbClr val="000000"/>
              </a:buClr>
              <a:buSzPts val="1500"/>
              <a:buFont typeface="Arial"/>
              <a:buChar char="●"/>
            </a:pPr>
            <a:r>
              <a:rPr b="1" lang="en" sz="1500">
                <a:solidFill>
                  <a:srgbClr val="000000"/>
                </a:solidFill>
                <a:latin typeface="Arial"/>
                <a:ea typeface="Arial"/>
                <a:cs typeface="Arial"/>
                <a:sym typeface="Arial"/>
              </a:rPr>
              <a:t>Speed</a:t>
            </a:r>
            <a:r>
              <a:rPr lang="en" sz="1500">
                <a:solidFill>
                  <a:srgbClr val="000000"/>
                </a:solidFill>
                <a:latin typeface="Arial"/>
                <a:ea typeface="Arial"/>
                <a:cs typeface="Arial"/>
                <a:sym typeface="Arial"/>
              </a:rPr>
              <a:t>: Cache memory is faster than the main memory and is designed to speed up the transfer of data and instructions.</a:t>
            </a:r>
            <a:endParaRPr sz="1500">
              <a:solidFill>
                <a:srgbClr val="000000"/>
              </a:solidFill>
              <a:latin typeface="Arial"/>
              <a:ea typeface="Arial"/>
              <a:cs typeface="Arial"/>
              <a:sym typeface="Arial"/>
            </a:endParaRPr>
          </a:p>
          <a:p>
            <a:pPr indent="-323850" lvl="0" marL="457200" rtl="0" algn="l">
              <a:spcBef>
                <a:spcPts val="0"/>
              </a:spcBef>
              <a:spcAft>
                <a:spcPts val="0"/>
              </a:spcAft>
              <a:buClr>
                <a:srgbClr val="000000"/>
              </a:buClr>
              <a:buSzPts val="1500"/>
              <a:buFont typeface="Arial"/>
              <a:buChar char="●"/>
            </a:pPr>
            <a:r>
              <a:rPr b="1" lang="en" sz="1500">
                <a:solidFill>
                  <a:srgbClr val="000000"/>
                </a:solidFill>
                <a:latin typeface="Arial"/>
                <a:ea typeface="Arial"/>
                <a:cs typeface="Arial"/>
                <a:sym typeface="Arial"/>
              </a:rPr>
              <a:t>Levels of Cache</a:t>
            </a:r>
            <a:r>
              <a:rPr lang="en" sz="1500">
                <a:solidFill>
                  <a:srgbClr val="000000"/>
                </a:solidFill>
                <a:latin typeface="Arial"/>
                <a:ea typeface="Arial"/>
                <a:cs typeface="Arial"/>
                <a:sym typeface="Arial"/>
              </a:rPr>
              <a:t>:</a:t>
            </a:r>
            <a:endParaRPr sz="1500">
              <a:solidFill>
                <a:srgbClr val="000000"/>
              </a:solidFill>
              <a:latin typeface="Arial"/>
              <a:ea typeface="Arial"/>
              <a:cs typeface="Arial"/>
              <a:sym typeface="Arial"/>
            </a:endParaRPr>
          </a:p>
          <a:p>
            <a:pPr indent="-323850" lvl="1" marL="914400" rtl="0" algn="l">
              <a:spcBef>
                <a:spcPts val="0"/>
              </a:spcBef>
              <a:spcAft>
                <a:spcPts val="0"/>
              </a:spcAft>
              <a:buClr>
                <a:srgbClr val="000000"/>
              </a:buClr>
              <a:buSzPts val="1500"/>
              <a:buFont typeface="Arial"/>
              <a:buChar char="○"/>
            </a:pPr>
            <a:r>
              <a:rPr b="1" lang="en" sz="1500">
                <a:solidFill>
                  <a:srgbClr val="000000"/>
                </a:solidFill>
                <a:latin typeface="Arial"/>
                <a:ea typeface="Arial"/>
                <a:cs typeface="Arial"/>
                <a:sym typeface="Arial"/>
              </a:rPr>
              <a:t>L1 Cache</a:t>
            </a:r>
            <a:r>
              <a:rPr lang="en" sz="1500">
                <a:solidFill>
                  <a:srgbClr val="000000"/>
                </a:solidFill>
                <a:latin typeface="Arial"/>
                <a:ea typeface="Arial"/>
                <a:cs typeface="Arial"/>
                <a:sym typeface="Arial"/>
              </a:rPr>
              <a:t>: Directly integrated into the CPU chip, fastest cache level.</a:t>
            </a:r>
            <a:endParaRPr sz="1500">
              <a:solidFill>
                <a:srgbClr val="000000"/>
              </a:solidFill>
              <a:latin typeface="Arial"/>
              <a:ea typeface="Arial"/>
              <a:cs typeface="Arial"/>
              <a:sym typeface="Arial"/>
            </a:endParaRPr>
          </a:p>
          <a:p>
            <a:pPr indent="-323850" lvl="1" marL="914400" rtl="0" algn="l">
              <a:spcBef>
                <a:spcPts val="0"/>
              </a:spcBef>
              <a:spcAft>
                <a:spcPts val="0"/>
              </a:spcAft>
              <a:buClr>
                <a:srgbClr val="000000"/>
              </a:buClr>
              <a:buSzPts val="1500"/>
              <a:buFont typeface="Arial"/>
              <a:buChar char="○"/>
            </a:pPr>
            <a:r>
              <a:rPr b="1" lang="en" sz="1500">
                <a:solidFill>
                  <a:srgbClr val="000000"/>
                </a:solidFill>
                <a:latin typeface="Arial"/>
                <a:ea typeface="Arial"/>
                <a:cs typeface="Arial"/>
                <a:sym typeface="Arial"/>
              </a:rPr>
              <a:t>L2 Cache</a:t>
            </a:r>
            <a:r>
              <a:rPr lang="en" sz="1500">
                <a:solidFill>
                  <a:srgbClr val="000000"/>
                </a:solidFill>
                <a:latin typeface="Arial"/>
                <a:ea typeface="Arial"/>
                <a:cs typeface="Arial"/>
                <a:sym typeface="Arial"/>
              </a:rPr>
              <a:t>: Slightly slower than L1, also on the CPU chip or sometimes on a separate chip but close to the CPU.</a:t>
            </a:r>
            <a:endParaRPr sz="1500">
              <a:solidFill>
                <a:srgbClr val="000000"/>
              </a:solidFill>
              <a:latin typeface="Arial"/>
              <a:ea typeface="Arial"/>
              <a:cs typeface="Arial"/>
              <a:sym typeface="Arial"/>
            </a:endParaRPr>
          </a:p>
          <a:p>
            <a:pPr indent="-323850" lvl="1" marL="914400" rtl="0" algn="l">
              <a:spcBef>
                <a:spcPts val="0"/>
              </a:spcBef>
              <a:spcAft>
                <a:spcPts val="0"/>
              </a:spcAft>
              <a:buClr>
                <a:srgbClr val="000000"/>
              </a:buClr>
              <a:buSzPts val="1500"/>
              <a:buFont typeface="Arial"/>
              <a:buChar char="○"/>
            </a:pPr>
            <a:r>
              <a:rPr b="1" lang="en" sz="1500">
                <a:solidFill>
                  <a:srgbClr val="000000"/>
                </a:solidFill>
                <a:latin typeface="Arial"/>
                <a:ea typeface="Arial"/>
                <a:cs typeface="Arial"/>
                <a:sym typeface="Arial"/>
              </a:rPr>
              <a:t>L3 Cache</a:t>
            </a:r>
            <a:r>
              <a:rPr lang="en" sz="1500">
                <a:solidFill>
                  <a:srgbClr val="000000"/>
                </a:solidFill>
                <a:latin typeface="Arial"/>
                <a:ea typeface="Arial"/>
                <a:cs typeface="Arial"/>
                <a:sym typeface="Arial"/>
              </a:rPr>
              <a:t>: Slower and larger than L1 and L2, shared among cores in multi-core processors.</a:t>
            </a:r>
            <a:endParaRPr sz="1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Understanding CPU Cache</a:t>
            </a:r>
            <a:endParaRPr/>
          </a:p>
        </p:txBody>
      </p:sp>
      <p:sp>
        <p:nvSpPr>
          <p:cNvPr id="118" name="Google Shape;118;p23"/>
          <p:cNvSpPr txBox="1"/>
          <p:nvPr>
            <p:ph idx="1" type="body"/>
          </p:nvPr>
        </p:nvSpPr>
        <p:spPr>
          <a:xfrm>
            <a:off x="311700" y="1228675"/>
            <a:ext cx="3396300" cy="3340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
              <a:t>Each core has an L2/L2 cache</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L3 is shared among all the cores.</a:t>
            </a:r>
            <a:endParaRPr/>
          </a:p>
        </p:txBody>
      </p:sp>
      <p:pic>
        <p:nvPicPr>
          <p:cNvPr id="119" name="Google Shape;119;p23"/>
          <p:cNvPicPr preferRelativeResize="0"/>
          <p:nvPr/>
        </p:nvPicPr>
        <p:blipFill>
          <a:blip r:embed="rId3">
            <a:alphaModFix/>
          </a:blip>
          <a:stretch>
            <a:fillRect/>
          </a:stretch>
        </p:blipFill>
        <p:spPr>
          <a:xfrm>
            <a:off x="3707850" y="1279525"/>
            <a:ext cx="5124450" cy="32385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ALU (Arithmetic Logic Unit)</a:t>
            </a:r>
            <a:endParaRPr/>
          </a:p>
        </p:txBody>
      </p:sp>
      <p:sp>
        <p:nvSpPr>
          <p:cNvPr id="125" name="Google Shape;125;p2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 </a:t>
            </a:r>
            <a:endParaRPr/>
          </a:p>
        </p:txBody>
      </p:sp>
      <p:pic>
        <p:nvPicPr>
          <p:cNvPr id="126" name="Google Shape;126;p24"/>
          <p:cNvPicPr preferRelativeResize="0"/>
          <p:nvPr/>
        </p:nvPicPr>
        <p:blipFill>
          <a:blip r:embed="rId3">
            <a:alphaModFix/>
          </a:blip>
          <a:stretch>
            <a:fillRect/>
          </a:stretch>
        </p:blipFill>
        <p:spPr>
          <a:xfrm>
            <a:off x="0" y="1047750"/>
            <a:ext cx="9144000" cy="3048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ALU (Arithmetic Logic Unit)</a:t>
            </a:r>
            <a:endParaRPr/>
          </a:p>
        </p:txBody>
      </p:sp>
      <p:sp>
        <p:nvSpPr>
          <p:cNvPr id="132" name="Google Shape;132;p2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000">
                <a:solidFill>
                  <a:srgbClr val="1F1F1F"/>
                </a:solidFill>
                <a:highlight>
                  <a:srgbClr val="FFFFFF"/>
                </a:highlight>
                <a:latin typeface="Arial"/>
                <a:ea typeface="Arial"/>
                <a:cs typeface="Arial"/>
                <a:sym typeface="Arial"/>
              </a:rPr>
              <a:t>Heart of the CPU:</a:t>
            </a:r>
            <a:r>
              <a:rPr lang="en" sz="2000">
                <a:solidFill>
                  <a:srgbClr val="1F1F1F"/>
                </a:solidFill>
                <a:highlight>
                  <a:srgbClr val="FFFFFF"/>
                </a:highlight>
                <a:latin typeface="Arial"/>
                <a:ea typeface="Arial"/>
                <a:cs typeface="Arial"/>
                <a:sym typeface="Arial"/>
              </a:rPr>
              <a:t> The ALU is a core component within the CPU responsible for performing calculations and logical operations.</a:t>
            </a:r>
            <a:endParaRPr sz="2000">
              <a:solidFill>
                <a:srgbClr val="1F1F1F"/>
              </a:solidFill>
              <a:highlight>
                <a:srgbClr val="FFFFFF"/>
              </a:highlight>
              <a:latin typeface="Arial"/>
              <a:ea typeface="Arial"/>
              <a:cs typeface="Arial"/>
              <a:sym typeface="Arial"/>
            </a:endParaRPr>
          </a:p>
          <a:p>
            <a:pPr indent="0" lvl="0" marL="0" rtl="0" algn="l">
              <a:spcBef>
                <a:spcPts val="1200"/>
              </a:spcBef>
              <a:spcAft>
                <a:spcPts val="300"/>
              </a:spcAft>
              <a:buNone/>
            </a:pPr>
            <a:r>
              <a:rPr b="1" lang="en" sz="2000">
                <a:solidFill>
                  <a:srgbClr val="1F1F1F"/>
                </a:solidFill>
                <a:highlight>
                  <a:srgbClr val="FFFFFF"/>
                </a:highlight>
                <a:latin typeface="Arial"/>
                <a:ea typeface="Arial"/>
                <a:cs typeface="Arial"/>
                <a:sym typeface="Arial"/>
              </a:rPr>
              <a:t>What it Does:</a:t>
            </a:r>
            <a:r>
              <a:rPr lang="en" sz="2000">
                <a:solidFill>
                  <a:srgbClr val="1F1F1F"/>
                </a:solidFill>
                <a:highlight>
                  <a:srgbClr val="FFFFFF"/>
                </a:highlight>
                <a:latin typeface="Arial"/>
                <a:ea typeface="Arial"/>
                <a:cs typeface="Arial"/>
                <a:sym typeface="Arial"/>
              </a:rPr>
              <a:t> It takes data from registers, performs operations like addition, subtraction, or comparisons, and then stores the result back into a register.</a:t>
            </a:r>
            <a:endParaRPr sz="26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Registers</a:t>
            </a:r>
            <a:endParaRPr/>
          </a:p>
        </p:txBody>
      </p:sp>
      <p:sp>
        <p:nvSpPr>
          <p:cNvPr id="138" name="Google Shape;138;p2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39" name="Google Shape;139;p26"/>
          <p:cNvPicPr preferRelativeResize="0"/>
          <p:nvPr/>
        </p:nvPicPr>
        <p:blipFill>
          <a:blip r:embed="rId3">
            <a:alphaModFix/>
          </a:blip>
          <a:stretch>
            <a:fillRect/>
          </a:stretch>
        </p:blipFill>
        <p:spPr>
          <a:xfrm>
            <a:off x="0" y="1187126"/>
            <a:ext cx="9144000" cy="276924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Registers</a:t>
            </a:r>
            <a:endParaRPr/>
          </a:p>
        </p:txBody>
      </p:sp>
      <p:sp>
        <p:nvSpPr>
          <p:cNvPr id="145" name="Google Shape;145;p2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361950" lvl="0" marL="457200" rtl="0" algn="l">
              <a:spcBef>
                <a:spcPts val="300"/>
              </a:spcBef>
              <a:spcAft>
                <a:spcPts val="0"/>
              </a:spcAft>
              <a:buClr>
                <a:srgbClr val="1F1F1F"/>
              </a:buClr>
              <a:buSzPts val="2100"/>
              <a:buFont typeface="Arial"/>
              <a:buChar char="●"/>
            </a:pPr>
            <a:r>
              <a:rPr b="1" lang="en" sz="2100">
                <a:solidFill>
                  <a:srgbClr val="1F1F1F"/>
                </a:solidFill>
                <a:highlight>
                  <a:srgbClr val="FFFFFF"/>
                </a:highlight>
                <a:latin typeface="Arial"/>
                <a:ea typeface="Arial"/>
                <a:cs typeface="Arial"/>
                <a:sym typeface="Arial"/>
              </a:rPr>
              <a:t>CPU's Tiny Sticky Notes:</a:t>
            </a:r>
            <a:r>
              <a:rPr lang="en" sz="2100">
                <a:solidFill>
                  <a:srgbClr val="1F1F1F"/>
                </a:solidFill>
                <a:highlight>
                  <a:srgbClr val="FFFFFF"/>
                </a:highlight>
                <a:latin typeface="Arial"/>
                <a:ea typeface="Arial"/>
                <a:cs typeface="Arial"/>
                <a:sym typeface="Arial"/>
              </a:rPr>
              <a:t> Registers are extremely small, high-speed memory locations built directly into the CPU itself.</a:t>
            </a:r>
            <a:endParaRPr sz="2100">
              <a:solidFill>
                <a:srgbClr val="1F1F1F"/>
              </a:solidFill>
              <a:highlight>
                <a:srgbClr val="FFFFFF"/>
              </a:highlight>
              <a:latin typeface="Arial"/>
              <a:ea typeface="Arial"/>
              <a:cs typeface="Arial"/>
              <a:sym typeface="Arial"/>
            </a:endParaRPr>
          </a:p>
          <a:p>
            <a:pPr indent="-361950" lvl="0" marL="457200" rtl="0" algn="l">
              <a:spcBef>
                <a:spcPts val="0"/>
              </a:spcBef>
              <a:spcAft>
                <a:spcPts val="0"/>
              </a:spcAft>
              <a:buClr>
                <a:srgbClr val="1F1F1F"/>
              </a:buClr>
              <a:buSzPts val="2100"/>
              <a:buFont typeface="Arial"/>
              <a:buChar char="●"/>
            </a:pPr>
            <a:r>
              <a:rPr b="1" lang="en" sz="2100">
                <a:solidFill>
                  <a:srgbClr val="1F1F1F"/>
                </a:solidFill>
                <a:highlight>
                  <a:srgbClr val="FFFFFF"/>
                </a:highlight>
                <a:latin typeface="Arial"/>
                <a:ea typeface="Arial"/>
                <a:cs typeface="Arial"/>
                <a:sym typeface="Arial"/>
              </a:rPr>
              <a:t>Purpose:</a:t>
            </a:r>
            <a:r>
              <a:rPr lang="en" sz="2100">
                <a:solidFill>
                  <a:srgbClr val="1F1F1F"/>
                </a:solidFill>
                <a:highlight>
                  <a:srgbClr val="FFFFFF"/>
                </a:highlight>
                <a:latin typeface="Arial"/>
                <a:ea typeface="Arial"/>
                <a:cs typeface="Arial"/>
                <a:sym typeface="Arial"/>
              </a:rPr>
              <a:t> They hold the immediate data and instructions the ALU is actively working on. It's like having the ingredients right next to the stove when cooking.</a:t>
            </a:r>
            <a:endParaRPr sz="2100">
              <a:solidFill>
                <a:srgbClr val="1F1F1F"/>
              </a:solidFill>
              <a:highlight>
                <a:srgbClr val="FFFFFF"/>
              </a:highlight>
              <a:latin typeface="Arial"/>
              <a:ea typeface="Arial"/>
              <a:cs typeface="Arial"/>
              <a:sym typeface="Arial"/>
            </a:endParaRPr>
          </a:p>
          <a:p>
            <a:pPr indent="-361950" lvl="0" marL="457200" rtl="0" algn="l">
              <a:spcBef>
                <a:spcPts val="0"/>
              </a:spcBef>
              <a:spcAft>
                <a:spcPts val="0"/>
              </a:spcAft>
              <a:buClr>
                <a:srgbClr val="1F1F1F"/>
              </a:buClr>
              <a:buSzPts val="2100"/>
              <a:buFont typeface="Arial"/>
              <a:buChar char="●"/>
            </a:pPr>
            <a:r>
              <a:rPr b="1" lang="en" sz="2100">
                <a:solidFill>
                  <a:srgbClr val="1F1F1F"/>
                </a:solidFill>
                <a:highlight>
                  <a:srgbClr val="FFFFFF"/>
                </a:highlight>
                <a:latin typeface="Arial"/>
                <a:ea typeface="Arial"/>
                <a:cs typeface="Arial"/>
                <a:sym typeface="Arial"/>
              </a:rPr>
              <a:t>Size:</a:t>
            </a:r>
            <a:r>
              <a:rPr lang="en" sz="2100">
                <a:solidFill>
                  <a:srgbClr val="1F1F1F"/>
                </a:solidFill>
                <a:highlight>
                  <a:srgbClr val="FFFFFF"/>
                </a:highlight>
                <a:latin typeface="Arial"/>
                <a:ea typeface="Arial"/>
                <a:cs typeface="Arial"/>
                <a:sym typeface="Arial"/>
              </a:rPr>
              <a:t> Registers are measured in bits. A typical register might be 32 bits or 64 bits, allowing it to hold a single number, a piece of an instruction, or a memory address.</a:t>
            </a:r>
            <a:endParaRPr sz="27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CACHE (still part of the CPU “package”)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51" name="Google Shape;151;p2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 </a:t>
            </a:r>
            <a:endParaRPr/>
          </a:p>
        </p:txBody>
      </p:sp>
      <p:pic>
        <p:nvPicPr>
          <p:cNvPr id="152" name="Google Shape;152;p28"/>
          <p:cNvPicPr preferRelativeResize="0"/>
          <p:nvPr/>
        </p:nvPicPr>
        <p:blipFill>
          <a:blip r:embed="rId3">
            <a:alphaModFix/>
          </a:blip>
          <a:stretch>
            <a:fillRect/>
          </a:stretch>
        </p:blipFill>
        <p:spPr>
          <a:xfrm>
            <a:off x="0" y="1196043"/>
            <a:ext cx="9144002" cy="275141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CACHE (still part of the CPU “package”)</a:t>
            </a:r>
            <a:endParaRPr/>
          </a:p>
        </p:txBody>
      </p:sp>
      <p:sp>
        <p:nvSpPr>
          <p:cNvPr id="158" name="Google Shape;158;p29"/>
          <p:cNvSpPr txBox="1"/>
          <p:nvPr>
            <p:ph idx="1" type="body"/>
          </p:nvPr>
        </p:nvSpPr>
        <p:spPr>
          <a:xfrm>
            <a:off x="311700" y="1228675"/>
            <a:ext cx="8520600" cy="3340200"/>
          </a:xfrm>
          <a:prstGeom prst="rect">
            <a:avLst/>
          </a:prstGeom>
        </p:spPr>
        <p:txBody>
          <a:bodyPr anchorCtr="0" anchor="t" bIns="91425" lIns="91425" spcFirstLastPara="1" rIns="91425" wrap="square" tIns="91425">
            <a:noAutofit/>
          </a:bodyPr>
          <a:lstStyle/>
          <a:p>
            <a:pPr indent="-342900" lvl="0" marL="457200" rtl="0" algn="l">
              <a:spcBef>
                <a:spcPts val="300"/>
              </a:spcBef>
              <a:spcAft>
                <a:spcPts val="0"/>
              </a:spcAft>
              <a:buClr>
                <a:srgbClr val="1F1F1F"/>
              </a:buClr>
              <a:buSzPts val="1800"/>
              <a:buFont typeface="Arial"/>
              <a:buChar char="●"/>
            </a:pPr>
            <a:r>
              <a:rPr b="1" lang="en">
                <a:solidFill>
                  <a:srgbClr val="1F1F1F"/>
                </a:solidFill>
                <a:highlight>
                  <a:srgbClr val="FFFFFF"/>
                </a:highlight>
                <a:latin typeface="Arial"/>
                <a:ea typeface="Arial"/>
                <a:cs typeface="Arial"/>
                <a:sym typeface="Arial"/>
              </a:rPr>
              <a:t>The Middle Ground:</a:t>
            </a:r>
            <a:r>
              <a:rPr lang="en">
                <a:solidFill>
                  <a:srgbClr val="1F1F1F"/>
                </a:solidFill>
                <a:highlight>
                  <a:srgbClr val="FFFFFF"/>
                </a:highlight>
                <a:latin typeface="Arial"/>
                <a:ea typeface="Arial"/>
                <a:cs typeface="Arial"/>
                <a:sym typeface="Arial"/>
              </a:rPr>
              <a:t> Cache is a type of memory that sits between the CPU and main RAM. It's faster than RAM but slower than registers.</a:t>
            </a:r>
            <a:endParaRPr>
              <a:solidFill>
                <a:srgbClr val="1F1F1F"/>
              </a:solidFill>
              <a:highlight>
                <a:srgbClr val="FFFFFF"/>
              </a:highlight>
              <a:latin typeface="Arial"/>
              <a:ea typeface="Arial"/>
              <a:cs typeface="Arial"/>
              <a:sym typeface="Arial"/>
            </a:endParaRPr>
          </a:p>
          <a:p>
            <a:pPr indent="-342900" lvl="0" marL="457200" rtl="0" algn="l">
              <a:spcBef>
                <a:spcPts val="0"/>
              </a:spcBef>
              <a:spcAft>
                <a:spcPts val="0"/>
              </a:spcAft>
              <a:buClr>
                <a:srgbClr val="1F1F1F"/>
              </a:buClr>
              <a:buSzPts val="1800"/>
              <a:buFont typeface="Arial"/>
              <a:buChar char="●"/>
            </a:pPr>
            <a:r>
              <a:rPr b="1" lang="en">
                <a:solidFill>
                  <a:srgbClr val="1F1F1F"/>
                </a:solidFill>
                <a:highlight>
                  <a:srgbClr val="FFFFFF"/>
                </a:highlight>
                <a:latin typeface="Arial"/>
                <a:ea typeface="Arial"/>
                <a:cs typeface="Arial"/>
                <a:sym typeface="Arial"/>
              </a:rPr>
              <a:t>Purpose:</a:t>
            </a:r>
            <a:r>
              <a:rPr lang="en">
                <a:solidFill>
                  <a:srgbClr val="1F1F1F"/>
                </a:solidFill>
                <a:highlight>
                  <a:srgbClr val="FFFFFF"/>
                </a:highlight>
                <a:latin typeface="Arial"/>
                <a:ea typeface="Arial"/>
                <a:cs typeface="Arial"/>
                <a:sym typeface="Arial"/>
              </a:rPr>
              <a:t> Cache stores frequently used data and instructions. This way, the CPU doesn't always have to go all the way out to the slower RAM for everything it needs. Think of it as the pantry in your kitchen – closer than the grocery store!</a:t>
            </a:r>
            <a:endParaRPr>
              <a:solidFill>
                <a:srgbClr val="1F1F1F"/>
              </a:solidFill>
              <a:highlight>
                <a:srgbClr val="FFFFFF"/>
              </a:highlight>
              <a:latin typeface="Arial"/>
              <a:ea typeface="Arial"/>
              <a:cs typeface="Arial"/>
              <a:sym typeface="Arial"/>
            </a:endParaRPr>
          </a:p>
          <a:p>
            <a:pPr indent="-342900" lvl="0" marL="457200" rtl="0" algn="l">
              <a:spcBef>
                <a:spcPts val="0"/>
              </a:spcBef>
              <a:spcAft>
                <a:spcPts val="0"/>
              </a:spcAft>
              <a:buClr>
                <a:srgbClr val="1F1F1F"/>
              </a:buClr>
              <a:buSzPts val="1800"/>
              <a:buFont typeface="Arial"/>
              <a:buChar char="●"/>
            </a:pPr>
            <a:r>
              <a:rPr b="1" lang="en">
                <a:solidFill>
                  <a:srgbClr val="1F1F1F"/>
                </a:solidFill>
                <a:highlight>
                  <a:srgbClr val="FFFFFF"/>
                </a:highlight>
                <a:latin typeface="Arial"/>
                <a:ea typeface="Arial"/>
                <a:cs typeface="Arial"/>
                <a:sym typeface="Arial"/>
              </a:rPr>
              <a:t>Size:</a:t>
            </a:r>
            <a:r>
              <a:rPr lang="en">
                <a:solidFill>
                  <a:srgbClr val="1F1F1F"/>
                </a:solidFill>
                <a:highlight>
                  <a:srgbClr val="FFFFFF"/>
                </a:highlight>
                <a:latin typeface="Arial"/>
                <a:ea typeface="Arial"/>
                <a:cs typeface="Arial"/>
                <a:sym typeface="Arial"/>
              </a:rPr>
              <a:t> Cache is measured in kilobytes (KB) or megabytes (MB). It has multiple levels:</a:t>
            </a:r>
            <a:endParaRPr>
              <a:solidFill>
                <a:srgbClr val="1F1F1F"/>
              </a:solidFill>
              <a:highlight>
                <a:srgbClr val="FFFFFF"/>
              </a:highlight>
              <a:latin typeface="Arial"/>
              <a:ea typeface="Arial"/>
              <a:cs typeface="Arial"/>
              <a:sym typeface="Arial"/>
            </a:endParaRPr>
          </a:p>
          <a:p>
            <a:pPr indent="-342900" lvl="1" marL="914400" rtl="0" algn="l">
              <a:spcBef>
                <a:spcPts val="0"/>
              </a:spcBef>
              <a:spcAft>
                <a:spcPts val="0"/>
              </a:spcAft>
              <a:buClr>
                <a:srgbClr val="1F1F1F"/>
              </a:buClr>
              <a:buSzPts val="1800"/>
              <a:buFont typeface="Arial"/>
              <a:buAutoNum type="alphaLcPeriod"/>
            </a:pPr>
            <a:r>
              <a:rPr lang="en" sz="1800">
                <a:solidFill>
                  <a:srgbClr val="1F1F1F"/>
                </a:solidFill>
                <a:highlight>
                  <a:srgbClr val="FFFFFF"/>
                </a:highlight>
                <a:latin typeface="Arial"/>
                <a:ea typeface="Arial"/>
                <a:cs typeface="Arial"/>
                <a:sym typeface="Arial"/>
              </a:rPr>
              <a:t>L1: Smallest, fastest, closest to the CPU</a:t>
            </a:r>
            <a:endParaRPr sz="1800">
              <a:solidFill>
                <a:srgbClr val="1F1F1F"/>
              </a:solidFill>
              <a:highlight>
                <a:srgbClr val="FFFFFF"/>
              </a:highlight>
              <a:latin typeface="Arial"/>
              <a:ea typeface="Arial"/>
              <a:cs typeface="Arial"/>
              <a:sym typeface="Arial"/>
            </a:endParaRPr>
          </a:p>
          <a:p>
            <a:pPr indent="-342900" lvl="1" marL="914400" rtl="0" algn="l">
              <a:spcBef>
                <a:spcPts val="0"/>
              </a:spcBef>
              <a:spcAft>
                <a:spcPts val="0"/>
              </a:spcAft>
              <a:buClr>
                <a:srgbClr val="1F1F1F"/>
              </a:buClr>
              <a:buSzPts val="1800"/>
              <a:buFont typeface="Arial"/>
              <a:buAutoNum type="alphaLcPeriod"/>
            </a:pPr>
            <a:r>
              <a:rPr lang="en" sz="1800">
                <a:solidFill>
                  <a:srgbClr val="1F1F1F"/>
                </a:solidFill>
                <a:highlight>
                  <a:srgbClr val="FFFFFF"/>
                </a:highlight>
                <a:latin typeface="Arial"/>
                <a:ea typeface="Arial"/>
                <a:cs typeface="Arial"/>
                <a:sym typeface="Arial"/>
              </a:rPr>
              <a:t>L2: A bit larger, bit slower</a:t>
            </a:r>
            <a:endParaRPr sz="1800">
              <a:solidFill>
                <a:srgbClr val="1F1F1F"/>
              </a:solidFill>
              <a:highlight>
                <a:srgbClr val="FFFFFF"/>
              </a:highlight>
              <a:latin typeface="Arial"/>
              <a:ea typeface="Arial"/>
              <a:cs typeface="Arial"/>
              <a:sym typeface="Arial"/>
            </a:endParaRPr>
          </a:p>
          <a:p>
            <a:pPr indent="-342900" lvl="1" marL="914400" rtl="0" algn="l">
              <a:spcBef>
                <a:spcPts val="0"/>
              </a:spcBef>
              <a:spcAft>
                <a:spcPts val="0"/>
              </a:spcAft>
              <a:buClr>
                <a:srgbClr val="1F1F1F"/>
              </a:buClr>
              <a:buSzPts val="1800"/>
              <a:buFont typeface="Arial"/>
              <a:buAutoNum type="alphaLcPeriod"/>
            </a:pPr>
            <a:r>
              <a:rPr lang="en" sz="1800">
                <a:solidFill>
                  <a:srgbClr val="1F1F1F"/>
                </a:solidFill>
                <a:highlight>
                  <a:srgbClr val="FFFFFF"/>
                </a:highlight>
                <a:latin typeface="Arial"/>
                <a:ea typeface="Arial"/>
                <a:cs typeface="Arial"/>
                <a:sym typeface="Arial"/>
              </a:rPr>
              <a:t>L3: Largest of the cache levels, still faster than RAM</a:t>
            </a:r>
            <a:endParaRPr b="1" sz="2000">
              <a:solidFill>
                <a:srgbClr val="1F1F1F"/>
              </a:solidFill>
              <a:highlight>
                <a:srgbClr val="FFFFFF"/>
              </a:highlight>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3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They Work Together</a:t>
            </a:r>
            <a:endParaRPr/>
          </a:p>
        </p:txBody>
      </p:sp>
      <p:sp>
        <p:nvSpPr>
          <p:cNvPr id="164" name="Google Shape;164;p3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381000" lvl="0" marL="457200" rtl="0" algn="l">
              <a:spcBef>
                <a:spcPts val="300"/>
              </a:spcBef>
              <a:spcAft>
                <a:spcPts val="0"/>
              </a:spcAft>
              <a:buClr>
                <a:srgbClr val="1F1F1F"/>
              </a:buClr>
              <a:buSzPts val="2400"/>
              <a:buFont typeface="Arial"/>
              <a:buAutoNum type="arabicPeriod"/>
            </a:pPr>
            <a:r>
              <a:rPr b="1" lang="en" sz="2400">
                <a:solidFill>
                  <a:srgbClr val="1F1F1F"/>
                </a:solidFill>
                <a:highlight>
                  <a:srgbClr val="FFFFFF"/>
                </a:highlight>
                <a:latin typeface="Arial"/>
                <a:ea typeface="Arial"/>
                <a:cs typeface="Arial"/>
                <a:sym typeface="Arial"/>
              </a:rPr>
              <a:t>Fetch:</a:t>
            </a:r>
            <a:r>
              <a:rPr lang="en" sz="2400">
                <a:solidFill>
                  <a:srgbClr val="1F1F1F"/>
                </a:solidFill>
                <a:highlight>
                  <a:srgbClr val="FFFFFF"/>
                </a:highlight>
                <a:latin typeface="Arial"/>
                <a:ea typeface="Arial"/>
                <a:cs typeface="Arial"/>
                <a:sym typeface="Arial"/>
              </a:rPr>
              <a:t> The CPU needs data or instructions.</a:t>
            </a:r>
            <a:endParaRPr sz="2400">
              <a:solidFill>
                <a:srgbClr val="1F1F1F"/>
              </a:solidFill>
              <a:highlight>
                <a:srgbClr val="FFFFFF"/>
              </a:highlight>
              <a:latin typeface="Arial"/>
              <a:ea typeface="Arial"/>
              <a:cs typeface="Arial"/>
              <a:sym typeface="Arial"/>
            </a:endParaRPr>
          </a:p>
          <a:p>
            <a:pPr indent="-381000" lvl="0" marL="457200" rtl="0" algn="l">
              <a:spcBef>
                <a:spcPts val="0"/>
              </a:spcBef>
              <a:spcAft>
                <a:spcPts val="0"/>
              </a:spcAft>
              <a:buClr>
                <a:srgbClr val="1F1F1F"/>
              </a:buClr>
              <a:buSzPts val="2400"/>
              <a:buFont typeface="Arial"/>
              <a:buAutoNum type="arabicPeriod"/>
            </a:pPr>
            <a:r>
              <a:rPr b="1" lang="en" sz="2400">
                <a:solidFill>
                  <a:srgbClr val="1F1F1F"/>
                </a:solidFill>
                <a:highlight>
                  <a:srgbClr val="FFFFFF"/>
                </a:highlight>
                <a:latin typeface="Arial"/>
                <a:ea typeface="Arial"/>
                <a:cs typeface="Arial"/>
                <a:sym typeface="Arial"/>
              </a:rPr>
              <a:t>Check Cache:</a:t>
            </a:r>
            <a:r>
              <a:rPr lang="en" sz="2400">
                <a:solidFill>
                  <a:srgbClr val="1F1F1F"/>
                </a:solidFill>
                <a:highlight>
                  <a:srgbClr val="FFFFFF"/>
                </a:highlight>
                <a:latin typeface="Arial"/>
                <a:ea typeface="Arial"/>
                <a:cs typeface="Arial"/>
                <a:sym typeface="Arial"/>
              </a:rPr>
              <a:t> The CPU first looks in the cache. If it finds what it needs (a "cache hit"), great! It grabs it quickly.</a:t>
            </a:r>
            <a:endParaRPr sz="2400">
              <a:solidFill>
                <a:srgbClr val="1F1F1F"/>
              </a:solidFill>
              <a:highlight>
                <a:srgbClr val="FFFFFF"/>
              </a:highlight>
              <a:latin typeface="Arial"/>
              <a:ea typeface="Arial"/>
              <a:cs typeface="Arial"/>
              <a:sym typeface="Arial"/>
            </a:endParaRPr>
          </a:p>
          <a:p>
            <a:pPr indent="-381000" lvl="0" marL="457200" rtl="0" algn="l">
              <a:spcBef>
                <a:spcPts val="0"/>
              </a:spcBef>
              <a:spcAft>
                <a:spcPts val="0"/>
              </a:spcAft>
              <a:buClr>
                <a:srgbClr val="1F1F1F"/>
              </a:buClr>
              <a:buSzPts val="2400"/>
              <a:buFont typeface="Arial"/>
              <a:buAutoNum type="arabicPeriod"/>
            </a:pPr>
            <a:r>
              <a:rPr b="1" lang="en" sz="2400">
                <a:solidFill>
                  <a:srgbClr val="1F1F1F"/>
                </a:solidFill>
                <a:highlight>
                  <a:srgbClr val="FFFFFF"/>
                </a:highlight>
                <a:latin typeface="Arial"/>
                <a:ea typeface="Arial"/>
                <a:cs typeface="Arial"/>
                <a:sym typeface="Arial"/>
              </a:rPr>
              <a:t>Miss:</a:t>
            </a:r>
            <a:r>
              <a:rPr lang="en" sz="2400">
                <a:solidFill>
                  <a:srgbClr val="1F1F1F"/>
                </a:solidFill>
                <a:highlight>
                  <a:srgbClr val="FFFFFF"/>
                </a:highlight>
                <a:latin typeface="Arial"/>
                <a:ea typeface="Arial"/>
                <a:cs typeface="Arial"/>
                <a:sym typeface="Arial"/>
              </a:rPr>
              <a:t> If the data isn't in the cache ("cache miss"), the CPU has to fetch it from the slower main RAM and also bring a copy into the cache in case it's needed again soon.</a:t>
            </a:r>
            <a:endParaRPr sz="30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Size Matters</a:t>
            </a:r>
            <a:endParaRPr/>
          </a:p>
        </p:txBody>
      </p:sp>
      <p:sp>
        <p:nvSpPr>
          <p:cNvPr id="170" name="Google Shape;170;p3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374650" lvl="0" marL="457200" rtl="0" algn="l">
              <a:spcBef>
                <a:spcPts val="300"/>
              </a:spcBef>
              <a:spcAft>
                <a:spcPts val="0"/>
              </a:spcAft>
              <a:buClr>
                <a:srgbClr val="1F1F1F"/>
              </a:buClr>
              <a:buSzPts val="2300"/>
              <a:buFont typeface="Arial"/>
              <a:buChar char="●"/>
            </a:pPr>
            <a:r>
              <a:rPr b="1" lang="en" sz="2300">
                <a:solidFill>
                  <a:srgbClr val="1F1F1F"/>
                </a:solidFill>
                <a:highlight>
                  <a:srgbClr val="FFFFFF"/>
                </a:highlight>
                <a:latin typeface="Arial"/>
                <a:ea typeface="Arial"/>
                <a:cs typeface="Arial"/>
                <a:sym typeface="Arial"/>
              </a:rPr>
              <a:t>Registers:</a:t>
            </a:r>
            <a:r>
              <a:rPr lang="en" sz="2300">
                <a:solidFill>
                  <a:srgbClr val="1F1F1F"/>
                </a:solidFill>
                <a:highlight>
                  <a:srgbClr val="FFFFFF"/>
                </a:highlight>
                <a:latin typeface="Arial"/>
                <a:ea typeface="Arial"/>
                <a:cs typeface="Arial"/>
                <a:sym typeface="Arial"/>
              </a:rPr>
              <a:t> Super tiny – think of single ingredients.</a:t>
            </a:r>
            <a:endParaRPr sz="2300">
              <a:solidFill>
                <a:srgbClr val="1F1F1F"/>
              </a:solidFill>
              <a:highlight>
                <a:srgbClr val="FFFFFF"/>
              </a:highlight>
              <a:latin typeface="Arial"/>
              <a:ea typeface="Arial"/>
              <a:cs typeface="Arial"/>
              <a:sym typeface="Arial"/>
            </a:endParaRPr>
          </a:p>
          <a:p>
            <a:pPr indent="-374650" lvl="0" marL="457200" rtl="0" algn="l">
              <a:spcBef>
                <a:spcPts val="0"/>
              </a:spcBef>
              <a:spcAft>
                <a:spcPts val="0"/>
              </a:spcAft>
              <a:buClr>
                <a:srgbClr val="1F1F1F"/>
              </a:buClr>
              <a:buSzPts val="2300"/>
              <a:buFont typeface="Arial"/>
              <a:buChar char="●"/>
            </a:pPr>
            <a:r>
              <a:rPr b="1" lang="en" sz="2300">
                <a:solidFill>
                  <a:srgbClr val="1F1F1F"/>
                </a:solidFill>
                <a:highlight>
                  <a:srgbClr val="FFFFFF"/>
                </a:highlight>
                <a:latin typeface="Arial"/>
                <a:ea typeface="Arial"/>
                <a:cs typeface="Arial"/>
                <a:sym typeface="Arial"/>
              </a:rPr>
              <a:t>Cache:</a:t>
            </a:r>
            <a:r>
              <a:rPr lang="en" sz="2300">
                <a:solidFill>
                  <a:srgbClr val="1F1F1F"/>
                </a:solidFill>
                <a:highlight>
                  <a:srgbClr val="FFFFFF"/>
                </a:highlight>
                <a:latin typeface="Arial"/>
                <a:ea typeface="Arial"/>
                <a:cs typeface="Arial"/>
                <a:sym typeface="Arial"/>
              </a:rPr>
              <a:t> Way bigger than registers, but still much smaller than main RAM. Holds larger chunks of data – like multiple recipes.</a:t>
            </a:r>
            <a:endParaRPr sz="2300">
              <a:solidFill>
                <a:srgbClr val="1F1F1F"/>
              </a:solidFill>
              <a:highlight>
                <a:srgbClr val="FFFFFF"/>
              </a:highlight>
              <a:latin typeface="Arial"/>
              <a:ea typeface="Arial"/>
              <a:cs typeface="Arial"/>
              <a:sym typeface="Arial"/>
            </a:endParaRPr>
          </a:p>
          <a:p>
            <a:pPr indent="-374650" lvl="0" marL="457200" rtl="0" algn="l">
              <a:spcBef>
                <a:spcPts val="0"/>
              </a:spcBef>
              <a:spcAft>
                <a:spcPts val="0"/>
              </a:spcAft>
              <a:buClr>
                <a:srgbClr val="1F1F1F"/>
              </a:buClr>
              <a:buSzPts val="2300"/>
              <a:buFont typeface="Arial"/>
              <a:buChar char="●"/>
            </a:pPr>
            <a:r>
              <a:rPr b="1" lang="en" sz="2300">
                <a:solidFill>
                  <a:srgbClr val="1F1F1F"/>
                </a:solidFill>
                <a:highlight>
                  <a:srgbClr val="FFFFFF"/>
                </a:highlight>
                <a:latin typeface="Arial"/>
                <a:ea typeface="Arial"/>
                <a:cs typeface="Arial"/>
                <a:sym typeface="Arial"/>
              </a:rPr>
              <a:t>RAM:</a:t>
            </a:r>
            <a:r>
              <a:rPr lang="en" sz="2300">
                <a:solidFill>
                  <a:srgbClr val="1F1F1F"/>
                </a:solidFill>
                <a:highlight>
                  <a:srgbClr val="FFFFFF"/>
                </a:highlight>
                <a:latin typeface="Arial"/>
                <a:ea typeface="Arial"/>
                <a:cs typeface="Arial"/>
                <a:sym typeface="Arial"/>
              </a:rPr>
              <a:t> Largest of the three – holds your whole cookbook collection!</a:t>
            </a:r>
            <a:endParaRPr sz="29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From Registers to Main Memory (DRAM)</a:t>
            </a:r>
            <a:endParaRPr/>
          </a:p>
        </p:txBody>
      </p:sp>
      <p:sp>
        <p:nvSpPr>
          <p:cNvPr id="176" name="Google Shape;176;p3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lnSpcReduction="10000"/>
          </a:bodyPr>
          <a:lstStyle/>
          <a:p>
            <a:pPr indent="0" lvl="0" marL="0" rtl="0" algn="l">
              <a:spcBef>
                <a:spcPts val="300"/>
              </a:spcBef>
              <a:spcAft>
                <a:spcPts val="0"/>
              </a:spcAft>
              <a:buNone/>
            </a:pPr>
            <a:r>
              <a:t/>
            </a:r>
            <a:endParaRPr b="1" sz="2000">
              <a:solidFill>
                <a:srgbClr val="1F1F1F"/>
              </a:solidFill>
              <a:highlight>
                <a:srgbClr val="FFFFFF"/>
              </a:highlight>
              <a:latin typeface="Arial"/>
              <a:ea typeface="Arial"/>
              <a:cs typeface="Arial"/>
              <a:sym typeface="Arial"/>
            </a:endParaRPr>
          </a:p>
          <a:p>
            <a:pPr indent="0" lvl="0" marL="0" rtl="0" algn="l">
              <a:spcBef>
                <a:spcPts val="300"/>
              </a:spcBef>
              <a:spcAft>
                <a:spcPts val="0"/>
              </a:spcAft>
              <a:buNone/>
            </a:pPr>
            <a:r>
              <a:t/>
            </a:r>
            <a:endParaRPr b="1" sz="2000">
              <a:solidFill>
                <a:srgbClr val="1F1F1F"/>
              </a:solidFill>
              <a:highlight>
                <a:srgbClr val="FFFFFF"/>
              </a:highlight>
              <a:latin typeface="Arial"/>
              <a:ea typeface="Arial"/>
              <a:cs typeface="Arial"/>
              <a:sym typeface="Arial"/>
            </a:endParaRPr>
          </a:p>
          <a:p>
            <a:pPr indent="0" lvl="0" marL="0" rtl="0" algn="l">
              <a:spcBef>
                <a:spcPts val="300"/>
              </a:spcBef>
              <a:spcAft>
                <a:spcPts val="0"/>
              </a:spcAft>
              <a:buNone/>
            </a:pPr>
            <a:r>
              <a:t/>
            </a:r>
            <a:endParaRPr b="1" sz="2000">
              <a:solidFill>
                <a:srgbClr val="1F1F1F"/>
              </a:solidFill>
              <a:highlight>
                <a:srgbClr val="FFFFFF"/>
              </a:highlight>
              <a:latin typeface="Arial"/>
              <a:ea typeface="Arial"/>
              <a:cs typeface="Arial"/>
              <a:sym typeface="Arial"/>
            </a:endParaRPr>
          </a:p>
          <a:p>
            <a:pPr indent="0" lvl="0" marL="0" rtl="0" algn="l">
              <a:spcBef>
                <a:spcPts val="300"/>
              </a:spcBef>
              <a:spcAft>
                <a:spcPts val="0"/>
              </a:spcAft>
              <a:buNone/>
            </a:pPr>
            <a:r>
              <a:t/>
            </a:r>
            <a:endParaRPr b="1" sz="2000">
              <a:solidFill>
                <a:srgbClr val="1F1F1F"/>
              </a:solidFill>
              <a:highlight>
                <a:srgbClr val="FFFFFF"/>
              </a:highlight>
              <a:latin typeface="Arial"/>
              <a:ea typeface="Arial"/>
              <a:cs typeface="Arial"/>
              <a:sym typeface="Arial"/>
            </a:endParaRPr>
          </a:p>
          <a:p>
            <a:pPr indent="0" lvl="0" marL="0" rtl="0" algn="l">
              <a:spcBef>
                <a:spcPts val="300"/>
              </a:spcBef>
              <a:spcAft>
                <a:spcPts val="0"/>
              </a:spcAft>
              <a:buNone/>
            </a:pPr>
            <a:r>
              <a:t/>
            </a:r>
            <a:endParaRPr b="1" sz="2000">
              <a:solidFill>
                <a:srgbClr val="1F1F1F"/>
              </a:solidFill>
              <a:highlight>
                <a:srgbClr val="FFFFFF"/>
              </a:highlight>
              <a:latin typeface="Arial"/>
              <a:ea typeface="Arial"/>
              <a:cs typeface="Arial"/>
              <a:sym typeface="Arial"/>
            </a:endParaRPr>
          </a:p>
          <a:p>
            <a:pPr indent="0" lvl="0" marL="0" rtl="0" algn="l">
              <a:spcBef>
                <a:spcPts val="300"/>
              </a:spcBef>
              <a:spcAft>
                <a:spcPts val="0"/>
              </a:spcAft>
              <a:buNone/>
            </a:pPr>
            <a:r>
              <a:t/>
            </a:r>
            <a:endParaRPr b="1" sz="2000">
              <a:solidFill>
                <a:srgbClr val="1F1F1F"/>
              </a:solidFill>
              <a:highlight>
                <a:srgbClr val="FFFFFF"/>
              </a:highlight>
              <a:latin typeface="Arial"/>
              <a:ea typeface="Arial"/>
              <a:cs typeface="Arial"/>
              <a:sym typeface="Arial"/>
            </a:endParaRPr>
          </a:p>
          <a:p>
            <a:pPr indent="0" lvl="0" marL="0" rtl="0" algn="l">
              <a:spcBef>
                <a:spcPts val="300"/>
              </a:spcBef>
              <a:spcAft>
                <a:spcPts val="0"/>
              </a:spcAft>
              <a:buNone/>
            </a:pPr>
            <a:r>
              <a:t/>
            </a:r>
            <a:endParaRPr b="1" sz="2000">
              <a:solidFill>
                <a:srgbClr val="1F1F1F"/>
              </a:solidFill>
              <a:highlight>
                <a:srgbClr val="FFFFFF"/>
              </a:highlight>
              <a:latin typeface="Arial"/>
              <a:ea typeface="Arial"/>
              <a:cs typeface="Arial"/>
              <a:sym typeface="Arial"/>
            </a:endParaRPr>
          </a:p>
          <a:p>
            <a:pPr indent="0" lvl="0" marL="0" rtl="0" algn="l">
              <a:spcBef>
                <a:spcPts val="300"/>
              </a:spcBef>
              <a:spcAft>
                <a:spcPts val="300"/>
              </a:spcAft>
              <a:buNone/>
            </a:pPr>
            <a:r>
              <a:rPr b="1" lang="en" sz="2000">
                <a:solidFill>
                  <a:srgbClr val="1F1F1F"/>
                </a:solidFill>
                <a:highlight>
                  <a:srgbClr val="FFFFFF"/>
                </a:highlight>
                <a:latin typeface="Arial"/>
                <a:ea typeface="Arial"/>
                <a:cs typeface="Arial"/>
                <a:sym typeface="Arial"/>
              </a:rPr>
              <a:t>DRAM is an expandable module on the motherboard. This region is no longer on the CPU package.</a:t>
            </a:r>
            <a:endParaRPr b="1" sz="2000">
              <a:solidFill>
                <a:srgbClr val="1F1F1F"/>
              </a:solidFill>
              <a:highlight>
                <a:srgbClr val="FFFFFF"/>
              </a:highlight>
              <a:latin typeface="Arial"/>
              <a:ea typeface="Arial"/>
              <a:cs typeface="Arial"/>
              <a:sym typeface="Arial"/>
            </a:endParaRPr>
          </a:p>
        </p:txBody>
      </p:sp>
      <p:pic>
        <p:nvPicPr>
          <p:cNvPr id="177" name="Google Shape;177;p32"/>
          <p:cNvPicPr preferRelativeResize="0"/>
          <p:nvPr/>
        </p:nvPicPr>
        <p:blipFill>
          <a:blip r:embed="rId3">
            <a:alphaModFix/>
          </a:blip>
          <a:stretch>
            <a:fillRect/>
          </a:stretch>
        </p:blipFill>
        <p:spPr>
          <a:xfrm>
            <a:off x="0" y="1397223"/>
            <a:ext cx="9143998" cy="234905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From Registers to Main Memory (DRAM)</a:t>
            </a:r>
            <a:endParaRPr/>
          </a:p>
        </p:txBody>
      </p:sp>
      <p:sp>
        <p:nvSpPr>
          <p:cNvPr id="183" name="Google Shape;183;p3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lnSpcReduction="10000"/>
          </a:bodyPr>
          <a:lstStyle/>
          <a:p>
            <a:pPr indent="0" lvl="0" marL="0" rtl="0" algn="l">
              <a:spcBef>
                <a:spcPts val="300"/>
              </a:spcBef>
              <a:spcAft>
                <a:spcPts val="0"/>
              </a:spcAft>
              <a:buNone/>
            </a:pPr>
            <a:r>
              <a:t/>
            </a:r>
            <a:endParaRPr b="1" sz="2000">
              <a:solidFill>
                <a:srgbClr val="1F1F1F"/>
              </a:solidFill>
              <a:highlight>
                <a:srgbClr val="FFFFFF"/>
              </a:highlight>
              <a:latin typeface="Arial"/>
              <a:ea typeface="Arial"/>
              <a:cs typeface="Arial"/>
              <a:sym typeface="Arial"/>
            </a:endParaRPr>
          </a:p>
          <a:p>
            <a:pPr indent="0" lvl="0" marL="0" rtl="0" algn="l">
              <a:spcBef>
                <a:spcPts val="300"/>
              </a:spcBef>
              <a:spcAft>
                <a:spcPts val="0"/>
              </a:spcAft>
              <a:buNone/>
            </a:pPr>
            <a:r>
              <a:t/>
            </a:r>
            <a:endParaRPr b="1" sz="2000">
              <a:solidFill>
                <a:srgbClr val="1F1F1F"/>
              </a:solidFill>
              <a:highlight>
                <a:srgbClr val="FFFFFF"/>
              </a:highlight>
              <a:latin typeface="Arial"/>
              <a:ea typeface="Arial"/>
              <a:cs typeface="Arial"/>
              <a:sym typeface="Arial"/>
            </a:endParaRPr>
          </a:p>
          <a:p>
            <a:pPr indent="0" lvl="0" marL="0" rtl="0" algn="l">
              <a:spcBef>
                <a:spcPts val="300"/>
              </a:spcBef>
              <a:spcAft>
                <a:spcPts val="0"/>
              </a:spcAft>
              <a:buNone/>
            </a:pPr>
            <a:r>
              <a:t/>
            </a:r>
            <a:endParaRPr b="1" sz="2000">
              <a:solidFill>
                <a:srgbClr val="1F1F1F"/>
              </a:solidFill>
              <a:highlight>
                <a:srgbClr val="FFFFFF"/>
              </a:highlight>
              <a:latin typeface="Arial"/>
              <a:ea typeface="Arial"/>
              <a:cs typeface="Arial"/>
              <a:sym typeface="Arial"/>
            </a:endParaRPr>
          </a:p>
          <a:p>
            <a:pPr indent="0" lvl="0" marL="0" rtl="0" algn="l">
              <a:spcBef>
                <a:spcPts val="300"/>
              </a:spcBef>
              <a:spcAft>
                <a:spcPts val="0"/>
              </a:spcAft>
              <a:buNone/>
            </a:pPr>
            <a:r>
              <a:t/>
            </a:r>
            <a:endParaRPr b="1" sz="2000">
              <a:solidFill>
                <a:srgbClr val="1F1F1F"/>
              </a:solidFill>
              <a:highlight>
                <a:srgbClr val="FFFFFF"/>
              </a:highlight>
              <a:latin typeface="Arial"/>
              <a:ea typeface="Arial"/>
              <a:cs typeface="Arial"/>
              <a:sym typeface="Arial"/>
            </a:endParaRPr>
          </a:p>
          <a:p>
            <a:pPr indent="0" lvl="0" marL="0" rtl="0" algn="l">
              <a:spcBef>
                <a:spcPts val="300"/>
              </a:spcBef>
              <a:spcAft>
                <a:spcPts val="0"/>
              </a:spcAft>
              <a:buNone/>
            </a:pPr>
            <a:r>
              <a:t/>
            </a:r>
            <a:endParaRPr b="1" sz="2000">
              <a:solidFill>
                <a:srgbClr val="1F1F1F"/>
              </a:solidFill>
              <a:highlight>
                <a:srgbClr val="FFFFFF"/>
              </a:highlight>
              <a:latin typeface="Arial"/>
              <a:ea typeface="Arial"/>
              <a:cs typeface="Arial"/>
              <a:sym typeface="Arial"/>
            </a:endParaRPr>
          </a:p>
          <a:p>
            <a:pPr indent="0" lvl="0" marL="0" rtl="0" algn="l">
              <a:spcBef>
                <a:spcPts val="300"/>
              </a:spcBef>
              <a:spcAft>
                <a:spcPts val="0"/>
              </a:spcAft>
              <a:buNone/>
            </a:pPr>
            <a:r>
              <a:t/>
            </a:r>
            <a:endParaRPr b="1" sz="2000">
              <a:solidFill>
                <a:srgbClr val="1F1F1F"/>
              </a:solidFill>
              <a:highlight>
                <a:srgbClr val="FFFFFF"/>
              </a:highlight>
              <a:latin typeface="Arial"/>
              <a:ea typeface="Arial"/>
              <a:cs typeface="Arial"/>
              <a:sym typeface="Arial"/>
            </a:endParaRPr>
          </a:p>
          <a:p>
            <a:pPr indent="0" lvl="0" marL="0" rtl="0" algn="l">
              <a:spcBef>
                <a:spcPts val="300"/>
              </a:spcBef>
              <a:spcAft>
                <a:spcPts val="0"/>
              </a:spcAft>
              <a:buNone/>
            </a:pPr>
            <a:r>
              <a:t/>
            </a:r>
            <a:endParaRPr b="1" sz="2000">
              <a:solidFill>
                <a:srgbClr val="1F1F1F"/>
              </a:solidFill>
              <a:highlight>
                <a:srgbClr val="FFFFFF"/>
              </a:highlight>
              <a:latin typeface="Arial"/>
              <a:ea typeface="Arial"/>
              <a:cs typeface="Arial"/>
              <a:sym typeface="Arial"/>
            </a:endParaRPr>
          </a:p>
          <a:p>
            <a:pPr indent="0" lvl="0" marL="0" rtl="0" algn="l">
              <a:spcBef>
                <a:spcPts val="300"/>
              </a:spcBef>
              <a:spcAft>
                <a:spcPts val="300"/>
              </a:spcAft>
              <a:buNone/>
            </a:pPr>
            <a:r>
              <a:rPr b="1" lang="en" sz="2000">
                <a:solidFill>
                  <a:srgbClr val="1F1F1F"/>
                </a:solidFill>
                <a:highlight>
                  <a:srgbClr val="FFFFFF"/>
                </a:highlight>
                <a:latin typeface="Arial"/>
                <a:ea typeface="Arial"/>
                <a:cs typeface="Arial"/>
                <a:sym typeface="Arial"/>
              </a:rPr>
              <a:t>DRAM is an expandable module on the motherboard. This region is no longer on the CPU package.</a:t>
            </a:r>
            <a:endParaRPr b="1" sz="2000">
              <a:solidFill>
                <a:srgbClr val="1F1F1F"/>
              </a:solidFill>
              <a:highlight>
                <a:srgbClr val="FFFFFF"/>
              </a:highlight>
              <a:latin typeface="Arial"/>
              <a:ea typeface="Arial"/>
              <a:cs typeface="Arial"/>
              <a:sym typeface="Arial"/>
            </a:endParaRPr>
          </a:p>
        </p:txBody>
      </p:sp>
      <p:pic>
        <p:nvPicPr>
          <p:cNvPr id="184" name="Google Shape;184;p33"/>
          <p:cNvPicPr preferRelativeResize="0"/>
          <p:nvPr/>
        </p:nvPicPr>
        <p:blipFill>
          <a:blip r:embed="rId3">
            <a:alphaModFix/>
          </a:blip>
          <a:stretch>
            <a:fillRect/>
          </a:stretch>
        </p:blipFill>
        <p:spPr>
          <a:xfrm>
            <a:off x="4256900" y="1113650"/>
            <a:ext cx="2753500" cy="27535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From Registers to Main Memory (DRAM)</a:t>
            </a:r>
            <a:endParaRPr/>
          </a:p>
        </p:txBody>
      </p:sp>
      <p:sp>
        <p:nvSpPr>
          <p:cNvPr id="190" name="Google Shape;190;p3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lnSpcReduction="10000"/>
          </a:bodyPr>
          <a:lstStyle/>
          <a:p>
            <a:pPr indent="-355600" lvl="0" marL="457200" rtl="0" algn="l">
              <a:spcBef>
                <a:spcPts val="300"/>
              </a:spcBef>
              <a:spcAft>
                <a:spcPts val="0"/>
              </a:spcAft>
              <a:buClr>
                <a:srgbClr val="1F1F1F"/>
              </a:buClr>
              <a:buSzPts val="2000"/>
              <a:buFont typeface="Arial"/>
              <a:buChar char="●"/>
            </a:pPr>
            <a:r>
              <a:rPr b="1" lang="en" sz="2000">
                <a:solidFill>
                  <a:srgbClr val="1F1F1F"/>
                </a:solidFill>
                <a:highlight>
                  <a:srgbClr val="FFFFFF"/>
                </a:highlight>
                <a:latin typeface="Arial"/>
                <a:ea typeface="Arial"/>
                <a:cs typeface="Arial"/>
                <a:sym typeface="Arial"/>
              </a:rPr>
              <a:t>Cache Efficiency:</a:t>
            </a:r>
            <a:r>
              <a:rPr lang="en" sz="2000">
                <a:solidFill>
                  <a:srgbClr val="1F1F1F"/>
                </a:solidFill>
                <a:highlight>
                  <a:srgbClr val="FFFFFF"/>
                </a:highlight>
                <a:latin typeface="Arial"/>
                <a:ea typeface="Arial"/>
                <a:cs typeface="Arial"/>
                <a:sym typeface="Arial"/>
              </a:rPr>
              <a:t> While cache greatly improves performance, it's still limited in size.</a:t>
            </a:r>
            <a:endParaRPr sz="2000">
              <a:solidFill>
                <a:srgbClr val="1F1F1F"/>
              </a:solidFill>
              <a:highlight>
                <a:srgbClr val="FFFFFF"/>
              </a:highlight>
              <a:latin typeface="Arial"/>
              <a:ea typeface="Arial"/>
              <a:cs typeface="Arial"/>
              <a:sym typeface="Arial"/>
            </a:endParaRPr>
          </a:p>
          <a:p>
            <a:pPr indent="-355600" lvl="0" marL="457200" rtl="0" algn="l">
              <a:spcBef>
                <a:spcPts val="0"/>
              </a:spcBef>
              <a:spcAft>
                <a:spcPts val="0"/>
              </a:spcAft>
              <a:buClr>
                <a:srgbClr val="1F1F1F"/>
              </a:buClr>
              <a:buSzPts val="2000"/>
              <a:buFont typeface="Arial"/>
              <a:buChar char="●"/>
            </a:pPr>
            <a:r>
              <a:rPr b="1" lang="en" sz="2000">
                <a:solidFill>
                  <a:srgbClr val="1F1F1F"/>
                </a:solidFill>
                <a:highlight>
                  <a:srgbClr val="FFFFFF"/>
                </a:highlight>
                <a:latin typeface="Arial"/>
                <a:ea typeface="Arial"/>
                <a:cs typeface="Arial"/>
                <a:sym typeface="Arial"/>
              </a:rPr>
              <a:t>DRAM (Dynamic Random Access Memory):</a:t>
            </a:r>
            <a:r>
              <a:rPr lang="en" sz="2000">
                <a:solidFill>
                  <a:srgbClr val="1F1F1F"/>
                </a:solidFill>
                <a:highlight>
                  <a:srgbClr val="FFFFFF"/>
                </a:highlight>
                <a:latin typeface="Arial"/>
                <a:ea typeface="Arial"/>
                <a:cs typeface="Arial"/>
                <a:sym typeface="Arial"/>
              </a:rPr>
              <a:t> This is the computer's main memory, often referred to as RAM. DRAM is much larger than cache, allowing it to store a wider range of data and programs.</a:t>
            </a:r>
            <a:endParaRPr sz="2000">
              <a:solidFill>
                <a:srgbClr val="1F1F1F"/>
              </a:solidFill>
              <a:highlight>
                <a:srgbClr val="FFFFFF"/>
              </a:highlight>
              <a:latin typeface="Arial"/>
              <a:ea typeface="Arial"/>
              <a:cs typeface="Arial"/>
              <a:sym typeface="Arial"/>
            </a:endParaRPr>
          </a:p>
          <a:p>
            <a:pPr indent="-355600" lvl="0" marL="457200" rtl="0" algn="l">
              <a:spcBef>
                <a:spcPts val="0"/>
              </a:spcBef>
              <a:spcAft>
                <a:spcPts val="0"/>
              </a:spcAft>
              <a:buClr>
                <a:srgbClr val="1F1F1F"/>
              </a:buClr>
              <a:buSzPts val="2000"/>
              <a:buFont typeface="Arial"/>
              <a:buChar char="●"/>
            </a:pPr>
            <a:r>
              <a:rPr b="1" lang="en" sz="2000">
                <a:solidFill>
                  <a:srgbClr val="1F1F1F"/>
                </a:solidFill>
                <a:highlight>
                  <a:srgbClr val="FFFFFF"/>
                </a:highlight>
                <a:latin typeface="Arial"/>
                <a:ea typeface="Arial"/>
                <a:cs typeface="Arial"/>
                <a:sym typeface="Arial"/>
              </a:rPr>
              <a:t>Slower Access:</a:t>
            </a:r>
            <a:r>
              <a:rPr lang="en" sz="2000">
                <a:solidFill>
                  <a:srgbClr val="1F1F1F"/>
                </a:solidFill>
                <a:highlight>
                  <a:srgbClr val="FFFFFF"/>
                </a:highlight>
                <a:latin typeface="Arial"/>
                <a:ea typeface="Arial"/>
                <a:cs typeface="Arial"/>
                <a:sym typeface="Arial"/>
              </a:rPr>
              <a:t> DRAM is slower than cache, but still significantly faster than storage devices like hard drives or solid-state drives (SSDs). Imagine DRAM as your main kitchen stocked with all the ingredients you use regularly.</a:t>
            </a:r>
            <a:endParaRPr sz="26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From Registers to Main Memory (DRAM)</a:t>
            </a:r>
            <a:endParaRPr/>
          </a:p>
        </p:txBody>
      </p:sp>
      <p:sp>
        <p:nvSpPr>
          <p:cNvPr id="196" name="Google Shape;196;p3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300"/>
              </a:spcBef>
              <a:spcAft>
                <a:spcPts val="300"/>
              </a:spcAft>
              <a:buNone/>
            </a:pPr>
            <a:r>
              <a:rPr b="1" lang="en" sz="2000">
                <a:solidFill>
                  <a:srgbClr val="1F1F1F"/>
                </a:solidFill>
                <a:highlight>
                  <a:srgbClr val="FFFFFF"/>
                </a:highlight>
                <a:latin typeface="Arial"/>
                <a:ea typeface="Arial"/>
                <a:cs typeface="Arial"/>
                <a:sym typeface="Arial"/>
              </a:rPr>
              <a:t> </a:t>
            </a:r>
            <a:endParaRPr sz="2600"/>
          </a:p>
        </p:txBody>
      </p:sp>
      <p:pic>
        <p:nvPicPr>
          <p:cNvPr id="197" name="Google Shape;197;p35"/>
          <p:cNvPicPr preferRelativeResize="0"/>
          <p:nvPr/>
        </p:nvPicPr>
        <p:blipFill>
          <a:blip r:embed="rId3">
            <a:alphaModFix/>
          </a:blip>
          <a:stretch>
            <a:fillRect/>
          </a:stretch>
        </p:blipFill>
        <p:spPr>
          <a:xfrm>
            <a:off x="1999076" y="810900"/>
            <a:ext cx="6330726" cy="43326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DRAM vs. Storage</a:t>
            </a:r>
            <a:endParaRPr/>
          </a:p>
        </p:txBody>
      </p:sp>
      <p:sp>
        <p:nvSpPr>
          <p:cNvPr id="203" name="Google Shape;203;p36"/>
          <p:cNvSpPr txBox="1"/>
          <p:nvPr>
            <p:ph idx="1" type="body"/>
          </p:nvPr>
        </p:nvSpPr>
        <p:spPr>
          <a:xfrm>
            <a:off x="311700" y="1228675"/>
            <a:ext cx="8520600" cy="3340200"/>
          </a:xfrm>
          <a:prstGeom prst="rect">
            <a:avLst/>
          </a:prstGeom>
        </p:spPr>
        <p:txBody>
          <a:bodyPr anchorCtr="0" anchor="t" bIns="91425" lIns="91425" spcFirstLastPara="1" rIns="91425" wrap="square" tIns="91425">
            <a:noAutofit/>
          </a:bodyPr>
          <a:lstStyle/>
          <a:p>
            <a:pPr indent="-368300" lvl="0" marL="457200" rtl="0" algn="l">
              <a:spcBef>
                <a:spcPts val="300"/>
              </a:spcBef>
              <a:spcAft>
                <a:spcPts val="0"/>
              </a:spcAft>
              <a:buClr>
                <a:srgbClr val="1F1F1F"/>
              </a:buClr>
              <a:buSzPts val="2200"/>
              <a:buFont typeface="Arial"/>
              <a:buChar char="●"/>
            </a:pPr>
            <a:r>
              <a:rPr b="1" lang="en" sz="2200">
                <a:solidFill>
                  <a:srgbClr val="1F1F1F"/>
                </a:solidFill>
                <a:highlight>
                  <a:srgbClr val="FFFFFF"/>
                </a:highlight>
                <a:latin typeface="Arial"/>
                <a:ea typeface="Arial"/>
                <a:cs typeface="Arial"/>
                <a:sym typeface="Arial"/>
              </a:rPr>
              <a:t>Focus on Active Use vs. Long-Term Storage:</a:t>
            </a:r>
            <a:r>
              <a:rPr lang="en" sz="2200">
                <a:solidFill>
                  <a:srgbClr val="1F1F1F"/>
                </a:solidFill>
                <a:highlight>
                  <a:srgbClr val="FFFFFF"/>
                </a:highlight>
                <a:latin typeface="Arial"/>
                <a:ea typeface="Arial"/>
                <a:cs typeface="Arial"/>
                <a:sym typeface="Arial"/>
              </a:rPr>
              <a:t> DRAM holds data and programs that are currently in use by the CPU or likely to be needed soon.</a:t>
            </a:r>
            <a:endParaRPr sz="2200">
              <a:solidFill>
                <a:srgbClr val="1F1F1F"/>
              </a:solidFill>
              <a:highlight>
                <a:srgbClr val="FFFFFF"/>
              </a:highlight>
              <a:latin typeface="Arial"/>
              <a:ea typeface="Arial"/>
              <a:cs typeface="Arial"/>
              <a:sym typeface="Arial"/>
            </a:endParaRPr>
          </a:p>
          <a:p>
            <a:pPr indent="-368300" lvl="0" marL="457200" rtl="0" algn="l">
              <a:spcBef>
                <a:spcPts val="0"/>
              </a:spcBef>
              <a:spcAft>
                <a:spcPts val="0"/>
              </a:spcAft>
              <a:buClr>
                <a:srgbClr val="1F1F1F"/>
              </a:buClr>
              <a:buSzPts val="2200"/>
              <a:buFont typeface="Arial"/>
              <a:buChar char="●"/>
            </a:pPr>
            <a:r>
              <a:rPr b="1" lang="en" sz="2200">
                <a:solidFill>
                  <a:srgbClr val="1F1F1F"/>
                </a:solidFill>
                <a:highlight>
                  <a:srgbClr val="FFFFFF"/>
                </a:highlight>
                <a:latin typeface="Arial"/>
                <a:ea typeface="Arial"/>
                <a:cs typeface="Arial"/>
                <a:sym typeface="Arial"/>
              </a:rPr>
              <a:t>Storage Devices:</a:t>
            </a:r>
            <a:r>
              <a:rPr lang="en" sz="2200">
                <a:solidFill>
                  <a:srgbClr val="1F1F1F"/>
                </a:solidFill>
                <a:highlight>
                  <a:srgbClr val="FFFFFF"/>
                </a:highlight>
                <a:latin typeface="Arial"/>
                <a:ea typeface="Arial"/>
                <a:cs typeface="Arial"/>
                <a:sym typeface="Arial"/>
              </a:rPr>
              <a:t> Hard drives (HDDs) and solid-state drives (SSDs) provide long-term storage for your computer's data and programs, even when the computer is turned off. Think of storage as your pantry and cabinets – holding all the ingredients you don't need immediately but might use in the future.</a:t>
            </a:r>
            <a:endParaRPr sz="28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From Main Memory (DRAM) to Storage</a:t>
            </a:r>
            <a:endParaRPr/>
          </a:p>
        </p:txBody>
      </p:sp>
      <p:sp>
        <p:nvSpPr>
          <p:cNvPr id="209" name="Google Shape;209;p3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368300" lvl="0" marL="457200" rtl="0" algn="l">
              <a:spcBef>
                <a:spcPts val="300"/>
              </a:spcBef>
              <a:spcAft>
                <a:spcPts val="0"/>
              </a:spcAft>
              <a:buClr>
                <a:srgbClr val="1F1F1F"/>
              </a:buClr>
              <a:buSzPts val="2200"/>
              <a:buFont typeface="Arial"/>
              <a:buChar char="●"/>
            </a:pPr>
            <a:r>
              <a:rPr b="1" lang="en" sz="2200">
                <a:solidFill>
                  <a:srgbClr val="1F1F1F"/>
                </a:solidFill>
                <a:highlight>
                  <a:srgbClr val="FFFFFF"/>
                </a:highlight>
                <a:latin typeface="Arial"/>
                <a:ea typeface="Arial"/>
                <a:cs typeface="Arial"/>
                <a:sym typeface="Arial"/>
              </a:rPr>
              <a:t>DRAM's Limitation:</a:t>
            </a:r>
            <a:r>
              <a:rPr lang="en" sz="2200">
                <a:solidFill>
                  <a:srgbClr val="1F1F1F"/>
                </a:solidFill>
                <a:highlight>
                  <a:srgbClr val="FFFFFF"/>
                </a:highlight>
                <a:latin typeface="Arial"/>
                <a:ea typeface="Arial"/>
                <a:cs typeface="Arial"/>
                <a:sym typeface="Arial"/>
              </a:rPr>
              <a:t> DRAM is fantastic for keeping frequently used data readily available, but it has a crucial drawback: it's volatile.</a:t>
            </a:r>
            <a:endParaRPr sz="2200">
              <a:solidFill>
                <a:srgbClr val="1F1F1F"/>
              </a:solidFill>
              <a:highlight>
                <a:srgbClr val="FFFFFF"/>
              </a:highlight>
              <a:latin typeface="Arial"/>
              <a:ea typeface="Arial"/>
              <a:cs typeface="Arial"/>
              <a:sym typeface="Arial"/>
            </a:endParaRPr>
          </a:p>
          <a:p>
            <a:pPr indent="-368300" lvl="0" marL="457200" rtl="0" algn="l">
              <a:spcBef>
                <a:spcPts val="0"/>
              </a:spcBef>
              <a:spcAft>
                <a:spcPts val="0"/>
              </a:spcAft>
              <a:buClr>
                <a:srgbClr val="1F1F1F"/>
              </a:buClr>
              <a:buSzPts val="2200"/>
              <a:buFont typeface="Arial"/>
              <a:buChar char="●"/>
            </a:pPr>
            <a:r>
              <a:rPr b="1" lang="en" sz="2200">
                <a:solidFill>
                  <a:srgbClr val="1F1F1F"/>
                </a:solidFill>
                <a:highlight>
                  <a:srgbClr val="FFFFFF"/>
                </a:highlight>
                <a:latin typeface="Arial"/>
                <a:ea typeface="Arial"/>
                <a:cs typeface="Arial"/>
                <a:sym typeface="Arial"/>
              </a:rPr>
              <a:t>Volatility Explained:</a:t>
            </a:r>
            <a:r>
              <a:rPr lang="en" sz="2200">
                <a:solidFill>
                  <a:srgbClr val="1F1F1F"/>
                </a:solidFill>
                <a:highlight>
                  <a:srgbClr val="FFFFFF"/>
                </a:highlight>
                <a:latin typeface="Arial"/>
                <a:ea typeface="Arial"/>
                <a:cs typeface="Arial"/>
                <a:sym typeface="Arial"/>
              </a:rPr>
              <a:t> This means that when you turn off your computer, all the data in DRAM is erased. Imagine if your kitchen magically forgot where you stored all the ingredients every night!</a:t>
            </a:r>
            <a:endParaRPr sz="28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Role of Storage</a:t>
            </a:r>
            <a:endParaRPr/>
          </a:p>
        </p:txBody>
      </p:sp>
      <p:sp>
        <p:nvSpPr>
          <p:cNvPr id="215" name="Google Shape;215;p38"/>
          <p:cNvSpPr txBox="1"/>
          <p:nvPr>
            <p:ph idx="1" type="body"/>
          </p:nvPr>
        </p:nvSpPr>
        <p:spPr>
          <a:xfrm>
            <a:off x="311700" y="1228675"/>
            <a:ext cx="8520600" cy="3340200"/>
          </a:xfrm>
          <a:prstGeom prst="rect">
            <a:avLst/>
          </a:prstGeom>
        </p:spPr>
        <p:txBody>
          <a:bodyPr anchorCtr="0" anchor="t" bIns="91425" lIns="91425" spcFirstLastPara="1" rIns="91425" wrap="square" tIns="91425">
            <a:noAutofit/>
          </a:bodyPr>
          <a:lstStyle/>
          <a:p>
            <a:pPr indent="-342900" lvl="0" marL="457200" rtl="0" algn="l">
              <a:spcBef>
                <a:spcPts val="300"/>
              </a:spcBef>
              <a:spcAft>
                <a:spcPts val="0"/>
              </a:spcAft>
              <a:buClr>
                <a:srgbClr val="1F1F1F"/>
              </a:buClr>
              <a:buSzPts val="1800"/>
              <a:buFont typeface="Arial"/>
              <a:buChar char="●"/>
            </a:pPr>
            <a:r>
              <a:rPr b="1" lang="en">
                <a:solidFill>
                  <a:srgbClr val="1F1F1F"/>
                </a:solidFill>
                <a:highlight>
                  <a:srgbClr val="FFFFFF"/>
                </a:highlight>
                <a:latin typeface="Arial"/>
                <a:ea typeface="Arial"/>
                <a:cs typeface="Arial"/>
                <a:sym typeface="Arial"/>
              </a:rPr>
              <a:t>Long-Term Solution:</a:t>
            </a:r>
            <a:r>
              <a:rPr lang="en">
                <a:solidFill>
                  <a:srgbClr val="1F1F1F"/>
                </a:solidFill>
                <a:highlight>
                  <a:srgbClr val="FFFFFF"/>
                </a:highlight>
                <a:latin typeface="Arial"/>
                <a:ea typeface="Arial"/>
                <a:cs typeface="Arial"/>
                <a:sym typeface="Arial"/>
              </a:rPr>
              <a:t> This is where storage devices come in. They provide non-volatile storage, meaning your data persists even after the computer is powered off. Storage acts like your pantry and cabinets at home, where you keep ingredients for long-term use.</a:t>
            </a:r>
            <a:endParaRPr>
              <a:solidFill>
                <a:srgbClr val="1F1F1F"/>
              </a:solidFill>
              <a:highlight>
                <a:srgbClr val="FFFFFF"/>
              </a:highlight>
              <a:latin typeface="Arial"/>
              <a:ea typeface="Arial"/>
              <a:cs typeface="Arial"/>
              <a:sym typeface="Arial"/>
            </a:endParaRPr>
          </a:p>
          <a:p>
            <a:pPr indent="-342900" lvl="0" marL="457200" rtl="0" algn="l">
              <a:spcBef>
                <a:spcPts val="0"/>
              </a:spcBef>
              <a:spcAft>
                <a:spcPts val="0"/>
              </a:spcAft>
              <a:buClr>
                <a:srgbClr val="1F1F1F"/>
              </a:buClr>
              <a:buSzPts val="1800"/>
              <a:buFont typeface="Arial"/>
              <a:buChar char="●"/>
            </a:pPr>
            <a:r>
              <a:rPr b="1" lang="en">
                <a:solidFill>
                  <a:srgbClr val="1F1F1F"/>
                </a:solidFill>
                <a:highlight>
                  <a:srgbClr val="FFFFFF"/>
                </a:highlight>
                <a:latin typeface="Arial"/>
                <a:ea typeface="Arial"/>
                <a:cs typeface="Arial"/>
                <a:sym typeface="Arial"/>
              </a:rPr>
              <a:t>Common Storage Types:</a:t>
            </a:r>
            <a:endParaRPr b="1">
              <a:solidFill>
                <a:srgbClr val="1F1F1F"/>
              </a:solidFill>
              <a:highlight>
                <a:srgbClr val="FFFFFF"/>
              </a:highlight>
              <a:latin typeface="Arial"/>
              <a:ea typeface="Arial"/>
              <a:cs typeface="Arial"/>
              <a:sym typeface="Arial"/>
            </a:endParaRPr>
          </a:p>
          <a:p>
            <a:pPr indent="-342900" lvl="1" marL="914400" rtl="0" algn="l">
              <a:spcBef>
                <a:spcPts val="0"/>
              </a:spcBef>
              <a:spcAft>
                <a:spcPts val="0"/>
              </a:spcAft>
              <a:buClr>
                <a:srgbClr val="1F1F1F"/>
              </a:buClr>
              <a:buSzPts val="1800"/>
              <a:buFont typeface="Arial"/>
              <a:buChar char="○"/>
            </a:pPr>
            <a:r>
              <a:rPr b="1" lang="en" sz="1800">
                <a:solidFill>
                  <a:srgbClr val="1F1F1F"/>
                </a:solidFill>
                <a:highlight>
                  <a:srgbClr val="FFFFFF"/>
                </a:highlight>
                <a:latin typeface="Arial"/>
                <a:ea typeface="Arial"/>
                <a:cs typeface="Arial"/>
                <a:sym typeface="Arial"/>
              </a:rPr>
              <a:t>Hard Disk Drive (HDD):</a:t>
            </a:r>
            <a:r>
              <a:rPr lang="en" sz="1800">
                <a:solidFill>
                  <a:srgbClr val="1F1F1F"/>
                </a:solidFill>
                <a:highlight>
                  <a:srgbClr val="FFFFFF"/>
                </a:highlight>
                <a:latin typeface="Arial"/>
                <a:ea typeface="Arial"/>
                <a:cs typeface="Arial"/>
                <a:sym typeface="Arial"/>
              </a:rPr>
              <a:t> Uses spinning platters to store data magnetically. HDDs are slower but offer larger capacities and lower costs per gigabyte.</a:t>
            </a:r>
            <a:endParaRPr sz="1800">
              <a:solidFill>
                <a:srgbClr val="1F1F1F"/>
              </a:solidFill>
              <a:highlight>
                <a:srgbClr val="FFFFFF"/>
              </a:highlight>
              <a:latin typeface="Arial"/>
              <a:ea typeface="Arial"/>
              <a:cs typeface="Arial"/>
              <a:sym typeface="Arial"/>
            </a:endParaRPr>
          </a:p>
          <a:p>
            <a:pPr indent="-342900" lvl="1" marL="914400" rtl="0" algn="l">
              <a:spcBef>
                <a:spcPts val="0"/>
              </a:spcBef>
              <a:spcAft>
                <a:spcPts val="0"/>
              </a:spcAft>
              <a:buClr>
                <a:srgbClr val="1F1F1F"/>
              </a:buClr>
              <a:buSzPts val="1800"/>
              <a:buFont typeface="Arial"/>
              <a:buChar char="○"/>
            </a:pPr>
            <a:r>
              <a:rPr b="1" lang="en" sz="1800">
                <a:solidFill>
                  <a:srgbClr val="1F1F1F"/>
                </a:solidFill>
                <a:highlight>
                  <a:srgbClr val="FFFFFF"/>
                </a:highlight>
                <a:latin typeface="Arial"/>
                <a:ea typeface="Arial"/>
                <a:cs typeface="Arial"/>
                <a:sym typeface="Arial"/>
              </a:rPr>
              <a:t>Solid-State Drive (SSD):</a:t>
            </a:r>
            <a:r>
              <a:rPr lang="en" sz="1800">
                <a:solidFill>
                  <a:srgbClr val="1F1F1F"/>
                </a:solidFill>
                <a:highlight>
                  <a:srgbClr val="FFFFFF"/>
                </a:highlight>
                <a:latin typeface="Arial"/>
                <a:ea typeface="Arial"/>
                <a:cs typeface="Arial"/>
                <a:sym typeface="Arial"/>
              </a:rPr>
              <a:t> Uses flash memory chips to store data electronically. SSDs are significantly faster but have smaller capacities and are typically more expensive per gigabyte.</a:t>
            </a:r>
            <a:endParaRPr sz="20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This mornings task</a:t>
            </a:r>
            <a:endParaRPr/>
          </a:p>
        </p:txBody>
      </p:sp>
      <p:sp>
        <p:nvSpPr>
          <p:cNvPr id="221" name="Google Shape;221;p3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Download Debian ISO and create a bootable drive</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Form groups (size to be determined by number of students and available hardware).</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4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Morning homework</a:t>
            </a:r>
            <a:endParaRPr/>
          </a:p>
        </p:txBody>
      </p:sp>
      <p:sp>
        <p:nvSpPr>
          <p:cNvPr id="227" name="Google Shape;227;p4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You will be required to identify hardware, and will be </a:t>
            </a:r>
            <a:r>
              <a:rPr b="1" lang="en"/>
              <a:t>verbally tested</a:t>
            </a:r>
            <a:r>
              <a:rPr lang="en"/>
              <a:t> on the material in the following assigned homework.  </a:t>
            </a:r>
            <a:endParaRPr/>
          </a:p>
          <a:p>
            <a:pPr indent="0" lvl="0" marL="0" rtl="0" algn="l">
              <a:spcBef>
                <a:spcPts val="1200"/>
              </a:spcBef>
              <a:spcAft>
                <a:spcPts val="1200"/>
              </a:spcAft>
              <a:buNone/>
            </a:pPr>
            <a:r>
              <a:rPr lang="en">
                <a:highlight>
                  <a:srgbClr val="FFFF00"/>
                </a:highlight>
              </a:rPr>
              <a:t>This live evaluation will be graded.</a:t>
            </a:r>
            <a:endParaRPr>
              <a:highlight>
                <a:srgbClr val="FFFF00"/>
              </a:highligh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4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Motherboards Work</a:t>
            </a:r>
            <a:endParaRPr/>
          </a:p>
        </p:txBody>
      </p:sp>
      <p:sp>
        <p:nvSpPr>
          <p:cNvPr id="233" name="Google Shape;233;p4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 article "How Motherboards Work" on HowStuffWorks gives an in-depth understanding of the role and components of a motherboard. Check it out here: </a:t>
            </a:r>
            <a:r>
              <a:rPr lang="en" u="sng">
                <a:solidFill>
                  <a:schemeClr val="hlink"/>
                </a:solidFill>
                <a:hlinkClick r:id="rId3"/>
              </a:rPr>
              <a:t>How Motherboards Work</a:t>
            </a:r>
            <a:r>
              <a:rPr lang="en"/>
              <a: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4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Watch </a:t>
            </a:r>
            <a:r>
              <a:rPr lang="en" u="sng">
                <a:solidFill>
                  <a:schemeClr val="hlink"/>
                </a:solidFill>
                <a:hlinkClick r:id="rId3"/>
              </a:rPr>
              <a:t>Carrie Anne</a:t>
            </a:r>
            <a:r>
              <a:rPr lang="en"/>
              <a:t>’s </a:t>
            </a:r>
            <a:r>
              <a:rPr lang="en" u="sng">
                <a:solidFill>
                  <a:schemeClr val="hlink"/>
                </a:solidFill>
                <a:hlinkClick r:id="rId4"/>
              </a:rPr>
              <a:t>crash course</a:t>
            </a:r>
            <a:r>
              <a:rPr lang="en"/>
              <a:t> on registers and RAM</a:t>
            </a:r>
            <a:endParaRPr/>
          </a:p>
        </p:txBody>
      </p:sp>
      <p:sp>
        <p:nvSpPr>
          <p:cNvPr id="239" name="Google Shape;239;p4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 </a:t>
            </a:r>
            <a:endParaRPr/>
          </a:p>
        </p:txBody>
      </p:sp>
      <p:pic>
        <p:nvPicPr>
          <p:cNvPr descr="Take the 2017 PBS Digital Studios Survey: http://surveymonkey.com/r/pbsds2017. Today we’re going to create memory! Using the basic logic gates we discussed in episode 3 we can build a circuit that stores a single bit of information, and then through some clever scaling (and of course many new levels of abstraction) we’ll show you how we can construct the modern random-access memory, or RAM, found in our computers today. RAM is the working memory of a computer. It holds the information that is being executed by the computer and as such is a crucial component for a computer to operate. Next week we’ll use this RAM, and the ALU we made last episode, to help us construct our CPU - the heart of a computer. &#10;&#10;*CORRECTION*&#10;&#10;In our 16x16 Latch Matrix graphic, we inadvertently left off the horizontal row access line above the top row of latches.  As a result, the highlighted line for the row at address 12 should actually be one line higher.  &#10;&#10;&#10;Produced in collaboration with PBS Digital Studios: http://youtube.com/pbsdigitalstudios&#10;&#10;The Latest from PBS Digital Studios: https://www.youtube.com/playlist?list=PL1mtdjDVOoOqJzeaJAV15Tq0tZ1vKj7ZV&#10;&#10;We’ve got merch!&#10;https://store.dftba.com/collections/crashcourse&#10;&#10;&#10;Want to know more about Carrie Anne?&#10;https://about.me/carrieannephilbin&#10;&#10;Want to find Crash Course elsewhere on the internet?&#10;Facebook - http://www.facebook.com/YouTubeCrashC...&#10;Twitter - http://www.twitter.com/TheCrashCourse&#10;Tumblr - http://thecrashcourse.tumblr.com &#10;Support Crash Course on Patreon: http://patreon.com/crashcourse&#10;CC Kids: http://www.youtube.com/crashcoursekids&#10;&#10;Want to find Crash Course elsewhere on the internet?&#10;Facebook - http://www.facebook.com/YouTubeCrashC...&#10;Twitter - http://www.twitter.com/TheCrashCourse&#10;Tumblr - http://thecrashcourse.tumblr.com &#10;Support Crash Course on Patreon: http://patreon.com/crashcourse&#10;&#10;CC Kids: http://www.youtube.com/crashcoursekids" id="240" name="Google Shape;240;p42" title="Registers and RAM: Crash Course Computer Science #6">
            <a:hlinkClick r:id="rId5"/>
          </p:cNvPr>
          <p:cNvPicPr preferRelativeResize="0"/>
          <p:nvPr/>
        </p:nvPicPr>
        <p:blipFill>
          <a:blip r:embed="rId6">
            <a:alphaModFix/>
          </a:blip>
          <a:stretch>
            <a:fillRect/>
          </a:stretch>
        </p:blipFill>
        <p:spPr>
          <a:xfrm>
            <a:off x="884075" y="1012650"/>
            <a:ext cx="6459675" cy="36335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40"/>
                                        </p:tgtEl>
                                        <p:attrNameLst>
                                          <p:attrName>style.visibility</p:attrName>
                                        </p:attrNameLst>
                                      </p:cBhvr>
                                      <p:to>
                                        <p:strVal val="visible"/>
                                      </p:to>
                                    </p:set>
                                    <p:animEffect filter="fade" transition="in">
                                      <p:cBhvr>
                                        <p:cTn dur="1000"/>
                                        <p:tgtEl>
                                          <p:spTgt spid="2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4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Afternoon</a:t>
            </a:r>
            <a:endParaRPr/>
          </a:p>
        </p:txBody>
      </p:sp>
      <p:sp>
        <p:nvSpPr>
          <p:cNvPr id="246" name="Google Shape;246;p4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Be ready for room C309 at 1:30 PM</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each Day">
  <a:themeElements>
    <a:clrScheme name="Beach Day">
      <a:dk1>
        <a:srgbClr val="00FDC8"/>
      </a:dk1>
      <a:lt1>
        <a:srgbClr val="FFFFFF"/>
      </a:lt1>
      <a:dk2>
        <a:srgbClr val="666666"/>
      </a:dk2>
      <a:lt2>
        <a:srgbClr val="EEEEEE"/>
      </a:lt2>
      <a:accent1>
        <a:srgbClr val="212121"/>
      </a:accent1>
      <a:accent2>
        <a:srgbClr val="455A64"/>
      </a:accent2>
      <a:accent3>
        <a:srgbClr val="78909C"/>
      </a:accent3>
      <a:accent4>
        <a:srgbClr val="7C7CE0"/>
      </a:accent4>
      <a:accent5>
        <a:srgbClr val="DB4437"/>
      </a:accent5>
      <a:accent6>
        <a:srgbClr val="F6CD4C"/>
      </a:accent6>
      <a:hlink>
        <a:srgbClr val="DB4437"/>
      </a:hlink>
      <a:folHlink>
        <a:srgbClr val="DB443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