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Lst>
  <p:sldSz cy="5143500" cx="9144000"/>
  <p:notesSz cx="6858000" cy="9144000"/>
  <p:embeddedFontLst>
    <p:embeddedFont>
      <p:font typeface="Amatic SC"/>
      <p:regular r:id="rId116"/>
      <p:bold r:id="rId117"/>
    </p:embeddedFont>
    <p:embeddedFont>
      <p:font typeface="Source Code Pro"/>
      <p:regular r:id="rId118"/>
      <p:bold r:id="rId119"/>
      <p:italic r:id="rId120"/>
      <p:boldItalic r:id="rId1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121" Type="http://schemas.openxmlformats.org/officeDocument/2006/relationships/font" Target="fonts/SourceCodePro-boldItalic.fntdata"/><Relationship Id="rId25" Type="http://schemas.openxmlformats.org/officeDocument/2006/relationships/slide" Target="slides/slide20.xml"/><Relationship Id="rId120" Type="http://schemas.openxmlformats.org/officeDocument/2006/relationships/font" Target="fonts/SourceCodePro-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SourceCodePro-regular.fntdata"/><Relationship Id="rId117" Type="http://schemas.openxmlformats.org/officeDocument/2006/relationships/font" Target="fonts/AmaticSC-bold.fntdata"/><Relationship Id="rId116" Type="http://schemas.openxmlformats.org/officeDocument/2006/relationships/font" Target="fonts/AmaticSC-regular.fntdata"/><Relationship Id="rId115" Type="http://schemas.openxmlformats.org/officeDocument/2006/relationships/slide" Target="slides/slide110.xml"/><Relationship Id="rId119" Type="http://schemas.openxmlformats.org/officeDocument/2006/relationships/font" Target="fonts/SourceCodePro-bold.fntdata"/><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4384b9586c_0_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4384b9586c_0_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4384b9586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4384b9586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4384b9586c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4384b9586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4384b9586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4384b9586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4384b9586c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4384b9586c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4384b9586c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4384b9586c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4384b9586c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4384b9586c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4384b9586c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4384b9586c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4384b9586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4384b9586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4384b9586c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4384b9586c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4384b9586c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4384b9586c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4384b9586c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4384b9586c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SLIDES_API143311127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SLIDES_API143311127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4384b9586c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4384b9586c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4384b9586c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4384b9586c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4384b9586c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4384b9586c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4384b9586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4384b9586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4384b9586c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4384b9586c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4384b9586c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4384b9586c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4384b9586c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4384b9586c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4384b9586c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4384b9586c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4384b9586c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4384b9586c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SLIDES_API166861944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SLIDES_API166861944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4384b9586c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4384b9586c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4384b9586c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4384b9586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4384b9586c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4384b9586c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4384b9586c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4384b9586c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4384b9586c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4384b9586c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4384b9586c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4384b9586c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4384b9586c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4384b9586c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4384b9586c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4384b9586c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4384b9586c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4384b9586c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4384b9586c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4384b9586c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4384b9586c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4384b9586c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4384b9586c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4384b9586c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4384b9586c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4384b9586c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4384b9586c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4384b9586c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4384b9586c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4384b9586c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4384b9586c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4384b9586c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4384b9586c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4384b9586c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4384b9586c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4384b9586c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4384b9586c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4384b9586c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4384b9586c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4384b9586c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4384b9586c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4384b9586c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4384b9586c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4384b9586c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4384b9586c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4384b9586c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4384b9586c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4384b9586c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4384b9586c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4384b9586c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4384b9586c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4384b9586c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4384b9586c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4384b9586c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4384b9586c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4384b9586c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4384b9586c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4384b9586c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4384b9586c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4384b9586c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4384b9586c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4384b9586c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4384b9586c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4384b9586c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4384b9586c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4384b9586c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4384b9586c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4384b9586c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4384b9586c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4384b9586c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4384b9586c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4384b9586c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4384b9586c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4384b9586c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4384b9586c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4384b9586c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4384b9586c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4384b9586c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4384b9586c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4384b9586c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4384b9586c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4384b9586c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4384b9586c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4384b9586c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4384b9586c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4384b9586c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4384b9586c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4384b9586c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4384b9586c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4384b9586c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4384b9586c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4384b9586c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4384b9586c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4384b9586c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4384b9586c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4384b9586c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4384b9586c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4384b9586c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4384b9586c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4384b9586c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4384b9586c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4384b9586c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4384b9586c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4384b9586c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4384b9586c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4384b9586c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4384b9586c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4384b9586c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4384b9586c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4384b9586c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4384b9586c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4384b9586c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4384b9586c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4384b9586c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4384b9586c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4384b9586c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4384b9586c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4384b9586c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4384b9586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4384b9586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4384b9586c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4384b9586c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4384b9586c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24384b9586c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4384b9586c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4384b9586c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4384b9586c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4384b9586c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4384b9586c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4384b9586c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4384b9586c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4384b9586c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4384b9586c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4384b9586c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4384b9586c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4384b9586c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4384b9586c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24384b9586c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4384b9586c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4384b9586c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4384b9586c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4384b9586c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4384b9586c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24384b9586c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4384b9586c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4384b9586c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4384b9586c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24384b9586c_0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24384b9586c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24384b9586c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4384b9586c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4384b9586c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4384b9586c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24384b9586c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4384b9586c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4384b9586c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4384b9586c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4384b9586c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4384b9586c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4384b9586c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4384b9586c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4384b9586c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4384b9586c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24384b9586c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4384b9586c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24384b9586c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4384b9586c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24384b9586c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4384b9586c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4384b9586c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4384b9586c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4384b9586c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clipart-library.com/img1/1383732.png" TargetMode="Externa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dataedo.com/asset/img/cartoon/open_database.png" TargetMode="External"/><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hyperlink" Target="http://openclipart.org/image/2400px/svg_to_png/33919/EthernetCable.png" TargetMode="External"/><Relationship Id="rId4" Type="http://schemas.openxmlformats.org/officeDocument/2006/relationships/image" Target="../media/image1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AWS Foundations</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AWS Cloud Essentials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Slide 4: Compute Resources</a:t>
            </a:r>
            <a:endParaRPr/>
          </a:p>
          <a:p>
            <a:pPr indent="0" lvl="0" marL="0" rtl="0" algn="l">
              <a:spcBef>
                <a:spcPts val="1200"/>
              </a:spcBef>
              <a:spcAft>
                <a:spcPts val="0"/>
              </a:spcAft>
              <a:buNone/>
            </a:pPr>
            <a:r>
              <a:rPr lang="en"/>
              <a:t>Slide 44: Storage</a:t>
            </a:r>
            <a:endParaRPr/>
          </a:p>
          <a:p>
            <a:pPr indent="0" lvl="0" marL="0" rtl="0" algn="l">
              <a:spcBef>
                <a:spcPts val="1200"/>
              </a:spcBef>
              <a:spcAft>
                <a:spcPts val="0"/>
              </a:spcAft>
              <a:buNone/>
            </a:pPr>
            <a:r>
              <a:rPr lang="en"/>
              <a:t>Slide 55: break for 10 min</a:t>
            </a:r>
            <a:endParaRPr/>
          </a:p>
          <a:p>
            <a:pPr indent="0" lvl="0" marL="0" rtl="0" algn="l">
              <a:spcBef>
                <a:spcPts val="1200"/>
              </a:spcBef>
              <a:spcAft>
                <a:spcPts val="0"/>
              </a:spcAft>
              <a:buNone/>
            </a:pPr>
            <a:r>
              <a:rPr lang="en"/>
              <a:t>Slide 56: Databases</a:t>
            </a:r>
            <a:endParaRPr/>
          </a:p>
          <a:p>
            <a:pPr indent="0" lvl="0" marL="0" rtl="0" algn="l">
              <a:spcBef>
                <a:spcPts val="1200"/>
              </a:spcBef>
              <a:spcAft>
                <a:spcPts val="0"/>
              </a:spcAft>
              <a:buNone/>
            </a:pPr>
            <a:r>
              <a:rPr lang="en"/>
              <a:t>Slide 91: Networking</a:t>
            </a:r>
            <a:endParaRPr/>
          </a:p>
          <a:p>
            <a:pPr indent="0" lvl="0" marL="0" rtl="0" algn="l">
              <a:spcBef>
                <a:spcPts val="1200"/>
              </a:spcBef>
              <a:spcAft>
                <a:spcPts val="0"/>
              </a:spcAft>
              <a:buNone/>
            </a:pPr>
            <a:r>
              <a:rPr lang="en"/>
              <a:t>Slide 111: Submission for AWS labs</a:t>
            </a:r>
            <a:endParaRPr/>
          </a:p>
          <a:p>
            <a:pPr indent="0" lvl="0" marL="0" rtl="0" algn="l">
              <a:spcBef>
                <a:spcPts val="1200"/>
              </a:spcBef>
              <a:spcAft>
                <a:spcPts val="1200"/>
              </a:spcAft>
              <a:buClr>
                <a:schemeClr val="dk1"/>
              </a:buClr>
              <a:buSzPts val="1100"/>
              <a:buFont typeface="Arial"/>
              <a:buNone/>
            </a:pPr>
            <a:r>
              <a:rPr lang="en"/>
              <a:t>End with review of Weeks 1 &amp; 2 from Tyler’s videos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Compute services</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EC2</a:t>
            </a:r>
            <a:endParaRPr/>
          </a:p>
          <a:p>
            <a:pPr indent="0" lvl="0" marL="0" rtl="0" algn="l">
              <a:spcBef>
                <a:spcPts val="1200"/>
              </a:spcBef>
              <a:spcAft>
                <a:spcPts val="0"/>
              </a:spcAft>
              <a:buClr>
                <a:schemeClr val="dk1"/>
              </a:buClr>
              <a:buSzPts val="1100"/>
              <a:buFont typeface="Arial"/>
              <a:buNone/>
            </a:pPr>
            <a:r>
              <a:rPr lang="en"/>
              <a:t>Elastic Beanstalk</a:t>
            </a:r>
            <a:endParaRPr/>
          </a:p>
          <a:p>
            <a:pPr indent="0" lvl="0" marL="0" rtl="0" algn="l">
              <a:spcBef>
                <a:spcPts val="1200"/>
              </a:spcBef>
              <a:spcAft>
                <a:spcPts val="0"/>
              </a:spcAft>
              <a:buClr>
                <a:schemeClr val="dk1"/>
              </a:buClr>
              <a:buSzPts val="1100"/>
              <a:buFont typeface="Arial"/>
              <a:buNone/>
            </a:pPr>
            <a:r>
              <a:rPr lang="en"/>
              <a:t>EC2 Auto Scaling</a:t>
            </a:r>
            <a:endParaRPr/>
          </a:p>
          <a:p>
            <a:pPr indent="0" lvl="0" marL="0" rtl="0" algn="l">
              <a:spcBef>
                <a:spcPts val="1200"/>
              </a:spcBef>
              <a:spcAft>
                <a:spcPts val="0"/>
              </a:spcAft>
              <a:buClr>
                <a:schemeClr val="dk1"/>
              </a:buClr>
              <a:buSzPts val="1100"/>
              <a:buFont typeface="Arial"/>
              <a:buNone/>
            </a:pPr>
            <a:r>
              <a:rPr lang="en"/>
              <a:t>Lambda</a:t>
            </a:r>
            <a:endParaRPr/>
          </a:p>
          <a:p>
            <a:pPr indent="0" lvl="0" marL="0" rtl="0" algn="l">
              <a:spcBef>
                <a:spcPts val="1200"/>
              </a:spcBef>
              <a:spcAft>
                <a:spcPts val="0"/>
              </a:spcAft>
              <a:buClr>
                <a:schemeClr val="dk1"/>
              </a:buClr>
              <a:buSzPts val="1100"/>
              <a:buFont typeface="Arial"/>
              <a:buNone/>
            </a:pPr>
            <a:r>
              <a:rPr lang="en"/>
              <a:t>Elastic Container </a:t>
            </a:r>
            <a:r>
              <a:rPr lang="en"/>
              <a:t>Service</a:t>
            </a:r>
            <a:r>
              <a:rPr lang="en"/>
              <a:t> (ECS)</a:t>
            </a:r>
            <a:endParaRPr/>
          </a:p>
          <a:p>
            <a:pPr indent="0" lvl="0" marL="0" rtl="0" algn="l">
              <a:spcBef>
                <a:spcPts val="1200"/>
              </a:spcBef>
              <a:spcAft>
                <a:spcPts val="0"/>
              </a:spcAft>
              <a:buClr>
                <a:schemeClr val="dk1"/>
              </a:buClr>
              <a:buSzPts val="1100"/>
              <a:buFont typeface="Arial"/>
              <a:buNone/>
            </a:pPr>
            <a:r>
              <a:rPr lang="en"/>
              <a:t>Elastic Kubernetes Service (EKS)</a:t>
            </a:r>
            <a:endParaRPr/>
          </a:p>
          <a:p>
            <a:pPr indent="0" lvl="0" marL="0" rtl="0" algn="l">
              <a:spcBef>
                <a:spcPts val="1200"/>
              </a:spcBef>
              <a:spcAft>
                <a:spcPts val="0"/>
              </a:spcAft>
              <a:buClr>
                <a:schemeClr val="dk1"/>
              </a:buClr>
              <a:buSzPts val="1100"/>
              <a:buFont typeface="Arial"/>
              <a:buNone/>
            </a:pPr>
            <a:r>
              <a:rPr lang="en"/>
              <a:t>EC2 Container Registry</a:t>
            </a:r>
            <a:endParaRPr/>
          </a:p>
          <a:p>
            <a:pPr indent="0" lvl="0" marL="0" rtl="0" algn="l">
              <a:spcBef>
                <a:spcPts val="1200"/>
              </a:spcBef>
              <a:spcAft>
                <a:spcPts val="1200"/>
              </a:spcAft>
              <a:buNone/>
            </a:pPr>
            <a:r>
              <a:rPr lang="en"/>
              <a:t>Fargate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EC2 (Elastic Compute Cloud)</a:t>
            </a:r>
            <a:endParaRPr sz="3600"/>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1200"/>
              </a:spcBef>
              <a:spcAft>
                <a:spcPts val="0"/>
              </a:spcAft>
              <a:buSzPts val="1100"/>
              <a:buChar char="●"/>
            </a:pPr>
            <a:r>
              <a:rPr lang="en"/>
              <a:t>Provides resizable compute capacity in the cloud, reducing the time required to obtain and boot new server instances.</a:t>
            </a:r>
            <a:endParaRPr/>
          </a:p>
          <a:p>
            <a:pPr indent="-298450" lvl="0" marL="457200" rtl="0" algn="l">
              <a:lnSpc>
                <a:spcPct val="115000"/>
              </a:lnSpc>
              <a:spcBef>
                <a:spcPts val="0"/>
              </a:spcBef>
              <a:spcAft>
                <a:spcPts val="0"/>
              </a:spcAft>
              <a:buSzPts val="1100"/>
              <a:buChar char="●"/>
            </a:pPr>
            <a:r>
              <a:rPr lang="en"/>
              <a:t>Offers a wide variety of </a:t>
            </a:r>
            <a:r>
              <a:rPr b="1" lang="en">
                <a:highlight>
                  <a:srgbClr val="FFFF00"/>
                </a:highlight>
              </a:rPr>
              <a:t>instance types</a:t>
            </a:r>
            <a:r>
              <a:rPr lang="en"/>
              <a:t> optimized to fit different use cases, such as </a:t>
            </a:r>
            <a:r>
              <a:rPr b="1" lang="en"/>
              <a:t>memory-optimized</a:t>
            </a:r>
            <a:r>
              <a:rPr lang="en"/>
              <a:t>, </a:t>
            </a:r>
            <a:r>
              <a:rPr b="1" lang="en"/>
              <a:t>compute-optimized</a:t>
            </a:r>
            <a:r>
              <a:rPr lang="en"/>
              <a:t>, and </a:t>
            </a:r>
            <a:r>
              <a:rPr b="1" lang="en"/>
              <a:t>storage-optimized</a:t>
            </a:r>
            <a:r>
              <a:rPr lang="en"/>
              <a:t> instances.</a:t>
            </a:r>
            <a:endParaRPr/>
          </a:p>
          <a:p>
            <a:pPr indent="-298450" lvl="0" marL="457200" rtl="0" algn="l">
              <a:lnSpc>
                <a:spcPct val="115000"/>
              </a:lnSpc>
              <a:spcBef>
                <a:spcPts val="0"/>
              </a:spcBef>
              <a:spcAft>
                <a:spcPts val="0"/>
              </a:spcAft>
              <a:buSzPts val="1100"/>
              <a:buChar char="●"/>
            </a:pPr>
            <a:r>
              <a:rPr lang="en"/>
              <a:t>Supports a broad range of </a:t>
            </a:r>
            <a:r>
              <a:rPr b="1" lang="en"/>
              <a:t>operating systems</a:t>
            </a:r>
            <a:r>
              <a:rPr lang="en"/>
              <a:t> and software packages, and offers flexible options for memory, CPU, and instance storage.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Instance type: General Purpose</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Instance Type: t3, m5</a:t>
            </a:r>
            <a:endParaRPr/>
          </a:p>
          <a:p>
            <a:pPr indent="0" lvl="0" marL="0" rtl="0" algn="l">
              <a:spcBef>
                <a:spcPts val="1200"/>
              </a:spcBef>
              <a:spcAft>
                <a:spcPts val="1200"/>
              </a:spcAft>
              <a:buNone/>
            </a:pPr>
            <a:r>
              <a:rPr lang="en"/>
              <a:t>Use Case: Applications with balanced compute, memory, and networking needs. Examples include web servers, micro-services, and small to medium-sized databases.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Instance type: General Purpose</a:t>
            </a:r>
            <a:endParaRPr/>
          </a:p>
        </p:txBody>
      </p:sp>
      <p:sp>
        <p:nvSpPr>
          <p:cNvPr id="87" name="Google Shape;87;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Burstable Instances</a:t>
            </a:r>
            <a:endParaRPr b="1"/>
          </a:p>
          <a:p>
            <a:pPr indent="0" lvl="0" marL="0" rtl="0" algn="l">
              <a:spcBef>
                <a:spcPts val="1200"/>
              </a:spcBef>
              <a:spcAft>
                <a:spcPts val="0"/>
              </a:spcAft>
              <a:buNone/>
            </a:pPr>
            <a:r>
              <a:rPr lang="en"/>
              <a:t>   </a:t>
            </a:r>
            <a:r>
              <a:rPr b="1" lang="en"/>
              <a:t> What it is</a:t>
            </a:r>
            <a:r>
              <a:rPr lang="en"/>
              <a:t>: Burstable instances are designed to provide a </a:t>
            </a:r>
            <a:r>
              <a:rPr b="1" lang="en">
                <a:highlight>
                  <a:srgbClr val="FFFF00"/>
                </a:highlight>
              </a:rPr>
              <a:t>baseline level of CPU performance</a:t>
            </a:r>
            <a:r>
              <a:rPr lang="en"/>
              <a:t> with the ability to </a:t>
            </a:r>
            <a:r>
              <a:rPr b="1" lang="en"/>
              <a:t>burst above that baseline when needed</a:t>
            </a:r>
            <a:r>
              <a:rPr lang="en"/>
              <a:t>. They are ideal for workloads that d</a:t>
            </a:r>
            <a:r>
              <a:rPr b="1" lang="en"/>
              <a:t>o not use the full CPU</a:t>
            </a:r>
            <a:r>
              <a:rPr lang="en"/>
              <a:t> often, but occasionally need to </a:t>
            </a:r>
            <a:r>
              <a:rPr b="1" lang="en">
                <a:highlight>
                  <a:srgbClr val="FFFF00"/>
                </a:highlight>
              </a:rPr>
              <a:t>burst to higher CPU performance</a:t>
            </a:r>
            <a:r>
              <a:rPr lang="en"/>
              <a:t>.</a:t>
            </a:r>
            <a:endParaRPr/>
          </a:p>
          <a:p>
            <a:pPr indent="0" lvl="0" marL="0" rtl="0" algn="l">
              <a:spcBef>
                <a:spcPts val="1200"/>
              </a:spcBef>
              <a:spcAft>
                <a:spcPts val="1200"/>
              </a:spcAft>
              <a:buNone/>
            </a:pPr>
            <a:r>
              <a:rPr lang="en"/>
              <a:t>    </a:t>
            </a:r>
            <a:r>
              <a:rPr b="1" lang="en"/>
              <a:t>Use Cases</a:t>
            </a:r>
            <a:r>
              <a:rPr lang="en"/>
              <a:t>: Small and medium databases, low to moderate traffic web servers, development environments, code repositories, microservices.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200"/>
              <a:t>Instance type: Compute Optimized</a:t>
            </a:r>
            <a:endParaRPr sz="4200"/>
          </a:p>
        </p:txBody>
      </p:sp>
      <p:sp>
        <p:nvSpPr>
          <p:cNvPr id="93" name="Google Shape;93;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Instance Type: c5</a:t>
            </a:r>
            <a:endParaRPr/>
          </a:p>
          <a:p>
            <a:pPr indent="0" lvl="0" marL="0" rtl="0" algn="l">
              <a:spcBef>
                <a:spcPts val="1200"/>
              </a:spcBef>
              <a:spcAft>
                <a:spcPts val="0"/>
              </a:spcAft>
              <a:buClr>
                <a:schemeClr val="dk1"/>
              </a:buClr>
              <a:buSzPts val="1100"/>
              <a:buFont typeface="Arial"/>
              <a:buNone/>
            </a:pPr>
            <a:r>
              <a:rPr lang="en"/>
              <a:t>Use Case: Applications that need high performance processors. Examples include high-performance web servers, scientific modeling, batch processing, and multiplayer gaming.</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200"/>
              <a:t>Instance type: Compute Optimized</a:t>
            </a:r>
            <a:endParaRPr sz="4200"/>
          </a:p>
        </p:txBody>
      </p:sp>
      <p:sp>
        <p:nvSpPr>
          <p:cNvPr id="99" name="Google Shape;99;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a:t>Non-Burstable Instances</a:t>
            </a:r>
            <a:endParaRPr b="1"/>
          </a:p>
          <a:p>
            <a:pPr indent="0" lvl="0" marL="0" rtl="0" algn="l">
              <a:spcBef>
                <a:spcPts val="1200"/>
              </a:spcBef>
              <a:spcAft>
                <a:spcPts val="0"/>
              </a:spcAft>
              <a:buClr>
                <a:schemeClr val="dk1"/>
              </a:buClr>
              <a:buSzPts val="1100"/>
              <a:buFont typeface="Arial"/>
              <a:buNone/>
            </a:pPr>
            <a:r>
              <a:rPr b="1" lang="en"/>
              <a:t>What it is</a:t>
            </a:r>
            <a:r>
              <a:rPr lang="en"/>
              <a:t>: Non-burstable instances provide a </a:t>
            </a:r>
            <a:r>
              <a:rPr b="1" lang="en">
                <a:highlight>
                  <a:srgbClr val="FFFF00"/>
                </a:highlight>
              </a:rPr>
              <a:t>consistent CPU performance </a:t>
            </a:r>
            <a:r>
              <a:rPr lang="en"/>
              <a:t>regardless of the workload. They </a:t>
            </a:r>
            <a:r>
              <a:rPr b="1" lang="en">
                <a:highlight>
                  <a:srgbClr val="FFFF00"/>
                </a:highlight>
              </a:rPr>
              <a:t>do not offer the ability to burst</a:t>
            </a:r>
            <a:r>
              <a:rPr lang="en"/>
              <a:t> to higher levels. They are ideal for applications that need a steady state of </a:t>
            </a:r>
            <a:r>
              <a:rPr b="1" lang="en">
                <a:highlight>
                  <a:srgbClr val="FFFF00"/>
                </a:highlight>
              </a:rPr>
              <a:t>high CPU performance</a:t>
            </a:r>
            <a:r>
              <a:rPr lang="en"/>
              <a:t>.</a:t>
            </a:r>
            <a:endParaRPr/>
          </a:p>
          <a:p>
            <a:pPr indent="0" lvl="0" marL="0" rtl="0" algn="l">
              <a:spcBef>
                <a:spcPts val="1200"/>
              </a:spcBef>
              <a:spcAft>
                <a:spcPts val="0"/>
              </a:spcAft>
              <a:buClr>
                <a:schemeClr val="dk1"/>
              </a:buClr>
              <a:buSzPts val="1100"/>
              <a:buFont typeface="Arial"/>
              <a:buNone/>
            </a:pPr>
            <a:r>
              <a:rPr b="1" lang="en"/>
              <a:t>Use Cases</a:t>
            </a:r>
            <a:r>
              <a:rPr lang="en"/>
              <a:t>: High-traffic web servers, </a:t>
            </a:r>
            <a:r>
              <a:rPr b="1" lang="en">
                <a:highlight>
                  <a:srgbClr val="FFFF00"/>
                </a:highlight>
              </a:rPr>
              <a:t>CPU-intensive applications</a:t>
            </a:r>
            <a:r>
              <a:rPr lang="en"/>
              <a:t>, gaming servers, ad serving, scientific modeling, batch processing.</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Burstable vs Non-Burstable Instances</a:t>
            </a:r>
            <a:endParaRPr sz="3800"/>
          </a:p>
        </p:txBody>
      </p:sp>
      <p:sp>
        <p:nvSpPr>
          <p:cNvPr id="105" name="Google Shape;105;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a:t>
            </a:r>
            <a:r>
              <a:rPr b="1" lang="en"/>
              <a:t>Performance Flexibility</a:t>
            </a:r>
            <a:r>
              <a:rPr lang="en"/>
              <a:t>: Burstable instances provide flexible CPU performance, allowing to burst when required, while non-burstable instances deliver a steady, high CPU performance.</a:t>
            </a:r>
            <a:endParaRPr/>
          </a:p>
          <a:p>
            <a:pPr indent="0" lvl="0" marL="0" rtl="0" algn="l">
              <a:spcBef>
                <a:spcPts val="1200"/>
              </a:spcBef>
              <a:spcAft>
                <a:spcPts val="0"/>
              </a:spcAft>
              <a:buClr>
                <a:schemeClr val="dk1"/>
              </a:buClr>
              <a:buSzPts val="1100"/>
              <a:buFont typeface="Arial"/>
              <a:buNone/>
            </a:pPr>
            <a:r>
              <a:rPr lang="en"/>
              <a:t>2) </a:t>
            </a:r>
            <a:r>
              <a:rPr b="1" lang="en"/>
              <a:t>Cost Efficiency</a:t>
            </a:r>
            <a:r>
              <a:rPr lang="en"/>
              <a:t>: Burstable instances can be more cost-effective for workloads with </a:t>
            </a:r>
            <a:r>
              <a:rPr b="1" lang="en">
                <a:highlight>
                  <a:srgbClr val="FFFF00"/>
                </a:highlight>
              </a:rPr>
              <a:t>variable CPU usage</a:t>
            </a:r>
            <a:r>
              <a:rPr lang="en"/>
              <a:t>.</a:t>
            </a:r>
            <a:endParaRPr/>
          </a:p>
          <a:p>
            <a:pPr indent="0" lvl="0" marL="0" rtl="0" algn="l">
              <a:spcBef>
                <a:spcPts val="1200"/>
              </a:spcBef>
              <a:spcAft>
                <a:spcPts val="1200"/>
              </a:spcAft>
              <a:buNone/>
            </a:pPr>
            <a:r>
              <a:rPr lang="en"/>
              <a:t>3) </a:t>
            </a:r>
            <a:r>
              <a:rPr b="1" lang="en"/>
              <a:t>Consistent Performance</a:t>
            </a:r>
            <a:r>
              <a:rPr lang="en"/>
              <a:t>: Non-burstable instances are ideal for applications that require consistent, high CPU performance.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Instance type: Memory Optimized</a:t>
            </a:r>
            <a:endParaRPr/>
          </a:p>
        </p:txBody>
      </p:sp>
      <p:sp>
        <p:nvSpPr>
          <p:cNvPr id="111" name="Google Shape;111;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Instance Type: r5, x1, u-6tb1</a:t>
            </a:r>
            <a:endParaRPr/>
          </a:p>
          <a:p>
            <a:pPr indent="0" lvl="0" marL="0" rtl="0" algn="l">
              <a:spcBef>
                <a:spcPts val="1200"/>
              </a:spcBef>
              <a:spcAft>
                <a:spcPts val="0"/>
              </a:spcAft>
              <a:buClr>
                <a:schemeClr val="dk1"/>
              </a:buClr>
              <a:buSzPts val="1100"/>
              <a:buFont typeface="Arial"/>
              <a:buNone/>
            </a:pPr>
            <a:r>
              <a:rPr lang="en"/>
              <a:t>Use Case: Applications that process large data sets in memory. Examples include high-performance databases, data mining &amp; analysis, in-memory databases, and real-time big data analytics.</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Instance type: Accelerated Computing</a:t>
            </a:r>
            <a:endParaRPr sz="3800"/>
          </a:p>
        </p:txBody>
      </p:sp>
      <p:sp>
        <p:nvSpPr>
          <p:cNvPr id="117" name="Google Shape;117;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Instance Type: p3, g4, f1</a:t>
            </a:r>
            <a:endParaRPr/>
          </a:p>
          <a:p>
            <a:pPr indent="0" lvl="0" marL="0" rtl="0" algn="l">
              <a:spcBef>
                <a:spcPts val="1200"/>
              </a:spcBef>
              <a:spcAft>
                <a:spcPts val="0"/>
              </a:spcAft>
              <a:buClr>
                <a:schemeClr val="dk1"/>
              </a:buClr>
              <a:buSzPts val="1100"/>
              <a:buFont typeface="Arial"/>
              <a:buNone/>
            </a:pPr>
            <a:r>
              <a:rPr lang="en"/>
              <a:t>Use Case: Applications that benefit from hardware accelerators, or co-processors. Examples include machine learning, high-performance computing, video processing, and computational fluid dynamics.</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Instance type: </a:t>
            </a:r>
            <a:r>
              <a:rPr lang="en" sz="3800"/>
              <a:t>Storage Optimized</a:t>
            </a:r>
            <a:endParaRPr sz="3800"/>
          </a:p>
        </p:txBody>
      </p:sp>
      <p:sp>
        <p:nvSpPr>
          <p:cNvPr id="123" name="Google Shape;123;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Instance Type: i3, d2, h1</a:t>
            </a:r>
            <a:endParaRPr/>
          </a:p>
          <a:p>
            <a:pPr indent="0" lvl="0" marL="0" rtl="0" algn="l">
              <a:spcBef>
                <a:spcPts val="1200"/>
              </a:spcBef>
              <a:spcAft>
                <a:spcPts val="0"/>
              </a:spcAft>
              <a:buClr>
                <a:schemeClr val="dk1"/>
              </a:buClr>
              <a:buSzPts val="1100"/>
              <a:buFont typeface="Arial"/>
              <a:buNone/>
            </a:pPr>
            <a:r>
              <a:rPr lang="en"/>
              <a:t>Use Case: Applications that require high, sequential read and write access to large data sets on local storage. Examples include NoSQL databases, in-memory databases, scale-out transactional databases, data warehousing, and Elasticsearch.</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Elastic Beanstalk</a:t>
            </a:r>
            <a:endParaRPr sz="3600"/>
          </a:p>
        </p:txBody>
      </p:sp>
      <p:sp>
        <p:nvSpPr>
          <p:cNvPr id="129" name="Google Shape;129;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1200"/>
              </a:spcBef>
              <a:spcAft>
                <a:spcPts val="0"/>
              </a:spcAft>
              <a:buNone/>
            </a:pPr>
            <a:r>
              <a:rPr lang="en"/>
              <a:t>An easy-to-use service for deploying and scaling web applications and services developed with Java, .NET, PHP, Node.js, Python, Ruby, Go, and Docker.</a:t>
            </a:r>
            <a:endParaRPr/>
          </a:p>
          <a:p>
            <a:pPr indent="0" lvl="0" marL="457200" rtl="0" algn="l">
              <a:lnSpc>
                <a:spcPct val="115000"/>
              </a:lnSpc>
              <a:spcBef>
                <a:spcPts val="1200"/>
              </a:spcBef>
              <a:spcAft>
                <a:spcPts val="0"/>
              </a:spcAft>
              <a:buNone/>
            </a:pPr>
            <a:r>
              <a:rPr lang="en"/>
              <a:t>Handles capacity provisioning, load balancing, auto-scaling, and application health monitoring.</a:t>
            </a:r>
            <a:endParaRPr/>
          </a:p>
          <a:p>
            <a:pPr indent="0" lvl="0" marL="457200" rtl="0" algn="l">
              <a:lnSpc>
                <a:spcPct val="115000"/>
              </a:lnSpc>
              <a:spcBef>
                <a:spcPts val="1200"/>
              </a:spcBef>
              <a:spcAft>
                <a:spcPts val="1200"/>
              </a:spcAft>
              <a:buNone/>
            </a:pPr>
            <a:r>
              <a:rPr lang="en"/>
              <a:t>Allows developers to focus on writing code without worrying about the underlying infrastructure.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6"/>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35" name="Google Shape;135;p26"/>
          <p:cNvPicPr preferRelativeResize="0"/>
          <p:nvPr/>
        </p:nvPicPr>
        <p:blipFill>
          <a:blip r:embed="rId4">
            <a:alphaModFix/>
          </a:blip>
          <a:stretch>
            <a:fillRect/>
          </a:stretch>
        </p:blipFill>
        <p:spPr>
          <a:xfrm>
            <a:off x="1143000" y="0"/>
            <a:ext cx="6857999" cy="5143499"/>
          </a:xfrm>
          <a:prstGeom prst="rect">
            <a:avLst/>
          </a:prstGeom>
          <a:noFill/>
          <a:ln>
            <a:noFill/>
          </a:ln>
        </p:spPr>
      </p:pic>
      <p:pic>
        <p:nvPicPr>
          <p:cNvPr id="136" name="Google Shape;136;p26"/>
          <p:cNvPicPr preferRelativeResize="0"/>
          <p:nvPr/>
        </p:nvPicPr>
        <p:blipFill>
          <a:blip r:embed="rId3">
            <a:alphaModFix/>
          </a:blip>
          <a:stretch>
            <a:fillRect/>
          </a:stretch>
        </p:blipFill>
        <p:spPr>
          <a:xfrm>
            <a:off x="1143000" y="0"/>
            <a:ext cx="6857999" cy="5143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t>Compute services</a:t>
            </a:r>
            <a:endParaRPr b="1" sz="2000"/>
          </a:p>
          <a:p>
            <a:pPr indent="0" lvl="0" marL="0" rtl="0" algn="l">
              <a:spcBef>
                <a:spcPts val="0"/>
              </a:spcBef>
              <a:spcAft>
                <a:spcPts val="0"/>
              </a:spcAft>
              <a:buNone/>
            </a:pPr>
            <a:r>
              <a:rPr lang="en" sz="2000"/>
              <a:t>Elastic Beanstalk</a:t>
            </a:r>
            <a:endParaRPr sz="2000"/>
          </a:p>
        </p:txBody>
      </p:sp>
      <p:sp>
        <p:nvSpPr>
          <p:cNvPr id="142" name="Google Shape;142;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lang="en"/>
              <a:t> Beanstalk provides preconfigured </a:t>
            </a:r>
            <a:r>
              <a:rPr b="1" lang="en">
                <a:highlight>
                  <a:srgbClr val="FFFF00"/>
                </a:highlight>
              </a:rPr>
              <a:t>runtime environments</a:t>
            </a:r>
            <a:r>
              <a:rPr lang="en"/>
              <a:t> for common programming languages (like Java, .NET, PHP, Python, Ruby, Go, Node.js) and Docker.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Elastic Beanstalk</a:t>
            </a:r>
            <a:endParaRPr sz="3600"/>
          </a:p>
        </p:txBody>
      </p:sp>
      <p:sp>
        <p:nvSpPr>
          <p:cNvPr id="148" name="Google Shape;148;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lang="en"/>
              <a:t>SaaS? You’ve been Noped, you manage Security Groups, Storage, and heck you write the application. </a:t>
            </a:r>
            <a:endParaRPr/>
          </a:p>
          <a:p>
            <a:pPr indent="0" lvl="0" marL="0" rtl="0" algn="l">
              <a:lnSpc>
                <a:spcPct val="115000"/>
              </a:lnSpc>
              <a:spcBef>
                <a:spcPts val="1200"/>
              </a:spcBef>
              <a:spcAft>
                <a:spcPts val="1200"/>
              </a:spcAft>
              <a:buNone/>
            </a:pPr>
            <a:r>
              <a:rPr lang="en"/>
              <a:t>Serverless? Noped again, this system is always running and not </a:t>
            </a:r>
            <a:r>
              <a:rPr b="1" lang="en"/>
              <a:t>event driven.</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Elastic Beanstalk</a:t>
            </a:r>
            <a:endParaRPr sz="3600"/>
          </a:p>
        </p:txBody>
      </p:sp>
      <p:sp>
        <p:nvSpPr>
          <p:cNvPr id="154" name="Google Shape;154;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lang="en"/>
              <a:t>Elastic Beanstalk is categorized as a PaaS offering. It provides a platform (runtime environment + infrastructure + additional services like load balancing, auto-scaling, database integration, etc.) for developers to run their applications</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EC2 Auto Scaling</a:t>
            </a:r>
            <a:endParaRPr sz="3600"/>
          </a:p>
        </p:txBody>
      </p:sp>
      <p:sp>
        <p:nvSpPr>
          <p:cNvPr id="160" name="Google Shape;160;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
              <a:t>Helps ensure that you have the correct number of Amazon EC2 instances available to handle the load for your application.</a:t>
            </a:r>
            <a:endParaRPr/>
          </a:p>
          <a:p>
            <a:pPr indent="0" lvl="0" marL="0" rtl="0" algn="l">
              <a:lnSpc>
                <a:spcPct val="115000"/>
              </a:lnSpc>
              <a:spcBef>
                <a:spcPts val="1200"/>
              </a:spcBef>
              <a:spcAft>
                <a:spcPts val="0"/>
              </a:spcAft>
              <a:buClr>
                <a:schemeClr val="dk1"/>
              </a:buClr>
              <a:buSzPts val="1100"/>
              <a:buFont typeface="Arial"/>
              <a:buNone/>
            </a:pPr>
            <a:r>
              <a:rPr lang="en"/>
              <a:t>Scales up automatically to maintain performance during demand spikes and scales down during demand lulls to minimize costs.</a:t>
            </a:r>
            <a:endParaRPr/>
          </a:p>
          <a:p>
            <a:pPr indent="0" lvl="0" marL="0" rtl="0" algn="l">
              <a:lnSpc>
                <a:spcPct val="115000"/>
              </a:lnSpc>
              <a:spcBef>
                <a:spcPts val="1200"/>
              </a:spcBef>
              <a:spcAft>
                <a:spcPts val="1200"/>
              </a:spcAft>
              <a:buNone/>
            </a:pPr>
            <a:r>
              <a:rPr lang="en"/>
              <a:t>Supports both dynamic and predictive scaling.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EC2 Auto Scaling</a:t>
            </a:r>
            <a:endParaRPr sz="3600"/>
          </a:p>
        </p:txBody>
      </p:sp>
      <p:sp>
        <p:nvSpPr>
          <p:cNvPr id="166" name="Google Shape;166;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None/>
            </a:pPr>
            <a:r>
              <a:rPr b="1" lang="en" sz="1400"/>
              <a:t>Define Scaling Policies</a:t>
            </a:r>
            <a:r>
              <a:rPr lang="en" sz="1400"/>
              <a:t>: You can define scaling policies based on specific conditions like </a:t>
            </a:r>
            <a:r>
              <a:rPr b="1" lang="en" sz="2360">
                <a:highlight>
                  <a:srgbClr val="FFFF00"/>
                </a:highlight>
              </a:rPr>
              <a:t>CPU utilization</a:t>
            </a:r>
            <a:r>
              <a:rPr lang="en" sz="1400">
                <a:highlight>
                  <a:srgbClr val="FFFF00"/>
                </a:highlight>
              </a:rPr>
              <a:t>, </a:t>
            </a:r>
            <a:r>
              <a:rPr b="1" lang="en" sz="2360">
                <a:highlight>
                  <a:srgbClr val="FFFF00"/>
                </a:highlight>
              </a:rPr>
              <a:t>number of requests per second</a:t>
            </a:r>
            <a:r>
              <a:rPr lang="en" sz="1400"/>
              <a:t>, or any custom metric that you choose. These policies will trigger the Auto Scaling process.</a:t>
            </a:r>
            <a:endParaRPr sz="1400"/>
          </a:p>
          <a:p>
            <a:pPr indent="0" lvl="0" marL="0" rtl="0" algn="l">
              <a:lnSpc>
                <a:spcPct val="115000"/>
              </a:lnSpc>
              <a:spcBef>
                <a:spcPts val="1200"/>
              </a:spcBef>
              <a:spcAft>
                <a:spcPts val="0"/>
              </a:spcAft>
              <a:buNone/>
            </a:pPr>
            <a:r>
              <a:rPr b="1" lang="en" sz="1400"/>
              <a:t>Automatic Scaling</a:t>
            </a:r>
            <a:r>
              <a:rPr lang="en" sz="1400"/>
              <a:t>: When a defined condition is met, EC2 Auto Scaling automatically </a:t>
            </a:r>
            <a:r>
              <a:rPr b="1" lang="en" sz="1400">
                <a:highlight>
                  <a:srgbClr val="FFFF00"/>
                </a:highlight>
              </a:rPr>
              <a:t>adds </a:t>
            </a:r>
            <a:r>
              <a:rPr b="1" lang="en" sz="1400">
                <a:solidFill>
                  <a:schemeClr val="accent2"/>
                </a:solidFill>
                <a:highlight>
                  <a:srgbClr val="FFFF00"/>
                </a:highlight>
              </a:rPr>
              <a:t>or</a:t>
            </a:r>
            <a:r>
              <a:rPr b="1" lang="en" sz="1400">
                <a:highlight>
                  <a:srgbClr val="FFFF00"/>
                </a:highlight>
              </a:rPr>
              <a:t> removes EC2 instances from your Auto Scaling group</a:t>
            </a:r>
            <a:r>
              <a:rPr lang="en" sz="1400"/>
              <a:t>. For example, if the CPU utilization of your EC2 instances goes </a:t>
            </a:r>
            <a:r>
              <a:rPr b="1" lang="en" sz="1400"/>
              <a:t>above 70%</a:t>
            </a:r>
            <a:r>
              <a:rPr lang="en" sz="1400"/>
              <a:t>, you can configure a policy to add more instances, spreading the load and reducing the overall CPU utilization. Conversely, if </a:t>
            </a:r>
            <a:r>
              <a:rPr b="1" lang="en" sz="2360">
                <a:highlight>
                  <a:srgbClr val="FFFF00"/>
                </a:highlight>
              </a:rPr>
              <a:t>CPU utilization is </a:t>
            </a:r>
            <a:r>
              <a:rPr b="1" lang="en" sz="2360">
                <a:solidFill>
                  <a:srgbClr val="FF0000"/>
                </a:solidFill>
                <a:highlight>
                  <a:srgbClr val="FFFF00"/>
                </a:highlight>
              </a:rPr>
              <a:t>too low</a:t>
            </a:r>
            <a:r>
              <a:rPr b="1" lang="en" sz="2360">
                <a:highlight>
                  <a:srgbClr val="FFFF00"/>
                </a:highlight>
              </a:rPr>
              <a:t>, it can </a:t>
            </a:r>
            <a:r>
              <a:rPr b="1" lang="en" sz="2360">
                <a:solidFill>
                  <a:srgbClr val="FF0000"/>
                </a:solidFill>
                <a:highlight>
                  <a:srgbClr val="FFFF00"/>
                </a:highlight>
              </a:rPr>
              <a:t>remove instances</a:t>
            </a:r>
            <a:r>
              <a:rPr lang="en" sz="1400"/>
              <a:t>, saving you costs.</a:t>
            </a:r>
            <a:endParaRPr sz="1400"/>
          </a:p>
          <a:p>
            <a:pPr indent="0" lvl="0" marL="0" rtl="0" algn="l">
              <a:lnSpc>
                <a:spcPct val="115000"/>
              </a:lnSpc>
              <a:spcBef>
                <a:spcPts val="1200"/>
              </a:spcBef>
              <a:spcAft>
                <a:spcPts val="1200"/>
              </a:spcAft>
              <a:buNone/>
            </a:pPr>
            <a:r>
              <a:rPr i="1" lang="en" sz="1400"/>
              <a:t>So, in essence, Scaling Policies are the "instructions" for dynamic scaling, and Automatic Scaling is the "action" of dynamic scaling.</a:t>
            </a:r>
            <a:endParaRPr i="1"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EC2 Auto Scaling</a:t>
            </a:r>
            <a:endParaRPr sz="3600"/>
          </a:p>
        </p:txBody>
      </p:sp>
      <p:sp>
        <p:nvSpPr>
          <p:cNvPr id="172" name="Google Shape;172;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None/>
            </a:pPr>
            <a:r>
              <a:rPr b="1" lang="en" sz="2200"/>
              <a:t>Load Balancing</a:t>
            </a:r>
            <a:r>
              <a:rPr lang="en" sz="2200"/>
              <a:t>: EC2 Auto Scaling can work together with Amazon Elastic Load Balancer (ELB) to distribute incoming application traffic across multiple EC2 instances for efficient load handling. This increases the availability and fault tolerance of your applications.</a:t>
            </a:r>
            <a:endParaRPr sz="2200"/>
          </a:p>
          <a:p>
            <a:pPr indent="0" lvl="0" marL="0" rtl="0" algn="l">
              <a:lnSpc>
                <a:spcPct val="115000"/>
              </a:lnSpc>
              <a:spcBef>
                <a:spcPts val="1200"/>
              </a:spcBef>
              <a:spcAft>
                <a:spcPts val="1200"/>
              </a:spcAft>
              <a:buNone/>
            </a:pPr>
            <a:r>
              <a:rPr b="1" lang="en" sz="2200"/>
              <a:t>Health Checks</a:t>
            </a:r>
            <a:r>
              <a:rPr lang="en" sz="2200"/>
              <a:t>: EC2 Auto Scaling performs health checks on the instances within its Auto Scaling groups. If an instance becomes </a:t>
            </a:r>
            <a:r>
              <a:rPr b="1" lang="en" sz="2200">
                <a:highlight>
                  <a:srgbClr val="FFFF00"/>
                </a:highlight>
              </a:rPr>
              <a:t>unhealthy, the service </a:t>
            </a:r>
            <a:r>
              <a:rPr b="1" lang="en" sz="2200">
                <a:solidFill>
                  <a:srgbClr val="FF0000"/>
                </a:solidFill>
                <a:highlight>
                  <a:srgbClr val="FFFF00"/>
                </a:highlight>
              </a:rPr>
              <a:t>terminates it</a:t>
            </a:r>
            <a:r>
              <a:rPr b="1" lang="en" sz="2200">
                <a:highlight>
                  <a:srgbClr val="FFFF00"/>
                </a:highlight>
              </a:rPr>
              <a:t> and </a:t>
            </a:r>
            <a:r>
              <a:rPr b="1" lang="en" sz="2200">
                <a:solidFill>
                  <a:srgbClr val="FF0000"/>
                </a:solidFill>
                <a:highlight>
                  <a:srgbClr val="FFFF00"/>
                </a:highlight>
              </a:rPr>
              <a:t>launches a new one</a:t>
            </a:r>
            <a:r>
              <a:rPr b="1" lang="en" sz="2200">
                <a:highlight>
                  <a:srgbClr val="FFFF00"/>
                </a:highlight>
              </a:rPr>
              <a:t> to replace it</a:t>
            </a:r>
            <a:r>
              <a:rPr lang="en" sz="2200"/>
              <a:t>, ensuring your application remains available.</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EC2 Auto Scaling</a:t>
            </a:r>
            <a:endParaRPr sz="3600"/>
          </a:p>
        </p:txBody>
      </p:sp>
      <p:sp>
        <p:nvSpPr>
          <p:cNvPr id="178" name="Google Shape;178;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SzPts val="935"/>
              <a:buNone/>
            </a:pPr>
            <a:r>
              <a:rPr b="1" lang="en"/>
              <a:t>Scheduled Scaling</a:t>
            </a:r>
            <a:r>
              <a:rPr lang="en"/>
              <a:t>: Besides scaling in response to conditions, you can also schedule scaling actions ahead of time. For instance, if you predict higher load on your application </a:t>
            </a:r>
            <a:r>
              <a:rPr b="1" lang="en">
                <a:highlight>
                  <a:srgbClr val="FFFF00"/>
                </a:highlight>
              </a:rPr>
              <a:t>every weekday between 9 AM to 5 PM</a:t>
            </a:r>
            <a:r>
              <a:rPr lang="en"/>
              <a:t>, you can schedule your Auto Scaling group to have more instances during this period.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EC2 Auto Scaling</a:t>
            </a:r>
            <a:endParaRPr sz="3600"/>
          </a:p>
        </p:txBody>
      </p:sp>
      <p:sp>
        <p:nvSpPr>
          <p:cNvPr id="184" name="Google Shape;184;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35"/>
              <a:buNone/>
            </a:pPr>
            <a:r>
              <a:rPr lang="en"/>
              <a:t>In </a:t>
            </a:r>
            <a:r>
              <a:rPr b="1" lang="en"/>
              <a:t>Microsoft Azure</a:t>
            </a:r>
            <a:r>
              <a:rPr lang="en"/>
              <a:t>, the equivalent of AWS EC2 Auto Scaling is </a:t>
            </a:r>
            <a:r>
              <a:rPr b="1" lang="en"/>
              <a:t>Azure Autoscale</a:t>
            </a:r>
            <a:endParaRPr b="1"/>
          </a:p>
          <a:p>
            <a:pPr indent="0" lvl="0" marL="0" rtl="0" algn="l">
              <a:spcBef>
                <a:spcPts val="1200"/>
              </a:spcBef>
              <a:spcAft>
                <a:spcPts val="0"/>
              </a:spcAft>
              <a:buSzPts val="935"/>
              <a:buNone/>
            </a:pPr>
            <a:r>
              <a:t/>
            </a:r>
            <a:endParaRPr b="1"/>
          </a:p>
          <a:p>
            <a:pPr indent="0" lvl="0" marL="0" rtl="0" algn="l">
              <a:spcBef>
                <a:spcPts val="1200"/>
              </a:spcBef>
              <a:spcAft>
                <a:spcPts val="1200"/>
              </a:spcAft>
              <a:buSzPts val="935"/>
              <a:buNone/>
            </a:pPr>
            <a:r>
              <a:rPr lang="en"/>
              <a:t>The features are identical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Lambda</a:t>
            </a:r>
            <a:endParaRPr sz="3600"/>
          </a:p>
        </p:txBody>
      </p:sp>
      <p:sp>
        <p:nvSpPr>
          <p:cNvPr id="190" name="Google Shape;190;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
              <a:t>Lets you run code without provisioning or managing servers, only paying for the compute time you consume.</a:t>
            </a:r>
            <a:endParaRPr/>
          </a:p>
          <a:p>
            <a:pPr indent="0" lvl="0" marL="0" rtl="0" algn="l">
              <a:lnSpc>
                <a:spcPct val="115000"/>
              </a:lnSpc>
              <a:spcBef>
                <a:spcPts val="1200"/>
              </a:spcBef>
              <a:spcAft>
                <a:spcPts val="0"/>
              </a:spcAft>
              <a:buClr>
                <a:schemeClr val="dk1"/>
              </a:buClr>
              <a:buSzPts val="1100"/>
              <a:buFont typeface="Arial"/>
              <a:buNone/>
            </a:pPr>
            <a:r>
              <a:rPr lang="en"/>
              <a:t>Automatically scales your applications in response to incoming request traffic.</a:t>
            </a:r>
            <a:endParaRPr/>
          </a:p>
          <a:p>
            <a:pPr indent="0" lvl="0" marL="0" rtl="0" algn="l">
              <a:lnSpc>
                <a:spcPct val="115000"/>
              </a:lnSpc>
              <a:spcBef>
                <a:spcPts val="1200"/>
              </a:spcBef>
              <a:spcAft>
                <a:spcPts val="1200"/>
              </a:spcAft>
              <a:buNone/>
            </a:pPr>
            <a:r>
              <a:rPr lang="en"/>
              <a:t>Can be set up to respond to changes in data in Amazon S3, Amazon DynamoDB tables, modifications to deployment pipelines, and custom events.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6"/>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96" name="Google Shape;196;p36"/>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Lambda</a:t>
            </a:r>
            <a:endParaRPr sz="3600"/>
          </a:p>
        </p:txBody>
      </p:sp>
      <p:sp>
        <p:nvSpPr>
          <p:cNvPr id="202" name="Google Shape;202;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AWS </a:t>
            </a:r>
            <a:r>
              <a:rPr b="1" lang="en"/>
              <a:t>Lambda</a:t>
            </a:r>
            <a:r>
              <a:rPr lang="en"/>
              <a:t> and </a:t>
            </a:r>
            <a:r>
              <a:rPr b="1" lang="en"/>
              <a:t>Azure Functions</a:t>
            </a:r>
            <a:r>
              <a:rPr lang="en"/>
              <a:t> are both examples of </a:t>
            </a:r>
            <a:r>
              <a:rPr b="1" lang="en">
                <a:highlight>
                  <a:srgbClr val="FFFF00"/>
                </a:highlight>
              </a:rPr>
              <a:t>Function as a Service (FaaS) </a:t>
            </a:r>
            <a:r>
              <a:rPr lang="en"/>
              <a:t>offerings, which are key components in </a:t>
            </a:r>
            <a:r>
              <a:rPr b="1" lang="en">
                <a:highlight>
                  <a:srgbClr val="FFFF00"/>
                </a:highlight>
              </a:rPr>
              <a:t>serverless computing</a:t>
            </a:r>
            <a:r>
              <a:rPr lang="en"/>
              <a:t>. Recall, stateless vs stateful and </a:t>
            </a:r>
            <a:r>
              <a:rPr b="1" lang="en"/>
              <a:t>event driven.</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Elastic Container Service (ECS)</a:t>
            </a:r>
            <a:endParaRPr sz="3600"/>
          </a:p>
        </p:txBody>
      </p:sp>
      <p:sp>
        <p:nvSpPr>
          <p:cNvPr id="208" name="Google Shape;208;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
              <a:t>A highly scalable, high-performance container orchestration service that supports Docker containers.</a:t>
            </a:r>
            <a:endParaRPr/>
          </a:p>
          <a:p>
            <a:pPr indent="0" lvl="0" marL="0" rtl="0" algn="l">
              <a:lnSpc>
                <a:spcPct val="115000"/>
              </a:lnSpc>
              <a:spcBef>
                <a:spcPts val="1200"/>
              </a:spcBef>
              <a:spcAft>
                <a:spcPts val="0"/>
              </a:spcAft>
              <a:buClr>
                <a:schemeClr val="dk1"/>
              </a:buClr>
              <a:buSzPts val="1100"/>
              <a:buFont typeface="Arial"/>
              <a:buNone/>
            </a:pPr>
            <a:r>
              <a:rPr lang="en"/>
              <a:t>Allows you to easily run and scale containerized applications on AWS.</a:t>
            </a:r>
            <a:endParaRPr/>
          </a:p>
          <a:p>
            <a:pPr indent="0" lvl="0" marL="0" rtl="0" algn="l">
              <a:lnSpc>
                <a:spcPct val="115000"/>
              </a:lnSpc>
              <a:spcBef>
                <a:spcPts val="1200"/>
              </a:spcBef>
              <a:spcAft>
                <a:spcPts val="1200"/>
              </a:spcAft>
              <a:buNone/>
            </a:pPr>
            <a:r>
              <a:rPr lang="en"/>
              <a:t>Integrates with AWS core services such as Amazon Route 53, Secrets Manager, and CloudWatch.</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Elastic Kubernetes Service (EKS)</a:t>
            </a:r>
            <a:endParaRPr sz="3600"/>
          </a:p>
        </p:txBody>
      </p:sp>
      <p:sp>
        <p:nvSpPr>
          <p:cNvPr id="214" name="Google Shape;214;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
              <a:t>Managed service that makes it easy to deploy, manage, and scale containerized applications using Kubernetes on AWS.</a:t>
            </a:r>
            <a:endParaRPr/>
          </a:p>
          <a:p>
            <a:pPr indent="0" lvl="0" marL="0" rtl="0" algn="l">
              <a:lnSpc>
                <a:spcPct val="115000"/>
              </a:lnSpc>
              <a:spcBef>
                <a:spcPts val="1200"/>
              </a:spcBef>
              <a:spcAft>
                <a:spcPts val="0"/>
              </a:spcAft>
              <a:buClr>
                <a:schemeClr val="dk1"/>
              </a:buClr>
              <a:buSzPts val="1100"/>
              <a:buFont typeface="Arial"/>
              <a:buNone/>
            </a:pPr>
            <a:r>
              <a:rPr lang="en"/>
              <a:t>Seamlessly integrates with other AWS services for scalability and security.</a:t>
            </a:r>
            <a:endParaRPr/>
          </a:p>
          <a:p>
            <a:pPr indent="0" lvl="0" marL="0" rtl="0" algn="l">
              <a:lnSpc>
                <a:spcPct val="115000"/>
              </a:lnSpc>
              <a:spcBef>
                <a:spcPts val="1200"/>
              </a:spcBef>
              <a:spcAft>
                <a:spcPts val="1200"/>
              </a:spcAft>
              <a:buNone/>
            </a:pPr>
            <a:r>
              <a:rPr lang="en"/>
              <a:t>Automatically manages the availability and scalability of the Kubernetes control plane nodes.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EC2 Container Registry (ECR)</a:t>
            </a:r>
            <a:endParaRPr sz="3600"/>
          </a:p>
        </p:txBody>
      </p:sp>
      <p:sp>
        <p:nvSpPr>
          <p:cNvPr id="220" name="Google Shape;220;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
              <a:t>Fully-managed Docker container registry that makes it easy to store, manage, and deploy Docker container images.</a:t>
            </a:r>
            <a:endParaRPr/>
          </a:p>
          <a:p>
            <a:pPr indent="0" lvl="0" marL="0" rtl="0" algn="l">
              <a:lnSpc>
                <a:spcPct val="115000"/>
              </a:lnSpc>
              <a:spcBef>
                <a:spcPts val="1200"/>
              </a:spcBef>
              <a:spcAft>
                <a:spcPts val="0"/>
              </a:spcAft>
              <a:buClr>
                <a:schemeClr val="dk1"/>
              </a:buClr>
              <a:buSzPts val="1100"/>
              <a:buFont typeface="Arial"/>
              <a:buNone/>
            </a:pPr>
            <a:r>
              <a:rPr lang="en"/>
              <a:t>Integrates with Amazon ECS and EKS, simplifying your development and production workflows.</a:t>
            </a:r>
            <a:endParaRPr/>
          </a:p>
          <a:p>
            <a:pPr indent="0" lvl="0" marL="0" rtl="0" algn="l">
              <a:lnSpc>
                <a:spcPct val="115000"/>
              </a:lnSpc>
              <a:spcBef>
                <a:spcPts val="1200"/>
              </a:spcBef>
              <a:spcAft>
                <a:spcPts val="1200"/>
              </a:spcAft>
              <a:buNone/>
            </a:pPr>
            <a:r>
              <a:rPr lang="en"/>
              <a:t>Provides secure, scalable, and reliable registry for your Docker or Open Container Initiative (OCI) images.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t>Compute services</a:t>
            </a:r>
            <a:endParaRPr b="1" sz="3600"/>
          </a:p>
          <a:p>
            <a:pPr indent="0" lvl="0" marL="0" rtl="0" algn="l">
              <a:spcBef>
                <a:spcPts val="0"/>
              </a:spcBef>
              <a:spcAft>
                <a:spcPts val="0"/>
              </a:spcAft>
              <a:buNone/>
            </a:pPr>
            <a:r>
              <a:rPr lang="en" sz="3600"/>
              <a:t>Fargate</a:t>
            </a:r>
            <a:endParaRPr sz="3600"/>
          </a:p>
        </p:txBody>
      </p:sp>
      <p:sp>
        <p:nvSpPr>
          <p:cNvPr id="226" name="Google Shape;226;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
              <a:t>A </a:t>
            </a:r>
            <a:r>
              <a:rPr b="1" lang="en"/>
              <a:t>serverless compute engine</a:t>
            </a:r>
            <a:r>
              <a:rPr lang="en"/>
              <a:t> for </a:t>
            </a:r>
            <a:r>
              <a:rPr b="1" lang="en">
                <a:highlight>
                  <a:srgbClr val="FFFF00"/>
                </a:highlight>
              </a:rPr>
              <a:t>containers</a:t>
            </a:r>
            <a:r>
              <a:rPr lang="en"/>
              <a:t> that works with both Amazon ECS and EKS.</a:t>
            </a:r>
            <a:endParaRPr/>
          </a:p>
          <a:p>
            <a:pPr indent="0" lvl="0" marL="0" rtl="0" algn="l">
              <a:lnSpc>
                <a:spcPct val="115000"/>
              </a:lnSpc>
              <a:spcBef>
                <a:spcPts val="1200"/>
              </a:spcBef>
              <a:spcAft>
                <a:spcPts val="0"/>
              </a:spcAft>
              <a:buClr>
                <a:schemeClr val="dk1"/>
              </a:buClr>
              <a:buSzPts val="1100"/>
              <a:buFont typeface="Arial"/>
              <a:buNone/>
            </a:pPr>
            <a:r>
              <a:rPr lang="en"/>
              <a:t>Removes the need to provision and manage servers, allowing you to focus on designing and building your applications.</a:t>
            </a:r>
            <a:endParaRPr/>
          </a:p>
          <a:p>
            <a:pPr indent="0" lvl="0" marL="0" rtl="0" algn="l">
              <a:lnSpc>
                <a:spcPct val="115000"/>
              </a:lnSpc>
              <a:spcBef>
                <a:spcPts val="1200"/>
              </a:spcBef>
              <a:spcAft>
                <a:spcPts val="1200"/>
              </a:spcAft>
              <a:buNone/>
            </a:pPr>
            <a:r>
              <a:rPr lang="en"/>
              <a:t>Automatically scales and manages the infrastructure required to </a:t>
            </a:r>
            <a:r>
              <a:rPr b="1" lang="en">
                <a:highlight>
                  <a:srgbClr val="FFFF00"/>
                </a:highlight>
              </a:rPr>
              <a:t>run your containers</a:t>
            </a:r>
            <a:r>
              <a:rPr lang="en"/>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Fargate vs Lambda</a:t>
            </a:r>
            <a:endParaRPr/>
          </a:p>
        </p:txBody>
      </p:sp>
      <p:sp>
        <p:nvSpPr>
          <p:cNvPr id="232" name="Google Shape;232;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Fargate</a:t>
            </a:r>
            <a:endParaRPr b="1"/>
          </a:p>
          <a:p>
            <a:pPr indent="0" lvl="0" marL="0" rtl="0" algn="l">
              <a:spcBef>
                <a:spcPts val="1200"/>
              </a:spcBef>
              <a:spcAft>
                <a:spcPts val="0"/>
              </a:spcAft>
              <a:buClr>
                <a:schemeClr val="dk1"/>
              </a:buClr>
              <a:buSzPts val="1100"/>
              <a:buFont typeface="Arial"/>
              <a:buNone/>
            </a:pPr>
            <a:r>
              <a:rPr lang="en"/>
              <a:t>1) Ideal for </a:t>
            </a:r>
            <a:r>
              <a:rPr b="1" lang="en">
                <a:highlight>
                  <a:srgbClr val="FFFF00"/>
                </a:highlight>
              </a:rPr>
              <a:t>long-lived</a:t>
            </a:r>
            <a:r>
              <a:rPr lang="en">
                <a:highlight>
                  <a:srgbClr val="FFFF00"/>
                </a:highlight>
              </a:rPr>
              <a:t>, </a:t>
            </a:r>
            <a:r>
              <a:rPr b="1" lang="en">
                <a:highlight>
                  <a:srgbClr val="FFFF00"/>
                </a:highlight>
              </a:rPr>
              <a:t>containerized</a:t>
            </a:r>
            <a:r>
              <a:rPr lang="en"/>
              <a:t> applications.</a:t>
            </a:r>
            <a:endParaRPr/>
          </a:p>
          <a:p>
            <a:pPr indent="0" lvl="0" marL="0" rtl="0" algn="l">
              <a:spcBef>
                <a:spcPts val="1200"/>
              </a:spcBef>
              <a:spcAft>
                <a:spcPts val="0"/>
              </a:spcAft>
              <a:buClr>
                <a:schemeClr val="dk1"/>
              </a:buClr>
              <a:buSzPts val="1100"/>
              <a:buFont typeface="Arial"/>
              <a:buNone/>
            </a:pPr>
            <a:r>
              <a:rPr lang="en"/>
              <a:t>2) </a:t>
            </a:r>
            <a:r>
              <a:rPr b="1" lang="en">
                <a:highlight>
                  <a:srgbClr val="FFFF00"/>
                </a:highlight>
              </a:rPr>
              <a:t>Manual</a:t>
            </a:r>
            <a:r>
              <a:rPr lang="en"/>
              <a:t> task management for scaling.</a:t>
            </a:r>
            <a:endParaRPr/>
          </a:p>
          <a:p>
            <a:pPr indent="0" lvl="0" marL="0" rtl="0" algn="l">
              <a:spcBef>
                <a:spcPts val="1200"/>
              </a:spcBef>
              <a:spcAft>
                <a:spcPts val="1200"/>
              </a:spcAft>
              <a:buNone/>
            </a:pPr>
            <a:r>
              <a:rPr lang="en"/>
              <a:t>3) More configuration options (</a:t>
            </a:r>
            <a:r>
              <a:rPr b="1" lang="en">
                <a:highlight>
                  <a:srgbClr val="FFFF00"/>
                </a:highlight>
              </a:rPr>
              <a:t>CPU</a:t>
            </a:r>
            <a:r>
              <a:rPr lang="en">
                <a:highlight>
                  <a:srgbClr val="FFFF00"/>
                </a:highlight>
              </a:rPr>
              <a:t>, </a:t>
            </a:r>
            <a:r>
              <a:rPr b="1" lang="en">
                <a:highlight>
                  <a:srgbClr val="FFFF00"/>
                </a:highlight>
              </a:rPr>
              <a:t>memory</a:t>
            </a:r>
            <a:r>
              <a:rPr lang="en"/>
              <a:t>, networking, storage).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Fargate</a:t>
            </a:r>
            <a:endParaRPr/>
          </a:p>
        </p:txBody>
      </p:sp>
      <p:sp>
        <p:nvSpPr>
          <p:cNvPr id="238" name="Google Shape;238;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2100"/>
              <a:t>https://aws.amazon.com/fargate/</a:t>
            </a:r>
            <a:r>
              <a:rPr lang="en" sz="2100"/>
              <a:t> </a:t>
            </a:r>
            <a:endParaRPr sz="2100"/>
          </a:p>
        </p:txBody>
      </p:sp>
      <p:pic>
        <p:nvPicPr>
          <p:cNvPr id="239" name="Google Shape;239;p43"/>
          <p:cNvPicPr preferRelativeResize="0"/>
          <p:nvPr/>
        </p:nvPicPr>
        <p:blipFill>
          <a:blip r:embed="rId3">
            <a:alphaModFix/>
          </a:blip>
          <a:stretch>
            <a:fillRect/>
          </a:stretch>
        </p:blipFill>
        <p:spPr>
          <a:xfrm>
            <a:off x="811850" y="1139450"/>
            <a:ext cx="7722552" cy="31372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Fargate vs Lambda</a:t>
            </a:r>
            <a:endParaRPr/>
          </a:p>
        </p:txBody>
      </p:sp>
      <p:sp>
        <p:nvSpPr>
          <p:cNvPr id="245" name="Google Shape;245;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Lambda</a:t>
            </a:r>
            <a:endParaRPr b="1"/>
          </a:p>
          <a:p>
            <a:pPr indent="0" lvl="0" marL="0" rtl="0" algn="l">
              <a:spcBef>
                <a:spcPts val="1200"/>
              </a:spcBef>
              <a:spcAft>
                <a:spcPts val="0"/>
              </a:spcAft>
              <a:buNone/>
            </a:pPr>
            <a:r>
              <a:rPr lang="en"/>
              <a:t>1) Ideal for </a:t>
            </a:r>
            <a:r>
              <a:rPr b="1" lang="en">
                <a:highlight>
                  <a:srgbClr val="FFFF00"/>
                </a:highlight>
              </a:rPr>
              <a:t>short-lived</a:t>
            </a:r>
            <a:r>
              <a:rPr lang="en">
                <a:highlight>
                  <a:srgbClr val="FFFF00"/>
                </a:highlight>
              </a:rPr>
              <a:t>, </a:t>
            </a:r>
            <a:r>
              <a:rPr b="1" lang="en">
                <a:highlight>
                  <a:srgbClr val="FFFF00"/>
                </a:highlight>
              </a:rPr>
              <a:t>event-driven functions</a:t>
            </a:r>
            <a:r>
              <a:rPr lang="en"/>
              <a:t>. </a:t>
            </a:r>
            <a:r>
              <a:rPr i="1" lang="en"/>
              <a:t>15 minutes max to be exact.</a:t>
            </a:r>
            <a:endParaRPr i="1"/>
          </a:p>
          <a:p>
            <a:pPr indent="0" lvl="0" marL="0" rtl="0" algn="l">
              <a:spcBef>
                <a:spcPts val="1200"/>
              </a:spcBef>
              <a:spcAft>
                <a:spcPts val="0"/>
              </a:spcAft>
              <a:buNone/>
            </a:pPr>
            <a:r>
              <a:rPr lang="en"/>
              <a:t>2) </a:t>
            </a:r>
            <a:r>
              <a:rPr b="1" lang="en">
                <a:highlight>
                  <a:srgbClr val="FFFF00"/>
                </a:highlight>
              </a:rPr>
              <a:t>Automatic</a:t>
            </a:r>
            <a:r>
              <a:rPr lang="en"/>
              <a:t> scaling based on event triggers.</a:t>
            </a:r>
            <a:endParaRPr/>
          </a:p>
          <a:p>
            <a:pPr indent="0" lvl="0" marL="0" rtl="0" algn="l">
              <a:spcBef>
                <a:spcPts val="1200"/>
              </a:spcBef>
              <a:spcAft>
                <a:spcPts val="1200"/>
              </a:spcAft>
              <a:buNone/>
            </a:pPr>
            <a:r>
              <a:rPr lang="en"/>
              <a:t>3) Fewer configuration options, simplifying deployment.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Fargate vs Lambda</a:t>
            </a:r>
            <a:endParaRPr/>
          </a:p>
        </p:txBody>
      </p:sp>
      <p:sp>
        <p:nvSpPr>
          <p:cNvPr id="251" name="Google Shape;251;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Commonalities</a:t>
            </a:r>
            <a:endParaRPr b="1"/>
          </a:p>
          <a:p>
            <a:pPr indent="0" lvl="0" marL="0" rtl="0" algn="l">
              <a:spcBef>
                <a:spcPts val="1200"/>
              </a:spcBef>
              <a:spcAft>
                <a:spcPts val="0"/>
              </a:spcAft>
              <a:buNone/>
            </a:pPr>
            <a:r>
              <a:rPr lang="en"/>
              <a:t>1) Serverless - focus on code, not </a:t>
            </a:r>
            <a:r>
              <a:rPr lang="en"/>
              <a:t>i</a:t>
            </a:r>
            <a:r>
              <a:rPr lang="en"/>
              <a:t>nfrastructure</a:t>
            </a:r>
            <a:endParaRPr/>
          </a:p>
          <a:p>
            <a:pPr indent="0" lvl="0" marL="0" rtl="0" algn="l">
              <a:spcBef>
                <a:spcPts val="1200"/>
              </a:spcBef>
              <a:spcAft>
                <a:spcPts val="0"/>
              </a:spcAft>
              <a:buNone/>
            </a:pPr>
            <a:r>
              <a:rPr lang="en"/>
              <a:t>2) Per-second billing</a:t>
            </a:r>
            <a:endParaRPr/>
          </a:p>
          <a:p>
            <a:pPr indent="0" lvl="0" marL="0" rtl="0" algn="l">
              <a:spcBef>
                <a:spcPts val="1200"/>
              </a:spcBef>
              <a:spcAft>
                <a:spcPts val="0"/>
              </a:spcAft>
              <a:buNone/>
            </a:pPr>
            <a:r>
              <a:rPr lang="en"/>
              <a:t>3) Integrated with AWS IAM and CloudTrail</a:t>
            </a:r>
            <a:endParaRPr/>
          </a:p>
          <a:p>
            <a:pPr indent="0" lvl="0" marL="0" rtl="0" algn="l">
              <a:spcBef>
                <a:spcPts val="1200"/>
              </a:spcBef>
              <a:spcAft>
                <a:spcPts val="1200"/>
              </a:spcAft>
              <a:buNone/>
            </a:pPr>
            <a:r>
              <a:rPr lang="en"/>
              <a:t>Cloudtrail: </a:t>
            </a:r>
            <a:r>
              <a:rPr i="1" lang="en"/>
              <a:t>assists governance compliance</a:t>
            </a:r>
            <a:endParaRPr i="1"/>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a:t>
            </a:r>
            <a:r>
              <a:rPr lang="en"/>
              <a:t> - File Processing</a:t>
            </a:r>
            <a:endParaRPr/>
          </a:p>
        </p:txBody>
      </p:sp>
      <p:sp>
        <p:nvSpPr>
          <p:cNvPr id="257" name="Google Shape;257;p46"/>
          <p:cNvSpPr txBox="1"/>
          <p:nvPr>
            <p:ph idx="1" type="body"/>
          </p:nvPr>
        </p:nvSpPr>
        <p:spPr>
          <a:xfrm>
            <a:off x="311700" y="3285875"/>
            <a:ext cx="8520600" cy="12828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sz="2100"/>
              <a:t>Use Amazon Simple Storage Service (Amazon S3) to </a:t>
            </a:r>
            <a:r>
              <a:rPr b="1" lang="en" sz="2100">
                <a:highlight>
                  <a:srgbClr val="FFFF00"/>
                </a:highlight>
              </a:rPr>
              <a:t>trigger</a:t>
            </a:r>
            <a:r>
              <a:rPr lang="en" sz="2100"/>
              <a:t> AWS Lambda data processing in real time after an upload, or connect to an existing Amazon EFS file system to enable massively parallel shared access for large-scale file processing.</a:t>
            </a:r>
            <a:endParaRPr sz="2100"/>
          </a:p>
        </p:txBody>
      </p:sp>
      <p:pic>
        <p:nvPicPr>
          <p:cNvPr id="258" name="Google Shape;258;p46"/>
          <p:cNvPicPr preferRelativeResize="0"/>
          <p:nvPr/>
        </p:nvPicPr>
        <p:blipFill>
          <a:blip r:embed="rId3">
            <a:alphaModFix/>
          </a:blip>
          <a:stretch>
            <a:fillRect/>
          </a:stretch>
        </p:blipFill>
        <p:spPr>
          <a:xfrm>
            <a:off x="733577" y="1017725"/>
            <a:ext cx="7815249" cy="2268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a:t>
            </a:r>
            <a:r>
              <a:rPr lang="en"/>
              <a:t> - Stream Processing</a:t>
            </a:r>
            <a:endParaRPr/>
          </a:p>
        </p:txBody>
      </p:sp>
      <p:sp>
        <p:nvSpPr>
          <p:cNvPr id="264" name="Google Shape;264;p47"/>
          <p:cNvSpPr txBox="1"/>
          <p:nvPr>
            <p:ph idx="1" type="body"/>
          </p:nvPr>
        </p:nvSpPr>
        <p:spPr>
          <a:xfrm>
            <a:off x="311700" y="3285875"/>
            <a:ext cx="8520600" cy="1282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sz="2200"/>
              <a:t>Diagram showing how Serverless stream processing works. Social media stream is loaded into Amazon Kinesis, then Lambda is </a:t>
            </a:r>
            <a:r>
              <a:rPr b="1" lang="en" sz="2200">
                <a:highlight>
                  <a:srgbClr val="FFFF00"/>
                </a:highlight>
              </a:rPr>
              <a:t>triggered</a:t>
            </a:r>
            <a:r>
              <a:rPr lang="en" sz="2200"/>
              <a:t>. Lambda runs code that generates hashtag trend data, and the data is stored in DynamoDB for easy querying.</a:t>
            </a:r>
            <a:endParaRPr sz="2200"/>
          </a:p>
        </p:txBody>
      </p:sp>
      <p:pic>
        <p:nvPicPr>
          <p:cNvPr id="265" name="Google Shape;265;p47"/>
          <p:cNvPicPr preferRelativeResize="0"/>
          <p:nvPr/>
        </p:nvPicPr>
        <p:blipFill>
          <a:blip r:embed="rId3">
            <a:alphaModFix/>
          </a:blip>
          <a:stretch>
            <a:fillRect/>
          </a:stretch>
        </p:blipFill>
        <p:spPr>
          <a:xfrm>
            <a:off x="1143000" y="1170125"/>
            <a:ext cx="6765022" cy="1963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a:t>
            </a:r>
            <a:r>
              <a:rPr lang="en"/>
              <a:t> - Web Applications</a:t>
            </a:r>
            <a:endParaRPr/>
          </a:p>
        </p:txBody>
      </p:sp>
      <p:sp>
        <p:nvSpPr>
          <p:cNvPr id="271" name="Google Shape;271;p48"/>
          <p:cNvSpPr txBox="1"/>
          <p:nvPr>
            <p:ph idx="1" type="body"/>
          </p:nvPr>
        </p:nvSpPr>
        <p:spPr>
          <a:xfrm>
            <a:off x="311700" y="3285875"/>
            <a:ext cx="8520600" cy="1282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2600"/>
              <a:t>Diagram showing how Amazon S3, API Gateway, AWS Lambda, and DynamoDB work together to retrieve weather data for a web or mobile application.</a:t>
            </a:r>
            <a:endParaRPr sz="2600"/>
          </a:p>
        </p:txBody>
      </p:sp>
      <p:pic>
        <p:nvPicPr>
          <p:cNvPr id="272" name="Google Shape;272;p48"/>
          <p:cNvPicPr preferRelativeResize="0"/>
          <p:nvPr/>
        </p:nvPicPr>
        <p:blipFill>
          <a:blip r:embed="rId3">
            <a:alphaModFix/>
          </a:blip>
          <a:stretch>
            <a:fillRect/>
          </a:stretch>
        </p:blipFill>
        <p:spPr>
          <a:xfrm>
            <a:off x="533400" y="1170125"/>
            <a:ext cx="8265986" cy="19633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a:t>
            </a:r>
            <a:r>
              <a:rPr lang="en"/>
              <a:t> - IoT backends</a:t>
            </a:r>
            <a:endParaRPr/>
          </a:p>
        </p:txBody>
      </p:sp>
      <p:sp>
        <p:nvSpPr>
          <p:cNvPr id="278" name="Google Shape;278;p49"/>
          <p:cNvSpPr txBox="1"/>
          <p:nvPr>
            <p:ph idx="1" type="body"/>
          </p:nvPr>
        </p:nvSpPr>
        <p:spPr>
          <a:xfrm>
            <a:off x="311700" y="3285875"/>
            <a:ext cx="8520600" cy="1282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2600"/>
              <a:t>Build serverless backends using AWS Lambda to handle web, mobile, Internet of Things (IoT), and third-party API requests.</a:t>
            </a:r>
            <a:endParaRPr sz="2600"/>
          </a:p>
        </p:txBody>
      </p:sp>
      <p:pic>
        <p:nvPicPr>
          <p:cNvPr id="279" name="Google Shape;279;p49"/>
          <p:cNvPicPr preferRelativeResize="0"/>
          <p:nvPr/>
        </p:nvPicPr>
        <p:blipFill>
          <a:blip r:embed="rId3">
            <a:alphaModFix/>
          </a:blip>
          <a:stretch>
            <a:fillRect/>
          </a:stretch>
        </p:blipFill>
        <p:spPr>
          <a:xfrm>
            <a:off x="990600" y="1170125"/>
            <a:ext cx="6765022" cy="1963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 - Mobile backends</a:t>
            </a:r>
            <a:endParaRPr/>
          </a:p>
        </p:txBody>
      </p:sp>
      <p:sp>
        <p:nvSpPr>
          <p:cNvPr id="285" name="Google Shape;285;p50"/>
          <p:cNvSpPr txBox="1"/>
          <p:nvPr>
            <p:ph idx="1" type="body"/>
          </p:nvPr>
        </p:nvSpPr>
        <p:spPr>
          <a:xfrm>
            <a:off x="311700" y="3285875"/>
            <a:ext cx="8520600" cy="1282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2600"/>
              <a:t>Diagram showing how Amazon API Gateway, AWS Lambda, and Amazon SNS work together to help users receive status updates notifications in a mobile application.</a:t>
            </a:r>
            <a:endParaRPr sz="2600"/>
          </a:p>
        </p:txBody>
      </p:sp>
      <p:pic>
        <p:nvPicPr>
          <p:cNvPr id="286" name="Google Shape;286;p50"/>
          <p:cNvPicPr preferRelativeResize="0"/>
          <p:nvPr/>
        </p:nvPicPr>
        <p:blipFill>
          <a:blip r:embed="rId3">
            <a:alphaModFix/>
          </a:blip>
          <a:stretch>
            <a:fillRect/>
          </a:stretch>
        </p:blipFill>
        <p:spPr>
          <a:xfrm>
            <a:off x="609600" y="1170125"/>
            <a:ext cx="8273102" cy="1963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Amazon Elastic Load Balancer (ELB) Overview</a:t>
            </a:r>
            <a:endParaRPr sz="2800"/>
          </a:p>
        </p:txBody>
      </p:sp>
      <p:sp>
        <p:nvSpPr>
          <p:cNvPr id="292" name="Google Shape;292;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Definition</a:t>
            </a:r>
            <a:r>
              <a:rPr lang="en"/>
              <a:t>: Amazon ELB </a:t>
            </a:r>
            <a:r>
              <a:rPr b="1" lang="en">
                <a:highlight>
                  <a:srgbClr val="FFFF00"/>
                </a:highlight>
              </a:rPr>
              <a:t>automatically distributes incoming application traffic</a:t>
            </a:r>
            <a:r>
              <a:rPr lang="en"/>
              <a:t> across multiple targets, such as EC2 instances, containers, and IP addresses.</a:t>
            </a:r>
            <a:endParaRPr/>
          </a:p>
          <a:p>
            <a:pPr indent="0" lvl="0" marL="0" rtl="0" algn="l">
              <a:spcBef>
                <a:spcPts val="1200"/>
              </a:spcBef>
              <a:spcAft>
                <a:spcPts val="0"/>
              </a:spcAft>
              <a:buClr>
                <a:schemeClr val="dk1"/>
              </a:buClr>
              <a:buSzPts val="1100"/>
              <a:buFont typeface="Arial"/>
              <a:buNone/>
            </a:pPr>
            <a:r>
              <a:rPr b="1" lang="en"/>
              <a:t>Purpose</a:t>
            </a:r>
            <a:r>
              <a:rPr lang="en"/>
              <a:t>: ELB is designed to ensure your applications are </a:t>
            </a:r>
            <a:r>
              <a:rPr b="1" lang="en">
                <a:highlight>
                  <a:srgbClr val="FFFF00"/>
                </a:highlight>
              </a:rPr>
              <a:t>highly available</a:t>
            </a:r>
            <a:r>
              <a:rPr lang="en"/>
              <a:t> and offer </a:t>
            </a:r>
            <a:r>
              <a:rPr b="1" lang="en">
                <a:highlight>
                  <a:srgbClr val="FFFF00"/>
                </a:highlight>
              </a:rPr>
              <a:t>consistent performance</a:t>
            </a:r>
            <a:r>
              <a:rPr lang="en"/>
              <a:t>.</a:t>
            </a:r>
            <a:endParaRPr/>
          </a:p>
          <a:p>
            <a:pPr indent="0" lvl="0" marL="0" rtl="0" algn="l">
              <a:spcBef>
                <a:spcPts val="1200"/>
              </a:spcBef>
              <a:spcAft>
                <a:spcPts val="1200"/>
              </a:spcAft>
              <a:buNone/>
            </a:pPr>
            <a:r>
              <a:rPr b="1" lang="en"/>
              <a:t>Types</a:t>
            </a:r>
            <a:r>
              <a:rPr lang="en"/>
              <a:t>: Amazon ELB offers three types of load balancers – </a:t>
            </a:r>
            <a:r>
              <a:rPr b="1" lang="en">
                <a:highlight>
                  <a:srgbClr val="00FF00"/>
                </a:highlight>
              </a:rPr>
              <a:t>Application</a:t>
            </a:r>
            <a:r>
              <a:rPr lang="en"/>
              <a:t> Load Balancer, </a:t>
            </a:r>
            <a:r>
              <a:rPr b="1" lang="en">
                <a:highlight>
                  <a:srgbClr val="00FF00"/>
                </a:highlight>
              </a:rPr>
              <a:t>Network</a:t>
            </a:r>
            <a:r>
              <a:rPr lang="en"/>
              <a:t> Load Balancer, and </a:t>
            </a:r>
            <a:r>
              <a:rPr b="1" lang="en">
                <a:highlight>
                  <a:srgbClr val="00FF00"/>
                </a:highlight>
              </a:rPr>
              <a:t>Classic</a:t>
            </a:r>
            <a:r>
              <a:rPr lang="en"/>
              <a:t> Load Balancer – each designed for specific use cases.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Amazon ELB</a:t>
            </a:r>
            <a:endParaRPr/>
          </a:p>
        </p:txBody>
      </p:sp>
      <p:sp>
        <p:nvSpPr>
          <p:cNvPr id="298" name="Google Shape;298;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55000"/>
              <a:buFont typeface="Arial"/>
              <a:buNone/>
            </a:pPr>
            <a:r>
              <a:rPr b="1" lang="en" sz="2000">
                <a:highlight>
                  <a:srgbClr val="00FF00"/>
                </a:highlight>
              </a:rPr>
              <a:t>Application</a:t>
            </a:r>
            <a:r>
              <a:rPr lang="en" sz="2000"/>
              <a:t> Load Balancer (ALB): Best suited for load balancing of </a:t>
            </a:r>
            <a:r>
              <a:rPr b="1" lang="en" sz="2000"/>
              <a:t>HTTP and HTTPS traffic</a:t>
            </a:r>
            <a:r>
              <a:rPr lang="en" sz="2000"/>
              <a:t>. It operates at the </a:t>
            </a:r>
            <a:r>
              <a:rPr b="1" lang="en" sz="2000">
                <a:highlight>
                  <a:srgbClr val="FFFF00"/>
                </a:highlight>
              </a:rPr>
              <a:t>request level</a:t>
            </a:r>
            <a:r>
              <a:rPr lang="en" sz="2000"/>
              <a:t> and offers advanced routing, microservices, and container-based application features.</a:t>
            </a:r>
            <a:endParaRPr sz="2000"/>
          </a:p>
          <a:p>
            <a:pPr indent="0" lvl="0" marL="0" rtl="0" algn="l">
              <a:spcBef>
                <a:spcPts val="1200"/>
              </a:spcBef>
              <a:spcAft>
                <a:spcPts val="0"/>
              </a:spcAft>
              <a:buClr>
                <a:schemeClr val="dk1"/>
              </a:buClr>
              <a:buSzPct val="55000"/>
              <a:buFont typeface="Arial"/>
              <a:buNone/>
            </a:pPr>
            <a:r>
              <a:rPr b="1" lang="en" sz="2000">
                <a:highlight>
                  <a:srgbClr val="00FF00"/>
                </a:highlight>
              </a:rPr>
              <a:t>Network</a:t>
            </a:r>
            <a:r>
              <a:rPr lang="en" sz="2000"/>
              <a:t> Load Balancer (NLB): Ideal for load balancing of </a:t>
            </a:r>
            <a:r>
              <a:rPr b="1" lang="en" sz="2000"/>
              <a:t>TCP, UDP</a:t>
            </a:r>
            <a:r>
              <a:rPr lang="en" sz="2000"/>
              <a:t>, and </a:t>
            </a:r>
            <a:r>
              <a:rPr b="1" lang="en" sz="2000"/>
              <a:t>TLS</a:t>
            </a:r>
            <a:r>
              <a:rPr lang="en" sz="2000"/>
              <a:t> traffic where extreme performance is required. It operates at the </a:t>
            </a:r>
            <a:r>
              <a:rPr b="1" lang="en" sz="2000">
                <a:highlight>
                  <a:srgbClr val="FFFF00"/>
                </a:highlight>
              </a:rPr>
              <a:t>connection level</a:t>
            </a:r>
            <a:r>
              <a:rPr lang="en" sz="2000"/>
              <a:t>.</a:t>
            </a:r>
            <a:endParaRPr sz="2000"/>
          </a:p>
          <a:p>
            <a:pPr indent="0" lvl="0" marL="0" rtl="0" algn="l">
              <a:spcBef>
                <a:spcPts val="1200"/>
              </a:spcBef>
              <a:spcAft>
                <a:spcPts val="1200"/>
              </a:spcAft>
              <a:buNone/>
            </a:pPr>
            <a:r>
              <a:rPr b="1" lang="en" sz="2000">
                <a:highlight>
                  <a:srgbClr val="00FF00"/>
                </a:highlight>
              </a:rPr>
              <a:t>Classic</a:t>
            </a:r>
            <a:r>
              <a:rPr lang="en" sz="2000"/>
              <a:t> Load Balancer (CLB): Provides </a:t>
            </a:r>
            <a:r>
              <a:rPr b="1" lang="en" sz="2000">
                <a:highlight>
                  <a:srgbClr val="FFFF00"/>
                </a:highlight>
              </a:rPr>
              <a:t>basic load balancing</a:t>
            </a:r>
            <a:r>
              <a:rPr lang="en" sz="2000">
                <a:highlight>
                  <a:srgbClr val="FFFF00"/>
                </a:highlight>
              </a:rPr>
              <a:t> </a:t>
            </a:r>
            <a:r>
              <a:rPr lang="en" sz="2000"/>
              <a:t>across multiple EC2 instances and operates at both the </a:t>
            </a:r>
            <a:r>
              <a:rPr b="1" lang="en" sz="2000">
                <a:highlight>
                  <a:srgbClr val="FFFF00"/>
                </a:highlight>
              </a:rPr>
              <a:t>request level and connection level</a:t>
            </a:r>
            <a:r>
              <a:rPr lang="en" sz="2000"/>
              <a:t>. CLB is intended for applications that were built within the EC2-Classic network.</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 of Amazon ELB</a:t>
            </a:r>
            <a:endParaRPr/>
          </a:p>
        </p:txBody>
      </p:sp>
      <p:sp>
        <p:nvSpPr>
          <p:cNvPr id="304" name="Google Shape;304;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a:t>High Availability</a:t>
            </a:r>
            <a:r>
              <a:rPr lang="en"/>
              <a:t>: ELB </a:t>
            </a:r>
            <a:r>
              <a:rPr b="1" lang="en">
                <a:highlight>
                  <a:srgbClr val="FFFF00"/>
                </a:highlight>
              </a:rPr>
              <a:t>automatically scales</a:t>
            </a:r>
            <a:r>
              <a:rPr lang="en"/>
              <a:t> its request handling capacity </a:t>
            </a:r>
            <a:r>
              <a:rPr b="1" lang="en">
                <a:highlight>
                  <a:srgbClr val="FFFF00"/>
                </a:highlight>
              </a:rPr>
              <a:t>in response to incoming traffic</a:t>
            </a:r>
            <a:r>
              <a:rPr lang="en"/>
              <a:t>.</a:t>
            </a:r>
            <a:endParaRPr/>
          </a:p>
          <a:p>
            <a:pPr indent="0" lvl="0" marL="0" rtl="0" algn="l">
              <a:spcBef>
                <a:spcPts val="1200"/>
              </a:spcBef>
              <a:spcAft>
                <a:spcPts val="0"/>
              </a:spcAft>
              <a:buClr>
                <a:schemeClr val="dk1"/>
              </a:buClr>
              <a:buSzPts val="1100"/>
              <a:buFont typeface="Arial"/>
              <a:buNone/>
            </a:pPr>
            <a:r>
              <a:rPr b="1" lang="en"/>
              <a:t>Security</a:t>
            </a:r>
            <a:r>
              <a:rPr lang="en"/>
              <a:t>: ELB works in concert with other AWS services like AWS Certificate Manager and AWS Identity and Access Management to provide robust security features.</a:t>
            </a:r>
            <a:endParaRPr/>
          </a:p>
          <a:p>
            <a:pPr indent="0" lvl="0" marL="0" rtl="0" algn="l">
              <a:spcBef>
                <a:spcPts val="1200"/>
              </a:spcBef>
              <a:spcAft>
                <a:spcPts val="0"/>
              </a:spcAft>
              <a:buClr>
                <a:schemeClr val="dk1"/>
              </a:buClr>
              <a:buSzPts val="1100"/>
              <a:buFont typeface="Arial"/>
              <a:buNone/>
            </a:pPr>
            <a:r>
              <a:rPr b="1" lang="en"/>
              <a:t>Elasticity</a:t>
            </a:r>
            <a:r>
              <a:rPr lang="en"/>
              <a:t>: Automatically scales with your incoming traffic, ensuring </a:t>
            </a:r>
            <a:r>
              <a:rPr b="1" lang="en">
                <a:highlight>
                  <a:srgbClr val="FFFF00"/>
                </a:highlight>
              </a:rPr>
              <a:t>no over-provisioning</a:t>
            </a:r>
            <a:r>
              <a:rPr lang="en"/>
              <a:t> </a:t>
            </a:r>
            <a:r>
              <a:rPr lang="en">
                <a:solidFill>
                  <a:srgbClr val="FF0000"/>
                </a:solidFill>
              </a:rPr>
              <a:t>or</a:t>
            </a:r>
            <a:r>
              <a:rPr lang="en"/>
              <a:t> </a:t>
            </a:r>
            <a:r>
              <a:rPr b="1" lang="en">
                <a:highlight>
                  <a:srgbClr val="FFFF00"/>
                </a:highlight>
              </a:rPr>
              <a:t>traffic congestion</a:t>
            </a:r>
            <a:r>
              <a:rPr lang="en"/>
              <a:t>.</a:t>
            </a:r>
            <a:endParaRPr/>
          </a:p>
          <a:p>
            <a:pPr indent="0" lvl="0" marL="0" rtl="0" algn="l">
              <a:spcBef>
                <a:spcPts val="1200"/>
              </a:spcBef>
              <a:spcAft>
                <a:spcPts val="1200"/>
              </a:spcAft>
              <a:buNone/>
            </a:pPr>
            <a:r>
              <a:rPr b="1" lang="en"/>
              <a:t>Health Checks</a:t>
            </a:r>
            <a:r>
              <a:rPr lang="en"/>
              <a:t>: ELB continuously checks the health of your applications to ensure </a:t>
            </a:r>
            <a:r>
              <a:rPr b="1" lang="en">
                <a:highlight>
                  <a:srgbClr val="FFFF00"/>
                </a:highlight>
              </a:rPr>
              <a:t>traffic only goes to healthy targets</a:t>
            </a:r>
            <a:r>
              <a:rPr lang="en"/>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 of Amazon ELB</a:t>
            </a:r>
            <a:endParaRPr/>
          </a:p>
        </p:txBody>
      </p:sp>
      <p:sp>
        <p:nvSpPr>
          <p:cNvPr id="310" name="Google Shape;310;p5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52380"/>
              <a:buFont typeface="Arial"/>
              <a:buNone/>
            </a:pPr>
            <a:r>
              <a:rPr b="1" lang="en" sz="2100"/>
              <a:t>Microservices and container-based applications</a:t>
            </a:r>
            <a:r>
              <a:rPr lang="en" sz="2100"/>
              <a:t>: Using Application Load Balancer, you can route traffic to multiple services or load balance across multiple ports on the same EC2 instance.</a:t>
            </a:r>
            <a:endParaRPr sz="2100"/>
          </a:p>
          <a:p>
            <a:pPr indent="0" lvl="0" marL="0" rtl="0" algn="l">
              <a:spcBef>
                <a:spcPts val="1200"/>
              </a:spcBef>
              <a:spcAft>
                <a:spcPts val="0"/>
              </a:spcAft>
              <a:buClr>
                <a:schemeClr val="dk1"/>
              </a:buClr>
              <a:buSzPct val="52380"/>
              <a:buFont typeface="Arial"/>
              <a:buNone/>
            </a:pPr>
            <a:r>
              <a:rPr b="1" lang="en" sz="2100"/>
              <a:t>Build highly scalable and secure applications</a:t>
            </a:r>
            <a:r>
              <a:rPr lang="en" sz="2100"/>
              <a:t>: ELB works seamlessly with Amazon EC2 Auto Scaling to ensure that your application can handle variations in traffic patterns.</a:t>
            </a:r>
            <a:endParaRPr sz="2100"/>
          </a:p>
          <a:p>
            <a:pPr indent="0" lvl="0" marL="0" rtl="0" algn="l">
              <a:spcBef>
                <a:spcPts val="1200"/>
              </a:spcBef>
              <a:spcAft>
                <a:spcPts val="1200"/>
              </a:spcAft>
              <a:buNone/>
            </a:pPr>
            <a:r>
              <a:rPr b="1" lang="en" sz="2100"/>
              <a:t>Global Server Load Balancing</a:t>
            </a:r>
            <a:r>
              <a:rPr lang="en" sz="2100"/>
              <a:t>: ELB, in combination with Amazon Route 53, allows you to achieve global server load balancing to route traffic to the closest healthy application instance. </a:t>
            </a:r>
            <a:br>
              <a:rPr lang="en" sz="2100"/>
            </a:br>
            <a:r>
              <a:rPr lang="en" sz="2100"/>
              <a:t>Note: </a:t>
            </a:r>
            <a:r>
              <a:rPr i="1" lang="en" sz="2100"/>
              <a:t>Route 53 is Amazon’s DNS offering</a:t>
            </a:r>
            <a:endParaRPr i="1" sz="2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topic </a:t>
            </a:r>
            <a:endParaRPr/>
          </a:p>
        </p:txBody>
      </p:sp>
      <p:sp>
        <p:nvSpPr>
          <p:cNvPr id="316" name="Google Shape;316;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Storage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1300" u="sng">
                <a:solidFill>
                  <a:schemeClr val="hlink"/>
                </a:solidFill>
                <a:hlinkClick r:id="rId3"/>
              </a:rPr>
              <a:t>Source</a:t>
            </a:r>
            <a:endParaRPr sz="1300"/>
          </a:p>
        </p:txBody>
      </p:sp>
      <p:pic>
        <p:nvPicPr>
          <p:cNvPr id="317" name="Google Shape;317;p55"/>
          <p:cNvPicPr preferRelativeResize="0"/>
          <p:nvPr/>
        </p:nvPicPr>
        <p:blipFill>
          <a:blip r:embed="rId4">
            <a:alphaModFix/>
          </a:blip>
          <a:stretch>
            <a:fillRect/>
          </a:stretch>
        </p:blipFill>
        <p:spPr>
          <a:xfrm>
            <a:off x="2601899" y="1181000"/>
            <a:ext cx="3652774" cy="35523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Amazon S3 vs Azure Blob Storage</a:t>
            </a:r>
            <a:endParaRPr sz="4000"/>
          </a:p>
        </p:txBody>
      </p:sp>
      <p:sp>
        <p:nvSpPr>
          <p:cNvPr id="323" name="Google Shape;323;p5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are </a:t>
            </a:r>
            <a:r>
              <a:rPr b="1" lang="en">
                <a:highlight>
                  <a:srgbClr val="FFFF00"/>
                </a:highlight>
              </a:rPr>
              <a:t>object storage</a:t>
            </a:r>
            <a:r>
              <a:rPr lang="en"/>
              <a:t> services suitable for unstructured data such as documents, social media data, images, and videos.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rPr lang="en"/>
              <a:t>AWS S3 uses "</a:t>
            </a:r>
            <a:r>
              <a:rPr b="1" lang="en"/>
              <a:t>buckets</a:t>
            </a:r>
            <a:r>
              <a:rPr lang="en"/>
              <a:t>" while Azure Blob Storage uses "</a:t>
            </a:r>
            <a:r>
              <a:rPr b="1" lang="en"/>
              <a:t>containers</a:t>
            </a:r>
            <a:r>
              <a:rPr lang="en"/>
              <a:t>" for storing data.</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Amazon Elastic Block Store (EBS) vs  Azure Managed Disks</a:t>
            </a:r>
            <a:endParaRPr sz="2200"/>
          </a:p>
        </p:txBody>
      </p:sp>
      <p:sp>
        <p:nvSpPr>
          <p:cNvPr id="329" name="Google Shape;329;p57"/>
          <p:cNvSpPr txBox="1"/>
          <p:nvPr>
            <p:ph idx="1" type="body"/>
          </p:nvPr>
        </p:nvSpPr>
        <p:spPr>
          <a:xfrm>
            <a:off x="311700" y="1478025"/>
            <a:ext cx="8520600" cy="30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These are </a:t>
            </a:r>
            <a:r>
              <a:rPr b="1" lang="en">
                <a:highlight>
                  <a:srgbClr val="FFFF00"/>
                </a:highlight>
              </a:rPr>
              <a:t>block-level</a:t>
            </a:r>
            <a:r>
              <a:rPr lang="en"/>
              <a:t> storage services </a:t>
            </a:r>
            <a:r>
              <a:rPr b="1" lang="en">
                <a:highlight>
                  <a:srgbClr val="FFFF00"/>
                </a:highlight>
              </a:rPr>
              <a:t>used with virtual machines</a:t>
            </a:r>
            <a:r>
              <a:rPr lang="en"/>
              <a:t>.</a:t>
            </a:r>
            <a:endParaRPr/>
          </a:p>
          <a:p>
            <a:pPr indent="0" lvl="0" marL="0" rtl="0" algn="l">
              <a:spcBef>
                <a:spcPts val="1200"/>
              </a:spcBef>
              <a:spcAft>
                <a:spcPts val="0"/>
              </a:spcAft>
              <a:buClr>
                <a:schemeClr val="dk1"/>
              </a:buClr>
              <a:buSzPts val="1100"/>
              <a:buFont typeface="Arial"/>
              <a:buNone/>
            </a:pPr>
            <a:r>
              <a:rPr lang="en"/>
              <a:t>Both services offer SSD and HDD-based volumes, encryption, and </a:t>
            </a:r>
            <a:r>
              <a:rPr b="1" lang="en">
                <a:highlight>
                  <a:srgbClr val="FFFF00"/>
                </a:highlight>
              </a:rPr>
              <a:t>snapshot capabilities</a:t>
            </a:r>
            <a:r>
              <a:rPr lang="en"/>
              <a:t>.</a:t>
            </a:r>
            <a:endParaRPr/>
          </a:p>
          <a:p>
            <a:pPr indent="0" lvl="0" marL="0" rtl="0" algn="l">
              <a:spcBef>
                <a:spcPts val="1200"/>
              </a:spcBef>
              <a:spcAft>
                <a:spcPts val="0"/>
              </a:spcAft>
              <a:buNone/>
            </a:pPr>
            <a:r>
              <a:rPr lang="en"/>
              <a:t>Amazon EBS offers a Provisioned IOPS service for high-performance SSD volumes, while Azure Managed Disks provides Premium SSDs for IO-intensive workloads.</a:t>
            </a:r>
            <a:endParaRPr/>
          </a:p>
          <a:p>
            <a:pPr indent="0" lvl="0" marL="0" rtl="0" algn="l">
              <a:spcBef>
                <a:spcPts val="1200"/>
              </a:spcBef>
              <a:spcAft>
                <a:spcPts val="1200"/>
              </a:spcAft>
              <a:buNone/>
            </a:pPr>
            <a:r>
              <a:rPr lang="en"/>
              <a:t>Storage </a:t>
            </a:r>
            <a:r>
              <a:rPr lang="en"/>
              <a:t>redundancy</a:t>
            </a:r>
            <a:r>
              <a:rPr lang="en"/>
              <a:t> is identical to both AWS &amp; Azure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200"/>
              <a:t>Amazon Elastic Block Store (EBS)</a:t>
            </a:r>
            <a:endParaRPr sz="4200"/>
          </a:p>
        </p:txBody>
      </p:sp>
      <p:sp>
        <p:nvSpPr>
          <p:cNvPr id="335" name="Google Shape;335;p58"/>
          <p:cNvSpPr txBox="1"/>
          <p:nvPr>
            <p:ph idx="1" type="body"/>
          </p:nvPr>
        </p:nvSpPr>
        <p:spPr>
          <a:xfrm>
            <a:off x="311700" y="1478025"/>
            <a:ext cx="8520600" cy="30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Store the encryption keys in the EC2 instance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Results are fully encrypted both at rest and in motion. </a:t>
            </a:r>
            <a:endParaRPr/>
          </a:p>
          <a:p>
            <a:pPr indent="0" lvl="0" marL="0" rtl="0" algn="l">
              <a:spcBef>
                <a:spcPts val="1200"/>
              </a:spcBef>
              <a:spcAft>
                <a:spcPts val="1200"/>
              </a:spcAft>
              <a:buNone/>
            </a:pPr>
            <a:r>
              <a:rPr lang="en"/>
              <a:t>No extra charge for encrypted disks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Elastic File System (EFS) vs Azure Files</a:t>
            </a:r>
            <a:endParaRPr/>
          </a:p>
        </p:txBody>
      </p:sp>
      <p:sp>
        <p:nvSpPr>
          <p:cNvPr id="341" name="Google Shape;341;p59"/>
          <p:cNvSpPr txBox="1"/>
          <p:nvPr>
            <p:ph idx="1" type="body"/>
          </p:nvPr>
        </p:nvSpPr>
        <p:spPr>
          <a:xfrm>
            <a:off x="311700" y="1478025"/>
            <a:ext cx="8520600" cy="30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Both are managed </a:t>
            </a:r>
            <a:r>
              <a:rPr b="1" lang="en">
                <a:highlight>
                  <a:srgbClr val="FFFF00"/>
                </a:highlight>
              </a:rPr>
              <a:t>file storage</a:t>
            </a:r>
            <a:r>
              <a:rPr lang="en"/>
              <a:t> services that can be accessed by multiple instances and devices simultaneously using </a:t>
            </a:r>
            <a:r>
              <a:rPr b="1" lang="en">
                <a:highlight>
                  <a:srgbClr val="FFFF00"/>
                </a:highlight>
              </a:rPr>
              <a:t>standard file system semantics and access methods</a:t>
            </a:r>
            <a:r>
              <a:rPr lang="en"/>
              <a:t>.</a:t>
            </a:r>
            <a:endParaRPr/>
          </a:p>
          <a:p>
            <a:pPr indent="0" lvl="0" marL="0" rtl="0" algn="l">
              <a:spcBef>
                <a:spcPts val="1200"/>
              </a:spcBef>
              <a:spcAft>
                <a:spcPts val="1200"/>
              </a:spcAft>
              <a:buNone/>
            </a:pPr>
            <a:r>
              <a:rPr lang="en"/>
              <a:t>They are suitable for traditional enterprise applications that require </a:t>
            </a:r>
            <a:r>
              <a:rPr b="1" lang="en">
                <a:highlight>
                  <a:srgbClr val="FFFF00"/>
                </a:highlight>
              </a:rPr>
              <a:t>shared file access</a:t>
            </a:r>
            <a:r>
              <a:rPr lang="en"/>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Amazon S3 Glacier vs Azure Archive Storage</a:t>
            </a:r>
            <a:endParaRPr sz="3200"/>
          </a:p>
        </p:txBody>
      </p:sp>
      <p:sp>
        <p:nvSpPr>
          <p:cNvPr id="347" name="Google Shape;347;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These are low-cost data </a:t>
            </a:r>
            <a:r>
              <a:rPr b="1" lang="en">
                <a:highlight>
                  <a:srgbClr val="FFFF00"/>
                </a:highlight>
              </a:rPr>
              <a:t>archival storage</a:t>
            </a:r>
            <a:r>
              <a:rPr lang="en"/>
              <a:t> services for long-term data retention.</a:t>
            </a:r>
            <a:endParaRPr/>
          </a:p>
          <a:p>
            <a:pPr indent="0" lvl="0" marL="0" rtl="0" algn="l">
              <a:spcBef>
                <a:spcPts val="1200"/>
              </a:spcBef>
              <a:spcAft>
                <a:spcPts val="1200"/>
              </a:spcAft>
              <a:buNone/>
            </a:pPr>
            <a:r>
              <a:rPr lang="en"/>
              <a:t>They are ideal for data that is </a:t>
            </a:r>
            <a:r>
              <a:rPr b="1" lang="en">
                <a:highlight>
                  <a:srgbClr val="FFFF00"/>
                </a:highlight>
              </a:rPr>
              <a:t>infrequently accessed</a:t>
            </a:r>
            <a:r>
              <a:rPr lang="en"/>
              <a:t> and requires long retention periods.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Storage Gateway vs Azure StorSimple</a:t>
            </a:r>
            <a:endParaRPr/>
          </a:p>
        </p:txBody>
      </p:sp>
      <p:sp>
        <p:nvSpPr>
          <p:cNvPr id="353" name="Google Shape;353;p61"/>
          <p:cNvSpPr txBox="1"/>
          <p:nvPr>
            <p:ph idx="1" type="body"/>
          </p:nvPr>
        </p:nvSpPr>
        <p:spPr>
          <a:xfrm>
            <a:off x="311700" y="1478025"/>
            <a:ext cx="8520600" cy="30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Both are </a:t>
            </a:r>
            <a:r>
              <a:rPr b="1" lang="en">
                <a:highlight>
                  <a:srgbClr val="FFFF00"/>
                </a:highlight>
              </a:rPr>
              <a:t>hybrid storage services</a:t>
            </a:r>
            <a:r>
              <a:rPr lang="en"/>
              <a:t>, allowing on-premises applications to seamlessly use cloud storage.</a:t>
            </a:r>
            <a:endParaRPr/>
          </a:p>
          <a:p>
            <a:pPr indent="0" lvl="0" marL="0" rtl="0" algn="l">
              <a:spcBef>
                <a:spcPts val="1200"/>
              </a:spcBef>
              <a:spcAft>
                <a:spcPts val="1200"/>
              </a:spcAft>
              <a:buNone/>
            </a:pPr>
            <a:r>
              <a:rPr lang="en"/>
              <a:t>These services are useful for integrating local data center storage with cloud storage for backup, disaster recovery, and data tiering scenarios.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Storage Gateway </a:t>
            </a:r>
            <a:endParaRPr/>
          </a:p>
        </p:txBody>
      </p:sp>
      <p:sp>
        <p:nvSpPr>
          <p:cNvPr id="359" name="Google Shape;359;p62"/>
          <p:cNvSpPr txBox="1"/>
          <p:nvPr>
            <p:ph idx="1" type="body"/>
          </p:nvPr>
        </p:nvSpPr>
        <p:spPr>
          <a:xfrm>
            <a:off x="311700" y="1478025"/>
            <a:ext cx="8520600" cy="30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File Gateway</a:t>
            </a:r>
            <a:r>
              <a:rPr lang="en"/>
              <a:t>: Provides a file interface into S3 and combines a service and a virtual software appliance. It's effectively a way to use S3 as if it were a </a:t>
            </a:r>
            <a:r>
              <a:rPr b="1" lang="en">
                <a:highlight>
                  <a:srgbClr val="FFFF00"/>
                </a:highlight>
              </a:rPr>
              <a:t>file server</a:t>
            </a:r>
            <a:r>
              <a:rPr lang="en"/>
              <a:t>. This is file-based storage.</a:t>
            </a:r>
            <a:endParaRPr/>
          </a:p>
          <a:p>
            <a:pPr indent="0" lvl="0" marL="0" rtl="0" algn="l">
              <a:spcBef>
                <a:spcPts val="1200"/>
              </a:spcBef>
              <a:spcAft>
                <a:spcPts val="0"/>
              </a:spcAft>
              <a:buNone/>
            </a:pPr>
            <a:r>
              <a:rPr b="1" lang="en"/>
              <a:t>Volume Gateway</a:t>
            </a:r>
            <a:r>
              <a:rPr lang="en"/>
              <a:t>: Provides </a:t>
            </a:r>
            <a:r>
              <a:rPr b="1" lang="en">
                <a:highlight>
                  <a:srgbClr val="FFFF00"/>
                </a:highlight>
              </a:rPr>
              <a:t>block storage</a:t>
            </a:r>
            <a:r>
              <a:rPr lang="en"/>
              <a:t> to your applications backed by S3. It presents the data as </a:t>
            </a:r>
            <a:r>
              <a:rPr b="1" lang="en">
                <a:highlight>
                  <a:srgbClr val="FFFF00"/>
                </a:highlight>
              </a:rPr>
              <a:t>iSCSI devices</a:t>
            </a:r>
            <a:r>
              <a:rPr lang="en"/>
              <a:t>. This is block-based storage.</a:t>
            </a:r>
            <a:endParaRPr/>
          </a:p>
          <a:p>
            <a:pPr indent="0" lvl="0" marL="0" rtl="0" algn="l">
              <a:spcBef>
                <a:spcPts val="1200"/>
              </a:spcBef>
              <a:spcAft>
                <a:spcPts val="1200"/>
              </a:spcAft>
              <a:buNone/>
            </a:pPr>
            <a:r>
              <a:rPr b="1" lang="en"/>
              <a:t>Tape Gateway</a:t>
            </a:r>
            <a:r>
              <a:rPr lang="en"/>
              <a:t>: Provides a </a:t>
            </a:r>
            <a:r>
              <a:rPr b="1" lang="en">
                <a:highlight>
                  <a:srgbClr val="FFFF00"/>
                </a:highlight>
              </a:rPr>
              <a:t>virtual tape infrastructure</a:t>
            </a:r>
            <a:r>
              <a:rPr lang="en"/>
              <a:t> that scales without the associated physical hardware. This is also </a:t>
            </a:r>
            <a:r>
              <a:rPr b="1" lang="en">
                <a:highlight>
                  <a:srgbClr val="FFFF00"/>
                </a:highlight>
              </a:rPr>
              <a:t>block-based</a:t>
            </a:r>
            <a:r>
              <a:rPr lang="en">
                <a:highlight>
                  <a:srgbClr val="FFFF00"/>
                </a:highlight>
              </a:rPr>
              <a:t> </a:t>
            </a:r>
            <a:r>
              <a:rPr lang="en"/>
              <a:t>storage.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Storage Gateway </a:t>
            </a:r>
            <a:endParaRPr/>
          </a:p>
        </p:txBody>
      </p:sp>
      <p:sp>
        <p:nvSpPr>
          <p:cNvPr id="365" name="Google Shape;365;p63"/>
          <p:cNvSpPr txBox="1"/>
          <p:nvPr>
            <p:ph idx="1" type="body"/>
          </p:nvPr>
        </p:nvSpPr>
        <p:spPr>
          <a:xfrm>
            <a:off x="311700" y="1478025"/>
            <a:ext cx="8520600" cy="309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Asynchronous backup</a:t>
            </a:r>
            <a:r>
              <a:rPr lang="en"/>
              <a:t> is typically done at the </a:t>
            </a:r>
            <a:r>
              <a:rPr b="1" lang="en">
                <a:highlight>
                  <a:srgbClr val="FFFF00"/>
                </a:highlight>
              </a:rPr>
              <a:t>block level</a:t>
            </a:r>
            <a:r>
              <a:rPr lang="en"/>
              <a:t>. The reason for this is that block-level backup allows for a more granular control over data, which enables </a:t>
            </a:r>
            <a:r>
              <a:rPr b="1" lang="en">
                <a:highlight>
                  <a:srgbClr val="FFFF00"/>
                </a:highlight>
              </a:rPr>
              <a:t>efficient incremental backups</a:t>
            </a:r>
            <a:r>
              <a:rPr lang="en"/>
              <a:t>. Only the </a:t>
            </a:r>
            <a:r>
              <a:rPr b="1" lang="en">
                <a:highlight>
                  <a:srgbClr val="FFFF00"/>
                </a:highlight>
              </a:rPr>
              <a:t>blocks that have changed since the last backup need to be copied</a:t>
            </a:r>
            <a:r>
              <a:rPr lang="en"/>
              <a:t>, which can be more efficient in terms of storage space and transfer speed.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100"/>
              <a:t>Amazon FSx vs Azure NetApp Files</a:t>
            </a:r>
            <a:endParaRPr sz="4100"/>
          </a:p>
        </p:txBody>
      </p:sp>
      <p:sp>
        <p:nvSpPr>
          <p:cNvPr id="371" name="Google Shape;371;p6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These are managed file storage services based on popular third-party file systems.</a:t>
            </a:r>
            <a:endParaRPr/>
          </a:p>
          <a:p>
            <a:pPr indent="0" lvl="0" marL="0" rtl="0" algn="l">
              <a:spcBef>
                <a:spcPts val="1200"/>
              </a:spcBef>
              <a:spcAft>
                <a:spcPts val="1200"/>
              </a:spcAft>
              <a:buNone/>
            </a:pPr>
            <a:r>
              <a:rPr lang="en"/>
              <a:t>Amazon FSx offers managed </a:t>
            </a:r>
            <a:r>
              <a:rPr b="1" lang="en"/>
              <a:t>Lustre</a:t>
            </a:r>
            <a:r>
              <a:rPr lang="en"/>
              <a:t> and Windows File Server, while Azure NetApp Files is a fully managed bare-metal </a:t>
            </a:r>
            <a:r>
              <a:rPr b="1" lang="en"/>
              <a:t>NFS</a:t>
            </a:r>
            <a:r>
              <a:rPr lang="en"/>
              <a:t> and </a:t>
            </a:r>
            <a:r>
              <a:rPr b="1" lang="en"/>
              <a:t>SMB</a:t>
            </a:r>
            <a:r>
              <a:rPr lang="en"/>
              <a:t> service powered by NetApp.</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Lustre</a:t>
            </a:r>
            <a:endParaRPr/>
          </a:p>
        </p:txBody>
      </p:sp>
      <p:sp>
        <p:nvSpPr>
          <p:cNvPr id="377" name="Google Shape;377;p6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 open-source, </a:t>
            </a:r>
            <a:r>
              <a:rPr b="1" lang="en"/>
              <a:t>distributed file system</a:t>
            </a:r>
            <a:r>
              <a:rPr lang="en"/>
              <a:t> designed for </a:t>
            </a:r>
            <a:r>
              <a:rPr b="1" lang="en"/>
              <a:t>large-scale cluster computing</a:t>
            </a:r>
            <a:r>
              <a:rPr lang="en"/>
              <a:t>. Known for its high performance, scalability, and flexibility.</a:t>
            </a:r>
            <a:endParaRPr/>
          </a:p>
          <a:p>
            <a:pPr indent="0" lvl="0" marL="0" rtl="0" algn="l">
              <a:spcBef>
                <a:spcPts val="1200"/>
              </a:spcBef>
              <a:spcAft>
                <a:spcPts val="1200"/>
              </a:spcAft>
              <a:buNone/>
            </a:pPr>
            <a:r>
              <a:rPr lang="en"/>
              <a:t>Use Cases - Widely adopted in </a:t>
            </a:r>
            <a:r>
              <a:rPr b="1" lang="en"/>
              <a:t>high-performance computing (HPC) </a:t>
            </a:r>
            <a:r>
              <a:rPr lang="en"/>
              <a:t>environments. Used in industries requiring </a:t>
            </a:r>
            <a:r>
              <a:rPr b="1" lang="en"/>
              <a:t>large data processing</a:t>
            </a:r>
            <a:r>
              <a:rPr lang="en"/>
              <a:t>, such as meteorology, genomics, and 3D animation.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 a break!</a:t>
            </a:r>
            <a:endParaRPr/>
          </a:p>
        </p:txBody>
      </p:sp>
      <p:sp>
        <p:nvSpPr>
          <p:cNvPr id="383" name="Google Shape;383;p6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Go take 10 min.  Fresh air, brain food, or a coffee. </a:t>
            </a:r>
            <a:endParaRPr/>
          </a:p>
        </p:txBody>
      </p:sp>
      <p:pic>
        <p:nvPicPr>
          <p:cNvPr id="384" name="Google Shape;384;p66"/>
          <p:cNvPicPr preferRelativeResize="0"/>
          <p:nvPr/>
        </p:nvPicPr>
        <p:blipFill>
          <a:blip r:embed="rId3">
            <a:alphaModFix/>
          </a:blip>
          <a:stretch>
            <a:fillRect/>
          </a:stretch>
        </p:blipFill>
        <p:spPr>
          <a:xfrm>
            <a:off x="3379772" y="1382375"/>
            <a:ext cx="3392050" cy="33801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topic</a:t>
            </a:r>
            <a:endParaRPr/>
          </a:p>
        </p:txBody>
      </p:sp>
      <p:sp>
        <p:nvSpPr>
          <p:cNvPr id="390" name="Google Shape;390;p6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Databases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2100" u="sng">
                <a:solidFill>
                  <a:schemeClr val="hlink"/>
                </a:solidFill>
                <a:hlinkClick r:id="rId3"/>
              </a:rPr>
              <a:t>Source</a:t>
            </a:r>
            <a:endParaRPr sz="2100"/>
          </a:p>
        </p:txBody>
      </p:sp>
      <p:pic>
        <p:nvPicPr>
          <p:cNvPr id="391" name="Google Shape;391;p67"/>
          <p:cNvPicPr preferRelativeResize="0"/>
          <p:nvPr/>
        </p:nvPicPr>
        <p:blipFill>
          <a:blip r:embed="rId4">
            <a:alphaModFix/>
          </a:blip>
          <a:stretch>
            <a:fillRect/>
          </a:stretch>
        </p:blipFill>
        <p:spPr>
          <a:xfrm>
            <a:off x="2998247" y="732475"/>
            <a:ext cx="4673050" cy="387762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DIY Databases</a:t>
            </a:r>
            <a:endParaRPr/>
          </a:p>
        </p:txBody>
      </p:sp>
      <p:sp>
        <p:nvSpPr>
          <p:cNvPr id="397" name="Google Shape;397;p6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Customization</a:t>
            </a:r>
            <a:r>
              <a:rPr lang="en"/>
              <a:t>: DIY databases allow for extensive customization. You have the freedom to configure your database exactly as you want it.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rPr b="1" lang="en"/>
              <a:t>Cost</a:t>
            </a:r>
            <a:r>
              <a:rPr lang="en"/>
              <a:t>: Initial costs for DIY databases can be lower as you're just </a:t>
            </a:r>
            <a:r>
              <a:rPr b="1" lang="en">
                <a:highlight>
                  <a:srgbClr val="FFFF00"/>
                </a:highlight>
              </a:rPr>
              <a:t>paying for the infrastructure</a:t>
            </a:r>
            <a:r>
              <a:rPr lang="en"/>
              <a:t>. However, over time, costs can increase due to the need for </a:t>
            </a:r>
            <a:r>
              <a:rPr b="1" lang="en">
                <a:solidFill>
                  <a:srgbClr val="FF0000"/>
                </a:solidFill>
              </a:rPr>
              <a:t>maintenance</a:t>
            </a:r>
            <a:r>
              <a:rPr lang="en">
                <a:solidFill>
                  <a:srgbClr val="FF0000"/>
                </a:solidFill>
              </a:rPr>
              <a:t>, </a:t>
            </a:r>
            <a:r>
              <a:rPr b="1" lang="en">
                <a:solidFill>
                  <a:srgbClr val="FF0000"/>
                </a:solidFill>
              </a:rPr>
              <a:t>software updates</a:t>
            </a:r>
            <a:r>
              <a:rPr lang="en"/>
              <a:t>, and potentially </a:t>
            </a:r>
            <a:r>
              <a:rPr b="1" lang="en">
                <a:solidFill>
                  <a:srgbClr val="FF0000"/>
                </a:solidFill>
              </a:rPr>
              <a:t>more hardware</a:t>
            </a:r>
            <a:r>
              <a:rPr lang="en"/>
              <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DIY Databases</a:t>
            </a:r>
            <a:endParaRPr/>
          </a:p>
        </p:txBody>
      </p:sp>
      <p:sp>
        <p:nvSpPr>
          <p:cNvPr id="403" name="Google Shape;403;p6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Maintenance and Management</a:t>
            </a:r>
            <a:r>
              <a:rPr lang="en"/>
              <a:t>: With a DIY approach, you're responsible for all aspects of database management. This includes setting up the database, backups, patching, scaling, and troubleshooting any issues that arise.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Scalability</a:t>
            </a:r>
            <a:r>
              <a:rPr lang="en"/>
              <a:t>: While DIY databases can be scaled, this process often requires a significant amount of </a:t>
            </a:r>
            <a:r>
              <a:rPr b="1" lang="en">
                <a:highlight>
                  <a:srgbClr val="FFFF00"/>
                </a:highlight>
              </a:rPr>
              <a:t>manual work</a:t>
            </a:r>
            <a:r>
              <a:rPr lang="en"/>
              <a:t> and can lead to downtime.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7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DIY Databases</a:t>
            </a:r>
            <a:endParaRPr/>
          </a:p>
        </p:txBody>
      </p:sp>
      <p:sp>
        <p:nvSpPr>
          <p:cNvPr id="409" name="Google Shape;409;p7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Security</a:t>
            </a:r>
            <a:r>
              <a:rPr lang="en"/>
              <a:t>: You're also responsible for all aspects of database security. This includes </a:t>
            </a:r>
            <a:r>
              <a:rPr b="1" lang="en">
                <a:highlight>
                  <a:srgbClr val="FFFF00"/>
                </a:highlight>
              </a:rPr>
              <a:t>setting up firewalls, encryption, and access controls.</a:t>
            </a:r>
            <a:endParaRPr b="1">
              <a:highlight>
                <a:srgbClr val="FFFF00"/>
              </a:highligh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7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a cloud providers database</a:t>
            </a:r>
            <a:endParaRPr/>
          </a:p>
        </p:txBody>
      </p:sp>
      <p:sp>
        <p:nvSpPr>
          <p:cNvPr id="415" name="Google Shape;415;p7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a:t>
            </a:r>
            <a:r>
              <a:rPr b="1" lang="en"/>
              <a:t>Managed Service</a:t>
            </a:r>
            <a:r>
              <a:rPr lang="en"/>
              <a:t>: Amazon's databases are fully managed, which means that Amazon takes care of all the heavy lifting. This includes </a:t>
            </a:r>
            <a:r>
              <a:rPr b="1" lang="en">
                <a:highlight>
                  <a:srgbClr val="FFFF00"/>
                </a:highlight>
              </a:rPr>
              <a:t>maintenance, backups, updates, and scaling</a:t>
            </a:r>
            <a:r>
              <a:rPr lang="en"/>
              <a:t>.</a:t>
            </a:r>
            <a:endParaRPr/>
          </a:p>
          <a:p>
            <a:pPr indent="0" lvl="0" marL="0" rtl="0" algn="l">
              <a:spcBef>
                <a:spcPts val="1200"/>
              </a:spcBef>
              <a:spcAft>
                <a:spcPts val="0"/>
              </a:spcAft>
              <a:buClr>
                <a:schemeClr val="dk1"/>
              </a:buClr>
              <a:buSzPts val="1100"/>
              <a:buFont typeface="Arial"/>
              <a:buNone/>
            </a:pPr>
            <a:r>
              <a:rPr lang="en"/>
              <a:t>2) </a:t>
            </a:r>
            <a:r>
              <a:rPr b="1" lang="en"/>
              <a:t>Scalability</a:t>
            </a:r>
            <a:r>
              <a:rPr lang="en"/>
              <a:t>: Amazon's database services are designed to be </a:t>
            </a:r>
            <a:r>
              <a:rPr b="1" lang="en">
                <a:highlight>
                  <a:srgbClr val="FFFF00"/>
                </a:highlight>
              </a:rPr>
              <a:t>highly scalable</a:t>
            </a:r>
            <a:r>
              <a:rPr lang="en"/>
              <a:t>. They can automatically adjust to handle increased traffic and load, often without any downtime.</a:t>
            </a:r>
            <a:endParaRPr/>
          </a:p>
          <a:p>
            <a:pPr indent="0" lvl="0" marL="0" rtl="0" algn="l">
              <a:spcBef>
                <a:spcPts val="1200"/>
              </a:spcBef>
              <a:spcAft>
                <a:spcPts val="1200"/>
              </a:spcAft>
              <a:buNone/>
            </a:pPr>
            <a:r>
              <a:rPr lang="en"/>
              <a:t>3) </a:t>
            </a:r>
            <a:r>
              <a:rPr b="1" lang="en"/>
              <a:t>Security</a:t>
            </a:r>
            <a:r>
              <a:rPr lang="en"/>
              <a:t>: Amazon's databases come with built-in security features, including </a:t>
            </a:r>
            <a:r>
              <a:rPr b="1" lang="en">
                <a:highlight>
                  <a:srgbClr val="FFFF00"/>
                </a:highlight>
              </a:rPr>
              <a:t>encryption at rest and in transit</a:t>
            </a:r>
            <a:r>
              <a:rPr lang="en"/>
              <a:t>, as well as advanced </a:t>
            </a:r>
            <a:r>
              <a:rPr b="1" lang="en">
                <a:highlight>
                  <a:srgbClr val="FFFF00"/>
                </a:highlight>
              </a:rPr>
              <a:t>access controls</a:t>
            </a:r>
            <a:r>
              <a:rPr lang="en"/>
              <a: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a cloud providers database</a:t>
            </a:r>
            <a:endParaRPr/>
          </a:p>
        </p:txBody>
      </p:sp>
      <p:sp>
        <p:nvSpPr>
          <p:cNvPr id="421" name="Google Shape;421;p7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4) </a:t>
            </a:r>
            <a:r>
              <a:rPr b="1" lang="en"/>
              <a:t>Cost</a:t>
            </a:r>
            <a:r>
              <a:rPr lang="en"/>
              <a:t>: While the cost for Amazon's databases can be higher initially, they often end up being more cost-effective in the long run. This is due to </a:t>
            </a:r>
            <a:r>
              <a:rPr b="1" lang="en">
                <a:highlight>
                  <a:srgbClr val="FFFF00"/>
                </a:highlight>
              </a:rPr>
              <a:t>reduced maintenance costs</a:t>
            </a:r>
            <a:r>
              <a:rPr lang="en"/>
              <a:t> and the ability to </a:t>
            </a:r>
            <a:r>
              <a:rPr b="1" lang="en">
                <a:highlight>
                  <a:srgbClr val="FFFF00"/>
                </a:highlight>
              </a:rPr>
              <a:t>pay for only what you use</a:t>
            </a:r>
            <a:r>
              <a:rPr lang="en">
                <a:highlight>
                  <a:srgbClr val="FFFF00"/>
                </a:highlight>
              </a:rPr>
              <a:t>.</a:t>
            </a:r>
            <a:endParaRPr>
              <a:highlight>
                <a:srgbClr val="FFFF00"/>
              </a:highlight>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5) </a:t>
            </a:r>
            <a:r>
              <a:rPr b="1" lang="en"/>
              <a:t>Less Flexibility</a:t>
            </a:r>
            <a:r>
              <a:rPr lang="en"/>
              <a:t>: One potential downside is that you have less flexibility compared to a DIY approach. While Amazon's databases offer a lot of features, they may not support every feature or configuration that you could implement with a DIY approach.</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Amazon RDS (Relational Database Service)</a:t>
            </a:r>
            <a:endParaRPr sz="3200"/>
          </a:p>
        </p:txBody>
      </p:sp>
      <p:sp>
        <p:nvSpPr>
          <p:cNvPr id="427" name="Google Shape;427;p7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Managed </a:t>
            </a:r>
            <a:r>
              <a:rPr b="1" lang="en"/>
              <a:t>relational database service</a:t>
            </a:r>
            <a:r>
              <a:rPr lang="en"/>
              <a:t> providing support for multiple database engines such as MySQL, PostgreSQL, MariaDB, Oracle, and SQL Server.</a:t>
            </a:r>
            <a:endParaRPr/>
          </a:p>
          <a:p>
            <a:pPr indent="0" lvl="0" marL="0" rtl="0" algn="l">
              <a:spcBef>
                <a:spcPts val="1200"/>
              </a:spcBef>
              <a:spcAft>
                <a:spcPts val="0"/>
              </a:spcAft>
              <a:buClr>
                <a:schemeClr val="dk1"/>
              </a:buClr>
              <a:buSzPts val="1100"/>
              <a:buFont typeface="Arial"/>
              <a:buNone/>
            </a:pPr>
            <a:r>
              <a:rPr lang="en"/>
              <a:t>Automated backups, patch management, and failure detection and recovery.</a:t>
            </a:r>
            <a:endParaRPr/>
          </a:p>
          <a:p>
            <a:pPr indent="0" lvl="0" marL="0" rtl="0" algn="l">
              <a:spcBef>
                <a:spcPts val="1200"/>
              </a:spcBef>
              <a:spcAft>
                <a:spcPts val="1200"/>
              </a:spcAft>
              <a:buNone/>
            </a:pPr>
            <a:r>
              <a:rPr b="1" lang="en"/>
              <a:t>Use case</a:t>
            </a:r>
            <a:r>
              <a:rPr lang="en"/>
              <a:t>: Suitable for applications that require complex queries and transactions, such as CRM, ERP, and e-commerce applications.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Amazon RDS (Relational Database Service)</a:t>
            </a:r>
            <a:endParaRPr sz="3200"/>
          </a:p>
        </p:txBody>
      </p:sp>
      <p:sp>
        <p:nvSpPr>
          <p:cNvPr id="433" name="Google Shape;433;p7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t> Relational Database Management System - RDBMS</a:t>
            </a:r>
            <a:endParaRPr b="1"/>
          </a:p>
          <a:p>
            <a:pPr indent="0" lvl="0" marL="0" rtl="0" algn="l">
              <a:spcBef>
                <a:spcPts val="1200"/>
              </a:spcBef>
              <a:spcAft>
                <a:spcPts val="0"/>
              </a:spcAft>
              <a:buNone/>
            </a:pPr>
            <a:r>
              <a:rPr lang="en"/>
              <a:t>Common RDBMS: MySQL, PostgreSQL, MariaDB, Oracle, and SQL Server.</a:t>
            </a:r>
            <a:endParaRPr/>
          </a:p>
          <a:p>
            <a:pPr indent="0" lvl="0" marL="0" rtl="0" algn="l">
              <a:spcBef>
                <a:spcPts val="1200"/>
              </a:spcBef>
              <a:spcAft>
                <a:spcPts val="0"/>
              </a:spcAft>
              <a:buNone/>
            </a:pPr>
            <a:r>
              <a:rPr b="1" lang="en"/>
              <a:t>Structured Data</a:t>
            </a:r>
            <a:r>
              <a:rPr lang="en"/>
              <a:t>: RDBMS, is designed to handle </a:t>
            </a:r>
            <a:r>
              <a:rPr b="1" lang="en">
                <a:highlight>
                  <a:srgbClr val="FFFF00"/>
                </a:highlight>
              </a:rPr>
              <a:t>structured data</a:t>
            </a:r>
            <a:r>
              <a:rPr lang="en"/>
              <a:t>. It organizes data into </a:t>
            </a:r>
            <a:r>
              <a:rPr b="1" lang="en">
                <a:highlight>
                  <a:srgbClr val="FFFF00"/>
                </a:highlight>
              </a:rPr>
              <a:t>tables, rows, and columns</a:t>
            </a:r>
            <a:r>
              <a:rPr lang="en"/>
              <a:t>. Each table in the database corresponds to a different type of entity, and the rows within that table represent instances of that entity.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Schema</a:t>
            </a:r>
            <a:r>
              <a:rPr lang="en"/>
              <a:t>: In </a:t>
            </a:r>
            <a:r>
              <a:rPr lang="en"/>
              <a:t>RDBMS</a:t>
            </a:r>
            <a:r>
              <a:rPr lang="en"/>
              <a:t>, you need to define the schema before you can add data to the database. The schema is a blueprint of how data is organized and accessed, including </a:t>
            </a:r>
            <a:r>
              <a:rPr b="1" lang="en">
                <a:highlight>
                  <a:srgbClr val="FFFF00"/>
                </a:highlight>
              </a:rPr>
              <a:t>tables, fields, and relationships between tables</a:t>
            </a:r>
            <a:r>
              <a:rPr lang="en"/>
              <a:t>.</a:t>
            </a:r>
            <a:endParaRPr b="1"/>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Amazon RDS (Relational Database Service)</a:t>
            </a:r>
            <a:endParaRPr sz="3200"/>
          </a:p>
        </p:txBody>
      </p:sp>
      <p:sp>
        <p:nvSpPr>
          <p:cNvPr id="439" name="Google Shape;439;p7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 Relational Database Management System - RDBMS</a:t>
            </a:r>
            <a:endParaRPr b="1"/>
          </a:p>
          <a:p>
            <a:pPr indent="0" lvl="0" marL="0" rtl="0" algn="l">
              <a:spcBef>
                <a:spcPts val="1200"/>
              </a:spcBef>
              <a:spcAft>
                <a:spcPts val="0"/>
              </a:spcAft>
              <a:buNone/>
            </a:pPr>
            <a:r>
              <a:rPr lang="en"/>
              <a:t>Common RDBMS: MySQL, PostgreSQL, MariaDB, Oracle, and SQL Server.</a:t>
            </a:r>
            <a:endParaRPr/>
          </a:p>
          <a:p>
            <a:pPr indent="0" lvl="0" marL="0" rtl="0" algn="l">
              <a:spcBef>
                <a:spcPts val="1200"/>
              </a:spcBef>
              <a:spcAft>
                <a:spcPts val="0"/>
              </a:spcAft>
              <a:buNone/>
            </a:pPr>
            <a:r>
              <a:rPr b="1" lang="en"/>
              <a:t>ACID Properties</a:t>
            </a:r>
            <a:r>
              <a:rPr lang="en"/>
              <a:t>: MySQL supports ACID (</a:t>
            </a:r>
            <a:r>
              <a:rPr b="1" lang="en"/>
              <a:t>A</a:t>
            </a:r>
            <a:r>
              <a:rPr lang="en"/>
              <a:t>tomicity, </a:t>
            </a:r>
            <a:r>
              <a:rPr b="1" lang="en"/>
              <a:t>C</a:t>
            </a:r>
            <a:r>
              <a:rPr lang="en"/>
              <a:t>onsistency, </a:t>
            </a:r>
            <a:r>
              <a:rPr b="1" lang="en"/>
              <a:t>I</a:t>
            </a:r>
            <a:r>
              <a:rPr lang="en"/>
              <a:t>solation, </a:t>
            </a:r>
            <a:r>
              <a:rPr b="1" lang="en"/>
              <a:t>D</a:t>
            </a:r>
            <a:r>
              <a:rPr lang="en"/>
              <a:t>urability) properties, which ensure reliable processing of database transactions.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SQL Queries</a:t>
            </a:r>
            <a:r>
              <a:rPr lang="en"/>
              <a:t>: MySQL uses SQL (Structured Query Language) for querying and maintaining the database.</a:t>
            </a:r>
            <a:endParaRPr b="1"/>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Amazon RDS vs Azure SQL Database</a:t>
            </a:r>
            <a:endParaRPr sz="3200"/>
          </a:p>
        </p:txBody>
      </p:sp>
      <p:sp>
        <p:nvSpPr>
          <p:cNvPr id="445" name="Google Shape;445;p7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Both are managed </a:t>
            </a:r>
            <a:r>
              <a:rPr b="1" lang="en">
                <a:highlight>
                  <a:srgbClr val="FFFF00"/>
                </a:highlight>
              </a:rPr>
              <a:t>relational database</a:t>
            </a:r>
            <a:r>
              <a:rPr lang="en"/>
              <a:t> services offering support for </a:t>
            </a:r>
            <a:r>
              <a:rPr b="1" lang="en">
                <a:highlight>
                  <a:srgbClr val="FFFF00"/>
                </a:highlight>
              </a:rPr>
              <a:t>multiple database engines</a:t>
            </a:r>
            <a:r>
              <a:rPr lang="en"/>
              <a:t>.</a:t>
            </a:r>
            <a:endParaRPr/>
          </a:p>
          <a:p>
            <a:pPr indent="0" lvl="0" marL="0" rtl="0" algn="l">
              <a:spcBef>
                <a:spcPts val="1200"/>
              </a:spcBef>
              <a:spcAft>
                <a:spcPts val="1200"/>
              </a:spcAft>
              <a:buNone/>
            </a:pPr>
            <a:r>
              <a:rPr lang="en">
                <a:highlight>
                  <a:srgbClr val="4A86E8"/>
                </a:highlight>
              </a:rPr>
              <a:t>Azure SQL Database</a:t>
            </a:r>
            <a:r>
              <a:rPr lang="en"/>
              <a:t> is a fully managed relational database service based on the latest stable Enterprise Edition of </a:t>
            </a:r>
            <a:r>
              <a:rPr lang="en">
                <a:highlight>
                  <a:srgbClr val="4A86E8"/>
                </a:highlight>
              </a:rPr>
              <a:t>SQL Server</a:t>
            </a:r>
            <a:r>
              <a:rPr lang="en"/>
              <a:t>. </a:t>
            </a:r>
            <a:r>
              <a:rPr lang="en">
                <a:highlight>
                  <a:srgbClr val="FF9900"/>
                </a:highlight>
              </a:rPr>
              <a:t>Amazon RDS</a:t>
            </a:r>
            <a:r>
              <a:rPr lang="en"/>
              <a:t> supports more database engines, including </a:t>
            </a:r>
            <a:r>
              <a:rPr lang="en">
                <a:highlight>
                  <a:srgbClr val="FF9900"/>
                </a:highlight>
              </a:rPr>
              <a:t>MySQL, PostgreSQL, MariaDB, Oracle, and SQL Server.</a:t>
            </a:r>
            <a:endParaRPr>
              <a:highlight>
                <a:srgbClr val="FF9900"/>
              </a:highligh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DynamoDB</a:t>
            </a:r>
            <a:endParaRPr/>
          </a:p>
        </p:txBody>
      </p:sp>
      <p:sp>
        <p:nvSpPr>
          <p:cNvPr id="451" name="Google Shape;451;p7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Fully managed</a:t>
            </a:r>
            <a:r>
              <a:rPr lang="en"/>
              <a:t> </a:t>
            </a:r>
            <a:r>
              <a:rPr b="1" lang="en">
                <a:highlight>
                  <a:srgbClr val="FFFF00"/>
                </a:highlight>
              </a:rPr>
              <a:t>NoSQL</a:t>
            </a:r>
            <a:r>
              <a:rPr lang="en"/>
              <a:t> database service offering seamless scalability.</a:t>
            </a:r>
            <a:endParaRPr/>
          </a:p>
          <a:p>
            <a:pPr indent="0" lvl="0" marL="0" rtl="0" algn="l">
              <a:spcBef>
                <a:spcPts val="1200"/>
              </a:spcBef>
              <a:spcAft>
                <a:spcPts val="0"/>
              </a:spcAft>
              <a:buClr>
                <a:schemeClr val="dk1"/>
              </a:buClr>
              <a:buSzPts val="1100"/>
              <a:buFont typeface="Arial"/>
              <a:buNone/>
            </a:pPr>
            <a:r>
              <a:rPr b="1" lang="en"/>
              <a:t>Built-in security</a:t>
            </a:r>
            <a:r>
              <a:rPr lang="en"/>
              <a:t>, in-memory caching, backup and restore, and in-place, real-time analytics.</a:t>
            </a:r>
            <a:endParaRPr/>
          </a:p>
          <a:p>
            <a:pPr indent="0" lvl="0" marL="0" rtl="0" algn="l">
              <a:spcBef>
                <a:spcPts val="1200"/>
              </a:spcBef>
              <a:spcAft>
                <a:spcPts val="1200"/>
              </a:spcAft>
              <a:buNone/>
            </a:pPr>
            <a:r>
              <a:rPr b="1" lang="en"/>
              <a:t>Use case</a:t>
            </a:r>
            <a:r>
              <a:rPr lang="en"/>
              <a:t>: Suitable for applications that need consistent, single-digit millisecond latency at any scale, such as mobile, web, gaming, ad tech, IoT, and many other applications.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DynamoDB</a:t>
            </a:r>
            <a:endParaRPr/>
          </a:p>
        </p:txBody>
      </p:sp>
      <p:sp>
        <p:nvSpPr>
          <p:cNvPr id="457" name="Google Shape;457;p7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 NoSQL Databases</a:t>
            </a:r>
            <a:endParaRPr b="1"/>
          </a:p>
          <a:p>
            <a:pPr indent="0" lvl="0" marL="0" rtl="0" algn="l">
              <a:spcBef>
                <a:spcPts val="1200"/>
              </a:spcBef>
              <a:spcAft>
                <a:spcPts val="0"/>
              </a:spcAft>
              <a:buNone/>
            </a:pPr>
            <a:r>
              <a:rPr b="1" lang="en"/>
              <a:t>Flexible Data</a:t>
            </a:r>
            <a:r>
              <a:rPr lang="en"/>
              <a:t>: DynamoDB, as a NoSQL database, can handle structured </a:t>
            </a:r>
            <a:r>
              <a:rPr b="1" lang="en">
                <a:highlight>
                  <a:srgbClr val="FFFF00"/>
                </a:highlight>
              </a:rPr>
              <a:t>and unstructured data</a:t>
            </a:r>
            <a:r>
              <a:rPr lang="en"/>
              <a:t>, and there's no need to define a strict schema before inserting data. This makes DynamoDB more flexible than </a:t>
            </a:r>
            <a:r>
              <a:rPr lang="en"/>
              <a:t>RDBMS</a:t>
            </a:r>
            <a:r>
              <a:rPr lang="en"/>
              <a:t> for certain types of applications.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Scalability</a:t>
            </a:r>
            <a:r>
              <a:rPr lang="en"/>
              <a:t>: DynamoDB is designed for high scalability, using distributed clusters of hardware to accommodate large amounts of data and high traffic levels.</a:t>
            </a:r>
            <a:endParaRPr b="1"/>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DynamoDB</a:t>
            </a:r>
            <a:endParaRPr/>
          </a:p>
        </p:txBody>
      </p:sp>
      <p:sp>
        <p:nvSpPr>
          <p:cNvPr id="463" name="Google Shape;463;p7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 NoSQL Databases</a:t>
            </a:r>
            <a:endParaRPr b="1"/>
          </a:p>
          <a:p>
            <a:pPr indent="0" lvl="0" marL="0" rtl="0" algn="l">
              <a:spcBef>
                <a:spcPts val="1200"/>
              </a:spcBef>
              <a:spcAft>
                <a:spcPts val="0"/>
              </a:spcAft>
              <a:buNone/>
            </a:pPr>
            <a:r>
              <a:rPr b="1" lang="en"/>
              <a:t>Key-Value and Document Data Models</a:t>
            </a:r>
            <a:r>
              <a:rPr lang="en"/>
              <a:t>: DynamoDB primarily supports the key-value and document data models. It's ideal for use cases where you need to store </a:t>
            </a:r>
            <a:r>
              <a:rPr b="1" lang="en">
                <a:highlight>
                  <a:srgbClr val="FFFF00"/>
                </a:highlight>
              </a:rPr>
              <a:t>large amounts of data</a:t>
            </a:r>
            <a:r>
              <a:rPr lang="en"/>
              <a:t> but need to </a:t>
            </a:r>
            <a:r>
              <a:rPr b="1" lang="en">
                <a:highlight>
                  <a:srgbClr val="FFFF00"/>
                </a:highlight>
              </a:rPr>
              <a:t>access it quickly</a:t>
            </a:r>
            <a:r>
              <a:rPr lang="en"/>
              <a:t>, such as in real-time bidding or gaming applications.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Eventual Consistency</a:t>
            </a:r>
            <a:r>
              <a:rPr lang="en"/>
              <a:t>: By default, DynamoDB uses </a:t>
            </a:r>
            <a:r>
              <a:rPr b="1" lang="en">
                <a:highlight>
                  <a:srgbClr val="FFFF00"/>
                </a:highlight>
              </a:rPr>
              <a:t>eventual consistency</a:t>
            </a:r>
            <a:r>
              <a:rPr lang="en"/>
              <a:t>, which means there might be a slight delay (usually less than a second) in propagating data to all nodes. However, you can also opt for </a:t>
            </a:r>
            <a:r>
              <a:rPr b="1" lang="en">
                <a:highlight>
                  <a:srgbClr val="FFFF00"/>
                </a:highlight>
              </a:rPr>
              <a:t>strong consistency</a:t>
            </a:r>
            <a:r>
              <a:rPr lang="en"/>
              <a:t> if required.</a:t>
            </a:r>
            <a:endParaRPr b="1"/>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8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Amazon DynamoDB vs Azure Cosmos DB</a:t>
            </a:r>
            <a:endParaRPr sz="3300"/>
          </a:p>
        </p:txBody>
      </p:sp>
      <p:sp>
        <p:nvSpPr>
          <p:cNvPr id="469" name="Google Shape;469;p8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are </a:t>
            </a:r>
            <a:r>
              <a:rPr b="1" lang="en">
                <a:highlight>
                  <a:srgbClr val="FFFF00"/>
                </a:highlight>
              </a:rPr>
              <a:t>managed NoSQL</a:t>
            </a:r>
            <a:r>
              <a:rPr lang="en"/>
              <a:t> database services offering seamless scalability and global distribution.</a:t>
            </a:r>
            <a:endParaRPr/>
          </a:p>
          <a:p>
            <a:pPr indent="0" lvl="0" marL="0" rtl="0" algn="l">
              <a:spcBef>
                <a:spcPts val="1200"/>
              </a:spcBef>
              <a:spcAft>
                <a:spcPts val="0"/>
              </a:spcAft>
              <a:buClr>
                <a:schemeClr val="dk1"/>
              </a:buClr>
              <a:buSzPts val="1100"/>
              <a:buFont typeface="Arial"/>
              <a:buNone/>
            </a:pPr>
            <a:r>
              <a:rPr lang="en"/>
              <a:t>Azure Cosmos DB offers multi-model support (key-value, graph, column-family, document), while DynamoDB primarily supports key-value and document data models.</a:t>
            </a:r>
            <a:endParaRPr/>
          </a:p>
          <a:p>
            <a:pPr indent="0" lvl="0" marL="0" rtl="0" algn="l">
              <a:spcBef>
                <a:spcPts val="1200"/>
              </a:spcBef>
              <a:spcAft>
                <a:spcPts val="1200"/>
              </a:spcAft>
              <a:buNone/>
            </a:pPr>
            <a:r>
              <a:rPr lang="en"/>
              <a:t>Cosmos DB offers multiple consistency models, while DynamoDB offers eventual and strong consistency.</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8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Aurora</a:t>
            </a:r>
            <a:endParaRPr/>
          </a:p>
        </p:txBody>
      </p:sp>
      <p:sp>
        <p:nvSpPr>
          <p:cNvPr id="475" name="Google Shape;475;p8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Compatible with MySQL and PostgreSQL, Aurora is a </a:t>
            </a:r>
            <a:r>
              <a:rPr b="1" lang="en"/>
              <a:t>relational database</a:t>
            </a:r>
            <a:r>
              <a:rPr lang="en"/>
              <a:t> built for the cloud, with the </a:t>
            </a:r>
            <a:r>
              <a:rPr b="1" lang="en">
                <a:highlight>
                  <a:srgbClr val="FFFF00"/>
                </a:highlight>
              </a:rPr>
              <a:t>speed and reliability of high-end commercial databases</a:t>
            </a:r>
            <a:r>
              <a:rPr lang="en"/>
              <a:t> at 1/10th the cost.</a:t>
            </a:r>
            <a:endParaRPr/>
          </a:p>
          <a:p>
            <a:pPr indent="0" lvl="0" marL="0" rtl="0" algn="l">
              <a:spcBef>
                <a:spcPts val="1200"/>
              </a:spcBef>
              <a:spcAft>
                <a:spcPts val="0"/>
              </a:spcAft>
              <a:buClr>
                <a:schemeClr val="dk1"/>
              </a:buClr>
              <a:buSzPts val="1100"/>
              <a:buFont typeface="Arial"/>
              <a:buNone/>
            </a:pPr>
            <a:r>
              <a:rPr lang="en"/>
              <a:t>It provides </a:t>
            </a:r>
            <a:r>
              <a:rPr b="1" lang="en"/>
              <a:t>automatic scaling</a:t>
            </a:r>
            <a:r>
              <a:rPr lang="en"/>
              <a:t>, </a:t>
            </a:r>
            <a:r>
              <a:rPr b="1" lang="en"/>
              <a:t>replication across three Availability Zones</a:t>
            </a:r>
            <a:r>
              <a:rPr lang="en"/>
              <a:t>, and </a:t>
            </a:r>
            <a:r>
              <a:rPr b="1" lang="en"/>
              <a:t>backup to Amazon S3</a:t>
            </a:r>
            <a:r>
              <a:rPr lang="en"/>
              <a:t>.</a:t>
            </a:r>
            <a:endParaRPr/>
          </a:p>
          <a:p>
            <a:pPr indent="0" lvl="0" marL="0" rtl="0" algn="l">
              <a:spcBef>
                <a:spcPts val="1200"/>
              </a:spcBef>
              <a:spcAft>
                <a:spcPts val="0"/>
              </a:spcAft>
              <a:buClr>
                <a:schemeClr val="dk1"/>
              </a:buClr>
              <a:buSzPts val="1100"/>
              <a:buFont typeface="Arial"/>
              <a:buNone/>
            </a:pPr>
            <a:r>
              <a:rPr b="1" lang="en"/>
              <a:t>Use case</a:t>
            </a:r>
            <a:r>
              <a:rPr lang="en"/>
              <a:t>: Suitable for enterprise applications that require complex queries, transactions, and interoperability with MySQL and PostgreSQL.</a:t>
            </a:r>
            <a:endParaRPr/>
          </a:p>
          <a:p>
            <a:pPr indent="0" lvl="0" marL="0" rtl="0" algn="l">
              <a:spcBef>
                <a:spcPts val="1200"/>
              </a:spcBef>
              <a:spcAft>
                <a:spcPts val="120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8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Amazon Aurora vs plain Amazon RDS</a:t>
            </a:r>
            <a:endParaRPr sz="3700"/>
          </a:p>
        </p:txBody>
      </p:sp>
      <p:sp>
        <p:nvSpPr>
          <p:cNvPr id="481" name="Google Shape;481;p8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Aurora provides up to five times </a:t>
            </a:r>
            <a:r>
              <a:rPr b="1" lang="en">
                <a:highlight>
                  <a:srgbClr val="FFFF00"/>
                </a:highlight>
              </a:rPr>
              <a:t>better performance</a:t>
            </a:r>
            <a:r>
              <a:rPr lang="en"/>
              <a:t> than MySQL and three times the performance of PostgreSQL with compatibility, and it's designed to handle </a:t>
            </a:r>
            <a:r>
              <a:rPr b="1" lang="en">
                <a:highlight>
                  <a:srgbClr val="FFFF00"/>
                </a:highlight>
              </a:rPr>
              <a:t>large scale, enterprise-level applications.</a:t>
            </a:r>
            <a:endParaRPr b="1">
              <a:highlight>
                <a:srgbClr val="FFFF00"/>
              </a:highlight>
            </a:endParaRPr>
          </a:p>
          <a:p>
            <a:pPr indent="0" lvl="0" marL="0" rtl="0" algn="l">
              <a:spcBef>
                <a:spcPts val="1200"/>
              </a:spcBef>
              <a:spcAft>
                <a:spcPts val="1200"/>
              </a:spcAft>
              <a:buNone/>
            </a:pPr>
            <a:r>
              <a:rPr lang="en"/>
              <a:t>2) Aurora automatically divides your database volume into 10GB segments </a:t>
            </a:r>
            <a:r>
              <a:rPr b="1" lang="en">
                <a:highlight>
                  <a:srgbClr val="FFFF00"/>
                </a:highlight>
              </a:rPr>
              <a:t>spread across many disks</a:t>
            </a:r>
            <a:r>
              <a:rPr lang="en"/>
              <a:t>. Each chunk of your database is </a:t>
            </a:r>
            <a:r>
              <a:rPr b="1" lang="en">
                <a:highlight>
                  <a:srgbClr val="FFFF00"/>
                </a:highlight>
              </a:rPr>
              <a:t>replicated six times across three AWS Availability Zones.</a:t>
            </a:r>
            <a:endParaRPr b="1">
              <a:highlight>
                <a:srgbClr val="FFFF00"/>
              </a:highligh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Amazon Aurora vs plain Amazon RDS</a:t>
            </a:r>
            <a:endParaRPr sz="3700"/>
          </a:p>
        </p:txBody>
      </p:sp>
      <p:sp>
        <p:nvSpPr>
          <p:cNvPr id="487" name="Google Shape;487;p8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a:t>
            </a:r>
            <a:r>
              <a:rPr lang="en"/>
              <a:t>Aurora is designed to </a:t>
            </a:r>
            <a:r>
              <a:rPr b="1" lang="en"/>
              <a:t>handle the loss of up to </a:t>
            </a:r>
            <a:r>
              <a:rPr b="1" lang="en" sz="3400"/>
              <a:t>two copies</a:t>
            </a:r>
            <a:r>
              <a:rPr b="1" lang="en"/>
              <a:t> of data without affecting database </a:t>
            </a:r>
            <a:r>
              <a:rPr b="1" lang="en">
                <a:solidFill>
                  <a:srgbClr val="FF0000"/>
                </a:solidFill>
              </a:rPr>
              <a:t>write availability</a:t>
            </a:r>
            <a:r>
              <a:rPr lang="en"/>
              <a:t> and </a:t>
            </a:r>
            <a:r>
              <a:rPr b="1" lang="en"/>
              <a:t>up to </a:t>
            </a:r>
            <a:r>
              <a:rPr b="1" lang="en" sz="3500"/>
              <a:t>three copies</a:t>
            </a:r>
            <a:r>
              <a:rPr b="1" lang="en"/>
              <a:t> without affecting </a:t>
            </a:r>
            <a:r>
              <a:rPr b="1" lang="en">
                <a:solidFill>
                  <a:srgbClr val="0000FF"/>
                </a:solidFill>
              </a:rPr>
              <a:t>read availability</a:t>
            </a:r>
            <a:r>
              <a:rPr lang="en"/>
              <a:t>.</a:t>
            </a:r>
            <a:endParaRPr/>
          </a:p>
          <a:p>
            <a:pPr indent="0" lvl="0" marL="0" rtl="0" algn="l">
              <a:spcBef>
                <a:spcPts val="1200"/>
              </a:spcBef>
              <a:spcAft>
                <a:spcPts val="1200"/>
              </a:spcAft>
              <a:buNone/>
            </a:pPr>
            <a:r>
              <a:rPr lang="en"/>
              <a:t>4) It's also </a:t>
            </a:r>
            <a:r>
              <a:rPr b="1" lang="en">
                <a:highlight>
                  <a:srgbClr val="FFFF00"/>
                </a:highlight>
              </a:rPr>
              <a:t>highly scalable</a:t>
            </a:r>
            <a:r>
              <a:rPr lang="en"/>
              <a:t>. You can add up to 15 low latency read replicas to further scale read capacity.</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8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Why not run all loads on Aurora vs RDS?</a:t>
            </a:r>
            <a:endParaRPr sz="3600"/>
          </a:p>
        </p:txBody>
      </p:sp>
      <p:sp>
        <p:nvSpPr>
          <p:cNvPr id="493" name="Google Shape;493;p8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decision between using Aurora or RDS depends on your specific needs. Aurora may be </a:t>
            </a:r>
            <a:r>
              <a:rPr b="1" lang="en">
                <a:highlight>
                  <a:srgbClr val="FFFF00"/>
                </a:highlight>
              </a:rPr>
              <a:t>overkill for small applications</a:t>
            </a:r>
            <a:r>
              <a:rPr lang="en"/>
              <a:t> that don't require high throughput or advanced scalability features. RDS with a traditional database engine like MySQL or PostgreSQL could be more cost-effective for these applications.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Amazon Aurora vs Azure Database for MySQL and PostgreSQL</a:t>
            </a:r>
            <a:endParaRPr sz="3800"/>
          </a:p>
        </p:txBody>
      </p:sp>
      <p:sp>
        <p:nvSpPr>
          <p:cNvPr id="499" name="Google Shape;499;p85"/>
          <p:cNvSpPr txBox="1"/>
          <p:nvPr>
            <p:ph idx="1" type="body"/>
          </p:nvPr>
        </p:nvSpPr>
        <p:spPr>
          <a:xfrm>
            <a:off x="311700" y="1414375"/>
            <a:ext cx="8520600" cy="315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Performance</a:t>
            </a:r>
            <a:r>
              <a:rPr lang="en"/>
              <a:t>: Amazon Aurora is often touted for its </a:t>
            </a:r>
            <a:r>
              <a:rPr b="1" lang="en"/>
              <a:t>performance advantages</a:t>
            </a:r>
            <a:r>
              <a:rPr lang="en"/>
              <a:t>. Aurora is designed to deliver up to five times the throughput of standard MySQL and three times that of standard PostgreSQL. This is due to various architecture optimizations such as </a:t>
            </a:r>
            <a:r>
              <a:rPr b="1" lang="en"/>
              <a:t>distributed, fault-tolerant, self-healing storage system that auto-scales up to 64TB per database instance</a:t>
            </a:r>
            <a:r>
              <a:rPr lang="en"/>
              <a:t>, and </a:t>
            </a:r>
            <a:r>
              <a:rPr b="1" lang="en"/>
              <a:t>replicating data six ways across three AWS Availability Zones</a:t>
            </a:r>
            <a:r>
              <a:rPr lang="en"/>
              <a:t>.</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Amazon Aurora vs Azure Database for MySQL and PostgreSQL</a:t>
            </a:r>
            <a:endParaRPr sz="3800"/>
          </a:p>
        </p:txBody>
      </p:sp>
      <p:sp>
        <p:nvSpPr>
          <p:cNvPr id="505" name="Google Shape;505;p86"/>
          <p:cNvSpPr txBox="1"/>
          <p:nvPr>
            <p:ph idx="1" type="body"/>
          </p:nvPr>
        </p:nvSpPr>
        <p:spPr>
          <a:xfrm>
            <a:off x="311700" y="1414375"/>
            <a:ext cx="8520600" cy="315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Compatibility</a:t>
            </a:r>
            <a:r>
              <a:rPr lang="en"/>
              <a:t>: Both Azure and AWS offer MySQL and PostgreSQL compatibility, but Aurora goes a step further by </a:t>
            </a:r>
            <a:r>
              <a:rPr b="1" lang="en"/>
              <a:t>enhancing the base capabilities of MySQL and PostgreSQL while offering compatibility, resulting in better performance</a:t>
            </a:r>
            <a:r>
              <a:rPr lang="en"/>
              <a:t>.</a:t>
            </a:r>
            <a:endParaRPr/>
          </a:p>
          <a:p>
            <a:pPr indent="0" lvl="0" marL="0" rtl="0" algn="l">
              <a:spcBef>
                <a:spcPts val="1200"/>
              </a:spcBef>
              <a:spcAft>
                <a:spcPts val="1200"/>
              </a:spcAft>
              <a:buNone/>
            </a:pPr>
            <a:r>
              <a:rPr b="1" lang="en"/>
              <a:t>Scaling</a:t>
            </a:r>
            <a:r>
              <a:rPr lang="en"/>
              <a:t>: Aurora provides up to </a:t>
            </a:r>
            <a:r>
              <a:rPr b="1" lang="en"/>
              <a:t>15 read replicas with sub-10ms replica lag</a:t>
            </a:r>
            <a:r>
              <a:rPr lang="en"/>
              <a:t>, and it </a:t>
            </a:r>
            <a:r>
              <a:rPr b="1" lang="en"/>
              <a:t>automatically grows storage as needed</a:t>
            </a:r>
            <a:r>
              <a:rPr lang="en"/>
              <a:t>, </a:t>
            </a:r>
            <a:r>
              <a:rPr b="1" lang="en">
                <a:highlight>
                  <a:srgbClr val="FFFF00"/>
                </a:highlight>
              </a:rPr>
              <a:t>up to 64TB per database instance</a:t>
            </a:r>
            <a:r>
              <a:rPr lang="en"/>
              <a:t>. Azure Database services also offer read replicas and auto-grow feature, but the number of read replicas and storage limit might vary based on the pricing tier.</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Amazon Aurora vs Azure Database for MySQL and PostgreSQL</a:t>
            </a:r>
            <a:endParaRPr sz="3800"/>
          </a:p>
        </p:txBody>
      </p:sp>
      <p:sp>
        <p:nvSpPr>
          <p:cNvPr id="511" name="Google Shape;511;p87"/>
          <p:cNvSpPr txBox="1"/>
          <p:nvPr>
            <p:ph idx="1" type="body"/>
          </p:nvPr>
        </p:nvSpPr>
        <p:spPr>
          <a:xfrm>
            <a:off x="311700" y="1414375"/>
            <a:ext cx="8520600" cy="315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Resilience</a:t>
            </a:r>
            <a:r>
              <a:rPr lang="en"/>
              <a:t>: In Aurora, data is replicated six ways across three Availability Zones, offering higher durability. Azure Database services also provide data replication in multiple zones but the number of replications might vary.</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Amazon Aurora vs Azure Database for MySQL and PostgreSQL</a:t>
            </a:r>
            <a:endParaRPr sz="3800"/>
          </a:p>
        </p:txBody>
      </p:sp>
      <p:sp>
        <p:nvSpPr>
          <p:cNvPr id="517" name="Google Shape;517;p88"/>
          <p:cNvSpPr txBox="1"/>
          <p:nvPr>
            <p:ph idx="1" type="body"/>
          </p:nvPr>
        </p:nvSpPr>
        <p:spPr>
          <a:xfrm>
            <a:off x="311700" y="1414375"/>
            <a:ext cx="8520600" cy="315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It's important to note that </a:t>
            </a:r>
            <a:r>
              <a:rPr b="1" lang="en"/>
              <a:t>actual performance</a:t>
            </a:r>
            <a:r>
              <a:rPr lang="en"/>
              <a:t> can depend on the </a:t>
            </a:r>
            <a:r>
              <a:rPr b="1" lang="en"/>
              <a:t>specifics of your application</a:t>
            </a:r>
            <a:r>
              <a:rPr lang="en"/>
              <a:t> and workload. While Aurora may generally offer higher performance, </a:t>
            </a:r>
            <a:r>
              <a:rPr b="1" lang="en">
                <a:highlight>
                  <a:srgbClr val="FFFF00"/>
                </a:highlight>
              </a:rPr>
              <a:t>Azure Database for MySQL and PostgreSQL are still robust, scalable solutions that can handle demanding workloads</a:t>
            </a:r>
            <a:r>
              <a:rPr lang="en"/>
              <a:t>. They also offer advantages in integration with other Azure services, particularly for organizations that are heavily invested in the Azure ecosystem.</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Redshift</a:t>
            </a:r>
            <a:endParaRPr/>
          </a:p>
        </p:txBody>
      </p:sp>
      <p:sp>
        <p:nvSpPr>
          <p:cNvPr id="523" name="Google Shape;523;p8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 fully managed, </a:t>
            </a:r>
            <a:r>
              <a:rPr b="1" lang="en">
                <a:highlight>
                  <a:srgbClr val="FFFF00"/>
                </a:highlight>
              </a:rPr>
              <a:t>petabyte-scale</a:t>
            </a:r>
            <a:r>
              <a:rPr lang="en"/>
              <a:t> </a:t>
            </a:r>
            <a:r>
              <a:rPr b="1" lang="en"/>
              <a:t>data warehousing service.</a:t>
            </a:r>
            <a:endParaRPr b="1"/>
          </a:p>
          <a:p>
            <a:pPr indent="0" lvl="0" marL="0" rtl="0" algn="l">
              <a:spcBef>
                <a:spcPts val="1200"/>
              </a:spcBef>
              <a:spcAft>
                <a:spcPts val="0"/>
              </a:spcAft>
              <a:buClr>
                <a:schemeClr val="dk1"/>
              </a:buClr>
              <a:buSzPts val="1100"/>
              <a:buFont typeface="Arial"/>
              <a:buNone/>
            </a:pPr>
            <a:r>
              <a:rPr lang="en"/>
              <a:t>It uses columnar storage, data compression, and zone maps to reduce the amount of I/O needed to perform queries.</a:t>
            </a:r>
            <a:endParaRPr/>
          </a:p>
          <a:p>
            <a:pPr indent="0" lvl="0" marL="0" rtl="0" algn="l">
              <a:spcBef>
                <a:spcPts val="1200"/>
              </a:spcBef>
              <a:spcAft>
                <a:spcPts val="0"/>
              </a:spcAft>
              <a:buClr>
                <a:schemeClr val="dk1"/>
              </a:buClr>
              <a:buSzPts val="1100"/>
              <a:buFont typeface="Arial"/>
              <a:buNone/>
            </a:pPr>
            <a:r>
              <a:rPr b="1" lang="en"/>
              <a:t>Use case</a:t>
            </a:r>
            <a:r>
              <a:rPr lang="en"/>
              <a:t>: Suitable for analyzing large datasets using business intelligence tools.</a:t>
            </a:r>
            <a:endParaRPr/>
          </a:p>
          <a:p>
            <a:pPr indent="0" lvl="0" marL="0" rtl="0" algn="l">
              <a:spcBef>
                <a:spcPts val="1200"/>
              </a:spcBef>
              <a:spcAft>
                <a:spcPts val="120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400"/>
              <a:t>Amazon Redshift vs Azure Synapse Analytics (formerly SQL Data Warehouse)</a:t>
            </a:r>
            <a:endParaRPr sz="3400"/>
          </a:p>
        </p:txBody>
      </p:sp>
      <p:sp>
        <p:nvSpPr>
          <p:cNvPr id="529" name="Google Shape;529;p90"/>
          <p:cNvSpPr txBox="1"/>
          <p:nvPr>
            <p:ph idx="1" type="body"/>
          </p:nvPr>
        </p:nvSpPr>
        <p:spPr>
          <a:xfrm>
            <a:off x="311700" y="1230525"/>
            <a:ext cx="8520600" cy="333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are </a:t>
            </a:r>
            <a:r>
              <a:rPr b="1" lang="en">
                <a:highlight>
                  <a:srgbClr val="FFFF00"/>
                </a:highlight>
              </a:rPr>
              <a:t>data warehousing services</a:t>
            </a:r>
            <a:r>
              <a:rPr lang="en"/>
              <a:t> that allow analysis over large datasets.</a:t>
            </a:r>
            <a:endParaRPr/>
          </a:p>
          <a:p>
            <a:pPr indent="0" lvl="0" marL="0" rtl="0" algn="l">
              <a:spcBef>
                <a:spcPts val="1200"/>
              </a:spcBef>
              <a:spcAft>
                <a:spcPts val="1200"/>
              </a:spcAft>
              <a:buNone/>
            </a:pPr>
            <a:r>
              <a:rPr lang="en"/>
              <a:t>Both support integration with various data visualization tools and offer columnar storage for improved query performance.</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9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
            </a:r>
            <a:r>
              <a:rPr lang="en"/>
              <a:t>ata Warehousing Service</a:t>
            </a:r>
            <a:endParaRPr/>
          </a:p>
        </p:txBody>
      </p:sp>
      <p:sp>
        <p:nvSpPr>
          <p:cNvPr id="535" name="Google Shape;535;p9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61111"/>
              <a:buFont typeface="Arial"/>
              <a:buNone/>
            </a:pPr>
            <a:r>
              <a:rPr b="1" lang="en"/>
              <a:t>Centralized Storage</a:t>
            </a:r>
            <a:r>
              <a:rPr lang="en"/>
              <a:t>: A data warehousing service stores large volumes of structured and semi-structured data from various sources, such as transactional databases, log files, and APIs, in a single, centralized repository optimized for analytics.</a:t>
            </a:r>
            <a:endParaRPr/>
          </a:p>
          <a:p>
            <a:pPr indent="0" lvl="0" marL="0" rtl="0" algn="l">
              <a:spcBef>
                <a:spcPts val="1200"/>
              </a:spcBef>
              <a:spcAft>
                <a:spcPts val="0"/>
              </a:spcAft>
              <a:buClr>
                <a:schemeClr val="dk1"/>
              </a:buClr>
              <a:buSzPct val="61111"/>
              <a:buFont typeface="Arial"/>
              <a:buNone/>
            </a:pPr>
            <a:r>
              <a:rPr b="1" lang="en"/>
              <a:t>Highly Scalable &amp; Fast Query Performance</a:t>
            </a:r>
            <a:r>
              <a:rPr lang="en"/>
              <a:t>: Data warehousing services are designed to handle massive amounts of data and provide fast query performance for complex analytics tasks, enabling users to extract valuable insights and make data-driven decisions.</a:t>
            </a:r>
            <a:endParaRPr/>
          </a:p>
          <a:p>
            <a:pPr indent="0" lvl="0" marL="0" rtl="0" algn="l">
              <a:spcBef>
                <a:spcPts val="1200"/>
              </a:spcBef>
              <a:spcAft>
                <a:spcPts val="0"/>
              </a:spcAft>
              <a:buNone/>
            </a:pPr>
            <a:r>
              <a:rPr b="1" lang="en"/>
              <a:t>Integrated Data Processing &amp; Analysis</a:t>
            </a:r>
            <a:r>
              <a:rPr lang="en"/>
              <a:t>: Data warehousing services integrate with data processing and analytics tools, such as ETL pipelines, data visualization platforms, and machine learning services, providing a comprehensive solution for organizations to store, process, and analyze their data.</a:t>
            </a:r>
            <a:endParaRPr/>
          </a:p>
          <a:p>
            <a:pPr indent="0" lvl="0" marL="0" rtl="0" algn="l">
              <a:spcBef>
                <a:spcPts val="1200"/>
              </a:spcBef>
              <a:spcAft>
                <a:spcPts val="1200"/>
              </a:spcAft>
              <a:buNone/>
            </a:pPr>
            <a:r>
              <a:rPr i="1" lang="en"/>
              <a:t>ETL pipelines: ETL stands for Extract, Transform, Load. It's a type of data integration process:</a:t>
            </a:r>
            <a:endParaRPr i="1"/>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DocumentDB</a:t>
            </a:r>
            <a:endParaRPr/>
          </a:p>
        </p:txBody>
      </p:sp>
      <p:sp>
        <p:nvSpPr>
          <p:cNvPr id="541" name="Google Shape;541;p9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 fully managed </a:t>
            </a:r>
            <a:r>
              <a:rPr b="1" lang="en">
                <a:highlight>
                  <a:srgbClr val="FFFF00"/>
                </a:highlight>
              </a:rPr>
              <a:t>document database service</a:t>
            </a:r>
            <a:r>
              <a:rPr lang="en"/>
              <a:t> that supports MongoDB workloads.</a:t>
            </a:r>
            <a:endParaRPr/>
          </a:p>
          <a:p>
            <a:pPr indent="0" lvl="0" marL="0" rtl="0" algn="l">
              <a:spcBef>
                <a:spcPts val="1200"/>
              </a:spcBef>
              <a:spcAft>
                <a:spcPts val="0"/>
              </a:spcAft>
              <a:buClr>
                <a:schemeClr val="dk1"/>
              </a:buClr>
              <a:buSzPts val="1100"/>
              <a:buFont typeface="Arial"/>
              <a:buNone/>
            </a:pPr>
            <a:r>
              <a:rPr lang="en"/>
              <a:t>It's designed to give you the performance, scalability, and availability you need when operating mission-critical MongoDB workloads at scale.</a:t>
            </a:r>
            <a:endParaRPr/>
          </a:p>
          <a:p>
            <a:pPr indent="0" lvl="0" marL="0" rtl="0" algn="l">
              <a:spcBef>
                <a:spcPts val="1200"/>
              </a:spcBef>
              <a:spcAft>
                <a:spcPts val="0"/>
              </a:spcAft>
              <a:buClr>
                <a:schemeClr val="dk1"/>
              </a:buClr>
              <a:buSzPts val="1100"/>
              <a:buFont typeface="Arial"/>
              <a:buNone/>
            </a:pPr>
            <a:r>
              <a:rPr b="1" lang="en"/>
              <a:t>Use case</a:t>
            </a:r>
            <a:r>
              <a:rPr lang="en"/>
              <a:t>: Suitable for content management, catalogs, and user profiles.</a:t>
            </a:r>
            <a:endParaRPr/>
          </a:p>
          <a:p>
            <a:pPr indent="0" lvl="0" marL="0" rtl="0" algn="l">
              <a:spcBef>
                <a:spcPts val="1200"/>
              </a:spcBef>
              <a:spcAft>
                <a:spcPts val="120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
            </a:r>
            <a:r>
              <a:rPr lang="en"/>
              <a:t>ocument database service</a:t>
            </a:r>
            <a:endParaRPr/>
          </a:p>
        </p:txBody>
      </p:sp>
      <p:sp>
        <p:nvSpPr>
          <p:cNvPr id="547" name="Google Shape;547;p9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Flexible Data Model</a:t>
            </a:r>
            <a:r>
              <a:rPr lang="en"/>
              <a:t>: Document databases store data in a </a:t>
            </a:r>
            <a:r>
              <a:rPr b="1" lang="en">
                <a:highlight>
                  <a:srgbClr val="FFFF00"/>
                </a:highlight>
              </a:rPr>
              <a:t>flexible, semi-structured format</a:t>
            </a:r>
            <a:r>
              <a:rPr lang="en"/>
              <a:t> like JSON, BSON, or XML, allowing for dynamic schemas and hierarchical data structures. This makes them well-suited for handling diverse, </a:t>
            </a:r>
            <a:r>
              <a:rPr b="1" lang="en">
                <a:highlight>
                  <a:srgbClr val="FFFF00"/>
                </a:highlight>
              </a:rPr>
              <a:t>constantly evolving, or unstructured data without the need for rigid table schemas.</a:t>
            </a:r>
            <a:endParaRPr b="1">
              <a:highlight>
                <a:srgbClr val="FFFF00"/>
              </a:highlight>
            </a:endParaRPr>
          </a:p>
          <a:p>
            <a:pPr indent="0" lvl="0" marL="0" rtl="0" algn="l">
              <a:spcBef>
                <a:spcPts val="1200"/>
              </a:spcBef>
              <a:spcAft>
                <a:spcPts val="1200"/>
              </a:spcAft>
              <a:buNone/>
            </a:pPr>
            <a:r>
              <a:rPr b="1" lang="en"/>
              <a:t>High Scalability</a:t>
            </a:r>
            <a:r>
              <a:rPr lang="en"/>
              <a:t>: Document databases are designed for horizontal scaling, enabling them to handle large amounts of data and high read and write workloads. They often use techniques like sharding and partitioning to distribute data across multiple servers, ensuring high availability and fault tolerance.</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9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Document database service</a:t>
            </a:r>
            <a:endParaRPr/>
          </a:p>
        </p:txBody>
      </p:sp>
      <p:sp>
        <p:nvSpPr>
          <p:cNvPr id="553" name="Google Shape;553;p9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Ease of Development</a:t>
            </a:r>
            <a:r>
              <a:rPr lang="en"/>
              <a:t>: With document databases, developers can store and query data in a format that closely resembles the data structures used in modern programming languages, making it easier to work with and integrate into applications. They also typically support powerful query languages and indexing features for efficient data retrieval and complex querying.</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Amazon DocumentDB vs Azure Cosmos DB's MongoDB API</a:t>
            </a:r>
            <a:endParaRPr sz="3900"/>
          </a:p>
        </p:txBody>
      </p:sp>
      <p:sp>
        <p:nvSpPr>
          <p:cNvPr id="559" name="Google Shape;559;p95"/>
          <p:cNvSpPr txBox="1"/>
          <p:nvPr>
            <p:ph idx="1" type="body"/>
          </p:nvPr>
        </p:nvSpPr>
        <p:spPr>
          <a:xfrm>
            <a:off x="311700" y="1265875"/>
            <a:ext cx="8520600" cy="330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Amazon DocumentDB and Azure Cosmos DB's MongoDB API both provide managed database services </a:t>
            </a:r>
            <a:r>
              <a:rPr b="1" lang="en">
                <a:highlight>
                  <a:srgbClr val="FFFF00"/>
                </a:highlight>
              </a:rPr>
              <a:t>compatible with MongoDB</a:t>
            </a:r>
            <a:r>
              <a:rPr lang="en"/>
              <a:t>.</a:t>
            </a:r>
            <a:endParaRPr/>
          </a:p>
          <a:p>
            <a:pPr indent="0" lvl="0" marL="0" rtl="0" algn="l">
              <a:spcBef>
                <a:spcPts val="1200"/>
              </a:spcBef>
              <a:spcAft>
                <a:spcPts val="0"/>
              </a:spcAft>
              <a:buNone/>
            </a:pPr>
            <a:r>
              <a:rPr lang="en"/>
              <a:t>While both offer scalability and security, Azure Cosmos DB's MongoDB API offers global distribution and multi-model support (key-value, graph, column-family, document).</a:t>
            </a:r>
            <a:endParaRPr/>
          </a:p>
          <a:p>
            <a:pPr indent="0" lvl="0" marL="0" rtl="0" algn="l">
              <a:spcBef>
                <a:spcPts val="1200"/>
              </a:spcBef>
              <a:spcAft>
                <a:spcPts val="1200"/>
              </a:spcAft>
              <a:buNone/>
            </a:pPr>
            <a:r>
              <a:rPr i="1" lang="en" sz="2964"/>
              <a:t>Key here is MongoDB is NoSQL and document oriented.</a:t>
            </a:r>
            <a:endParaRPr i="1" sz="2964"/>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Amazon Neptune</a:t>
            </a:r>
            <a:endParaRPr/>
          </a:p>
        </p:txBody>
      </p:sp>
      <p:sp>
        <p:nvSpPr>
          <p:cNvPr id="565" name="Google Shape;565;p9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 fully managed </a:t>
            </a:r>
            <a:r>
              <a:rPr b="1" lang="en">
                <a:highlight>
                  <a:srgbClr val="FFFF00"/>
                </a:highlight>
              </a:rPr>
              <a:t>graph database service</a:t>
            </a:r>
            <a:r>
              <a:rPr lang="en"/>
              <a:t> optimized for storing billions of relationships and querying the graph with milliseconds latency.</a:t>
            </a:r>
            <a:endParaRPr/>
          </a:p>
          <a:p>
            <a:pPr indent="0" lvl="0" marL="0" rtl="0" algn="l">
              <a:spcBef>
                <a:spcPts val="1200"/>
              </a:spcBef>
              <a:spcAft>
                <a:spcPts val="0"/>
              </a:spcAft>
              <a:buClr>
                <a:schemeClr val="dk1"/>
              </a:buClr>
              <a:buSzPts val="1100"/>
              <a:buFont typeface="Arial"/>
              <a:buNone/>
            </a:pPr>
            <a:r>
              <a:rPr lang="en"/>
              <a:t>It supports popular graph models Property Graph and W3C's RDF, and their respective query languages Apache TinkerPop Gremlin and SPARQL.</a:t>
            </a:r>
            <a:endParaRPr/>
          </a:p>
          <a:p>
            <a:pPr indent="0" lvl="0" marL="0" rtl="0" algn="l">
              <a:spcBef>
                <a:spcPts val="1200"/>
              </a:spcBef>
              <a:spcAft>
                <a:spcPts val="1200"/>
              </a:spcAft>
              <a:buNone/>
            </a:pPr>
            <a:r>
              <a:rPr b="1" lang="en"/>
              <a:t>Use case</a:t>
            </a:r>
            <a:r>
              <a:rPr lang="en"/>
              <a:t>: Suitable for building and running applications that work with highly connected datasets, such as recommendation engines, fraud detection, and knowledge graphs.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9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t>
            </a:r>
            <a:r>
              <a:rPr lang="en"/>
              <a:t>raph database service</a:t>
            </a:r>
            <a:endParaRPr/>
          </a:p>
        </p:txBody>
      </p:sp>
      <p:sp>
        <p:nvSpPr>
          <p:cNvPr id="571" name="Google Shape;571;p9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Graph Structure</a:t>
            </a:r>
            <a:r>
              <a:rPr lang="en"/>
              <a:t>: Graph databases use graph structures for semantic queries with nodes, edges, and properties to represent and store data. This </a:t>
            </a:r>
            <a:r>
              <a:rPr b="1" lang="en">
                <a:highlight>
                  <a:srgbClr val="FFFF00"/>
                </a:highlight>
              </a:rPr>
              <a:t>unique structure allows them to model complex relationships easily and intuitively</a:t>
            </a:r>
            <a:r>
              <a:rPr lang="en"/>
              <a:t>.</a:t>
            </a:r>
            <a:endParaRPr/>
          </a:p>
          <a:p>
            <a:pPr indent="0" lvl="0" marL="0" rtl="0" algn="l">
              <a:spcBef>
                <a:spcPts val="1200"/>
              </a:spcBef>
              <a:spcAft>
                <a:spcPts val="1200"/>
              </a:spcAft>
              <a:buNone/>
            </a:pPr>
            <a:r>
              <a:rPr b="1" lang="en"/>
              <a:t>Performance</a:t>
            </a:r>
            <a:r>
              <a:rPr lang="en"/>
              <a:t>: Because of their structure, graph databases can perform complex queries on connected data faster than relational databases. They are designed to extract complex relationships within data, </a:t>
            </a:r>
            <a:r>
              <a:rPr b="1" lang="en">
                <a:highlight>
                  <a:srgbClr val="FFFF00"/>
                </a:highlight>
              </a:rPr>
              <a:t>which would require multiple JOIN operations in SQL databases</a:t>
            </a:r>
            <a:r>
              <a:rPr lang="en"/>
              <a:t>.</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Amazon Neptune vs Azure Cosmos DB's Gremlin API</a:t>
            </a:r>
            <a:endParaRPr sz="3800"/>
          </a:p>
        </p:txBody>
      </p:sp>
      <p:sp>
        <p:nvSpPr>
          <p:cNvPr id="577" name="Google Shape;577;p98"/>
          <p:cNvSpPr txBox="1"/>
          <p:nvPr>
            <p:ph idx="1" type="body"/>
          </p:nvPr>
        </p:nvSpPr>
        <p:spPr>
          <a:xfrm>
            <a:off x="311700" y="1216375"/>
            <a:ext cx="8520600" cy="335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are </a:t>
            </a:r>
            <a:r>
              <a:rPr b="1" lang="en">
                <a:highlight>
                  <a:srgbClr val="FFFF00"/>
                </a:highlight>
              </a:rPr>
              <a:t>managed graph database services</a:t>
            </a:r>
            <a:r>
              <a:rPr lang="en"/>
              <a:t> for building and running applications that work with </a:t>
            </a:r>
            <a:r>
              <a:rPr b="1" lang="en">
                <a:highlight>
                  <a:srgbClr val="FFFF00"/>
                </a:highlight>
              </a:rPr>
              <a:t>highly connected datasets.</a:t>
            </a:r>
            <a:endParaRPr b="1">
              <a:highlight>
                <a:srgbClr val="FFFF00"/>
              </a:highlight>
            </a:endParaRPr>
          </a:p>
          <a:p>
            <a:pPr indent="0" lvl="0" marL="0" rtl="0" algn="l">
              <a:spcBef>
                <a:spcPts val="1200"/>
              </a:spcBef>
              <a:spcAft>
                <a:spcPts val="1200"/>
              </a:spcAft>
              <a:buNone/>
            </a:pPr>
            <a:r>
              <a:rPr lang="en"/>
              <a:t>Neptune supports popular graph models Property Graph and W3C's RDF, and their respective query languages Apache TinkerPop Gremlin and SPARQL. Azure Cosmos DB's Gremlin API supports the Apache TinkerPop Gremlin graph query language.</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meets Databases</a:t>
            </a:r>
            <a:endParaRPr/>
          </a:p>
        </p:txBody>
      </p:sp>
      <p:sp>
        <p:nvSpPr>
          <p:cNvPr id="583" name="Google Shape;583;p9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3400"/>
              <a:t>Data Lakes</a:t>
            </a:r>
            <a:r>
              <a:rPr lang="en"/>
              <a:t> can be seen as a blend of both storage and database concepts, as they involve storing </a:t>
            </a:r>
            <a:r>
              <a:rPr b="1" lang="en">
                <a:highlight>
                  <a:srgbClr val="FFFF00"/>
                </a:highlight>
              </a:rPr>
              <a:t>large quantities of data</a:t>
            </a:r>
            <a:r>
              <a:rPr lang="en"/>
              <a:t> (like a storage system) and also </a:t>
            </a:r>
            <a:r>
              <a:rPr b="1" lang="en">
                <a:highlight>
                  <a:srgbClr val="FFFF00"/>
                </a:highlight>
              </a:rPr>
              <a:t>organizing that data for analysis</a:t>
            </a:r>
            <a:r>
              <a:rPr lang="en"/>
              <a:t> (like a database).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Aspect</a:t>
            </a:r>
            <a:endParaRPr/>
          </a:p>
        </p:txBody>
      </p:sp>
      <p:sp>
        <p:nvSpPr>
          <p:cNvPr id="589" name="Google Shape;589;p10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Data lakes</a:t>
            </a:r>
            <a:r>
              <a:rPr lang="en"/>
              <a:t> store </a:t>
            </a:r>
            <a:r>
              <a:rPr b="1" lang="en">
                <a:highlight>
                  <a:srgbClr val="FFFF00"/>
                </a:highlight>
              </a:rPr>
              <a:t>raw, unprocessed data in its native format</a:t>
            </a:r>
            <a:r>
              <a:rPr lang="en"/>
              <a:t>, including structured, semi-structured, and unstructured data. This is more characteristic of a storage system. For instance, </a:t>
            </a:r>
            <a:r>
              <a:rPr b="1" lang="en">
                <a:highlight>
                  <a:srgbClr val="FFFF00"/>
                </a:highlight>
              </a:rPr>
              <a:t>Amazon S3, a storage service</a:t>
            </a:r>
            <a:r>
              <a:rPr lang="en"/>
              <a:t>, is commonly used as the foundational layer of a data lake in AWS.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0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 Aspect</a:t>
            </a:r>
            <a:endParaRPr/>
          </a:p>
        </p:txBody>
      </p:sp>
      <p:sp>
        <p:nvSpPr>
          <p:cNvPr id="595" name="Google Shape;595;p10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While </a:t>
            </a:r>
            <a:r>
              <a:rPr b="1" lang="en" sz="3400"/>
              <a:t>data lakes</a:t>
            </a:r>
            <a:r>
              <a:rPr lang="en"/>
              <a:t> do involve </a:t>
            </a:r>
            <a:r>
              <a:rPr b="1" lang="en">
                <a:highlight>
                  <a:srgbClr val="FFFF00"/>
                </a:highlight>
              </a:rPr>
              <a:t>querying and analyzing data</a:t>
            </a:r>
            <a:r>
              <a:rPr lang="en"/>
              <a:t>, this is typically done using separate analytics or processing services that interface with the data lake, not by the data lake itself. </a:t>
            </a:r>
            <a:r>
              <a:rPr b="1" lang="en"/>
              <a:t>AWS Lake Formation</a:t>
            </a:r>
            <a:r>
              <a:rPr lang="en"/>
              <a:t> makes it easy to set up, secure, and manage your data lake. It automates much of the heavy lifting of defining, securing, and auditing access to your data.</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0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topic</a:t>
            </a:r>
            <a:endParaRPr/>
          </a:p>
        </p:txBody>
      </p:sp>
      <p:sp>
        <p:nvSpPr>
          <p:cNvPr id="601" name="Google Shape;601;p10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Networking</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2400" u="sng">
                <a:solidFill>
                  <a:schemeClr val="hlink"/>
                </a:solidFill>
                <a:hlinkClick r:id="rId3"/>
              </a:rPr>
              <a:t>OpenClipArt</a:t>
            </a:r>
            <a:endParaRPr sz="2400"/>
          </a:p>
        </p:txBody>
      </p:sp>
      <p:pic>
        <p:nvPicPr>
          <p:cNvPr id="602" name="Google Shape;602;p102"/>
          <p:cNvPicPr preferRelativeResize="0"/>
          <p:nvPr/>
        </p:nvPicPr>
        <p:blipFill>
          <a:blip r:embed="rId4">
            <a:alphaModFix/>
          </a:blip>
          <a:stretch>
            <a:fillRect/>
          </a:stretch>
        </p:blipFill>
        <p:spPr>
          <a:xfrm>
            <a:off x="3736226" y="1018700"/>
            <a:ext cx="4587924" cy="27532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Network Services</a:t>
            </a:r>
            <a:endParaRPr/>
          </a:p>
        </p:txBody>
      </p:sp>
      <p:sp>
        <p:nvSpPr>
          <p:cNvPr id="608" name="Google Shape;608;p10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We’ll introduce these, but there are </a:t>
            </a:r>
            <a:r>
              <a:rPr b="1" lang="en"/>
              <a:t>a lot more.</a:t>
            </a:r>
            <a:endParaRPr/>
          </a:p>
          <a:p>
            <a:pPr indent="0" lvl="0" marL="0" rtl="0" algn="l">
              <a:spcBef>
                <a:spcPts val="1200"/>
              </a:spcBef>
              <a:spcAft>
                <a:spcPts val="0"/>
              </a:spcAft>
              <a:buClr>
                <a:schemeClr val="dk1"/>
              </a:buClr>
              <a:buSzPts val="1100"/>
              <a:buFont typeface="Arial"/>
              <a:buNone/>
            </a:pPr>
            <a:r>
              <a:rPr lang="en"/>
              <a:t>Amazon VPC</a:t>
            </a:r>
            <a:endParaRPr/>
          </a:p>
          <a:p>
            <a:pPr indent="0" lvl="0" marL="0" rtl="0" algn="l">
              <a:spcBef>
                <a:spcPts val="1200"/>
              </a:spcBef>
              <a:spcAft>
                <a:spcPts val="0"/>
              </a:spcAft>
              <a:buClr>
                <a:schemeClr val="dk1"/>
              </a:buClr>
              <a:buSzPts val="1100"/>
              <a:buFont typeface="Arial"/>
              <a:buNone/>
            </a:pPr>
            <a:r>
              <a:rPr lang="en"/>
              <a:t>Amazon Route 53</a:t>
            </a:r>
            <a:endParaRPr/>
          </a:p>
          <a:p>
            <a:pPr indent="0" lvl="0" marL="0" rtl="0" algn="l">
              <a:spcBef>
                <a:spcPts val="1200"/>
              </a:spcBef>
              <a:spcAft>
                <a:spcPts val="0"/>
              </a:spcAft>
              <a:buClr>
                <a:schemeClr val="dk1"/>
              </a:buClr>
              <a:buSzPts val="1100"/>
              <a:buFont typeface="Arial"/>
              <a:buNone/>
            </a:pPr>
            <a:r>
              <a:rPr lang="en"/>
              <a:t>AWS Direct Connect</a:t>
            </a:r>
            <a:endParaRPr/>
          </a:p>
          <a:p>
            <a:pPr indent="0" lvl="0" marL="0" rtl="0" algn="l">
              <a:spcBef>
                <a:spcPts val="1200"/>
              </a:spcBef>
              <a:spcAft>
                <a:spcPts val="1200"/>
              </a:spcAft>
              <a:buNone/>
            </a:pPr>
            <a:r>
              <a:rPr lang="en"/>
              <a:t>AWS VPN</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VPC vs Azure Virtual Network</a:t>
            </a:r>
            <a:endParaRPr/>
          </a:p>
        </p:txBody>
      </p:sp>
      <p:sp>
        <p:nvSpPr>
          <p:cNvPr id="614" name="Google Shape;614;p10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provide a </a:t>
            </a:r>
            <a:r>
              <a:rPr b="1" lang="en">
                <a:highlight>
                  <a:srgbClr val="FFFF00"/>
                </a:highlight>
              </a:rPr>
              <a:t>logically isolated network</a:t>
            </a:r>
            <a:r>
              <a:rPr lang="en"/>
              <a:t> in the cloud, with user-defined IP address range, subnets, and gateways.</a:t>
            </a:r>
            <a:endParaRPr/>
          </a:p>
          <a:p>
            <a:pPr indent="0" lvl="0" marL="0" rtl="0" algn="l">
              <a:spcBef>
                <a:spcPts val="1200"/>
              </a:spcBef>
              <a:spcAft>
                <a:spcPts val="0"/>
              </a:spcAft>
              <a:buClr>
                <a:schemeClr val="dk1"/>
              </a:buClr>
              <a:buSzPts val="1100"/>
              <a:buFont typeface="Arial"/>
              <a:buNone/>
            </a:pPr>
            <a:r>
              <a:rPr lang="en"/>
              <a:t>VPC can be associated with multiple AWS Availability Zones for high availability.</a:t>
            </a:r>
            <a:endParaRPr/>
          </a:p>
          <a:p>
            <a:pPr indent="0" lvl="0" marL="0" rtl="0" algn="l">
              <a:spcBef>
                <a:spcPts val="1200"/>
              </a:spcBef>
              <a:spcAft>
                <a:spcPts val="1200"/>
              </a:spcAft>
              <a:buNone/>
            </a:pPr>
            <a:r>
              <a:rPr lang="en"/>
              <a:t>Azure Virtual Network is region-specific but can be peered with networks in other regions.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0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Route 53 vs Azure DNS</a:t>
            </a:r>
            <a:endParaRPr/>
          </a:p>
        </p:txBody>
      </p:sp>
      <p:sp>
        <p:nvSpPr>
          <p:cNvPr id="620" name="Google Shape;620;p10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are scalable </a:t>
            </a:r>
            <a:r>
              <a:rPr b="1" lang="en">
                <a:highlight>
                  <a:srgbClr val="FFFF00"/>
                </a:highlight>
              </a:rPr>
              <a:t>cloud DNS services</a:t>
            </a:r>
            <a:r>
              <a:rPr lang="en"/>
              <a:t> that connect user requests to infrastructure.</a:t>
            </a:r>
            <a:endParaRPr/>
          </a:p>
          <a:p>
            <a:pPr indent="0" lvl="0" marL="0" rtl="0" algn="l">
              <a:spcBef>
                <a:spcPts val="1200"/>
              </a:spcBef>
              <a:spcAft>
                <a:spcPts val="0"/>
              </a:spcAft>
              <a:buClr>
                <a:schemeClr val="dk1"/>
              </a:buClr>
              <a:buSzPts val="1100"/>
              <a:buFont typeface="Arial"/>
              <a:buNone/>
            </a:pPr>
            <a:r>
              <a:rPr lang="en"/>
              <a:t>Route 53 additionally offers domain registration services.</a:t>
            </a:r>
            <a:endParaRPr/>
          </a:p>
          <a:p>
            <a:pPr indent="0" lvl="0" marL="0" rtl="0" algn="l">
              <a:spcBef>
                <a:spcPts val="1200"/>
              </a:spcBef>
              <a:spcAft>
                <a:spcPts val="1200"/>
              </a:spcAft>
              <a:buNone/>
            </a:pPr>
            <a:r>
              <a:rPr lang="en"/>
              <a:t>Azure DNS requires a third-party domain registrar for domain registration.</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0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Direct Connect vs ExpressRoute</a:t>
            </a:r>
            <a:endParaRPr/>
          </a:p>
        </p:txBody>
      </p:sp>
      <p:sp>
        <p:nvSpPr>
          <p:cNvPr id="626" name="Google Shape;626;p10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provide </a:t>
            </a:r>
            <a:r>
              <a:rPr b="1" lang="en">
                <a:highlight>
                  <a:srgbClr val="FFFF00"/>
                </a:highlight>
              </a:rPr>
              <a:t>a dedicated, private network connection</a:t>
            </a:r>
            <a:r>
              <a:rPr lang="en"/>
              <a:t> from on-premises to the cloud.</a:t>
            </a:r>
            <a:endParaRPr/>
          </a:p>
          <a:p>
            <a:pPr indent="0" lvl="0" marL="0" rtl="0" algn="l">
              <a:spcBef>
                <a:spcPts val="1200"/>
              </a:spcBef>
              <a:spcAft>
                <a:spcPts val="0"/>
              </a:spcAft>
              <a:buClr>
                <a:schemeClr val="dk1"/>
              </a:buClr>
              <a:buSzPts val="1100"/>
              <a:buFont typeface="Arial"/>
              <a:buNone/>
            </a:pPr>
            <a:r>
              <a:rPr lang="en"/>
              <a:t>Direct Connect and ExpressRoute increase bandwidth throughput and provide a more consistent network experience than internet-based connections.</a:t>
            </a:r>
            <a:endParaRPr/>
          </a:p>
          <a:p>
            <a:pPr indent="0" lvl="0" marL="0" rtl="0" algn="l">
              <a:spcBef>
                <a:spcPts val="1200"/>
              </a:spcBef>
              <a:spcAft>
                <a:spcPts val="1200"/>
              </a:spcAft>
              <a:buNone/>
            </a:pPr>
            <a:r>
              <a:rPr lang="en"/>
              <a:t>Bandwidth options differ: Direct Connect (1 Gbps to 100 Gbps), ExpressRoute (50 Mbps to 100 Gbps).</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0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AWS VPN vs Azure VPN Gateway</a:t>
            </a:r>
            <a:endParaRPr sz="4000"/>
          </a:p>
        </p:txBody>
      </p:sp>
      <p:sp>
        <p:nvSpPr>
          <p:cNvPr id="632" name="Google Shape;632;p10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Both create secure and private sessions with IPSec and TLS tunnels.</a:t>
            </a:r>
            <a:endParaRPr/>
          </a:p>
          <a:p>
            <a:pPr indent="0" lvl="0" marL="0" rtl="0" algn="l">
              <a:spcBef>
                <a:spcPts val="1200"/>
              </a:spcBef>
              <a:spcAft>
                <a:spcPts val="0"/>
              </a:spcAft>
              <a:buClr>
                <a:schemeClr val="dk1"/>
              </a:buClr>
              <a:buSzPts val="1100"/>
              <a:buFont typeface="Arial"/>
              <a:buNone/>
            </a:pPr>
            <a:r>
              <a:rPr lang="en"/>
              <a:t>AWS offers </a:t>
            </a:r>
            <a:r>
              <a:rPr b="1" lang="en">
                <a:highlight>
                  <a:srgbClr val="FFFF00"/>
                </a:highlight>
              </a:rPr>
              <a:t>Site-to-Site VPN</a:t>
            </a:r>
            <a:r>
              <a:rPr lang="en"/>
              <a:t> (on-premises to AWS) and </a:t>
            </a:r>
            <a:r>
              <a:rPr b="1" lang="en">
                <a:highlight>
                  <a:srgbClr val="FFFF00"/>
                </a:highlight>
              </a:rPr>
              <a:t>Client VPN</a:t>
            </a:r>
            <a:r>
              <a:rPr lang="en"/>
              <a:t> (individual users to AWS).</a:t>
            </a:r>
            <a:endParaRPr/>
          </a:p>
          <a:p>
            <a:pPr indent="0" lvl="0" marL="0" rtl="0" algn="l">
              <a:spcBef>
                <a:spcPts val="1200"/>
              </a:spcBef>
              <a:spcAft>
                <a:spcPts val="0"/>
              </a:spcAft>
              <a:buNone/>
            </a:pPr>
            <a:r>
              <a:rPr lang="en"/>
              <a:t>Azure offers </a:t>
            </a:r>
            <a:r>
              <a:rPr b="1" lang="en">
                <a:highlight>
                  <a:srgbClr val="FFFF00"/>
                </a:highlight>
              </a:rPr>
              <a:t>Site-to-Site VPN</a:t>
            </a:r>
            <a:r>
              <a:rPr lang="en"/>
              <a:t> (on-premises to Azure) and </a:t>
            </a:r>
            <a:r>
              <a:rPr b="1" lang="en">
                <a:highlight>
                  <a:srgbClr val="FFFF00"/>
                </a:highlight>
              </a:rPr>
              <a:t>Point-to-Site VPN</a:t>
            </a:r>
            <a:r>
              <a:rPr lang="en"/>
              <a:t> (individual users to Azure).</a:t>
            </a:r>
            <a:endParaRPr/>
          </a:p>
          <a:p>
            <a:pPr indent="0" lvl="0" marL="0" rtl="0" algn="l">
              <a:spcBef>
                <a:spcPts val="1200"/>
              </a:spcBef>
              <a:spcAft>
                <a:spcPts val="1200"/>
              </a:spcAft>
              <a:buNone/>
            </a:pPr>
            <a:r>
              <a:rPr lang="en"/>
              <a:t>Note: </a:t>
            </a:r>
            <a:r>
              <a:rPr i="1" lang="en"/>
              <a:t>Client VPN vs Point-to-Site is the same thing, just a different name.</a:t>
            </a:r>
            <a:endParaRPr i="1"/>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0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Cloudping.info</a:t>
            </a:r>
            <a:endParaRPr/>
          </a:p>
        </p:txBody>
      </p:sp>
      <p:sp>
        <p:nvSpPr>
          <p:cNvPr id="638" name="Google Shape;638;p10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639" name="Google Shape;639;p108"/>
          <p:cNvPicPr preferRelativeResize="0"/>
          <p:nvPr/>
        </p:nvPicPr>
        <p:blipFill>
          <a:blip r:embed="rId3">
            <a:alphaModFix/>
          </a:blip>
          <a:stretch>
            <a:fillRect/>
          </a:stretch>
        </p:blipFill>
        <p:spPr>
          <a:xfrm>
            <a:off x="2556150" y="1060850"/>
            <a:ext cx="6104825" cy="37016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0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www.iplocation.net</a:t>
            </a:r>
            <a:endParaRPr/>
          </a:p>
        </p:txBody>
      </p:sp>
      <p:sp>
        <p:nvSpPr>
          <p:cNvPr id="645" name="Google Shape;645;p10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646" name="Google Shape;646;p109"/>
          <p:cNvPicPr preferRelativeResize="0"/>
          <p:nvPr/>
        </p:nvPicPr>
        <p:blipFill>
          <a:blip r:embed="rId3">
            <a:alphaModFix/>
          </a:blip>
          <a:stretch>
            <a:fillRect/>
          </a:stretch>
        </p:blipFill>
        <p:spPr>
          <a:xfrm>
            <a:off x="1516518" y="1000075"/>
            <a:ext cx="6279706" cy="35433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www.iplocation.net</a:t>
            </a:r>
            <a:endParaRPr/>
          </a:p>
        </p:txBody>
      </p:sp>
      <p:sp>
        <p:nvSpPr>
          <p:cNvPr id="652" name="Google Shape;652;p11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653" name="Google Shape;653;p110"/>
          <p:cNvPicPr preferRelativeResize="0"/>
          <p:nvPr/>
        </p:nvPicPr>
        <p:blipFill>
          <a:blip r:embed="rId3">
            <a:alphaModFix/>
          </a:blip>
          <a:stretch>
            <a:fillRect/>
          </a:stretch>
        </p:blipFill>
        <p:spPr>
          <a:xfrm>
            <a:off x="2667875" y="1052000"/>
            <a:ext cx="3721475" cy="37105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Determine the nearest Point of Presence (PoP) for a user</a:t>
            </a:r>
            <a:endParaRPr/>
          </a:p>
        </p:txBody>
      </p:sp>
      <p:sp>
        <p:nvSpPr>
          <p:cNvPr id="659" name="Google Shape;659;p111"/>
          <p:cNvSpPr txBox="1"/>
          <p:nvPr>
            <p:ph idx="1" type="body"/>
          </p:nvPr>
        </p:nvSpPr>
        <p:spPr>
          <a:xfrm>
            <a:off x="275800" y="1329525"/>
            <a:ext cx="8556600" cy="323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Geolocation DNS</a:t>
            </a:r>
            <a:r>
              <a:rPr lang="en"/>
              <a:t>: This method uses the user's IP address to estimate their geographic location. When the user's system makes a DNS request, the DNS resolver uses the IP address of the request to estimate the user's location and returns the IP address of the nearest PoP.</a:t>
            </a:r>
            <a:endParaRPr/>
          </a:p>
          <a:p>
            <a:pPr indent="0" lvl="0" marL="0" rtl="0" algn="l">
              <a:spcBef>
                <a:spcPts val="1200"/>
              </a:spcBef>
              <a:spcAft>
                <a:spcPts val="1200"/>
              </a:spcAft>
              <a:buNone/>
            </a:pPr>
            <a:r>
              <a:rPr b="1" lang="en"/>
              <a:t>Anycast Routing</a:t>
            </a:r>
            <a:r>
              <a:rPr lang="en"/>
              <a:t>: This is a networking technique where the same IP address is assigned to multiple servers in different locations. When a user makes a request, network protocols automatically route that request to the server with that IP address that's closest in terms of network hops. It is a popular method used for DNS servers and CDN PoPs.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1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Anycast</a:t>
            </a:r>
            <a:endParaRPr/>
          </a:p>
        </p:txBody>
      </p:sp>
      <p:sp>
        <p:nvSpPr>
          <p:cNvPr id="665" name="Google Shape;665;p11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Routing Technique</a:t>
            </a:r>
            <a:r>
              <a:rPr lang="en"/>
              <a:t>: Anycast is a network addressing and routing methodology in which incoming requests can be routed to a variety of different locations or "nodes."</a:t>
            </a:r>
            <a:endParaRPr/>
          </a:p>
          <a:p>
            <a:pPr indent="0" lvl="0" marL="0" rtl="0" algn="l">
              <a:spcBef>
                <a:spcPts val="1200"/>
              </a:spcBef>
              <a:spcAft>
                <a:spcPts val="0"/>
              </a:spcAft>
              <a:buClr>
                <a:schemeClr val="dk1"/>
              </a:buClr>
              <a:buSzPts val="1100"/>
              <a:buFont typeface="Arial"/>
              <a:buNone/>
            </a:pPr>
            <a:r>
              <a:rPr b="1" lang="en"/>
              <a:t>Best Path Selection</a:t>
            </a:r>
            <a:r>
              <a:rPr lang="en"/>
              <a:t>: Anycast relies on the </a:t>
            </a:r>
            <a:r>
              <a:rPr b="1" lang="en">
                <a:highlight>
                  <a:srgbClr val="FFFF00"/>
                </a:highlight>
              </a:rPr>
              <a:t>routing protocol</a:t>
            </a:r>
            <a:r>
              <a:rPr lang="en"/>
              <a:t> to select the best path to the nearest or best-performing node based on factors such as distance, latency, or cost.</a:t>
            </a:r>
            <a:endParaRPr/>
          </a:p>
          <a:p>
            <a:pPr indent="0" lvl="0" marL="0" rtl="0" algn="l">
              <a:spcBef>
                <a:spcPts val="1200"/>
              </a:spcBef>
              <a:spcAft>
                <a:spcPts val="1200"/>
              </a:spcAft>
              <a:buNone/>
            </a:pPr>
            <a:r>
              <a:rPr b="1" lang="en"/>
              <a:t>Distributed Services</a:t>
            </a:r>
            <a:r>
              <a:rPr lang="en"/>
              <a:t>: It's widely used in distributed services where multiple identical instances of a service can exist simultaneously. It helps in load balancing, redundancy, and reducing latency.</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11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Anycast Routing example</a:t>
            </a:r>
            <a:endParaRPr/>
          </a:p>
        </p:txBody>
      </p:sp>
      <p:sp>
        <p:nvSpPr>
          <p:cNvPr id="671" name="Google Shape;671;p11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a:t>
            </a:r>
            <a:r>
              <a:rPr lang="en"/>
              <a:t>magine that you have a radio station that is streaming audio content over the internet using Real-time Transport Protocol (RTP). You want to set up an Anycast network to ensure that listeners can connect to your stream from anywhere in the world with </a:t>
            </a:r>
            <a:r>
              <a:rPr b="1" lang="en">
                <a:highlight>
                  <a:srgbClr val="FFFF00"/>
                </a:highlight>
              </a:rPr>
              <a:t>minimal latency</a:t>
            </a:r>
            <a:r>
              <a:rPr lang="en"/>
              <a:t>. Here's a simplified version of how you could set this up:</a:t>
            </a:r>
            <a:endParaRPr/>
          </a:p>
          <a:p>
            <a:pPr indent="0" lvl="0" marL="0" rtl="0" algn="l">
              <a:spcBef>
                <a:spcPts val="1200"/>
              </a:spcBef>
              <a:spcAft>
                <a:spcPts val="1200"/>
              </a:spcAft>
              <a:buNone/>
            </a:pPr>
            <a:r>
              <a:rPr lang="en"/>
              <a:t>1) </a:t>
            </a:r>
            <a:r>
              <a:rPr b="1" lang="en"/>
              <a:t>Set Up Your Servers</a:t>
            </a:r>
            <a:r>
              <a:rPr lang="en"/>
              <a:t>: First, you'd need to set up multiple servers in various geographical locations. Each of these servers would run your streaming application and have a </a:t>
            </a:r>
            <a:r>
              <a:rPr b="1" lang="en">
                <a:highlight>
                  <a:srgbClr val="FFFF00"/>
                </a:highlight>
              </a:rPr>
              <a:t>copy of your radio content</a:t>
            </a:r>
            <a:r>
              <a:rPr lang="en"/>
              <a:t>.</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Anycast Routing example</a:t>
            </a:r>
            <a:endParaRPr/>
          </a:p>
        </p:txBody>
      </p:sp>
      <p:sp>
        <p:nvSpPr>
          <p:cNvPr id="677" name="Google Shape;677;p1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 </a:t>
            </a:r>
            <a:r>
              <a:rPr b="1" lang="en"/>
              <a:t>Assign an Anycast IP</a:t>
            </a:r>
            <a:r>
              <a:rPr lang="en"/>
              <a:t>: You would assign the </a:t>
            </a:r>
            <a:r>
              <a:rPr b="1" lang="en">
                <a:highlight>
                  <a:srgbClr val="FFFF00"/>
                </a:highlight>
              </a:rPr>
              <a:t>same IP address to each of these servers</a:t>
            </a:r>
            <a:r>
              <a:rPr lang="en"/>
              <a:t>. This IP address is known as an Anycast IP.</a:t>
            </a:r>
            <a:endParaRPr/>
          </a:p>
          <a:p>
            <a:pPr indent="0" lvl="0" marL="0" rtl="0" algn="l">
              <a:spcBef>
                <a:spcPts val="1200"/>
              </a:spcBef>
              <a:spcAft>
                <a:spcPts val="1200"/>
              </a:spcAft>
              <a:buNone/>
            </a:pPr>
            <a:r>
              <a:rPr lang="en"/>
              <a:t>3) </a:t>
            </a:r>
            <a:r>
              <a:rPr b="1" lang="en"/>
              <a:t>Configure BGP</a:t>
            </a:r>
            <a:r>
              <a:rPr lang="en"/>
              <a:t>: You'd need to configure Border Gateway Protocol (BGP) on each server. </a:t>
            </a:r>
            <a:r>
              <a:rPr b="1" lang="en">
                <a:highlight>
                  <a:srgbClr val="FFFF00"/>
                </a:highlight>
              </a:rPr>
              <a:t>BGP will advertise your Anycast IP to the rest of the internet, telling other networks how to route traffic to this IP</a:t>
            </a:r>
            <a:r>
              <a:rPr lang="en"/>
              <a:t>. Each server will advertise the same path to the Anycast IP.</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Anycast Routing example</a:t>
            </a:r>
            <a:endParaRPr/>
          </a:p>
        </p:txBody>
      </p:sp>
      <p:sp>
        <p:nvSpPr>
          <p:cNvPr id="683" name="Google Shape;683;p1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4) </a:t>
            </a:r>
            <a:r>
              <a:rPr b="1" lang="en"/>
              <a:t>ISP Routing</a:t>
            </a:r>
            <a:r>
              <a:rPr lang="en"/>
              <a:t>: When a listener's device sends a request to your Anycast IP (to start streaming the radio station), their Internet Service Provider (ISP) would use BGP to </a:t>
            </a:r>
            <a:r>
              <a:rPr b="1" lang="en">
                <a:highlight>
                  <a:srgbClr val="FFFF00"/>
                </a:highlight>
              </a:rPr>
              <a:t>determine the shortest path to one of your servers advertising that IP</a:t>
            </a:r>
            <a:r>
              <a:rPr lang="en"/>
              <a:t>.</a:t>
            </a:r>
            <a:endParaRPr/>
          </a:p>
          <a:p>
            <a:pPr indent="0" lvl="0" marL="0" rtl="0" algn="l">
              <a:spcBef>
                <a:spcPts val="1200"/>
              </a:spcBef>
              <a:spcAft>
                <a:spcPts val="1200"/>
              </a:spcAft>
              <a:buNone/>
            </a:pPr>
            <a:r>
              <a:rPr lang="en"/>
              <a:t>5) </a:t>
            </a:r>
            <a:r>
              <a:rPr b="1" lang="en"/>
              <a:t>Stream Delivery</a:t>
            </a:r>
            <a:r>
              <a:rPr lang="en"/>
              <a:t>: The chosen server would then start streaming the audio content to the listener's device using RTP.</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Determine the nearest Point of Presence (PoP) for a user</a:t>
            </a:r>
            <a:endParaRPr/>
          </a:p>
        </p:txBody>
      </p:sp>
      <p:sp>
        <p:nvSpPr>
          <p:cNvPr id="689" name="Google Shape;689;p116"/>
          <p:cNvSpPr txBox="1"/>
          <p:nvPr>
            <p:ph idx="1" type="body"/>
          </p:nvPr>
        </p:nvSpPr>
        <p:spPr>
          <a:xfrm>
            <a:off x="275800" y="1329525"/>
            <a:ext cx="8556600" cy="323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Latency-based routing</a:t>
            </a:r>
            <a:r>
              <a:rPr lang="en"/>
              <a:t>: This method involves continuously measuring the latency between its various PoPs and various major ISPs. When a DNS request comes in, the IP address of the PoP with the lowest latency to the user's ISP is returned.</a:t>
            </a:r>
            <a:endParaRPr/>
          </a:p>
          <a:p>
            <a:pPr indent="0" lvl="0" marL="0" rtl="0" algn="l">
              <a:spcBef>
                <a:spcPts val="1200"/>
              </a:spcBef>
              <a:spcAft>
                <a:spcPts val="1200"/>
              </a:spcAft>
              <a:buNone/>
            </a:pPr>
            <a:r>
              <a:rPr b="1" lang="en"/>
              <a:t>Application-Level Check</a:t>
            </a:r>
            <a:r>
              <a:rPr lang="en"/>
              <a:t>: Sometimes, an application might have its own mechanism to check latency to various PoPs, perhaps by having the client quickly ping several of them and then continue to use the one with the lowest latency.</a:t>
            </a:r>
            <a:endParaRPr b="1"/>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AWS Edge Locations</a:t>
            </a:r>
            <a:endParaRPr/>
          </a:p>
        </p:txBody>
      </p:sp>
      <p:sp>
        <p:nvSpPr>
          <p:cNvPr id="695" name="Google Shape;695;p1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is Amazon’s </a:t>
            </a:r>
            <a:r>
              <a:rPr b="1" lang="en">
                <a:highlight>
                  <a:srgbClr val="FFFF00"/>
                </a:highlight>
              </a:rPr>
              <a:t>Content Delivery Network</a:t>
            </a:r>
            <a:r>
              <a:rPr lang="en"/>
              <a:t> (CDN) for AWS customers. </a:t>
            </a:r>
            <a:endParaRPr/>
          </a:p>
          <a:p>
            <a:pPr indent="0" lvl="0" marL="0" rtl="0" algn="l">
              <a:spcBef>
                <a:spcPts val="1200"/>
              </a:spcBef>
              <a:spcAft>
                <a:spcPts val="0"/>
              </a:spcAft>
              <a:buClr>
                <a:schemeClr val="dk1"/>
              </a:buClr>
              <a:buSzPts val="1100"/>
              <a:buFont typeface="Arial"/>
              <a:buNone/>
            </a:pPr>
            <a:r>
              <a:rPr b="1" lang="en"/>
              <a:t>Global Network</a:t>
            </a:r>
            <a:r>
              <a:rPr lang="en"/>
              <a:t>: AWS Edge Locations are part of a global network spread across cities and regions worldwide. This vast network allows content to be served closer to users, reducing latency and improving the user experience.</a:t>
            </a:r>
            <a:endParaRPr/>
          </a:p>
          <a:p>
            <a:pPr indent="0" lvl="0" marL="0" rtl="0" algn="l">
              <a:spcBef>
                <a:spcPts val="1200"/>
              </a:spcBef>
              <a:spcAft>
                <a:spcPts val="1200"/>
              </a:spcAft>
              <a:buNone/>
            </a:pPr>
            <a:r>
              <a:rPr b="1" lang="en"/>
              <a:t>Dynamic and Static Content Delivery</a:t>
            </a:r>
            <a:r>
              <a:rPr lang="en"/>
              <a:t>: AWS Edge Locations, through the use of Amazon CloudFront, can accelerate the delivery of both static and dynamic web content, including .html, .css, .php, and image files, as well as live streaming and on-demand video content.</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1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AWS Edge Locations vs Azure Edge Zones</a:t>
            </a:r>
            <a:endParaRPr sz="3300"/>
          </a:p>
        </p:txBody>
      </p:sp>
      <p:sp>
        <p:nvSpPr>
          <p:cNvPr id="701" name="Google Shape;701;p1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Azure Edge Zones are a relatively new offering by Microsoft that aims to bring Azure services and infrastructure closer to the edge of the network, i.e., closer to end-users for lower latency. There are three types of Azure Edge Zones:</a:t>
            </a:r>
            <a:endParaRPr/>
          </a:p>
          <a:p>
            <a:pPr indent="0" lvl="0" marL="0" rtl="0" algn="l">
              <a:spcBef>
                <a:spcPts val="1200"/>
              </a:spcBef>
              <a:spcAft>
                <a:spcPts val="0"/>
              </a:spcAft>
              <a:buClr>
                <a:schemeClr val="dk1"/>
              </a:buClr>
              <a:buSzPts val="1100"/>
              <a:buFont typeface="Arial"/>
              <a:buNone/>
            </a:pPr>
            <a:r>
              <a:rPr b="1" lang="en"/>
              <a:t>Azure Edge Zones:</a:t>
            </a:r>
            <a:r>
              <a:rPr lang="en"/>
              <a:t> These are owned and operated by Microsoft and offer Azure services at the edge of the carrier's network.</a:t>
            </a:r>
            <a:endParaRPr/>
          </a:p>
          <a:p>
            <a:pPr indent="0" lvl="0" marL="0" rtl="0" algn="l">
              <a:spcBef>
                <a:spcPts val="1200"/>
              </a:spcBef>
              <a:spcAft>
                <a:spcPts val="0"/>
              </a:spcAft>
              <a:buClr>
                <a:schemeClr val="dk1"/>
              </a:buClr>
              <a:buSzPts val="1100"/>
              <a:buFont typeface="Arial"/>
              <a:buNone/>
            </a:pPr>
            <a:r>
              <a:rPr b="1" lang="en"/>
              <a:t>Azure Edge Zones with Carrier</a:t>
            </a:r>
            <a:r>
              <a:rPr lang="en"/>
              <a:t>: These are small-footprint extensions of Azure located inside a carrier's data centers and directly connected to the carrier's network.</a:t>
            </a:r>
            <a:endParaRPr/>
          </a:p>
          <a:p>
            <a:pPr indent="0" lvl="0" marL="0" rtl="0" algn="l">
              <a:spcBef>
                <a:spcPts val="1200"/>
              </a:spcBef>
              <a:spcAft>
                <a:spcPts val="1200"/>
              </a:spcAft>
              <a:buNone/>
            </a:pPr>
            <a:r>
              <a:rPr b="1" lang="en"/>
              <a:t>Azure Private Edge Zones</a:t>
            </a:r>
            <a:r>
              <a:rPr lang="en"/>
              <a:t>: These are private customer-owned edge locations, typically within an enterprise premise or in a service provider-hosted environment.</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1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AWS Edge Locations vs Azure Edge Zones</a:t>
            </a:r>
            <a:endParaRPr sz="3300"/>
          </a:p>
        </p:txBody>
      </p:sp>
      <p:sp>
        <p:nvSpPr>
          <p:cNvPr id="707" name="Google Shape;707;p1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On the other hand, AWS Edge Locations are part of Amazon's Content Delivery Network (CDN) - CloudFront. They are sites deployed in major cities and highly populated areas worldwide to </a:t>
            </a:r>
            <a:r>
              <a:rPr b="1" lang="en">
                <a:highlight>
                  <a:srgbClr val="FFFF00"/>
                </a:highlight>
              </a:rPr>
              <a:t>cache data</a:t>
            </a:r>
            <a:r>
              <a:rPr lang="en"/>
              <a:t> and serve it to users with less latency.</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rPr lang="en"/>
              <a:t>Key differences are (</a:t>
            </a:r>
            <a:r>
              <a:rPr i="1" lang="en"/>
              <a:t>on the next slide</a:t>
            </a:r>
            <a:r>
              <a:rPr lang="en"/>
              <a:t>) </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2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AWS Edge Locations vs Azure Edge Zones</a:t>
            </a:r>
            <a:endParaRPr sz="3300"/>
          </a:p>
        </p:txBody>
      </p:sp>
      <p:sp>
        <p:nvSpPr>
          <p:cNvPr id="713" name="Google Shape;713;p1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a:t>
            </a:r>
            <a:r>
              <a:rPr lang="en"/>
              <a:t>Azure Edge Zones seem to offer a wider range of Azure services, not just those related to content delivery and DNS routing like AWS Edge Locations.</a:t>
            </a:r>
            <a:endParaRPr/>
          </a:p>
          <a:p>
            <a:pPr indent="0" lvl="0" marL="0" rtl="0" algn="l">
              <a:spcBef>
                <a:spcPts val="1200"/>
              </a:spcBef>
              <a:spcAft>
                <a:spcPts val="0"/>
              </a:spcAft>
              <a:buClr>
                <a:schemeClr val="dk1"/>
              </a:buClr>
              <a:buSzPts val="1100"/>
              <a:buFont typeface="Arial"/>
              <a:buNone/>
            </a:pPr>
            <a:r>
              <a:rPr lang="en"/>
              <a:t>2) AWS Edge Locations primarily support services like CloudFront (CDN) and Route 53 (DNS), while </a:t>
            </a:r>
            <a:r>
              <a:rPr lang="en">
                <a:solidFill>
                  <a:srgbClr val="0000FF"/>
                </a:solidFill>
              </a:rPr>
              <a:t>Azure Edge Zones</a:t>
            </a:r>
            <a:r>
              <a:rPr lang="en"/>
              <a:t> support a wider range of services, including </a:t>
            </a:r>
            <a:r>
              <a:rPr lang="en">
                <a:solidFill>
                  <a:srgbClr val="0000FF"/>
                </a:solidFill>
              </a:rPr>
              <a:t>VMs, Containers</a:t>
            </a:r>
            <a:r>
              <a:rPr lang="en"/>
              <a:t>, and other Azure services.</a:t>
            </a:r>
            <a:endParaRPr/>
          </a:p>
          <a:p>
            <a:pPr indent="0" lvl="0" marL="0" rtl="0" algn="l">
              <a:spcBef>
                <a:spcPts val="1200"/>
              </a:spcBef>
              <a:spcAft>
                <a:spcPts val="1200"/>
              </a:spcAft>
              <a:buNone/>
            </a:pPr>
            <a:r>
              <a:rPr lang="en"/>
              <a:t>3) Azure Edge Zones are meant to be a seamless extension of Azure, enabling developers to build and deploy applications as they would in Azure, but closer to their users. In contrast, </a:t>
            </a:r>
            <a:r>
              <a:rPr lang="en">
                <a:highlight>
                  <a:srgbClr val="FF9900"/>
                </a:highlight>
              </a:rPr>
              <a:t>AWS Edge Locations</a:t>
            </a:r>
            <a:r>
              <a:rPr lang="en"/>
              <a:t> are not a direct extension of the AWS Cloud but are </a:t>
            </a:r>
            <a:r>
              <a:rPr lang="en">
                <a:highlight>
                  <a:srgbClr val="FF9900"/>
                </a:highlight>
              </a:rPr>
              <a:t>primarily for content delivery and DNS resolution.</a:t>
            </a:r>
            <a:endParaRPr>
              <a:highlight>
                <a:srgbClr val="FF9900"/>
              </a:highlight>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week</a:t>
            </a:r>
            <a:endParaRPr/>
          </a:p>
        </p:txBody>
      </p:sp>
      <p:sp>
        <p:nvSpPr>
          <p:cNvPr id="719" name="Google Shape;719;p1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AWS Security Fundamentals</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t>#1 your email address #2 from Amazon </a:t>
            </a:r>
            <a:endParaRPr sz="3000"/>
          </a:p>
          <a:p>
            <a:pPr indent="0" lvl="0" marL="0" rtl="0" algn="l">
              <a:spcBef>
                <a:spcPts val="0"/>
              </a:spcBef>
              <a:spcAft>
                <a:spcPts val="0"/>
              </a:spcAft>
              <a:buNone/>
            </a:pPr>
            <a:r>
              <a:rPr lang="en" sz="3000"/>
              <a:t>#3 course name completed</a:t>
            </a:r>
            <a:endParaRPr sz="3000"/>
          </a:p>
        </p:txBody>
      </p:sp>
      <p:sp>
        <p:nvSpPr>
          <p:cNvPr id="725" name="Google Shape;725;p122"/>
          <p:cNvSpPr txBox="1"/>
          <p:nvPr>
            <p:ph idx="1" type="body"/>
          </p:nvPr>
        </p:nvSpPr>
        <p:spPr>
          <a:xfrm>
            <a:off x="311700" y="1152475"/>
            <a:ext cx="2157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DELETE EXAMPLE</a:t>
            </a:r>
            <a:endParaRPr/>
          </a:p>
        </p:txBody>
      </p:sp>
      <p:pic>
        <p:nvPicPr>
          <p:cNvPr id="726" name="Google Shape;726;p122"/>
          <p:cNvPicPr preferRelativeResize="0"/>
          <p:nvPr/>
        </p:nvPicPr>
        <p:blipFill>
          <a:blip r:embed="rId3">
            <a:alphaModFix/>
          </a:blip>
          <a:stretch>
            <a:fillRect/>
          </a:stretch>
        </p:blipFill>
        <p:spPr>
          <a:xfrm>
            <a:off x="2622000" y="1170125"/>
            <a:ext cx="5715000" cy="2533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