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Amatic SC"/>
      <p:regular r:id="rId31"/>
      <p:bold r:id="rId32"/>
    </p:embeddedFont>
    <p:embeddedFont>
      <p:font typeface="Source Code Pr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maticSC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SourceCodePro-regular.fntdata"/><Relationship Id="rId10" Type="http://schemas.openxmlformats.org/officeDocument/2006/relationships/slide" Target="slides/slide5.xml"/><Relationship Id="rId32" Type="http://schemas.openxmlformats.org/officeDocument/2006/relationships/font" Target="fonts/AmaticSC-bold.fntdata"/><Relationship Id="rId13" Type="http://schemas.openxmlformats.org/officeDocument/2006/relationships/slide" Target="slides/slide8.xml"/><Relationship Id="rId35" Type="http://schemas.openxmlformats.org/officeDocument/2006/relationships/font" Target="fonts/SourceCodePro-italic.fntdata"/><Relationship Id="rId12" Type="http://schemas.openxmlformats.org/officeDocument/2006/relationships/slide" Target="slides/slide7.xml"/><Relationship Id="rId34" Type="http://schemas.openxmlformats.org/officeDocument/2006/relationships/font" Target="fonts/SourceCodePr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SourceCodePr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b22655d0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b22655d0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ceb2420b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ceb2420b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b22655d0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b22655d0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b22655d0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b22655d0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b22655d0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b22655d0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b22655d0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b22655d0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b22655d0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b22655d0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b22655d0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b22655d0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b22655d0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b22655d0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ceb2420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3ceb2420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ceb2420b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ceb2420b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ceb2420b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3ceb2420b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ceb2420b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3ceb2420b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ceb2420b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3ceb2420b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ceb2420b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3ceb2420b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ceb2420b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ceb2420b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ceb2420b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3ceb2420b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b2420b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b2420b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ceb2420b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3ceb2420b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3ceb2420b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3ceb2420b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ceb2420b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3ceb2420b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ceb2420b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3ceb2420b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3ceb2420b3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13ceb2420b3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3ceb2420b3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3ceb2420b3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1050" lIns="82100" spcFirstLastPara="1" rIns="82100" wrap="square" tIns="410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50" lIns="82100" spcFirstLastPara="1" rIns="82100" wrap="square" tIns="4105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■"/>
              <a:defRPr/>
            </a:lvl3pPr>
            <a:lvl4pPr indent="-228600" lvl="3" marL="1828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050" lIns="82100" spcFirstLastPara="1" rIns="82100" wrap="square" tIns="41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ists.debian.org/debian-devel/2009/03/msg00780.html" TargetMode="External"/><Relationship Id="rId4" Type="http://schemas.openxmlformats.org/officeDocument/2006/relationships/hyperlink" Target="https://wiki.linuxfoundation.org/networking/iproute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n.wikipedia.org/wiki/Filesystem_Hierarchy_Standar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Filesystem_Hierarchy_Standard" TargetMode="External"/><Relationship Id="rId4" Type="http://schemas.openxmlformats.org/officeDocument/2006/relationships/hyperlink" Target="https://en.wikipedia.org/wiki/Filesystem_Hierarchy_Standar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Filesystem_Hierarchy_Standard" TargetMode="External"/><Relationship Id="rId4" Type="http://schemas.openxmlformats.org/officeDocument/2006/relationships/hyperlink" Target="https://en.wikipedia.org/wiki/Filesystem_Hierarchy_Standar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ryanstutorials.net/bash-scripting-tutorial/bash-if-statements.php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artc.org/howto/lartc.iproute2.html#LARTC.IPROUTE2.WHY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en.wikipedia.org/wiki/Cumulus_Network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lartc.org/howto/lartc.iproute2.explore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s://ca.linkedin.com/in/brian-brock-b2082223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a.linkedin.com/in/brian-brock-b20822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Sharpe Curriculum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Biggest change </a:t>
            </a:r>
            <a:r>
              <a:rPr i="1" lang="en"/>
              <a:t>net-tools</a:t>
            </a:r>
            <a:endParaRPr i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commands the majority of users are familiar with are: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ifconfig - see layer 2 and 3 (mac address and IP)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route - route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arp - arp table (known MAC/IP address </a:t>
            </a:r>
            <a:r>
              <a:rPr lang="en"/>
              <a:t>mapping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Biggest change </a:t>
            </a:r>
            <a:r>
              <a:rPr i="1" lang="en"/>
              <a:t>net-tools</a:t>
            </a:r>
            <a:endParaRPr i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netstat</a:t>
            </a:r>
            <a:r>
              <a:rPr lang="en"/>
              <a:t> is a very popular tool for displaying connection information which has been replaced by </a:t>
            </a:r>
            <a:r>
              <a:rPr b="1" lang="en"/>
              <a:t>ss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net-tools has </a:t>
            </a:r>
            <a:r>
              <a:rPr lang="en" u="sng">
                <a:solidFill>
                  <a:schemeClr val="hlink"/>
                </a:solidFill>
                <a:hlinkClick r:id="rId3"/>
              </a:rPr>
              <a:t>been deprecated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just cannot do without those commands they can still be installed by running </a:t>
            </a:r>
            <a:r>
              <a:rPr b="1" lang="en"/>
              <a:t>apt install net-tools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it’s suggested that instead you become </a:t>
            </a:r>
            <a:r>
              <a:rPr lang="en"/>
              <a:t>familiar</a:t>
            </a:r>
            <a:r>
              <a:rPr lang="en"/>
              <a:t> with </a:t>
            </a:r>
            <a:r>
              <a:rPr lang="en" u="sng">
                <a:solidFill>
                  <a:schemeClr val="hlink"/>
                </a:solidFill>
                <a:hlinkClick r:id="rId4"/>
              </a:rPr>
              <a:t>iproute 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if you have net-tools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Appears we have net-tools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But, but it doesn’t run?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273" y="1846225"/>
            <a:ext cx="4614450" cy="9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8" y="3368025"/>
            <a:ext cx="265747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is the file then? 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Using whereis locate ifconfig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613" y="1200388"/>
            <a:ext cx="6105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163" y="2914125"/>
            <a:ext cx="7831675" cy="9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that it runs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</a:t>
            </a:r>
            <a:r>
              <a:rPr b="1" lang="en"/>
              <a:t>absolute path</a:t>
            </a:r>
            <a:r>
              <a:rPr lang="en"/>
              <a:t> test that you can run </a:t>
            </a:r>
            <a:r>
              <a:rPr b="1" lang="en"/>
              <a:t>ifconfig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Why</a:t>
            </a:r>
            <a:r>
              <a:rPr lang="en"/>
              <a:t> did we need the absolute path?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988" y="1814513"/>
            <a:ext cx="583882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directory /usr/sbin is not in our path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 most distributions regular users have this in the path, but only root has it in Debian.  We </a:t>
            </a:r>
            <a:r>
              <a:rPr b="1" lang="en"/>
              <a:t>disabled root</a:t>
            </a:r>
            <a:r>
              <a:rPr lang="en"/>
              <a:t> in our previous lab.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638" y="1597688"/>
            <a:ext cx="4371975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Filesystem Hierarchy Standard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Rather than overload, we’ll gradually introduce Filesystem Hierarchy Standard (FHS) directories.  It’s a reference that most distributions follow for the filesystem layout in UNIX, which in our case would be flavours of Linux. Today we’ll introduce </a:t>
            </a:r>
            <a:r>
              <a:rPr b="1" lang="en"/>
              <a:t>common binary locations. 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Filesystem Hierarchy Standard</a:t>
            </a:r>
            <a:endParaRPr b="1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/bin</a:t>
            </a:r>
            <a:r>
              <a:rPr lang="en"/>
              <a:t> : For binaries usable before the /usr partition is mounted. This is used for trivial binaries used in the very early boot stage or ones that you need to have available in booting single-user mode. Think of binaries like cat, ls, etc. </a:t>
            </a:r>
            <a:r>
              <a:rPr b="1" lang="en"/>
              <a:t>Discussion</a:t>
            </a:r>
            <a:r>
              <a:rPr lang="en"/>
              <a:t>: </a:t>
            </a:r>
            <a:r>
              <a:rPr i="1" lang="en"/>
              <a:t>does this apply today?</a:t>
            </a:r>
            <a:r>
              <a:rPr lang="en"/>
              <a:t> Source: </a:t>
            </a:r>
            <a:r>
              <a:rPr lang="en" u="sng">
                <a:solidFill>
                  <a:schemeClr val="hlink"/>
                </a:solidFill>
                <a:hlinkClick r:id="rId4"/>
              </a:rPr>
              <a:t>Wikipedia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Filesystem Hierarchy Standard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/sbin</a:t>
            </a:r>
            <a:r>
              <a:rPr lang="en"/>
              <a:t>: Same, but for binaries with superuser (root) privileges required.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/usr/bin</a:t>
            </a:r>
            <a:r>
              <a:rPr lang="en"/>
              <a:t>: Same as first, but for general system-wide binaries.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/usr/sbin</a:t>
            </a:r>
            <a:r>
              <a:rPr lang="en"/>
              <a:t>: Same as above, but for binaries with superuser (root) privileges required. </a:t>
            </a: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4"/>
              </a:rPr>
              <a:t>Wikipedia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paths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3319200" cy="23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part is a profile for a single user.  Bottom is for all users.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313" y="1381288"/>
            <a:ext cx="530542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458025" y="3429175"/>
            <a:ext cx="837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Highlighted portion</a:t>
            </a:r>
            <a:r>
              <a:rPr lang="en"/>
              <a:t>: </a:t>
            </a:r>
            <a:r>
              <a:rPr i="1" lang="en"/>
              <a:t>How does this work with two paths??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paths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2380125"/>
            <a:ext cx="8520600" cy="21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There is actually only a single path.  The logic reads: If your id is 0 run the first path.  Anyone else run  the second path.  Which one has /usr/sbin.  Who do you think has id of 0?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63" y="1143888"/>
            <a:ext cx="54006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</a:t>
            </a:r>
            <a:endParaRPr b="1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the </a:t>
            </a:r>
            <a:r>
              <a:rPr b="1" lang="en"/>
              <a:t>if statement</a:t>
            </a:r>
            <a:r>
              <a:rPr lang="en"/>
              <a:t> to include your account that is your FirstName AND root.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					</a:t>
            </a:r>
            <a:r>
              <a:rPr lang="en" u="sng">
                <a:solidFill>
                  <a:schemeClr val="hlink"/>
                </a:solidFill>
                <a:hlinkClick r:id="rId3"/>
              </a:rPr>
              <a:t>Bash if statements guide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hen you login you should have access to /usr/sbin in YOUR profile.  Remember to logout and login for this new path to apply.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13" y="2319413"/>
            <a:ext cx="29622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iproute2?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While net-tools serves simple tasks such as displaying information and simple tasks such as setting IP addresses it doesn’t support any advanced features.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iproute2?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subsystems in Linux have been completely redesigned since version 2.2 and those features are unavailable in net-tools.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features were not needed in an era of net-tools such as: new routing features, filtering, classifying, and traffic shaping.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iproute2?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Wait? The kernel was redesigned, but net-tools still </a:t>
            </a:r>
            <a:r>
              <a:rPr i="1" lang="en"/>
              <a:t>works.</a:t>
            </a:r>
            <a:r>
              <a:rPr lang="en"/>
              <a:t> How?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you ask for an ip address, set an ip address or any interaction with those utilities actually use the iproute2 syscalls. It’s really just a UI for legacy purposes now.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These features sound like what we’re learning Cisco..</a:t>
            </a:r>
            <a:endParaRPr sz="2500"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Linux has very little competition in the general OS arena for networking and as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original documentation</a:t>
            </a:r>
            <a:r>
              <a:rPr lang="en"/>
              <a:t> says the features rival many dedicated routers, firewalls and traffic shaping products. 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the </a:t>
            </a:r>
            <a:r>
              <a:rPr lang="en"/>
              <a:t>acronyms</a:t>
            </a:r>
            <a:r>
              <a:rPr lang="en"/>
              <a:t> 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you’ll hear in your Cisco courses are fully supported natively by Linux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OSPF for internal routing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BGP for Internet routing (between Service Providers)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QoS - traffic shaping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the acronyms 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you’ll hear in your Cisco courses are fully supported natively by Linux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Port bonding/NIC teaming/EtherChannel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STP - prevents switching loops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Cumulus Networks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VPN - virtual private network</a:t>
            </a:r>
            <a:endParaRPr/>
          </a:p>
          <a:p>
            <a:pPr indent="457200" lvl="0" marL="2743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2100"/>
              <a:t>Way, way more..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time changes vs persistant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set an ip address using net-tools &amp; iproute2 however unless we set these settings in a configuration file they’ll be gone on subsequent reboots.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Spend some time</a:t>
            </a:r>
            <a:r>
              <a:rPr lang="en" u="sng">
                <a:solidFill>
                  <a:schemeClr val="hlink"/>
                </a:solidFill>
                <a:hlinkClick r:id="rId3"/>
              </a:rPr>
              <a:t> following this guide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a change to the sudoers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Net-tools - use net-tools to explore your network in bridged mode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iproute2 - use iproute2 to explore your network in NAT mode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Strange naming conventions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Back</a:t>
            </a:r>
            <a:r>
              <a:rPr lang="en"/>
              <a:t> in the day network adapters used to have simple names like eth0, eth1, what happened??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900"/>
              <a:buFont typeface="Arial"/>
              <a:buNone/>
            </a:pPr>
            <a:r>
              <a:rPr lang="en"/>
              <a:t>Interface Names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87150" y="1012499"/>
            <a:ext cx="8756700" cy="1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140970" lvl="0" marL="15430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5555"/>
              <a:buChar char="●"/>
            </a:pPr>
            <a:r>
              <a:rPr lang="en"/>
              <a:t>There are old and new ways to name interfaces as well, along with distribution differences.</a:t>
            </a:r>
            <a:endParaRPr/>
          </a:p>
          <a:p>
            <a:pPr indent="-5372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ct val="159999"/>
              <a:buNone/>
            </a:pPr>
            <a:r>
              <a:t/>
            </a:r>
            <a:endParaRPr/>
          </a:p>
          <a:p>
            <a:pPr indent="-14097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ct val="155555"/>
              <a:buChar char="●"/>
            </a:pPr>
            <a:r>
              <a:rPr lang="en"/>
              <a:t>Old versions are eth0, eth1, new versions may have enso1, or wps04, or a number of other options.</a:t>
            </a:r>
            <a:endParaRPr/>
          </a:p>
          <a:p>
            <a:pPr indent="-5372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ct val="159999"/>
              <a:buNone/>
            </a:pPr>
            <a:r>
              <a:t/>
            </a:r>
            <a:endParaRPr/>
          </a:p>
          <a:p>
            <a:pPr indent="-14097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ct val="155555"/>
              <a:buChar char="●"/>
            </a:pPr>
            <a:r>
              <a:rPr lang="en"/>
              <a:t>To get the current available network interfaces on ALL Linux distributions, you can run the command 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ip link</a:t>
            </a:r>
            <a:r>
              <a:rPr lang="en"/>
              <a:t>.</a:t>
            </a:r>
            <a:endParaRPr/>
          </a:p>
          <a:p>
            <a:pPr indent="-5372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ct val="159999"/>
              <a:buNone/>
            </a:pPr>
            <a:r>
              <a:t/>
            </a:r>
            <a:endParaRPr/>
          </a:p>
          <a:p>
            <a:pPr indent="-14097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ct val="155555"/>
              <a:buChar char="●"/>
            </a:pPr>
            <a:r>
              <a:rPr lang="en"/>
              <a:t>On Ubuntu</a:t>
            </a:r>
            <a:endParaRPr/>
          </a:p>
        </p:txBody>
      </p:sp>
      <p:sp>
        <p:nvSpPr>
          <p:cNvPr id="210" name="Google Shape;210;p37"/>
          <p:cNvSpPr txBox="1"/>
          <p:nvPr>
            <p:ph idx="4294967295" type="sldNum"/>
          </p:nvPr>
        </p:nvSpPr>
        <p:spPr>
          <a:xfrm>
            <a:off x="7799295" y="3575449"/>
            <a:ext cx="7161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155" y="2593080"/>
            <a:ext cx="5026877" cy="83052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/>
          <p:nvPr/>
        </p:nvSpPr>
        <p:spPr>
          <a:xfrm>
            <a:off x="278298" y="3317965"/>
            <a:ext cx="875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53720" lvl="0" marL="15430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3157" lvl="0" marL="154305" marR="0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" sz="28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CentOS</a:t>
            </a:r>
            <a:endParaRPr b="0" i="0" sz="2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155" y="3651441"/>
            <a:ext cx="5026878" cy="80856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7"/>
          <p:cNvSpPr txBox="1"/>
          <p:nvPr/>
        </p:nvSpPr>
        <p:spPr>
          <a:xfrm>
            <a:off x="5936800" y="4612500"/>
            <a:ext cx="24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</a:t>
            </a:r>
            <a:r>
              <a:rPr lang="en" u="sng">
                <a:solidFill>
                  <a:schemeClr val="hlink"/>
                </a:solidFill>
                <a:hlinkClick r:id="rId5"/>
              </a:rPr>
              <a:t>Brian Brock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900"/>
              <a:buFont typeface="Arial"/>
              <a:buNone/>
            </a:pPr>
            <a:r>
              <a:rPr lang="en"/>
              <a:t>Interface Names</a:t>
            </a:r>
            <a:endParaRPr/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840001" y="1026914"/>
            <a:ext cx="7675200" cy="22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5430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/>
              <a:t>The “new” Linux naming system for network cards will name them based on what type of card, where it is installed, and what hardware interrupt it listens on…</a:t>
            </a:r>
            <a:endParaRPr/>
          </a:p>
          <a:p>
            <a:pPr indent="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</a:pPr>
            <a:r>
              <a:t/>
            </a:r>
            <a:endParaRPr/>
          </a:p>
          <a:p>
            <a:pPr indent="-177800" lvl="0" marL="154305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/>
              <a:t>For VMWare, we have virtual hardware, so you will see that the first VMWare network port is </a:t>
            </a:r>
            <a:r>
              <a:rPr b="1" i="1" lang="en"/>
              <a:t>usually</a:t>
            </a:r>
            <a:r>
              <a:rPr lang="en"/>
              <a:t> ens33 (Ethernet card in physical slot 3, listening on interrupt 3).</a:t>
            </a:r>
            <a:endParaRPr/>
          </a:p>
        </p:txBody>
      </p:sp>
      <p:sp>
        <p:nvSpPr>
          <p:cNvPr id="221" name="Google Shape;221;p38"/>
          <p:cNvSpPr txBox="1"/>
          <p:nvPr>
            <p:ph idx="4294967295" type="sldNum"/>
          </p:nvPr>
        </p:nvSpPr>
        <p:spPr>
          <a:xfrm>
            <a:off x="7799295" y="3575449"/>
            <a:ext cx="7161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38"/>
          <p:cNvSpPr txBox="1"/>
          <p:nvPr/>
        </p:nvSpPr>
        <p:spPr>
          <a:xfrm>
            <a:off x="5908475" y="4661050"/>
            <a:ext cx="16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Credit </a:t>
            </a:r>
            <a:r>
              <a:rPr lang="en" u="sng">
                <a:solidFill>
                  <a:schemeClr val="hlink"/>
                </a:solidFill>
                <a:hlinkClick r:id="rId3"/>
              </a:rPr>
              <a:t>Brian Brock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