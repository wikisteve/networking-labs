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Amatic SC"/>
      <p:regular r:id="rId38"/>
      <p:bold r:id="rId39"/>
    </p:embeddedFont>
    <p:embeddedFont>
      <p:font typeface="Source Code Pr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urceCodePro-regular.fntdata"/><Relationship Id="rId20" Type="http://schemas.openxmlformats.org/officeDocument/2006/relationships/slide" Target="slides/slide15.xml"/><Relationship Id="rId42" Type="http://schemas.openxmlformats.org/officeDocument/2006/relationships/font" Target="fonts/SourceCodePro-italic.fntdata"/><Relationship Id="rId41" Type="http://schemas.openxmlformats.org/officeDocument/2006/relationships/font" Target="fonts/SourceCodePr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SourceCodePr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AmaticSC-bold.fntdata"/><Relationship Id="rId16" Type="http://schemas.openxmlformats.org/officeDocument/2006/relationships/slide" Target="slides/slide11.xml"/><Relationship Id="rId38" Type="http://schemas.openxmlformats.org/officeDocument/2006/relationships/font" Target="fonts/AmaticSC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f2da76413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f2da76413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LIDES_API90193976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LIDES_API90193976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2da76413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f2da76413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f2da76413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f2da76413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f2da76413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f2da76413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f2da76413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f2da76413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f2da76413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f2da76413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f2da76413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f2da76413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2da76413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f2da76413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f2da76413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f2da76413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f2da76413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f2da76413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f2da76413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f2da7641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f2da76413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f2da76413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f2da76413e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f2da76413e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2da76413e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f2da76413e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f2da76413e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f2da76413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f2da76413e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f2da76413e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f2da76413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f2da76413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f2da76413e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f2da76413e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SLIDES_API179087277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SLIDES_API179087277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f2da76413e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f2da76413e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2da76413e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f2da76413e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f2da76413e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f2da76413e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f2da76413e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f2da76413e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f2da76413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f2da76413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f2da76413e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f2da76413e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f2da76413e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f2da76413e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f2da76413e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f2da76413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f2da76413e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f2da76413e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f2da76413e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f2da76413e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f2da76413e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f2da76413e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IoT - Concepts and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Applications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IoT: Wiring the World, One Device at a Time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 Industry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Watch a Tesla factory in Berlin and think of the following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AutoNum type="arabicPeriod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Scale and Connectivity: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 "Imagine you're responsible for setting up and maintaining the network infrastructure of a factory of this size. What are the immediate challenges that come to mind?"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AutoNum type="arabicPeriod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Automation Focus: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"Beyond basic connectivity, what specific types of network technologies do you think are needed to support all the robotics and automated systems you might see in a factory like this?"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AutoNum type="arabicPeriod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Data in Motion: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"We know IoT systems generate a lot of data.  Think about the different kinds of data that might be collected in a car manufacturing process, and how networks play a role in getting that data where it needs to go."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IoT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The Internet of Things, or IoT, refers to the vast network of physical objects – devices, vehicles, appliances, you name it – that are embedded with sensors, software, and connectivity that enables them to collect and exchange data over the internet.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Key point: It's not just about the objects, it's about the network that connects them. This network enables data collection, remote control, and automation.</a:t>
            </a:r>
            <a:endParaRPr sz="3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Early Days: The idea of connected devices dates back decades. Think about things like RFID tags for tracking inventory or simple sensors in industrial settings.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The Rise of Connectivity:  Widespread availability of affordable internet connections and powerful, but small, computing devices fueled the growth of IoT.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Cloud &amp; Data Revolution: Cloud computing and advances in data analytics made it possible to handle massive amounts of IoT data and turn it into meaningful insights</a:t>
            </a:r>
            <a:endParaRPr sz="3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Key IoT Components: </a:t>
            </a:r>
            <a:r>
              <a:rPr lang="en" sz="2900">
                <a:highlight>
                  <a:srgbClr val="FFFF00"/>
                </a:highlight>
              </a:rPr>
              <a:t>Sensors and Actuators</a:t>
            </a:r>
            <a:endParaRPr sz="2900">
              <a:highlight>
                <a:srgbClr val="FFFF00"/>
              </a:highlight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Sensors: Devices that detect changes in the environment (temperature, light, motion, pressure, etc.) and convert them into electrical signals.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Actuators: The "doers." They take electrical signals and cause a physical action (turn on a motor, switch a light, etc.).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rgbClr val="1F1F1F"/>
                </a:solidFill>
                <a:highlight>
                  <a:srgbClr val="FFFFFF"/>
                </a:highlight>
              </a:rPr>
              <a:t>Example: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 A  temperature sensor in a smart thermostat detects a drop in temperature, triggering the actuator (furnace) to turn on.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Key IoT Components: </a:t>
            </a:r>
            <a:r>
              <a:rPr lang="en" sz="2900">
                <a:highlight>
                  <a:srgbClr val="FFFF00"/>
                </a:highlight>
              </a:rPr>
              <a:t>Embedded Systems</a:t>
            </a:r>
            <a:endParaRPr sz="2900">
              <a:highlight>
                <a:srgbClr val="FFFF00"/>
              </a:highlight>
            </a:endParaRPr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These are small, specialized computers within devices that control the sensors, actuators, and process data.  Think of them as the 'brains' of an IoT device.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1F1F1F"/>
                </a:solidFill>
                <a:highlight>
                  <a:srgbClr val="FFFFFF"/>
                </a:highlight>
              </a:rPr>
              <a:t>Microcontrollers vs. Single-board:</a:t>
            </a:r>
            <a:endParaRPr b="1" sz="2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○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Microcontrollers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: Very basic, ideal for simple IoT tasks (think Arduino).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○"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</a:rPr>
              <a:t>Single-board Computers</a:t>
            </a: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: More powerful (like Raspberry Pi), can run more complex software.</a:t>
            </a:r>
            <a:endParaRPr sz="270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Key IoT Components: </a:t>
            </a:r>
            <a:r>
              <a:rPr lang="en" sz="2900">
                <a:highlight>
                  <a:srgbClr val="FFFF00"/>
                </a:highlight>
              </a:rPr>
              <a:t>Connectivity Protocols</a:t>
            </a:r>
            <a:endParaRPr sz="2900">
              <a:highlight>
                <a:srgbClr val="FFFF00"/>
              </a:highlight>
            </a:endParaRPr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Wi-Fi: Common in smart homes, power consumption is a factor.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Bluetooth/BLE: Ideal for short-range, low-power devices (wearables).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Zigbee/Z-Wave: Designed for low-power, mesh networks common in smart home automation.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Cellular (LTE-M / NB-IoT): For long-range, low bandwidth needs (remote sensors).</a:t>
            </a:r>
            <a:endParaRPr sz="3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Key IoT Components: </a:t>
            </a:r>
            <a:r>
              <a:rPr lang="en" sz="2900">
                <a:highlight>
                  <a:srgbClr val="FFFF00"/>
                </a:highlight>
              </a:rPr>
              <a:t>The Cloud's Role in IoT</a:t>
            </a:r>
            <a:endParaRPr sz="2900">
              <a:highlight>
                <a:srgbClr val="FFFF00"/>
              </a:highlight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1F1F1F"/>
                </a:solidFill>
                <a:highlight>
                  <a:srgbClr val="FFFFFF"/>
                </a:highlight>
              </a:rPr>
              <a:t>Even a single IoT device </a:t>
            </a:r>
            <a:r>
              <a:rPr lang="en" sz="2500">
                <a:solidFill>
                  <a:srgbClr val="1F1F1F"/>
                </a:solidFill>
                <a:highlight>
                  <a:srgbClr val="FFFF00"/>
                </a:highlight>
              </a:rPr>
              <a:t>generates a lot of data</a:t>
            </a:r>
            <a:endParaRPr sz="2500">
              <a:solidFill>
                <a:srgbClr val="1F1F1F"/>
              </a:solidFill>
              <a:highlight>
                <a:srgbClr val="FFFF00"/>
              </a:highlight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1F1F1F"/>
                </a:solidFill>
                <a:highlight>
                  <a:srgbClr val="FFFFFF"/>
                </a:highlight>
              </a:rPr>
              <a:t>Multiply this by large networks of devices</a:t>
            </a:r>
            <a:endParaRPr sz="25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1F1F1F"/>
                </a:solidFill>
                <a:highlight>
                  <a:srgbClr val="FFFFFF"/>
                </a:highlight>
              </a:rPr>
              <a:t>Cloud </a:t>
            </a:r>
            <a:r>
              <a:rPr lang="en" sz="2500">
                <a:solidFill>
                  <a:srgbClr val="1F1F1F"/>
                </a:solidFill>
                <a:highlight>
                  <a:srgbClr val="FFFF00"/>
                </a:highlight>
              </a:rPr>
              <a:t>provides scalable storage and processing power</a:t>
            </a:r>
            <a:endParaRPr sz="2500">
              <a:solidFill>
                <a:srgbClr val="1F1F1F"/>
              </a:solidFill>
              <a:highlight>
                <a:srgbClr val="FFFF00"/>
              </a:highlight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rgbClr val="1F1F1F"/>
                </a:solidFill>
                <a:highlight>
                  <a:srgbClr val="FFFFFF"/>
                </a:highlight>
              </a:rPr>
              <a:t>Enables remote control and automation</a:t>
            </a:r>
            <a:endParaRPr sz="3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Key IoT Components: </a:t>
            </a:r>
            <a:r>
              <a:rPr lang="en" sz="2900">
                <a:highlight>
                  <a:srgbClr val="FFFF00"/>
                </a:highlight>
              </a:rPr>
              <a:t>Cloud Services for IoT</a:t>
            </a:r>
            <a:endParaRPr sz="2900">
              <a:highlight>
                <a:srgbClr val="FFFF00"/>
              </a:highlight>
            </a:endParaRPr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1F1F1F"/>
                </a:solidFill>
                <a:highlight>
                  <a:srgbClr val="FFFFFF"/>
                </a:highlight>
              </a:rPr>
              <a:t>Device management tools</a:t>
            </a:r>
            <a:endParaRPr sz="23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1F1F1F"/>
                </a:solidFill>
                <a:highlight>
                  <a:srgbClr val="FFFFFF"/>
                </a:highlight>
              </a:rPr>
              <a:t>Data processing and analysis pipelines</a:t>
            </a:r>
            <a:endParaRPr sz="23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1F1F1F"/>
                </a:solidFill>
                <a:highlight>
                  <a:srgbClr val="FFFFFF"/>
                </a:highlight>
              </a:rPr>
              <a:t>Pre-built solutions for common IoT use cases</a:t>
            </a:r>
            <a:endParaRPr sz="3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Key IoT Components: </a:t>
            </a:r>
            <a:r>
              <a:rPr lang="en" sz="2900">
                <a:highlight>
                  <a:srgbClr val="FFFF00"/>
                </a:highlight>
              </a:rPr>
              <a:t>Connected Car Example</a:t>
            </a:r>
            <a:endParaRPr sz="2900">
              <a:highlight>
                <a:srgbClr val="FFFF00"/>
              </a:highlight>
            </a:endParaRPr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Sensors collect driving data, system health, location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Cellular network transmits data to the cloud</a:t>
            </a:r>
            <a:endParaRPr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Arial"/>
              <a:buChar char="●"/>
            </a:pPr>
            <a:r>
              <a:rPr lang="en">
                <a:solidFill>
                  <a:srgbClr val="1F1F1F"/>
                </a:solidFill>
                <a:highlight>
                  <a:srgbClr val="FFFFFF"/>
                </a:highlight>
              </a:rPr>
              <a:t>Cloud analysis for safety improvements, efficiency tips, predictive maintenance</a:t>
            </a:r>
            <a:endParaRPr sz="3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IoT Architecture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1F1F1F"/>
                </a:solidFill>
                <a:highlight>
                  <a:srgbClr val="FFFFFF"/>
                </a:highlight>
              </a:rPr>
              <a:t>Layer 1: Devices &amp; Sensors ("Things")</a:t>
            </a:r>
            <a:endParaRPr b="1" sz="2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1F1F1F"/>
                </a:solidFill>
                <a:highlight>
                  <a:srgbClr val="FFFFFF"/>
                </a:highlight>
              </a:rPr>
              <a:t>Layer 2: Network &amp; Gateways</a:t>
            </a:r>
            <a:endParaRPr b="1" sz="2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1F1F1F"/>
                </a:solidFill>
                <a:highlight>
                  <a:srgbClr val="FFFFFF"/>
                </a:highlight>
              </a:rPr>
              <a:t>Layer 3: Cloud/Applications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1 - The "Things"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</a:rPr>
              <a:t>Sensors gathering data about the environment</a:t>
            </a:r>
            <a:endParaRPr sz="2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</a:rPr>
              <a:t>Actuators that carry out actions</a:t>
            </a:r>
            <a:endParaRPr sz="2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200"/>
              <a:buFont typeface="Arial"/>
              <a:buChar char="●"/>
            </a:pPr>
            <a:r>
              <a:rPr lang="en" sz="2200">
                <a:solidFill>
                  <a:srgbClr val="1F1F1F"/>
                </a:solidFill>
                <a:highlight>
                  <a:srgbClr val="FFFFFF"/>
                </a:highlight>
              </a:rPr>
              <a:t>The embedded systems and microcontrollers that control them</a:t>
            </a:r>
            <a:endParaRPr sz="3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2 - The Network</a:t>
            </a:r>
            <a:endParaRPr/>
          </a:p>
        </p:txBody>
      </p:sp>
      <p:sp>
        <p:nvSpPr>
          <p:cNvPr id="135" name="Google Shape;135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Diverse Protocols: Wi-Fi, Bluetooth, Zigbee, Cellular serve different IoT needs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Power vs. Range: Balance power consumption and transmission distance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Data in Two Directions: Data flows to the cloud AND commands back to devices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Management Challenge: Ensuring security and reliability across diverse networks</a:t>
            </a:r>
            <a:endParaRPr sz="3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3 - Applications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1F1F1F"/>
                </a:solidFill>
                <a:highlight>
                  <a:srgbClr val="FFFFFF"/>
                </a:highlight>
              </a:rPr>
              <a:t>Data is stored and analyzed on a large scale.</a:t>
            </a:r>
            <a:endParaRPr sz="23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1F1F1F"/>
                </a:solidFill>
                <a:highlight>
                  <a:srgbClr val="FFFFFF"/>
                </a:highlight>
              </a:rPr>
              <a:t>Applications make use of this data (controlling devices, providing insights to users)</a:t>
            </a:r>
            <a:endParaRPr sz="3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Smart Thermostat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F1F1F"/>
                </a:solidFill>
                <a:highlight>
                  <a:srgbClr val="FFFFFF"/>
                </a:highlight>
              </a:rPr>
              <a:t>Device: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 "The thermostat has a temperature sensor."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F1F1F"/>
                </a:solidFill>
                <a:highlight>
                  <a:srgbClr val="FFFFFF"/>
                </a:highlight>
              </a:rPr>
              <a:t>Network: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 " It connects to your home Wi-Fi. A gateway (probably built into your router) handles that data transfer."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F1F1F"/>
                </a:solidFill>
                <a:highlight>
                  <a:srgbClr val="FFFFFF"/>
                </a:highlight>
              </a:rPr>
              <a:t>Cloud/App: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 "The thermostat data goes to the manufacturer's cloud platform. Their app lets you control it remotely and may even analyze your usage patterns to optimize heating/cooling."</a:t>
            </a:r>
            <a:endParaRPr sz="3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Wi-Fi in IoT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Common in smart homes and offices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Offers good bandwidth for data-intensive devices (cameras, streaming)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Power consumption is a consideration</a:t>
            </a:r>
            <a:endParaRPr sz="3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Bluetooth &amp; BLE in IoT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Bluetooth Low Energy (BLE) optimized for wearables, beacons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Short-range, ideal for device-to-device communication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Focus on power efficiency</a:t>
            </a:r>
            <a:endParaRPr sz="3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Zigbee &amp; Z-Wave in IoT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Designed for low-power, low-bandwidth home automation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F1F1F"/>
                </a:solidFill>
                <a:highlight>
                  <a:srgbClr val="FFFFFF"/>
                </a:highlight>
              </a:rPr>
              <a:t>Mesh networking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: Devices relay data, extending range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Ideal for sensors, smart lights, etc.</a:t>
            </a:r>
            <a:endParaRPr sz="3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Cellular in IoT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Long-range, doesn't require existing Wi-Fi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LTE-M / NB-IoT: Standards designed for low-power IoT devices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Use cases: Remote sensors, asset tracking, connected vehicles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" sz="2100">
                <a:solidFill>
                  <a:srgbClr val="1F1F1F"/>
                </a:solidFill>
                <a:highlight>
                  <a:srgbClr val="00FFFF"/>
                </a:highlight>
              </a:rPr>
              <a:t>IoT on the Go</a:t>
            </a:r>
            <a:endParaRPr sz="2100">
              <a:solidFill>
                <a:srgbClr val="1F1F1F"/>
              </a:solidFill>
              <a:highlight>
                <a:srgbClr val="00FFFF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Manufacturing</a:t>
            </a:r>
            <a:endParaRPr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F1F1F"/>
                </a:solidFill>
                <a:highlight>
                  <a:srgbClr val="FFFFFF"/>
                </a:highlight>
              </a:rPr>
              <a:t>Network Protocols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: Which are used (wired, wireless) and why? Consider reliability and low latency needs on the factory floor.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F1F1F"/>
                </a:solidFill>
                <a:highlight>
                  <a:srgbClr val="FFFFFF"/>
                </a:highlight>
              </a:rPr>
              <a:t>Data Management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: The massive scale of real-time data - storage, edge computing, dashboards.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b="1" lang="en" sz="2100">
                <a:solidFill>
                  <a:srgbClr val="1F1F1F"/>
                </a:solidFill>
                <a:highlight>
                  <a:srgbClr val="FFFFFF"/>
                </a:highlight>
              </a:rPr>
              <a:t>Security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: Vulnerabilities posed by IoT devices on a production network. How to mitigate?</a:t>
            </a:r>
            <a:endParaRPr sz="3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Management</a:t>
            </a:r>
            <a:endParaRPr/>
          </a:p>
        </p:txBody>
      </p:sp>
      <p:sp>
        <p:nvSpPr>
          <p:cNvPr id="189" name="Google Shape;189;p3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How do you monitor hundreds or thousands of IoT devices on your network?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How can automation make configuring and updating all those devices less painful?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Can IoT-enabled intrusion detection add a new layer of security to your network?</a:t>
            </a:r>
            <a:endParaRPr sz="3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Homes &amp; Cities</a:t>
            </a:r>
            <a:endParaRPr/>
          </a:p>
        </p:txBody>
      </p:sp>
      <p:sp>
        <p:nvSpPr>
          <p:cNvPr id="195" name="Google Shape;195;p3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The backend infrastructure of a truly smart city (sensor networks, fiber, data centers)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Privacy and data governance challenges at this scale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Large-scale network segmentation strategies to secure critical infrastructure mixed with public-facing IoT.</a:t>
            </a:r>
            <a:endParaRPr sz="3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</a:t>
            </a:r>
            <a:endParaRPr/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What are the unique security risks of medical IoT devices compared to, say, a smart thermostat?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Think about 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strategies for protecting patient data and ensuring device reliability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Strict compliance requirements in the healthcare industry and how they impact system design.</a:t>
            </a:r>
            <a:endParaRPr sz="33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 and the Future of Jobs</a:t>
            </a:r>
            <a:endParaRPr/>
          </a:p>
        </p:txBody>
      </p:sp>
      <p:sp>
        <p:nvSpPr>
          <p:cNvPr id="207" name="Google Shape;207;p3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</a:rPr>
              <a:t>Programming and Data Analysis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: To build and manage IoT systems</a:t>
            </a:r>
            <a:endParaRPr sz="18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</a:rPr>
              <a:t>Security Expertise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: Securing IoT devices and networks is paramount</a:t>
            </a:r>
            <a:endParaRPr sz="18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●"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</a:rPr>
              <a:t>Network Management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: The sheer number of connected devices requires strong network skills.</a:t>
            </a:r>
            <a:endParaRPr sz="3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10 minutes </a:t>
            </a:r>
            <a:endParaRPr/>
          </a:p>
        </p:txBody>
      </p:sp>
      <p:sp>
        <p:nvSpPr>
          <p:cNvPr id="213" name="Google Shape;213;p3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However!!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When we return, search the Internet for IoT breaches, and how they’ve been used in large scale attacks.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IoT Security: A Systems Admin's Nightmare?</a:t>
            </a:r>
            <a:endParaRPr sz="2900"/>
          </a:p>
        </p:txBody>
      </p:sp>
      <p:sp>
        <p:nvSpPr>
          <p:cNvPr id="219" name="Google Shape;219;p40"/>
          <p:cNvSpPr txBox="1"/>
          <p:nvPr>
            <p:ph idx="1" type="body"/>
          </p:nvPr>
        </p:nvSpPr>
        <p:spPr>
          <a:xfrm>
            <a:off x="311700" y="1152475"/>
            <a:ext cx="366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credentials are the best!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 live on the edge, always use authentication without TLS. </a:t>
            </a:r>
            <a:endParaRPr/>
          </a:p>
        </p:txBody>
      </p:sp>
      <p:pic>
        <p:nvPicPr>
          <p:cNvPr id="220" name="Google Shape;22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6375" y="1152475"/>
            <a:ext cx="4855924" cy="364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6020" y="3328425"/>
            <a:ext cx="1692599" cy="157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Best Practices</a:t>
            </a:r>
            <a:endParaRPr/>
          </a:p>
        </p:txBody>
      </p:sp>
      <p:sp>
        <p:nvSpPr>
          <p:cNvPr id="227" name="Google Shape;227;p4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</a:rPr>
              <a:t>Network Segmentation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: Isolating IoT devices on separate VLANs to limit attack spread.</a:t>
            </a:r>
            <a:endParaRPr sz="18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</a:rPr>
              <a:t>Strong Device Management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: Tools for provisioning, updating, and monitoring IoT device security.</a:t>
            </a:r>
            <a:endParaRPr sz="18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</a:rPr>
              <a:t>Patch, Patch, Patch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: Updates for IoT devices.</a:t>
            </a:r>
            <a:endParaRPr sz="18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○"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</a:rPr>
              <a:t>Zero Trust Approach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: Not inherently trusting any device on the network</a:t>
            </a:r>
            <a:endParaRPr sz="2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Scalability Challenges</a:t>
            </a:r>
            <a:endParaRPr/>
          </a:p>
        </p:txBody>
      </p:sp>
      <p:sp>
        <p:nvSpPr>
          <p:cNvPr id="233" name="Google Shape;233;p4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Monitoring a massive number of diverse devices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Automating updates and configuration changes across hundreds/thousands of devices</a:t>
            </a:r>
            <a:endParaRPr sz="2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Arial"/>
              <a:buChar char="●"/>
            </a:pP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</a:rPr>
              <a:t>Tools and protocols specifically designed for IoT device management at scale</a:t>
            </a:r>
            <a:endParaRPr sz="33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Data: The Double-Edged Sword</a:t>
            </a:r>
            <a:endParaRPr/>
          </a:p>
        </p:txBody>
      </p:sp>
      <p:sp>
        <p:nvSpPr>
          <p:cNvPr id="239" name="Google Shape;239;p4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○"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Where do you store this data? Consider cost vs. speed of access needs.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○"/>
            </a:pPr>
            <a:r>
              <a:rPr b="1" lang="en" sz="1900">
                <a:solidFill>
                  <a:srgbClr val="1F1F1F"/>
                </a:solidFill>
                <a:highlight>
                  <a:srgbClr val="FFFFFF"/>
                </a:highlight>
              </a:rPr>
              <a:t>Edge Computing</a:t>
            </a: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: When does it make sense to process data locally vs. sending everything to the cloud?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900"/>
              <a:buFont typeface="Arial"/>
              <a:buChar char="○"/>
            </a:pPr>
            <a:r>
              <a:rPr b="1" lang="en" sz="1900">
                <a:solidFill>
                  <a:srgbClr val="1F1F1F"/>
                </a:solidFill>
                <a:highlight>
                  <a:srgbClr val="FFFFFF"/>
                </a:highlight>
              </a:rPr>
              <a:t>Data-Driven Decisions</a:t>
            </a: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: Value of IoT data, but only if it can be managed effectively</a:t>
            </a:r>
            <a:endParaRPr sz="2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  <p:sp>
        <p:nvSpPr>
          <p:cNvPr id="245" name="Google Shape;245;p4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the provided Wireshark capture on the course site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traffic can you seee? Is it encrypted? Can you determine what the device is? How?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