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embeddedFontLst>
    <p:embeddedFont>
      <p:font typeface="Amatic SC"/>
      <p:regular r:id="rId15"/>
      <p:bold r:id="rId16"/>
    </p:embeddedFont>
    <p:embeddedFont>
      <p:font typeface="Source Code Pr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5" Type="http://schemas.openxmlformats.org/officeDocument/2006/relationships/font" Target="fonts/AmaticSC-regular.fntdata"/><Relationship Id="rId16" Type="http://schemas.openxmlformats.org/officeDocument/2006/relationships/font" Target="fonts/AmaticSC-bold.fntdata"/><Relationship Id="rId17" Type="http://schemas.openxmlformats.org/officeDocument/2006/relationships/font" Target="fonts/SourceCodePro-regular.fntdata"/><Relationship Id="rId18" Type="http://schemas.openxmlformats.org/officeDocument/2006/relationships/font" Target="fonts/SourceCodePro-bold.fntdata"/><Relationship Id="rId19" Type="http://schemas.openxmlformats.org/officeDocument/2006/relationships/font" Target="fonts/SourceCodePro-italic.fntdata"/><Relationship Id="rId20" Type="http://schemas.openxmlformats.org/officeDocument/2006/relationships/font" Target="fonts/SourceCodePr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27d707c878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27d707c878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7d707c878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7d707c878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27d707c8785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27d707c8785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7d707c8785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7d707c8785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3429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392150"/>
            <a:ext cx="8520600" cy="269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2802750" y="802500"/>
            <a:ext cx="3538500" cy="3538500"/>
          </a:xfrm>
          <a:prstGeom prst="rect">
            <a:avLst/>
          </a:prstGeom>
          <a:solidFill>
            <a:srgbClr val="FFFFFF"/>
          </a:solidFill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3117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324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type="title"/>
          </p:nvPr>
        </p:nvSpPr>
        <p:spPr>
          <a:xfrm>
            <a:off x="304800" y="309350"/>
            <a:ext cx="8537700" cy="74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28" name="Google Shape;28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31" name="Google Shape;31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8" name="Google Shape;3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845223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matic SC"/>
              <a:buNone/>
              <a:defRPr b="1" sz="24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240275"/>
            <a:ext cx="8520600" cy="198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3046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each-day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Source Code Pro"/>
              <a:buChar char="●"/>
              <a:defRPr sz="1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ctrTitle"/>
          </p:nvPr>
        </p:nvSpPr>
        <p:spPr>
          <a:xfrm>
            <a:off x="311150" y="2023197"/>
            <a:ext cx="3768600" cy="62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r>
              <a:t>SSH Keys and X11 Forwarding</a:t>
            </a:r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r>
              <a:t>Submission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1800"/>
              <a:t>Screenshot 1 Public key on the Debian shell matching the exact server key displayed by PuTTY.</a:t>
            </a:r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1800"/>
              <a:t>Screenshot 2 Login that automatically uses the username and authenticates with the public key using your full-name comment.</a:t>
            </a:r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2000"/>
              <a:t>Screenshot 3 Your superhero account authenticating through the agent.</a:t>
            </a:r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2000"/>
              <a:t>Screenshot 4 An xterm window with a long listing of your home directory.</a:t>
            </a:r>
          </a:p>
        </p:txBody>
      </p:sp>
      <p:sp>
        <p:nvSpPr>
          <p:cNvPr id="81" name="Google Shape;81;p17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each Day">
  <a:themeElements>
    <a:clrScheme name="Beach Day">
      <a:dk1>
        <a:srgbClr val="00FDC8"/>
      </a:dk1>
      <a:lt1>
        <a:srgbClr val="FFFFFF"/>
      </a:lt1>
      <a:dk2>
        <a:srgbClr val="666666"/>
      </a:dk2>
      <a:lt2>
        <a:srgbClr val="EEEEEE"/>
      </a:lt2>
      <a:accent1>
        <a:srgbClr val="212121"/>
      </a:accent1>
      <a:accent2>
        <a:srgbClr val="455A64"/>
      </a:accent2>
      <a:accent3>
        <a:srgbClr val="78909C"/>
      </a:accent3>
      <a:accent4>
        <a:srgbClr val="7C7CE0"/>
      </a:accent4>
      <a:accent5>
        <a:srgbClr val="DB4437"/>
      </a:accent5>
      <a:accent6>
        <a:srgbClr val="F6CD4C"/>
      </a:accent6>
      <a:hlink>
        <a:srgbClr val="DB4437"/>
      </a:hlink>
      <a:folHlink>
        <a:srgbClr val="DB443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