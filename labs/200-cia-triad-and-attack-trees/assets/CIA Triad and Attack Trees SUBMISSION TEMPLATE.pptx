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Amatic SC"/>
      <p:regular r:id="rId15"/>
      <p:bold r:id="rId16"/>
    </p:embeddedFont>
    <p:embeddedFont>
      <p:font typeface="Source Code Pr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5" Type="http://schemas.openxmlformats.org/officeDocument/2006/relationships/font" Target="fonts/AmaticSC-regular.fntdata"/><Relationship Id="rId16" Type="http://schemas.openxmlformats.org/officeDocument/2006/relationships/font" Target="fonts/AmaticSC-bold.fntdata"/><Relationship Id="rId17" Type="http://schemas.openxmlformats.org/officeDocument/2006/relationships/font" Target="fonts/SourceCodePro-regular.fntdata"/><Relationship Id="rId18" Type="http://schemas.openxmlformats.org/officeDocument/2006/relationships/font" Target="fonts/SourceCodePro-bold.fntdata"/><Relationship Id="rId19" Type="http://schemas.openxmlformats.org/officeDocument/2006/relationships/font" Target="fonts/SourceCodePro-italic.fntdata"/><Relationship Id="rId20" Type="http://schemas.openxmlformats.org/officeDocument/2006/relationships/font" Target="fonts/SourceCodePro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7d707c87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7d707c87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7d707c878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7d707c878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7d707c878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7d707c878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150" y="2023197"/>
            <a:ext cx="3768600" cy="62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r>
              <a:t>CIA Triad and Attack Trees</a:t>
            </a: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r>
              <a:t>Submission Template</a:t>
            </a:r>
          </a:p>
          <a:p>
            <a:r>
              <a:t>Put your name on this slide.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r>
              <a:rPr sz="2200"/>
              <a:t>Slide 1 Part A CIA Classifications 1-4</a:t>
            </a: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graphicFrame>
        <p:nvGraphicFramePr>
          <p:cNvPr id="64" name="Table 63"/>
          <p:cNvGraphicFramePr>
            <a:graphicFrameLocks noGrp="1"/>
          </p:cNvGraphicFramePr>
          <p:nvPr/>
        </p:nvGraphicFramePr>
        <p:xfrm>
          <a:off x="320040" y="1280160"/>
          <a:ext cx="114757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1554480"/>
                <a:gridCol w="1097280"/>
                <a:gridCol w="3703320"/>
              </a:tblGrid>
              <a:tr h="987552">
                <a:tc>
                  <a:txBody>
                    <a:bodyPr/>
                    <a:lstStyle/>
                    <a:p>
                      <a:r>
                        <a:rPr b="1" sz="1600"/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600"/>
                        <a:t>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600"/>
                        <a:t>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600"/>
                        <a:t>Justification</a:t>
                      </a:r>
                    </a:p>
                  </a:txBody>
                  <a:tcPr/>
                </a:tc>
              </a:tr>
              <a:tr h="987552">
                <a:tc>
                  <a:txBody>
                    <a:bodyPr/>
                    <a:lstStyle/>
                    <a:p>
                      <a:r>
                        <a:rPr sz="1300"/>
                        <a:t>RAID 10 on the self-checkout server.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987552">
                <a:tc>
                  <a:txBody>
                    <a:bodyPr/>
                    <a:lstStyle/>
                    <a:p>
                      <a:r>
                        <a:rPr sz="1300"/>
                        <a:t>Fibre is used for faster checkout response time.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987552">
                <a:tc>
                  <a:txBody>
                    <a:bodyPr/>
                    <a:lstStyle/>
                    <a:p>
                      <a:r>
                        <a:rPr sz="1300"/>
                        <a:t>Primary fibre plus backup wireless connection.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987552">
                <a:tc>
                  <a:txBody>
                    <a:bodyPr/>
                    <a:lstStyle/>
                    <a:p>
                      <a:r>
                        <a:rPr sz="1300"/>
                        <a:t>No credit-card data is stored after payment.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r>
              <a:rPr sz="2200"/>
              <a:t>Slide 2 Part A CIA Classifications 5-7</a:t>
            </a: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320040" y="1280160"/>
          <a:ext cx="114757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1554480"/>
                <a:gridCol w="1097280"/>
                <a:gridCol w="3703320"/>
              </a:tblGrid>
              <a:tr h="1234440">
                <a:tc>
                  <a:txBody>
                    <a:bodyPr/>
                    <a:lstStyle/>
                    <a:p>
                      <a:r>
                        <a:rPr b="1" sz="1600"/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600"/>
                        <a:t>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600"/>
                        <a:t>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600"/>
                        <a:t>Justification</a:t>
                      </a:r>
                    </a:p>
                  </a:txBody>
                  <a:tcPr/>
                </a:tc>
              </a:tr>
              <a:tr h="1234440">
                <a:tc>
                  <a:txBody>
                    <a:bodyPr/>
                    <a:lstStyle/>
                    <a:p>
                      <a:r>
                        <a:rPr sz="1300"/>
                        <a:t>Cameras are installed to discourage shoplifting.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234440">
                <a:tc>
                  <a:txBody>
                    <a:bodyPr/>
                    <a:lstStyle/>
                    <a:p>
                      <a:r>
                        <a:rPr sz="1300"/>
                        <a:t>Fibre is chosen because it is harder to intercept.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234440">
                <a:tc>
                  <a:txBody>
                    <a:bodyPr/>
                    <a:lstStyle/>
                    <a:p>
                      <a:r>
                        <a:rPr sz="1300"/>
                        <a:t>An employee overwrites the latest engineering blueprint.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r>
              <a:rPr sz="2000"/>
              <a:t>Slide 3 Part B Attack Tree: Accessing a House</a:t>
            </a: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48640" y="1417320"/>
            <a:ext cx="5303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Paste your exported ADTool PNG on this slide.</a:t>
            </a:r>
          </a:p>
          <a:p>
            <a:r>
              <a:rPr sz="1600"/>
              <a:t>Make sure the tree is readable and the root objective is visible.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