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21"/>
  </p:sldIdLst>
  <p:sldSz cy="5143500" cx="9144000"/>
  <p:notesSz cx="6858000" cy="9144000"/>
  <p:embeddedFontLst>
    <p:embeddedFont>
      <p:font typeface="Amatic SC"/>
      <p:regular r:id="rId15"/>
      <p:bold r:id="rId16"/>
    </p:embeddedFont>
    <p:embeddedFont>
      <p:font typeface="Source Code Pr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font" Target="fonts/AmaticSC-regular.fntdata"/><Relationship Id="rId16" Type="http://schemas.openxmlformats.org/officeDocument/2006/relationships/font" Target="fonts/AmaticSC-bold.fntdata"/><Relationship Id="rId17" Type="http://schemas.openxmlformats.org/officeDocument/2006/relationships/font" Target="fonts/SourceCodePro-regular.fntdata"/><Relationship Id="rId18" Type="http://schemas.openxmlformats.org/officeDocument/2006/relationships/font" Target="fonts/SourceCodePro-bold.fntdata"/><Relationship Id="rId19" Type="http://schemas.openxmlformats.org/officeDocument/2006/relationships/font" Target="fonts/SourceCodePro-italic.fntdata"/><Relationship Id="rId20" Type="http://schemas.openxmlformats.org/officeDocument/2006/relationships/font" Target="fonts/SourceCodePro-boldItalic.fntdata"/><Relationship Id="rId21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7d707c878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7d707c878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7d707c878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7d707c878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7d707c8785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7d707c8785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7d707c8785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7d707c8785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7d707c8785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7d707c8785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7d707c8785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7d707c8785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7d707c8785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27d707c8785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298818e21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298818e21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3429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392150"/>
            <a:ext cx="8520600" cy="269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2802750" y="802500"/>
            <a:ext cx="3538500" cy="3538500"/>
          </a:xfrm>
          <a:prstGeom prst="rect">
            <a:avLst/>
          </a:prstGeom>
          <a:solidFill>
            <a:srgbClr val="FFFFFF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04800" y="309350"/>
            <a:ext cx="8537700" cy="74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8" name="Google Shape;3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45223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b="1" sz="2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240275"/>
            <a:ext cx="8520600" cy="198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3046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each-day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ctrTitle"/>
          </p:nvPr>
        </p:nvSpPr>
        <p:spPr>
          <a:xfrm>
            <a:off x="311150" y="2023197"/>
            <a:ext cx="3768600" cy="62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r>
              <a:t>Process Explorer</a:t>
            </a: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r>
              <a:t>Submission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000"/>
              <a:t>Screenshot 1 Security tab showing the Groups and Privileges panels for cmd.exe.</a:t>
            </a:r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200"/>
              <a:t>Screenshot 2 Display showing the DLLs loaded by cmd.exe.</a:t>
            </a:r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1800"/>
              <a:t>Screenshot 3 TCP/IP tab showing the established ports for the first iexplore.exe process.</a:t>
            </a:r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1800"/>
              <a:t>Screenshot 4 TCP/IP tab showing the IP addresses and ports for the second iexplore.exe process.</a:t>
            </a:r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000"/>
              <a:t>Screenshot 5 Properties TCP/IP display for patch.exe showing the port numbers.</a:t>
            </a:r>
          </a:p>
        </p:txBody>
      </p:sp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000"/>
              <a:t>Screenshot 6 Properties TCP/IP display for tini.exe showing the port numbers.</a:t>
            </a:r>
          </a:p>
        </p:txBody>
      </p:sp>
      <p:sp>
        <p:nvSpPr>
          <p:cNvPr id="93" name="Google Shape;93;p19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000"/>
              <a:t>Screenshot 7 Properties Image tab for lsass.exe showing the expected details.</a:t>
            </a:r>
          </a:p>
        </p:txBody>
      </p:sp>
      <p:sp>
        <p:nvSpPr>
          <p:cNvPr id="99" name="Google Shape;99;p20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000"/>
              <a:t>Screenshot 8 Properties Image tab for the fake lsass.exe showing signs of malware.</a:t>
            </a:r>
          </a:p>
        </p:txBody>
      </p:sp>
      <p:sp>
        <p:nvSpPr>
          <p:cNvPr id="105" name="Google Shape;105;p21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/>
              <a:t>Screenshot 9 Security tab under the limited account showing the owner and reduced privileges.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