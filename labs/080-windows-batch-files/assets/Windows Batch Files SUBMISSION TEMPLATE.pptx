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21"/>
  </p:sldIdLst>
  <p:sldSz cy="5143500" cx="9144000"/>
  <p:notesSz cx="6858000" cy="9144000"/>
  <p:embeddedFontLst>
    <p:embeddedFont>
      <p:font typeface="Amatic SC"/>
      <p:regular r:id="rId15"/>
      <p:bold r:id="rId16"/>
    </p:embeddedFont>
    <p:embeddedFont>
      <p:font typeface="Source Code Pr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font" Target="fonts/AmaticSC-regular.fntdata"/><Relationship Id="rId16" Type="http://schemas.openxmlformats.org/officeDocument/2006/relationships/font" Target="fonts/AmaticSC-bold.fntdata"/><Relationship Id="rId17" Type="http://schemas.openxmlformats.org/officeDocument/2006/relationships/font" Target="fonts/SourceCodePro-regular.fntdata"/><Relationship Id="rId18" Type="http://schemas.openxmlformats.org/officeDocument/2006/relationships/font" Target="fonts/SourceCodePro-bold.fntdata"/><Relationship Id="rId19" Type="http://schemas.openxmlformats.org/officeDocument/2006/relationships/font" Target="fonts/SourceCodePro-italic.fntdata"/><Relationship Id="rId20" Type="http://schemas.openxmlformats.org/officeDocument/2006/relationships/font" Target="fonts/SourceCodePro-boldItalic.fntdata"/><Relationship Id="rId21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7d707c878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27d707c878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7d707c878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7d707c878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27d707c8785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27d707c8785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7d707c8785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7d707c8785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27d707c8785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27d707c8785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7d707c8785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7d707c8785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7d707c8785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27d707c8785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298818e21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298818e21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3429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392150"/>
            <a:ext cx="8520600" cy="269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100"/>
              <a:buNone/>
              <a:defRPr b="1" sz="21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2802750" y="802500"/>
            <a:ext cx="3538500" cy="3538500"/>
          </a:xfrm>
          <a:prstGeom prst="rect">
            <a:avLst/>
          </a:prstGeom>
          <a:solidFill>
            <a:srgbClr val="FFFFFF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3117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32400" y="1228675"/>
            <a:ext cx="39999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type="title"/>
          </p:nvPr>
        </p:nvSpPr>
        <p:spPr>
          <a:xfrm>
            <a:off x="304800" y="309350"/>
            <a:ext cx="8537700" cy="74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28" name="Google Shape;28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31" name="Google Shape;31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38" name="Google Shape;38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845223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lt1"/>
                </a:highlight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Amatic SC"/>
              <a:buNone/>
              <a:defRPr b="1" sz="24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240275"/>
            <a:ext cx="8520600" cy="1981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  <a:highlight>
                  <a:schemeClr val="accent1"/>
                </a:highlight>
              </a:defRPr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3046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  <a:highlight>
                  <a:schemeClr val="dk1"/>
                </a:highlight>
              </a:defRPr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beach-day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Font typeface="Amatic SC"/>
              <a:buNone/>
              <a:defRPr b="1" sz="4200">
                <a:solidFill>
                  <a:schemeClr val="accent1"/>
                </a:solidFill>
                <a:latin typeface="Amatic SC"/>
                <a:ea typeface="Amatic SC"/>
                <a:cs typeface="Amatic SC"/>
                <a:sym typeface="Amatic SC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Source Code Pro"/>
              <a:buChar char="●"/>
              <a:defRPr sz="1800"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●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○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Source Code Pro"/>
              <a:buChar char="■"/>
              <a:defRPr>
                <a:solidFill>
                  <a:schemeClr val="dk2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Source Code Pro"/>
                <a:ea typeface="Source Code Pro"/>
                <a:cs typeface="Source Code Pro"/>
                <a:sym typeface="Source Code Pr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ctrTitle"/>
          </p:nvPr>
        </p:nvSpPr>
        <p:spPr>
          <a:xfrm>
            <a:off x="311150" y="2023197"/>
            <a:ext cx="3768600" cy="62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r>
              <a:t>Windows Batch Files</a:t>
            </a:r>
          </a:p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311700" y="3890400"/>
            <a:ext cx="8520600" cy="706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r>
              <a:t>Submission Template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2000"/>
              <a:t>Screenshot 1 Command prompt window and Calculator running from the symbolic link.</a:t>
            </a:r>
          </a:p>
        </p:txBody>
      </p:sp>
      <p:sp>
        <p:nvSpPr>
          <p:cNvPr id="63" name="Google Shape;63;p14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1800"/>
              <a:t>Screenshot 2 Task Manager, command window, and Felix launched from the renamed calc.exe link.</a:t>
            </a:r>
          </a:p>
        </p:txBody>
      </p:sp>
      <p:sp>
        <p:nvSpPr>
          <p:cNvPr id="69" name="Google Shape;69;p15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2000"/>
              <a:t>Screenshot 3 Task Manager, command window, and Felix launched through the hard link.</a:t>
            </a:r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2200"/>
              <a:t>Screenshot 4 First page output showing the tools directory link.</a:t>
            </a:r>
          </a:p>
        </p:txBody>
      </p:sp>
      <p:sp>
        <p:nvSpPr>
          <p:cNvPr id="81" name="Google Shape;81;p17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2200"/>
              <a:t>Screenshot 5 Output from the for-loop command.</a:t>
            </a:r>
          </a:p>
        </p:txBody>
      </p:sp>
      <p:sp>
        <p:nvSpPr>
          <p:cNvPr id="87" name="Google Shape;87;p18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2200"/>
              <a:t>Screenshot 6 files1 directory contents after the copy exercise.</a:t>
            </a:r>
          </a:p>
        </p:txBody>
      </p:sp>
      <p:sp>
        <p:nvSpPr>
          <p:cNvPr id="93" name="Google Shape;93;p19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0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2000"/>
              <a:t>Screenshot 7 Batch file output from act5.bat. No errors required for a grade.</a:t>
            </a:r>
          </a:p>
        </p:txBody>
      </p:sp>
      <p:sp>
        <p:nvSpPr>
          <p:cNvPr id="99" name="Google Shape;99;p20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1"/>
          <p:cNvSpPr txBox="1"/>
          <p:nvPr>
            <p:ph type="title"/>
          </p:nvPr>
        </p:nvSpPr>
        <p:spPr>
          <a:xfrm>
            <a:off x="311700" y="292850"/>
            <a:ext cx="8520600" cy="80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r>
              <a:rPr sz="2200"/>
              <a:t>Screenshot 8 Output from act5b.bat pinging the two hosts.</a:t>
            </a:r>
          </a:p>
        </p:txBody>
      </p:sp>
      <p:sp>
        <p:nvSpPr>
          <p:cNvPr id="105" name="Google Shape;105;p21"/>
          <p:cNvSpPr txBox="1"/>
          <p:nvPr>
            <p:ph idx="1" type="body"/>
          </p:nvPr>
        </p:nvSpPr>
        <p:spPr>
          <a:xfrm>
            <a:off x="311700" y="1228675"/>
            <a:ext cx="8520600" cy="33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/>
              <a:t>Screenshot 9 Output of all the groups and act5c.bat in the Users directory.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each Day">
  <a:themeElements>
    <a:clrScheme name="Beach Day">
      <a:dk1>
        <a:srgbClr val="00FDC8"/>
      </a:dk1>
      <a:lt1>
        <a:srgbClr val="FFFFFF"/>
      </a:lt1>
      <a:dk2>
        <a:srgbClr val="666666"/>
      </a:dk2>
      <a:lt2>
        <a:srgbClr val="EEEEEE"/>
      </a:lt2>
      <a:accent1>
        <a:srgbClr val="212121"/>
      </a:accent1>
      <a:accent2>
        <a:srgbClr val="455A64"/>
      </a:accent2>
      <a:accent3>
        <a:srgbClr val="78909C"/>
      </a:accent3>
      <a:accent4>
        <a:srgbClr val="7C7CE0"/>
      </a:accent4>
      <a:accent5>
        <a:srgbClr val="DB4437"/>
      </a:accent5>
      <a:accent6>
        <a:srgbClr val="F6CD4C"/>
      </a:accent6>
      <a:hlink>
        <a:srgbClr val="DB4437"/>
      </a:hlink>
      <a:folHlink>
        <a:srgbClr val="DB443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